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Lst>
  <p:sldSz cx="18288000" cy="10287000"/>
  <p:notesSz cx="6858000" cy="9144000"/>
  <p:embeddedFontLst>
    <p:embeddedFont>
      <p:font typeface="Calibri (MS)" panose="020B0604020202020204" charset="0"/>
      <p:regular r:id="rId51"/>
    </p:embeddedFont>
    <p:embeddedFont>
      <p:font typeface="Times New Roman Bold" panose="02020803070505020304" pitchFamily="18" charset="0"/>
      <p:bold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1" y="48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10155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39291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57517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78628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57988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35054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48296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99307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795469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51302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30169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36744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66452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55057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2770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14636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84266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790428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079892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96483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7980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113520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8762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30152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27435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93451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926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723953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26026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540966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31426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109064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144027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293385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361915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117943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420613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693506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420327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972918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213605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687888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459649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374181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459429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066026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830638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99429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1855694"/>
            <a:ext cx="14744700" cy="3660115"/>
            <a:chOff x="0" y="0"/>
            <a:chExt cx="19659600" cy="4880154"/>
          </a:xfrm>
        </p:grpSpPr>
        <p:sp>
          <p:nvSpPr>
            <p:cNvPr id="3" name="Freeform 3"/>
            <p:cNvSpPr/>
            <p:nvPr/>
          </p:nvSpPr>
          <p:spPr>
            <a:xfrm>
              <a:off x="0" y="0"/>
              <a:ext cx="19659600" cy="4880153"/>
            </a:xfrm>
            <a:custGeom>
              <a:avLst/>
              <a:gdLst/>
              <a:ahLst/>
              <a:cxnLst/>
              <a:rect l="l" t="t" r="r" b="b"/>
              <a:pathLst>
                <a:path w="19659600" h="4880153">
                  <a:moveTo>
                    <a:pt x="0" y="0"/>
                  </a:moveTo>
                  <a:lnTo>
                    <a:pt x="19659600" y="0"/>
                  </a:lnTo>
                  <a:lnTo>
                    <a:pt x="19659600" y="4880153"/>
                  </a:lnTo>
                  <a:lnTo>
                    <a:pt x="0" y="4880153"/>
                  </a:lnTo>
                  <a:close/>
                </a:path>
              </a:pathLst>
            </a:custGeom>
            <a:solidFill>
              <a:srgbClr val="000000">
                <a:alpha val="0"/>
              </a:srgbClr>
            </a:solidFill>
          </p:spPr>
        </p:sp>
        <p:sp>
          <p:nvSpPr>
            <p:cNvPr id="4" name="TextBox 4"/>
            <p:cNvSpPr txBox="1"/>
            <p:nvPr/>
          </p:nvSpPr>
          <p:spPr>
            <a:xfrm>
              <a:off x="0" y="38100"/>
              <a:ext cx="19659600" cy="4842054"/>
            </a:xfrm>
            <a:prstGeom prst="rect">
              <a:avLst/>
            </a:prstGeom>
          </p:spPr>
          <p:txBody>
            <a:bodyPr lIns="0" tIns="0" rIns="0" bIns="0" rtlCol="0" anchor="b"/>
            <a:lstStyle/>
            <a:p>
              <a:pPr algn="ctr">
                <a:lnSpc>
                  <a:spcPts val="6480"/>
                </a:lnSpc>
              </a:pPr>
              <a:r>
                <a:rPr lang="en-US" sz="6000" b="1" dirty="0">
                  <a:solidFill>
                    <a:srgbClr val="000000"/>
                  </a:solidFill>
                  <a:latin typeface="Times New Roman Bold"/>
                  <a:ea typeface="Times New Roman Bold"/>
                  <a:cs typeface="Times New Roman Bold"/>
                  <a:sym typeface="Times New Roman Bold"/>
                </a:rPr>
                <a:t>A Novel Community and Family Centric Healthy Meal Planner Integrating Nutritional Information, User Preferences, and Regional Context</a:t>
              </a:r>
            </a:p>
          </p:txBody>
        </p:sp>
      </p:grpSp>
      <p:sp>
        <p:nvSpPr>
          <p:cNvPr id="5" name="TextBox 5"/>
          <p:cNvSpPr txBox="1"/>
          <p:nvPr/>
        </p:nvSpPr>
        <p:spPr>
          <a:xfrm>
            <a:off x="2377425" y="5641395"/>
            <a:ext cx="13533150" cy="3005438"/>
          </a:xfrm>
          <a:prstGeom prst="rect">
            <a:avLst/>
          </a:prstGeom>
        </p:spPr>
        <p:txBody>
          <a:bodyPr lIns="0" tIns="0" rIns="0" bIns="0" rtlCol="0" anchor="t">
            <a:spAutoFit/>
          </a:bodyPr>
          <a:lstStyle/>
          <a:p>
            <a:pPr algn="ctr"/>
            <a:r>
              <a:rPr lang="en-US" sz="2790" dirty="0">
                <a:solidFill>
                  <a:srgbClr val="000000"/>
                </a:solidFill>
                <a:latin typeface="Times New Roman"/>
                <a:ea typeface="Times New Roman"/>
                <a:cs typeface="Times New Roman"/>
                <a:sym typeface="Times New Roman"/>
              </a:rPr>
              <a:t>- </a:t>
            </a:r>
            <a:r>
              <a:rPr lang="en-US" sz="2790" b="1" dirty="0">
                <a:solidFill>
                  <a:srgbClr val="000000"/>
                </a:solidFill>
                <a:latin typeface="Times New Roman Bold"/>
                <a:ea typeface="Times New Roman Bold"/>
                <a:cs typeface="Times New Roman Bold"/>
                <a:sym typeface="Times New Roman Bold"/>
              </a:rPr>
              <a:t>Presented by</a:t>
            </a:r>
          </a:p>
          <a:p>
            <a:pPr algn="ctr"/>
            <a:r>
              <a:rPr lang="en-US" sz="2790" dirty="0">
                <a:solidFill>
                  <a:srgbClr val="000000"/>
                </a:solidFill>
                <a:latin typeface="Times New Roman"/>
                <a:ea typeface="Times New Roman"/>
                <a:cs typeface="Times New Roman"/>
                <a:sym typeface="Times New Roman"/>
              </a:rPr>
              <a:t>Rohan Banerjee (13000122001)</a:t>
            </a:r>
          </a:p>
          <a:p>
            <a:pPr algn="ctr"/>
            <a:r>
              <a:rPr lang="en-US" sz="2790" dirty="0" err="1">
                <a:solidFill>
                  <a:srgbClr val="000000"/>
                </a:solidFill>
                <a:latin typeface="Times New Roman"/>
                <a:ea typeface="Times New Roman"/>
                <a:cs typeface="Times New Roman"/>
                <a:sym typeface="Times New Roman"/>
              </a:rPr>
              <a:t>Sasshtik</a:t>
            </a:r>
            <a:r>
              <a:rPr lang="en-US" sz="2790" dirty="0">
                <a:solidFill>
                  <a:srgbClr val="000000"/>
                </a:solidFill>
                <a:latin typeface="Times New Roman"/>
                <a:ea typeface="Times New Roman"/>
                <a:cs typeface="Times New Roman"/>
                <a:sym typeface="Times New Roman"/>
              </a:rPr>
              <a:t> Trivedi (13000122006)</a:t>
            </a:r>
          </a:p>
          <a:p>
            <a:pPr algn="ctr"/>
            <a:r>
              <a:rPr lang="en-US" sz="2790" dirty="0">
                <a:solidFill>
                  <a:srgbClr val="000000"/>
                </a:solidFill>
                <a:latin typeface="Times New Roman"/>
                <a:ea typeface="Times New Roman"/>
                <a:cs typeface="Times New Roman"/>
                <a:sym typeface="Times New Roman"/>
              </a:rPr>
              <a:t>Sanjit Dutta (13000122007)</a:t>
            </a:r>
          </a:p>
          <a:p>
            <a:pPr algn="ctr"/>
            <a:r>
              <a:rPr lang="en-US" sz="2790" dirty="0" err="1">
                <a:solidFill>
                  <a:srgbClr val="000000"/>
                </a:solidFill>
                <a:latin typeface="Times New Roman"/>
                <a:ea typeface="Times New Roman"/>
                <a:cs typeface="Times New Roman"/>
                <a:sym typeface="Times New Roman"/>
              </a:rPr>
              <a:t>Sibele</a:t>
            </a:r>
            <a:r>
              <a:rPr lang="en-US" sz="2790" dirty="0">
                <a:solidFill>
                  <a:srgbClr val="000000"/>
                </a:solidFill>
                <a:latin typeface="Times New Roman"/>
                <a:ea typeface="Times New Roman"/>
                <a:cs typeface="Times New Roman"/>
                <a:sym typeface="Times New Roman"/>
              </a:rPr>
              <a:t> Pal (13000122048)</a:t>
            </a:r>
          </a:p>
          <a:p>
            <a:pPr algn="ctr"/>
            <a:endParaRPr lang="en-US" sz="2790" dirty="0">
              <a:solidFill>
                <a:srgbClr val="000000"/>
              </a:solidFill>
              <a:latin typeface="Times New Roman"/>
              <a:ea typeface="Times New Roman"/>
              <a:cs typeface="Times New Roman"/>
              <a:sym typeface="Times New Roman"/>
            </a:endParaRPr>
          </a:p>
          <a:p>
            <a:pPr algn="ctr"/>
            <a:r>
              <a:rPr lang="en-US" sz="2790" dirty="0">
                <a:solidFill>
                  <a:srgbClr val="000000"/>
                </a:solidFill>
                <a:latin typeface="Times New Roman"/>
                <a:ea typeface="Times New Roman"/>
                <a:cs typeface="Times New Roman"/>
                <a:sym typeface="Times New Roman"/>
              </a:rPr>
              <a:t>- </a:t>
            </a:r>
            <a:r>
              <a:rPr lang="en-US" sz="2790" b="1" dirty="0">
                <a:solidFill>
                  <a:srgbClr val="000000"/>
                </a:solidFill>
                <a:latin typeface="Times New Roman Bold"/>
                <a:ea typeface="Times New Roman Bold"/>
                <a:cs typeface="Times New Roman Bold"/>
                <a:sym typeface="Times New Roman Bold"/>
              </a:rPr>
              <a:t>Under the guidance of </a:t>
            </a:r>
            <a:r>
              <a:rPr lang="en-US" sz="2790" dirty="0">
                <a:solidFill>
                  <a:srgbClr val="000000"/>
                </a:solidFill>
                <a:latin typeface="Times New Roman"/>
                <a:ea typeface="Times New Roman"/>
                <a:cs typeface="Times New Roman"/>
                <a:sym typeface="Times New Roman"/>
              </a:rPr>
              <a:t>Prof. </a:t>
            </a:r>
            <a:r>
              <a:rPr lang="en-US" sz="2790" dirty="0" err="1">
                <a:solidFill>
                  <a:srgbClr val="000000"/>
                </a:solidFill>
                <a:latin typeface="Times New Roman"/>
                <a:ea typeface="Times New Roman"/>
                <a:cs typeface="Times New Roman"/>
                <a:sym typeface="Times New Roman"/>
              </a:rPr>
              <a:t>Poulami</a:t>
            </a:r>
            <a:r>
              <a:rPr lang="en-US" sz="2790" dirty="0">
                <a:solidFill>
                  <a:srgbClr val="000000"/>
                </a:solidFill>
                <a:latin typeface="Times New Roman"/>
                <a:ea typeface="Times New Roman"/>
                <a:cs typeface="Times New Roman"/>
                <a:sym typeface="Times New Roman"/>
              </a:rPr>
              <a:t> Dutta</a:t>
            </a:r>
          </a:p>
        </p:txBody>
      </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8" name="TextBox 8"/>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11" name="TextBox 11"/>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a:t>
              </a:r>
            </a:p>
          </p:txBody>
        </p:sp>
      </p:grpSp>
      <p:pic>
        <p:nvPicPr>
          <p:cNvPr id="18" name="Google Shape;93;p1"/>
          <p:cNvPicPr preferRelativeResize="0"/>
          <p:nvPr/>
        </p:nvPicPr>
        <p:blipFill rotWithShape="1">
          <a:blip r:embed="rId3">
            <a:alphaModFix/>
          </a:blip>
          <a:srcRect/>
          <a:stretch/>
        </p:blipFill>
        <p:spPr>
          <a:xfrm>
            <a:off x="342522" y="411392"/>
            <a:ext cx="914778" cy="860177"/>
          </a:xfrm>
          <a:prstGeom prst="rect">
            <a:avLst/>
          </a:prstGeom>
          <a:noFill/>
          <a:ln>
            <a:noFill/>
          </a:ln>
        </p:spPr>
      </p:pic>
      <p:grpSp>
        <p:nvGrpSpPr>
          <p:cNvPr id="19" name="Google Shape;94;p1"/>
          <p:cNvGrpSpPr/>
          <p:nvPr/>
        </p:nvGrpSpPr>
        <p:grpSpPr>
          <a:xfrm>
            <a:off x="221223" y="359329"/>
            <a:ext cx="17897473" cy="1042664"/>
            <a:chOff x="1800" y="1130"/>
            <a:chExt cx="8715" cy="535"/>
          </a:xfrm>
        </p:grpSpPr>
        <p:sp>
          <p:nvSpPr>
            <p:cNvPr id="20" name="Google Shape;95;p1"/>
            <p:cNvSpPr txBox="1"/>
            <p:nvPr/>
          </p:nvSpPr>
          <p:spPr>
            <a:xfrm>
              <a:off x="6408" y="1130"/>
              <a:ext cx="4107" cy="53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rtl="0">
                <a:spcBef>
                  <a:spcPts val="0"/>
                </a:spcBef>
                <a:spcAft>
                  <a:spcPts val="0"/>
                </a:spcAft>
                <a:buNone/>
              </a:pPr>
              <a:r>
                <a:rPr lang="en-IN" sz="2000" b="0" i="1" u="none" strike="noStrike" cap="none" dirty="0">
                  <a:solidFill>
                    <a:schemeClr val="dk1"/>
                  </a:solidFill>
                  <a:latin typeface="Times New Roman"/>
                  <a:ea typeface="Times New Roman"/>
                  <a:cs typeface="Times New Roman"/>
                  <a:sym typeface="Times New Roman"/>
                </a:rPr>
                <a:t>Techno Main Salt Lake</a:t>
              </a:r>
              <a:endParaRPr sz="2400" b="0" i="0" u="none" strike="noStrike" cap="none" dirty="0">
                <a:solidFill>
                  <a:schemeClr val="dk1"/>
                </a:solidFill>
                <a:latin typeface="Times New Roman"/>
                <a:ea typeface="Times New Roman"/>
                <a:cs typeface="Times New Roman"/>
                <a:sym typeface="Times New Roman"/>
              </a:endParaRPr>
            </a:p>
            <a:p>
              <a:pPr marL="0" marR="0" lvl="0" indent="0" algn="r" rtl="0">
                <a:spcBef>
                  <a:spcPts val="0"/>
                </a:spcBef>
                <a:spcAft>
                  <a:spcPts val="0"/>
                </a:spcAft>
                <a:buNone/>
              </a:pPr>
              <a:r>
                <a:rPr lang="en-IN" sz="2000" b="0" i="1" u="none" strike="noStrike" cap="none" dirty="0">
                  <a:solidFill>
                    <a:schemeClr val="dk1"/>
                  </a:solidFill>
                  <a:latin typeface="Times New Roman"/>
                  <a:ea typeface="Times New Roman"/>
                  <a:cs typeface="Times New Roman"/>
                  <a:sym typeface="Times New Roman"/>
                </a:rPr>
                <a:t>       EM-4/1, Sector-V, Salt Lake City, Kolkata- 700091</a:t>
              </a:r>
              <a:endParaRPr sz="2400" b="0" i="0" u="none" strike="noStrike" cap="none" dirty="0">
                <a:solidFill>
                  <a:schemeClr val="dk1"/>
                </a:solidFill>
                <a:latin typeface="Times New Roman"/>
                <a:ea typeface="Times New Roman"/>
                <a:cs typeface="Times New Roman"/>
                <a:sym typeface="Times New Roman"/>
              </a:endParaRPr>
            </a:p>
          </p:txBody>
        </p:sp>
        <p:cxnSp>
          <p:nvCxnSpPr>
            <p:cNvPr id="21" name="Google Shape;96;p1"/>
            <p:cNvCxnSpPr/>
            <p:nvPr/>
          </p:nvCxnSpPr>
          <p:spPr>
            <a:xfrm>
              <a:off x="1800" y="1665"/>
              <a:ext cx="8715" cy="0"/>
            </a:xfrm>
            <a:prstGeom prst="straightConnector1">
              <a:avLst/>
            </a:prstGeom>
            <a:noFill/>
            <a:ln w="57150" cap="flat" cmpd="thinThick">
              <a:solidFill>
                <a:srgbClr val="000000"/>
              </a:solidFill>
              <a:prstDash val="solid"/>
              <a:round/>
              <a:headEnd type="none" w="med" len="med"/>
              <a:tailEnd type="none" w="med" len="med"/>
            </a:ln>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Contents</a:t>
              </a:r>
            </a:p>
          </p:txBody>
        </p:sp>
      </p:grpSp>
      <p:grpSp>
        <p:nvGrpSpPr>
          <p:cNvPr id="5" name="Group 5"/>
          <p:cNvGrpSpPr/>
          <p:nvPr/>
        </p:nvGrpSpPr>
        <p:grpSpPr>
          <a:xfrm>
            <a:off x="1257300" y="9534525"/>
            <a:ext cx="4114800" cy="547688"/>
            <a:chOff x="0" y="0"/>
            <a:chExt cx="5486400" cy="730250"/>
          </a:xfrm>
        </p:grpSpPr>
        <p:sp>
          <p:nvSpPr>
            <p:cNvPr id="6" name="Freeform 6"/>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7" name="TextBox 7"/>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grpSp>
        <p:nvGrpSpPr>
          <p:cNvPr id="8" name="Group 8"/>
          <p:cNvGrpSpPr/>
          <p:nvPr/>
        </p:nvGrpSpPr>
        <p:grpSpPr>
          <a:xfrm>
            <a:off x="6057900" y="9534525"/>
            <a:ext cx="6172200" cy="547688"/>
            <a:chOff x="0" y="0"/>
            <a:chExt cx="8229600" cy="730250"/>
          </a:xfrm>
        </p:grpSpPr>
        <p:sp>
          <p:nvSpPr>
            <p:cNvPr id="9" name="Freeform 9"/>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10" name="TextBox 10"/>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11" name="Group 11"/>
          <p:cNvGrpSpPr/>
          <p:nvPr/>
        </p:nvGrpSpPr>
        <p:grpSpPr>
          <a:xfrm>
            <a:off x="129159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a:t>
              </a:r>
            </a:p>
          </p:txBody>
        </p:sp>
      </p:grpSp>
      <p:sp>
        <p:nvSpPr>
          <p:cNvPr id="14" name="TextBox 14"/>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15" name="TextBox 15"/>
          <p:cNvSpPr txBox="1"/>
          <p:nvPr/>
        </p:nvSpPr>
        <p:spPr>
          <a:xfrm>
            <a:off x="1143000" y="2726738"/>
            <a:ext cx="7926757" cy="5970598"/>
          </a:xfrm>
          <a:prstGeom prst="rect">
            <a:avLst/>
          </a:prstGeom>
        </p:spPr>
        <p:txBody>
          <a:bodyPr lIns="0" tIns="0" rIns="0" bIns="0" rtlCol="0" anchor="t">
            <a:spAutoFit/>
          </a:bodyPr>
          <a:lstStyle/>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Introduction</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Motivation and Problem Statement</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Objectives and Contributions</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Literature Review</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Dataset Description and Integration</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Data Preprocessing</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Feature Extraction</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System Architecture Overview</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Model Development</a:t>
            </a:r>
          </a:p>
          <a:p>
            <a:pPr marL="1566787" lvl="2" indent="-522262" algn="l">
              <a:lnSpc>
                <a:spcPts val="3918"/>
              </a:lnSpc>
              <a:buAutoNum type="alphaLcPeriod"/>
            </a:pPr>
            <a:r>
              <a:rPr lang="en-US" sz="3628">
                <a:solidFill>
                  <a:srgbClr val="000000"/>
                </a:solidFill>
                <a:latin typeface="Times New Roman"/>
                <a:ea typeface="Times New Roman"/>
                <a:cs typeface="Times New Roman"/>
                <a:sym typeface="Times New Roman"/>
              </a:rPr>
              <a:t>Matrix Factorization</a:t>
            </a:r>
          </a:p>
          <a:p>
            <a:pPr marL="1566787" lvl="2" indent="-522262" algn="l">
              <a:lnSpc>
                <a:spcPts val="3918"/>
              </a:lnSpc>
              <a:buAutoNum type="alphaLcPeriod"/>
            </a:pPr>
            <a:r>
              <a:rPr lang="en-US" sz="3628">
                <a:solidFill>
                  <a:srgbClr val="000000"/>
                </a:solidFill>
                <a:latin typeface="Times New Roman"/>
                <a:ea typeface="Times New Roman"/>
                <a:cs typeface="Times New Roman"/>
                <a:sym typeface="Times New Roman"/>
              </a:rPr>
              <a:t>Transformer Sequence Model</a:t>
            </a:r>
          </a:p>
          <a:p>
            <a:pPr marL="1566787" lvl="2" indent="-522262" algn="l">
              <a:lnSpc>
                <a:spcPts val="3918"/>
              </a:lnSpc>
              <a:buAutoNum type="alphaLcPeriod"/>
            </a:pPr>
            <a:r>
              <a:rPr lang="en-US" sz="3628">
                <a:solidFill>
                  <a:srgbClr val="000000"/>
                </a:solidFill>
                <a:latin typeface="Times New Roman"/>
                <a:ea typeface="Times New Roman"/>
                <a:cs typeface="Times New Roman"/>
                <a:sym typeface="Times New Roman"/>
              </a:rPr>
              <a:t>Content-Based Similarity</a:t>
            </a:r>
          </a:p>
        </p:txBody>
      </p:sp>
      <p:sp>
        <p:nvSpPr>
          <p:cNvPr id="16" name="TextBox 16"/>
          <p:cNvSpPr txBox="1"/>
          <p:nvPr/>
        </p:nvSpPr>
        <p:spPr>
          <a:xfrm>
            <a:off x="9218243" y="2726737"/>
            <a:ext cx="7926757" cy="4983128"/>
          </a:xfrm>
          <a:prstGeom prst="rect">
            <a:avLst/>
          </a:prstGeom>
        </p:spPr>
        <p:txBody>
          <a:bodyPr lIns="0" tIns="0" rIns="0" bIns="0" rtlCol="0" anchor="t">
            <a:spAutoFit/>
          </a:bodyPr>
          <a:lstStyle/>
          <a:p>
            <a:pPr marL="1134647" lvl="1" indent="-742950" algn="l">
              <a:lnSpc>
                <a:spcPts val="3918"/>
              </a:lnSpc>
              <a:buFont typeface="+mj-lt"/>
              <a:buAutoNum type="arabicPeriod" startAt="10"/>
            </a:pPr>
            <a:r>
              <a:rPr lang="en-US" sz="3628" dirty="0">
                <a:solidFill>
                  <a:srgbClr val="000000"/>
                </a:solidFill>
                <a:latin typeface="Times New Roman"/>
                <a:ea typeface="Times New Roman"/>
                <a:cs typeface="Times New Roman"/>
                <a:sym typeface="Times New Roman"/>
              </a:rPr>
              <a:t>Attention-Based Fusion Mechanism</a:t>
            </a:r>
          </a:p>
          <a:p>
            <a:pPr marL="1134647" lvl="1" indent="-742950" algn="l">
              <a:lnSpc>
                <a:spcPts val="3918"/>
              </a:lnSpc>
              <a:buFont typeface="+mj-lt"/>
              <a:buAutoNum type="arabicPeriod" startAt="10"/>
            </a:pPr>
            <a:r>
              <a:rPr lang="en-US" sz="3628" dirty="0">
                <a:solidFill>
                  <a:srgbClr val="000000"/>
                </a:solidFill>
                <a:latin typeface="Times New Roman"/>
                <a:ea typeface="Times New Roman"/>
                <a:cs typeface="Times New Roman"/>
                <a:sym typeface="Times New Roman"/>
              </a:rPr>
              <a:t>Training and Evaluation Strategy</a:t>
            </a:r>
          </a:p>
          <a:p>
            <a:pPr marL="1134647" lvl="1" indent="-742950" algn="l">
              <a:lnSpc>
                <a:spcPts val="3918"/>
              </a:lnSpc>
              <a:buFont typeface="+mj-lt"/>
              <a:buAutoNum type="arabicPeriod" startAt="10"/>
            </a:pPr>
            <a:r>
              <a:rPr lang="en-US" sz="3628" dirty="0">
                <a:solidFill>
                  <a:srgbClr val="000000"/>
                </a:solidFill>
                <a:latin typeface="Times New Roman"/>
                <a:ea typeface="Times New Roman"/>
                <a:cs typeface="Times New Roman"/>
                <a:sym typeface="Times New Roman"/>
              </a:rPr>
              <a:t>Recommendation Generation and Serving</a:t>
            </a:r>
          </a:p>
          <a:p>
            <a:pPr marL="1134647" lvl="1" indent="-742950" algn="l">
              <a:lnSpc>
                <a:spcPts val="3918"/>
              </a:lnSpc>
              <a:buFont typeface="+mj-lt"/>
              <a:buAutoNum type="arabicPeriod" startAt="10"/>
            </a:pPr>
            <a:r>
              <a:rPr lang="en-US" sz="3628" dirty="0">
                <a:solidFill>
                  <a:srgbClr val="000000"/>
                </a:solidFill>
                <a:latin typeface="Times New Roman"/>
                <a:ea typeface="Times New Roman"/>
                <a:cs typeface="Times New Roman"/>
                <a:sym typeface="Times New Roman"/>
              </a:rPr>
              <a:t>Experimental Results and Visual Analysis</a:t>
            </a:r>
          </a:p>
          <a:p>
            <a:pPr marL="1134647" lvl="1" indent="-742950" algn="l">
              <a:lnSpc>
                <a:spcPts val="3918"/>
              </a:lnSpc>
              <a:buFont typeface="+mj-lt"/>
              <a:buAutoNum type="arabicPeriod" startAt="10"/>
            </a:pPr>
            <a:r>
              <a:rPr lang="en-US" sz="3628" dirty="0">
                <a:solidFill>
                  <a:srgbClr val="000000"/>
                </a:solidFill>
                <a:latin typeface="Times New Roman"/>
                <a:ea typeface="Times New Roman"/>
                <a:cs typeface="Times New Roman"/>
                <a:sym typeface="Times New Roman"/>
              </a:rPr>
              <a:t>Key Findings and Discussion</a:t>
            </a:r>
          </a:p>
          <a:p>
            <a:pPr marL="1134647" lvl="1" indent="-742950" algn="l">
              <a:lnSpc>
                <a:spcPts val="3918"/>
              </a:lnSpc>
              <a:buFont typeface="+mj-lt"/>
              <a:buAutoNum type="arabicPeriod" startAt="10"/>
            </a:pPr>
            <a:r>
              <a:rPr lang="en-US" sz="3628" dirty="0">
                <a:solidFill>
                  <a:srgbClr val="000000"/>
                </a:solidFill>
                <a:latin typeface="Times New Roman"/>
                <a:ea typeface="Times New Roman"/>
                <a:cs typeface="Times New Roman"/>
                <a:sym typeface="Times New Roman"/>
              </a:rPr>
              <a:t>Future Scope and Enhancements</a:t>
            </a:r>
          </a:p>
          <a:p>
            <a:pPr marL="1134647" lvl="1" indent="-742950" algn="l">
              <a:lnSpc>
                <a:spcPts val="3918"/>
              </a:lnSpc>
              <a:buFont typeface="+mj-lt"/>
              <a:buAutoNum type="arabicPeriod" startAt="10"/>
            </a:pPr>
            <a:r>
              <a:rPr lang="en-US" sz="3628" dirty="0">
                <a:solidFill>
                  <a:srgbClr val="000000"/>
                </a:solidFill>
                <a:latin typeface="Times New Roman"/>
                <a:ea typeface="Times New Roman"/>
                <a:cs typeface="Times New Roman"/>
                <a:sym typeface="Times New Roman"/>
              </a:rPr>
              <a:t>Conclusion</a:t>
            </a:r>
          </a:p>
          <a:p>
            <a:pPr marL="1134647" lvl="1" indent="-742950" algn="l">
              <a:lnSpc>
                <a:spcPts val="3918"/>
              </a:lnSpc>
              <a:buFont typeface="+mj-lt"/>
              <a:buAutoNum type="arabicPeriod" startAt="10"/>
            </a:pPr>
            <a:r>
              <a:rPr lang="en-US" sz="3628" dirty="0">
                <a:solidFill>
                  <a:srgbClr val="000000"/>
                </a:solidFill>
                <a:latin typeface="Times New Roman"/>
                <a:ea typeface="Times New Roman"/>
                <a:cs typeface="Times New Roman"/>
                <a:sym typeface="Times New Roman"/>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Motivation</a:t>
              </a:r>
            </a:p>
          </p:txBody>
        </p:sp>
      </p:grpSp>
      <p:sp>
        <p:nvSpPr>
          <p:cNvPr id="5" name="TextBox 5"/>
          <p:cNvSpPr txBox="1"/>
          <p:nvPr/>
        </p:nvSpPr>
        <p:spPr>
          <a:xfrm>
            <a:off x="1348725" y="2484400"/>
            <a:ext cx="15590550" cy="6970014"/>
          </a:xfrm>
          <a:prstGeom prst="rect">
            <a:avLst/>
          </a:prstGeom>
        </p:spPr>
        <p:txBody>
          <a:bodyPr lIns="0" tIns="0" rIns="0" bIns="0" rtlCol="0" anchor="t">
            <a:spAutoFit/>
          </a:bodyPr>
          <a:lstStyle/>
          <a:p>
            <a:pPr algn="l">
              <a:lnSpc>
                <a:spcPts val="4536"/>
              </a:lnSpc>
            </a:pPr>
            <a:r>
              <a:rPr lang="en-US" sz="4200" dirty="0">
                <a:solidFill>
                  <a:srgbClr val="000000"/>
                </a:solidFill>
                <a:latin typeface="Times New Roman"/>
                <a:ea typeface="Times New Roman"/>
                <a:cs typeface="Times New Roman"/>
                <a:sym typeface="Times New Roman"/>
              </a:rPr>
              <a:t>The motivation behind our project are:</a:t>
            </a:r>
          </a:p>
          <a:p>
            <a:pPr marL="765810" lvl="1" indent="-382905" algn="l">
              <a:lnSpc>
                <a:spcPts val="3888"/>
              </a:lnSpc>
              <a:buAutoNum type="arabicPeriod"/>
            </a:pPr>
            <a:r>
              <a:rPr lang="en-US" sz="3600" dirty="0">
                <a:solidFill>
                  <a:srgbClr val="000000"/>
                </a:solidFill>
                <a:latin typeface="Times New Roman"/>
                <a:ea typeface="Times New Roman"/>
                <a:cs typeface="Times New Roman"/>
                <a:sym typeface="Times New Roman"/>
              </a:rPr>
              <a:t>Addressing Health Risks Through Intelligent Food Recommendations</a:t>
            </a:r>
          </a:p>
          <a:p>
            <a:pPr marL="1381125" lvl="1" indent="-690562" algn="l">
              <a:lnSpc>
                <a:spcPts val="3240"/>
              </a:lnSpc>
              <a:buFont typeface="Arial"/>
              <a:buChar char="•"/>
            </a:pPr>
            <a:r>
              <a:rPr lang="en-US" sz="3000" dirty="0">
                <a:solidFill>
                  <a:srgbClr val="000000"/>
                </a:solidFill>
                <a:latin typeface="Times New Roman"/>
                <a:ea typeface="Times New Roman"/>
                <a:cs typeface="Times New Roman"/>
                <a:sym typeface="Times New Roman"/>
              </a:rPr>
              <a:t>Lifestyle diseases such as diabetes, obesity, and hypertension are increasing rapidly due to unhealthy eating habits. Existing food platforms prioritize popularity and taste, often ignoring nutritional suitability and health constraints.</a:t>
            </a:r>
          </a:p>
          <a:p>
            <a:pPr marL="1381125" lvl="1" indent="-690562" algn="l">
              <a:lnSpc>
                <a:spcPts val="3240"/>
              </a:lnSpc>
            </a:pPr>
            <a:endParaRPr lang="en-US" sz="3000" dirty="0">
              <a:solidFill>
                <a:srgbClr val="000000"/>
              </a:solidFill>
              <a:latin typeface="Times New Roman"/>
              <a:ea typeface="Times New Roman"/>
              <a:cs typeface="Times New Roman"/>
              <a:sym typeface="Times New Roman"/>
            </a:endParaRPr>
          </a:p>
          <a:p>
            <a:pPr marL="1125855" lvl="1" indent="-742950" algn="l">
              <a:lnSpc>
                <a:spcPts val="3888"/>
              </a:lnSpc>
              <a:buFont typeface="+mj-lt"/>
              <a:buAutoNum type="arabicPeriod" startAt="2"/>
            </a:pPr>
            <a:r>
              <a:rPr lang="en-US" sz="3600" dirty="0">
                <a:solidFill>
                  <a:srgbClr val="000000"/>
                </a:solidFill>
                <a:latin typeface="Times New Roman"/>
                <a:ea typeface="Times New Roman"/>
                <a:cs typeface="Times New Roman"/>
                <a:sym typeface="Times New Roman"/>
              </a:rPr>
              <a:t>Incorporating Regional and Cultural Food Diversity</a:t>
            </a:r>
          </a:p>
          <a:p>
            <a:pPr marL="1381125" lvl="1" indent="-690562" algn="l">
              <a:lnSpc>
                <a:spcPts val="3240"/>
              </a:lnSpc>
              <a:buFont typeface="Arial"/>
              <a:buChar char="•"/>
            </a:pPr>
            <a:r>
              <a:rPr lang="en-US" sz="3000" dirty="0">
                <a:solidFill>
                  <a:srgbClr val="000000"/>
                </a:solidFill>
                <a:latin typeface="Times New Roman"/>
                <a:ea typeface="Times New Roman"/>
                <a:cs typeface="Times New Roman"/>
                <a:sym typeface="Times New Roman"/>
              </a:rPr>
              <a:t>India’s dietary practices vary significantly across regions and cultures. Most current recommendation systems fail to consider regional food habits, leading to impractical and culturally irrelevant suggestions.</a:t>
            </a:r>
          </a:p>
          <a:p>
            <a:pPr marL="1381125" lvl="1" indent="-690562" algn="l">
              <a:lnSpc>
                <a:spcPts val="3240"/>
              </a:lnSpc>
            </a:pPr>
            <a:endParaRPr lang="en-US" sz="3000" dirty="0">
              <a:solidFill>
                <a:srgbClr val="000000"/>
              </a:solidFill>
              <a:latin typeface="Times New Roman"/>
              <a:ea typeface="Times New Roman"/>
              <a:cs typeface="Times New Roman"/>
              <a:sym typeface="Times New Roman"/>
            </a:endParaRPr>
          </a:p>
          <a:p>
            <a:pPr marL="1125855" lvl="1" indent="-742950" algn="l">
              <a:lnSpc>
                <a:spcPts val="3888"/>
              </a:lnSpc>
              <a:buFont typeface="+mj-lt"/>
              <a:buAutoNum type="arabicPeriod" startAt="3"/>
            </a:pPr>
            <a:r>
              <a:rPr lang="en-US" sz="3600" dirty="0">
                <a:solidFill>
                  <a:srgbClr val="000000"/>
                </a:solidFill>
                <a:latin typeface="Times New Roman"/>
                <a:ea typeface="Times New Roman"/>
                <a:cs typeface="Times New Roman"/>
                <a:sym typeface="Times New Roman"/>
              </a:rPr>
              <a:t>Applying ML and DL for Health-Aware Personalization</a:t>
            </a:r>
          </a:p>
          <a:p>
            <a:pPr marL="1381125" lvl="1" indent="-690562" algn="l">
              <a:lnSpc>
                <a:spcPts val="3240"/>
              </a:lnSpc>
              <a:buFont typeface="Arial"/>
              <a:buChar char="•"/>
            </a:pPr>
            <a:r>
              <a:rPr lang="en-US" sz="3000" dirty="0">
                <a:solidFill>
                  <a:srgbClr val="000000"/>
                </a:solidFill>
                <a:latin typeface="Times New Roman"/>
                <a:ea typeface="Times New Roman"/>
                <a:cs typeface="Times New Roman"/>
                <a:sym typeface="Times New Roman"/>
              </a:rPr>
              <a:t>This project leverages hybrid machine learning and deep learning models to integrate user preferences, health conditions, allergies, and activity levels. The goal is to deliver scalable, responsible, and personalized food recommendations, forming a foundation for future family-centric meal planning.</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a:t>
              </a:r>
            </a:p>
          </p:txBody>
        </p:sp>
      </p:grpSp>
      <p:sp>
        <p:nvSpPr>
          <p:cNvPr id="12" name="TextBox 12"/>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grpSp>
        <p:nvGrpSpPr>
          <p:cNvPr id="13" name="Group 13"/>
          <p:cNvGrpSpPr/>
          <p:nvPr/>
        </p:nvGrpSpPr>
        <p:grpSpPr>
          <a:xfrm>
            <a:off x="1257300" y="9534525"/>
            <a:ext cx="4114800" cy="547688"/>
            <a:chOff x="0" y="0"/>
            <a:chExt cx="5486400" cy="730250"/>
          </a:xfrm>
        </p:grpSpPr>
        <p:sp>
          <p:nvSpPr>
            <p:cNvPr id="14" name="Freeform 14"/>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5" name="TextBox 15"/>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Introduction</a:t>
              </a:r>
            </a:p>
          </p:txBody>
        </p:sp>
      </p:grpSp>
      <p:sp>
        <p:nvSpPr>
          <p:cNvPr id="5" name="TextBox 5"/>
          <p:cNvSpPr txBox="1"/>
          <p:nvPr/>
        </p:nvSpPr>
        <p:spPr>
          <a:xfrm>
            <a:off x="1348725" y="2427250"/>
            <a:ext cx="15590550" cy="6069113"/>
          </a:xfrm>
          <a:prstGeom prst="rect">
            <a:avLst/>
          </a:prstGeom>
        </p:spPr>
        <p:txBody>
          <a:bodyPr lIns="0" tIns="0" rIns="0" bIns="0" rtlCol="0" anchor="t">
            <a:spAutoFit/>
          </a:bodyPr>
          <a:lstStyle/>
          <a:p>
            <a:pPr marL="799073" lvl="1" indent="-399537" algn="just">
              <a:lnSpc>
                <a:spcPts val="4042"/>
              </a:lnSpc>
              <a:buFont typeface="Arial"/>
              <a:buChar char="•"/>
            </a:pPr>
            <a:r>
              <a:rPr lang="en-US" sz="3254">
                <a:solidFill>
                  <a:srgbClr val="000000"/>
                </a:solidFill>
                <a:latin typeface="Times New Roman"/>
                <a:ea typeface="Times New Roman"/>
                <a:cs typeface="Times New Roman"/>
                <a:sym typeface="Times New Roman"/>
              </a:rPr>
              <a:t>In the age of digital transformation, food delivery and nutrition platforms play a crucial role in shaping daily dietary habits. However, most existing food recommendation systems focus primarily on user preferences and popularity, often overlooking nutritional balance, health conditions, and regional dietary practices.</a:t>
            </a:r>
          </a:p>
          <a:p>
            <a:pPr algn="just">
              <a:lnSpc>
                <a:spcPts val="4042"/>
              </a:lnSpc>
            </a:pPr>
            <a:endParaRPr lang="en-US" sz="3254">
              <a:solidFill>
                <a:srgbClr val="000000"/>
              </a:solidFill>
              <a:latin typeface="Times New Roman"/>
              <a:ea typeface="Times New Roman"/>
              <a:cs typeface="Times New Roman"/>
              <a:sym typeface="Times New Roman"/>
            </a:endParaRPr>
          </a:p>
          <a:p>
            <a:pPr marL="799073" lvl="1" indent="-399537" algn="just">
              <a:lnSpc>
                <a:spcPts val="4042"/>
              </a:lnSpc>
              <a:buFont typeface="Arial"/>
              <a:buChar char="•"/>
            </a:pPr>
            <a:r>
              <a:rPr lang="en-US" sz="3254">
                <a:solidFill>
                  <a:srgbClr val="000000"/>
                </a:solidFill>
                <a:latin typeface="Times New Roman"/>
                <a:ea typeface="Times New Roman"/>
                <a:cs typeface="Times New Roman"/>
                <a:sym typeface="Times New Roman"/>
              </a:rPr>
              <a:t>This project aims to bridge this gap by developing a region-aware and health-constrained food recommendation system. By leveraging machine learning and deep learning techniques, the system generates personalized food recommendations based on user health conditions, dietary goals, allergies, activity levels, and regional preferences. The proposed prototype supports informed and safer food choices and lays the foundation for future extensions into family-centric meal planning and community-based dietary management.</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4</a:t>
              </a:r>
            </a:p>
          </p:txBody>
        </p:sp>
      </p:grpSp>
      <p:sp>
        <p:nvSpPr>
          <p:cNvPr id="12" name="TextBox 12"/>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grpSp>
        <p:nvGrpSpPr>
          <p:cNvPr id="13" name="Group 13"/>
          <p:cNvGrpSpPr/>
          <p:nvPr/>
        </p:nvGrpSpPr>
        <p:grpSpPr>
          <a:xfrm>
            <a:off x="1257300" y="9534525"/>
            <a:ext cx="4114800" cy="547688"/>
            <a:chOff x="0" y="0"/>
            <a:chExt cx="5486400" cy="730250"/>
          </a:xfrm>
        </p:grpSpPr>
        <p:sp>
          <p:nvSpPr>
            <p:cNvPr id="14" name="Freeform 14"/>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5" name="TextBox 15"/>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Problem Statement</a:t>
              </a:r>
            </a:p>
          </p:txBody>
        </p:sp>
      </p:grpSp>
      <p:sp>
        <p:nvSpPr>
          <p:cNvPr id="5" name="TextBox 5"/>
          <p:cNvSpPr txBox="1"/>
          <p:nvPr/>
        </p:nvSpPr>
        <p:spPr>
          <a:xfrm>
            <a:off x="1348725" y="2356775"/>
            <a:ext cx="15590550" cy="6357381"/>
          </a:xfrm>
          <a:prstGeom prst="rect">
            <a:avLst/>
          </a:prstGeom>
        </p:spPr>
        <p:txBody>
          <a:bodyPr lIns="0" tIns="0" rIns="0" bIns="0" rtlCol="0" anchor="t">
            <a:spAutoFit/>
          </a:bodyPr>
          <a:lstStyle/>
          <a:p>
            <a:pPr marL="806904" lvl="1" indent="-403452" algn="just">
              <a:lnSpc>
                <a:spcPts val="3830"/>
              </a:lnSpc>
              <a:buFont typeface="Arial"/>
              <a:buChar char="•"/>
            </a:pPr>
            <a:r>
              <a:rPr lang="en-US" sz="3470">
                <a:solidFill>
                  <a:srgbClr val="000000"/>
                </a:solidFill>
                <a:latin typeface="Times New Roman"/>
                <a:ea typeface="Times New Roman"/>
                <a:cs typeface="Times New Roman"/>
                <a:sym typeface="Times New Roman"/>
              </a:rPr>
              <a:t>The growing incidence of lifestyle-related health issues such as obesity, diabetes, and cardiovascular diseases highlights the importance of informed and balanced dietary planning. Although numerous digital food and meal-planning platforms exist, most focus on individual preferences or calorie tracking, while overlooking nutritional balance, health conditions, allergies, regional food habits, and family-level coordination.</a:t>
            </a:r>
          </a:p>
          <a:p>
            <a:pPr algn="just">
              <a:lnSpc>
                <a:spcPts val="3830"/>
              </a:lnSpc>
            </a:pPr>
            <a:endParaRPr lang="en-US" sz="3470">
              <a:solidFill>
                <a:srgbClr val="000000"/>
              </a:solidFill>
              <a:latin typeface="Times New Roman"/>
              <a:ea typeface="Times New Roman"/>
              <a:cs typeface="Times New Roman"/>
              <a:sym typeface="Times New Roman"/>
            </a:endParaRPr>
          </a:p>
          <a:p>
            <a:pPr marL="806904" lvl="1" indent="-403452" algn="just">
              <a:lnSpc>
                <a:spcPts val="3830"/>
              </a:lnSpc>
              <a:buFont typeface="Arial"/>
              <a:buChar char="•"/>
            </a:pPr>
            <a:r>
              <a:rPr lang="en-US" sz="3470">
                <a:solidFill>
                  <a:srgbClr val="000000"/>
                </a:solidFill>
                <a:latin typeface="Times New Roman"/>
                <a:ea typeface="Times New Roman"/>
                <a:cs typeface="Times New Roman"/>
                <a:sym typeface="Times New Roman"/>
              </a:rPr>
              <a:t>Additionally, current systems lack support for community and family-centric meal planning, which is essential in culturally diverse societies like India where meals are often shared. To address these limitations, this project proposes a novel community and family-centric healthy meal planner that integrates nutritional information, user preferences, health constraints, and regional context to deliver practical, health-aware, and culturally relevant meal planning solutions.</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5</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Our Contribution</a:t>
              </a:r>
            </a:p>
          </p:txBody>
        </p:sp>
      </p:grpSp>
      <p:sp>
        <p:nvSpPr>
          <p:cNvPr id="5" name="TextBox 5"/>
          <p:cNvSpPr txBox="1"/>
          <p:nvPr/>
        </p:nvSpPr>
        <p:spPr>
          <a:xfrm>
            <a:off x="1348725" y="2455825"/>
            <a:ext cx="15590550" cy="6345301"/>
          </a:xfrm>
          <a:prstGeom prst="rect">
            <a:avLst/>
          </a:prstGeom>
        </p:spPr>
        <p:txBody>
          <a:bodyPr lIns="0" tIns="0" rIns="0" bIns="0" rtlCol="0" anchor="t">
            <a:spAutoFit/>
          </a:bodyPr>
          <a:lstStyle/>
          <a:p>
            <a:pPr marL="734058" lvl="1" indent="-367029" algn="l">
              <a:lnSpc>
                <a:spcPts val="3841"/>
              </a:lnSpc>
              <a:buAutoNum type="arabicPeriod"/>
            </a:pPr>
            <a:r>
              <a:rPr lang="en-US" sz="3399">
                <a:solidFill>
                  <a:srgbClr val="000000"/>
                </a:solidFill>
                <a:latin typeface="Times New Roman"/>
                <a:ea typeface="Times New Roman"/>
                <a:cs typeface="Times New Roman"/>
                <a:sym typeface="Times New Roman"/>
              </a:rPr>
              <a:t>Designed and implemented a region-aware and health-constrained food recommendation prototype that personalizes food suggestions based on user health conditions, allergies, dietary goals, activity level, and regional food preferences.</a:t>
            </a:r>
          </a:p>
          <a:p>
            <a:pPr marL="734058" lvl="1" indent="-367029" algn="l">
              <a:lnSpc>
                <a:spcPts val="3841"/>
              </a:lnSpc>
              <a:buAutoNum type="arabicPeriod"/>
            </a:pPr>
            <a:r>
              <a:rPr lang="en-US" sz="3399">
                <a:solidFill>
                  <a:srgbClr val="000000"/>
                </a:solidFill>
                <a:latin typeface="Times New Roman"/>
                <a:ea typeface="Times New Roman"/>
                <a:cs typeface="Times New Roman"/>
                <a:sym typeface="Times New Roman"/>
              </a:rPr>
              <a:t>Developed a hybrid recommendation framework integrating collaborative filtering concepts, content-based food representations, and rule-based health and safety constraints to balance personalization with nutritional responsibility.</a:t>
            </a:r>
          </a:p>
          <a:p>
            <a:pPr marL="734058" lvl="1" indent="-367029" algn="l">
              <a:lnSpc>
                <a:spcPts val="3841"/>
              </a:lnSpc>
              <a:buAutoNum type="arabicPeriod"/>
            </a:pPr>
            <a:r>
              <a:rPr lang="en-US" sz="3399">
                <a:solidFill>
                  <a:srgbClr val="000000"/>
                </a:solidFill>
                <a:latin typeface="Times New Roman"/>
                <a:ea typeface="Times New Roman"/>
                <a:cs typeface="Times New Roman"/>
                <a:sym typeface="Times New Roman"/>
              </a:rPr>
              <a:t>Engineered nutritional, lifestyle, and contextual features from food and user data, enabling health-compliant ranking while preserving recommendation diversity.</a:t>
            </a:r>
          </a:p>
          <a:p>
            <a:pPr marL="734058" lvl="1" indent="-367029" algn="l">
              <a:lnSpc>
                <a:spcPts val="3841"/>
              </a:lnSpc>
              <a:buAutoNum type="arabicPeriod"/>
            </a:pPr>
            <a:r>
              <a:rPr lang="en-US" sz="3399">
                <a:solidFill>
                  <a:srgbClr val="000000"/>
                </a:solidFill>
                <a:latin typeface="Times New Roman"/>
                <a:ea typeface="Times New Roman"/>
                <a:cs typeface="Times New Roman"/>
                <a:sym typeface="Times New Roman"/>
              </a:rPr>
              <a:t>Incorporated health penalty and allergy filtering mechanisms to prevent unsafe or unsuitable food recommendations, improving user safety and system reliability.</a:t>
            </a:r>
          </a:p>
          <a:p>
            <a:pPr marL="734058" lvl="1" indent="-367029" algn="l">
              <a:lnSpc>
                <a:spcPts val="3841"/>
              </a:lnSpc>
              <a:buAutoNum type="arabicPeriod"/>
            </a:pPr>
            <a:r>
              <a:rPr lang="en-US" sz="3399">
                <a:solidFill>
                  <a:srgbClr val="000000"/>
                </a:solidFill>
                <a:latin typeface="Times New Roman"/>
                <a:ea typeface="Times New Roman"/>
                <a:cs typeface="Times New Roman"/>
                <a:sym typeface="Times New Roman"/>
              </a:rPr>
              <a:t>Built a modular and scalable system architecture, with clearly defined input–output schemas and processing pipelines, suitable for future extension into family-centric recommendations and complete meal planning (breakfast, lunch, dinner).</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6</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Dataset Preparation</a:t>
              </a:r>
            </a:p>
          </p:txBody>
        </p:sp>
      </p:grpSp>
      <p:sp>
        <p:nvSpPr>
          <p:cNvPr id="5" name="TextBox 5"/>
          <p:cNvSpPr txBox="1"/>
          <p:nvPr/>
        </p:nvSpPr>
        <p:spPr>
          <a:xfrm>
            <a:off x="1348725" y="2831762"/>
            <a:ext cx="15910575" cy="6526911"/>
          </a:xfrm>
          <a:prstGeom prst="rect">
            <a:avLst/>
          </a:prstGeom>
        </p:spPr>
        <p:txBody>
          <a:bodyPr lIns="0" tIns="0" rIns="0" bIns="0" rtlCol="0" anchor="t">
            <a:spAutoFit/>
          </a:bodyPr>
          <a:lstStyle/>
          <a:p>
            <a:pPr marL="632909" lvl="1" indent="-316454" algn="l">
              <a:lnSpc>
                <a:spcPts val="3072"/>
              </a:lnSpc>
              <a:buFont typeface="Arial"/>
              <a:buChar char="•"/>
            </a:pPr>
            <a:r>
              <a:rPr lang="en-US" sz="3200" u="sng">
                <a:solidFill>
                  <a:srgbClr val="000000"/>
                </a:solidFill>
                <a:latin typeface="Times New Roman"/>
                <a:ea typeface="Times New Roman"/>
                <a:cs typeface="Times New Roman"/>
                <a:sym typeface="Times New Roman"/>
              </a:rPr>
              <a:t>Dataset:</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Multiple datasets are used, including:</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Food nutrition datasets (403095, 11)</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Macro- and micro-nutrient values (5000, 14)</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User lifestyle and health datasets (5000, 12)</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Food safety alert datasets (30780, 6)</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Synthetic user–food interaction datasets (500, 16)</a:t>
            </a:r>
          </a:p>
          <a:p>
            <a:pPr marL="1350087" lvl="2" indent="-450029" algn="l">
              <a:lnSpc>
                <a:spcPts val="3072"/>
              </a:lnSpc>
            </a:pPr>
            <a:endParaRPr lang="en-US" sz="3200">
              <a:solidFill>
                <a:srgbClr val="000000"/>
              </a:solidFill>
              <a:latin typeface="Times New Roman"/>
              <a:ea typeface="Times New Roman"/>
              <a:cs typeface="Times New Roman"/>
              <a:sym typeface="Times New Roman"/>
            </a:endParaRPr>
          </a:p>
          <a:p>
            <a:pPr marL="632909" lvl="1" indent="-316454" algn="l">
              <a:lnSpc>
                <a:spcPts val="3072"/>
              </a:lnSpc>
              <a:buFont typeface="Arial"/>
              <a:buChar char="•"/>
            </a:pPr>
            <a:r>
              <a:rPr lang="en-US" sz="3200" u="sng">
                <a:solidFill>
                  <a:srgbClr val="000000"/>
                </a:solidFill>
                <a:latin typeface="Times New Roman"/>
                <a:ea typeface="Times New Roman"/>
                <a:cs typeface="Times New Roman"/>
                <a:sym typeface="Times New Roman"/>
              </a:rPr>
              <a:t>Preprocessing Steps:</a:t>
            </a:r>
          </a:p>
          <a:p>
            <a:pPr marL="1350087" lvl="2" indent="-450029" algn="l">
              <a:lnSpc>
                <a:spcPts val="3072"/>
              </a:lnSpc>
              <a:buFont typeface="Arial"/>
              <a:buChar char="⚬"/>
            </a:pPr>
            <a:r>
              <a:rPr lang="en-US" sz="3200">
                <a:solidFill>
                  <a:srgbClr val="000000"/>
                </a:solidFill>
                <a:latin typeface="Times New Roman"/>
                <a:ea typeface="Times New Roman"/>
                <a:cs typeface="Times New Roman"/>
                <a:sym typeface="Times New Roman"/>
              </a:rPr>
              <a:t>Missing Value Handling: Nutritional gaps handled via controlled imputation to ensure stable model training.</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Unit Standardization: All nutrients normalized to consistent measurement units (per 100g).</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Categorical Encoding: Region, health condition, and dietary goals encoded for model compatibility.</a:t>
            </a:r>
          </a:p>
          <a:p>
            <a:pPr marL="1350062" lvl="2" indent="-450021" algn="l">
              <a:lnSpc>
                <a:spcPts val="3072"/>
              </a:lnSpc>
              <a:buFont typeface="Arial"/>
              <a:buChar char="⚬"/>
            </a:pPr>
            <a:r>
              <a:rPr lang="en-US" sz="3200">
                <a:solidFill>
                  <a:srgbClr val="000000"/>
                </a:solidFill>
                <a:latin typeface="Times New Roman"/>
                <a:ea typeface="Times New Roman"/>
                <a:cs typeface="Times New Roman"/>
                <a:sym typeface="Times New Roman"/>
              </a:rPr>
              <a:t>Unified Food ID Mapping: Consistent food identifiers assigned across all datasets for seamless integration.</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7</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Existing Solutions</a:t>
              </a:r>
            </a:p>
          </p:txBody>
        </p:sp>
      </p:grpSp>
      <p:sp>
        <p:nvSpPr>
          <p:cNvPr id="5" name="TextBox 5"/>
          <p:cNvSpPr txBox="1"/>
          <p:nvPr/>
        </p:nvSpPr>
        <p:spPr>
          <a:xfrm>
            <a:off x="1348725" y="2784137"/>
            <a:ext cx="15590550" cy="6306464"/>
          </a:xfrm>
          <a:prstGeom prst="rect">
            <a:avLst/>
          </a:prstGeom>
        </p:spPr>
        <p:txBody>
          <a:bodyPr lIns="0" tIns="0" rIns="0" bIns="0" rtlCol="0" anchor="t">
            <a:spAutoFit/>
          </a:bodyPr>
          <a:lstStyle/>
          <a:p>
            <a:pPr algn="l">
              <a:lnSpc>
                <a:spcPts val="3532"/>
              </a:lnSpc>
            </a:pPr>
            <a:r>
              <a:rPr lang="en-US" sz="3200">
                <a:solidFill>
                  <a:srgbClr val="000000"/>
                </a:solidFill>
                <a:latin typeface="Times New Roman"/>
                <a:ea typeface="Times New Roman"/>
                <a:cs typeface="Times New Roman"/>
                <a:sym typeface="Times New Roman"/>
              </a:rPr>
              <a:t>Several approaches have been explored for food recommendation and dietary planning using machine learning, nutrition science, and user preference modeling. These solutions vary in scope, data usage, and level of personalization:</a:t>
            </a:r>
          </a:p>
          <a:p>
            <a:pPr algn="l">
              <a:lnSpc>
                <a:spcPts val="3532"/>
              </a:lnSpc>
            </a:pPr>
            <a:endParaRPr lang="en-US" sz="3200">
              <a:solidFill>
                <a:srgbClr val="000000"/>
              </a:solidFill>
              <a:latin typeface="Times New Roman"/>
              <a:ea typeface="Times New Roman"/>
              <a:cs typeface="Times New Roman"/>
              <a:sym typeface="Times New Roman"/>
            </a:endParaRPr>
          </a:p>
          <a:p>
            <a:pPr marL="690881" lvl="1" indent="-345440" algn="l">
              <a:lnSpc>
                <a:spcPts val="3532"/>
              </a:lnSpc>
              <a:buFont typeface="Arial"/>
              <a:buChar char="•"/>
            </a:pPr>
            <a:r>
              <a:rPr lang="en-US" sz="3200" u="sng">
                <a:solidFill>
                  <a:srgbClr val="000000"/>
                </a:solidFill>
                <a:latin typeface="Times New Roman"/>
                <a:ea typeface="Times New Roman"/>
                <a:cs typeface="Times New Roman"/>
                <a:sym typeface="Times New Roman"/>
              </a:rPr>
              <a:t>Nutrition-Aware Food Recommendation Systems (2021–2023):</a:t>
            </a:r>
            <a:r>
              <a:rPr lang="en-US" sz="3200">
                <a:solidFill>
                  <a:srgbClr val="000000"/>
                </a:solidFill>
                <a:latin typeface="Times New Roman"/>
                <a:ea typeface="Times New Roman"/>
                <a:cs typeface="Times New Roman"/>
                <a:sym typeface="Times New Roman"/>
              </a:rPr>
              <a:t> Several studies integrate nutritional information (calories, fat, sugar, protein) with user preferences using collaborative filtering and multi-objective optimization. These systems improve health-aware personalization compared to traditional recommenders but are largely limited to individual users and lack regional and family-level planning.</a:t>
            </a:r>
          </a:p>
          <a:p>
            <a:pPr algn="l">
              <a:lnSpc>
                <a:spcPts val="3532"/>
              </a:lnSpc>
            </a:pPr>
            <a:endParaRPr lang="en-US" sz="3200">
              <a:solidFill>
                <a:srgbClr val="000000"/>
              </a:solidFill>
              <a:latin typeface="Times New Roman"/>
              <a:ea typeface="Times New Roman"/>
              <a:cs typeface="Times New Roman"/>
              <a:sym typeface="Times New Roman"/>
            </a:endParaRPr>
          </a:p>
          <a:p>
            <a:pPr marL="821335" lvl="1" indent="-410668" algn="l">
              <a:lnSpc>
                <a:spcPts val="3532"/>
              </a:lnSpc>
              <a:buFont typeface="Arial"/>
              <a:buChar char="•"/>
            </a:pPr>
            <a:r>
              <a:rPr lang="en-US" sz="3200" u="sng">
                <a:solidFill>
                  <a:srgbClr val="000000"/>
                </a:solidFill>
                <a:latin typeface="Times New Roman"/>
                <a:ea typeface="Times New Roman"/>
                <a:cs typeface="Times New Roman"/>
                <a:sym typeface="Times New Roman"/>
              </a:rPr>
              <a:t>Deep Learning-Based Food Recommendation Models:</a:t>
            </a:r>
            <a:r>
              <a:rPr lang="en-US" sz="3200">
                <a:solidFill>
                  <a:srgbClr val="000000"/>
                </a:solidFill>
                <a:latin typeface="Times New Roman"/>
                <a:ea typeface="Times New Roman"/>
                <a:cs typeface="Times New Roman"/>
                <a:sym typeface="Times New Roman"/>
              </a:rPr>
              <a:t> Recent works employ deep neural networks and sequence-based models to capture complex dietary behavior from user history. While these models outperform classical methods like matrix factorization, most do not explicitly incorporate health constraints, allergies, or nutritional safety.</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8</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Existing Solutions</a:t>
              </a:r>
            </a:p>
          </p:txBody>
        </p:sp>
      </p:grpSp>
      <p:sp>
        <p:nvSpPr>
          <p:cNvPr id="5" name="TextBox 5"/>
          <p:cNvSpPr txBox="1"/>
          <p:nvPr/>
        </p:nvSpPr>
        <p:spPr>
          <a:xfrm>
            <a:off x="1348725" y="2793662"/>
            <a:ext cx="15590550" cy="5482666"/>
          </a:xfrm>
          <a:prstGeom prst="rect">
            <a:avLst/>
          </a:prstGeom>
        </p:spPr>
        <p:txBody>
          <a:bodyPr lIns="0" tIns="0" rIns="0" bIns="0" rtlCol="0" anchor="t">
            <a:spAutoFit/>
          </a:bodyPr>
          <a:lstStyle/>
          <a:p>
            <a:pPr marL="777240" lvl="1" indent="-388620" algn="l">
              <a:lnSpc>
                <a:spcPts val="3974"/>
              </a:lnSpc>
              <a:buFont typeface="Arial"/>
              <a:buChar char="•"/>
            </a:pPr>
            <a:r>
              <a:rPr lang="en-US" sz="3600" u="sng">
                <a:solidFill>
                  <a:srgbClr val="000000"/>
                </a:solidFill>
                <a:latin typeface="Times New Roman"/>
                <a:ea typeface="Times New Roman"/>
                <a:cs typeface="Times New Roman"/>
                <a:sym typeface="Times New Roman"/>
              </a:rPr>
              <a:t>Rule-Based Diet Recommendation Systems</a:t>
            </a:r>
            <a:r>
              <a:rPr lang="en-US" sz="3600">
                <a:solidFill>
                  <a:srgbClr val="000000"/>
                </a:solidFill>
                <a:latin typeface="Times New Roman"/>
                <a:ea typeface="Times New Roman"/>
                <a:cs typeface="Times New Roman"/>
                <a:sym typeface="Times New Roman"/>
              </a:rPr>
              <a:t>: Rule-based approaches are widely used for chronic disease management by enforcing predefined dietary guidelines. Although effective for medical compliance, these systems are rigid, offer limited personalization, and scale poorly across diverse users and dietary preferences.</a:t>
            </a:r>
          </a:p>
          <a:p>
            <a:pPr algn="l">
              <a:lnSpc>
                <a:spcPts val="3974"/>
              </a:lnSpc>
            </a:pPr>
            <a:endParaRPr lang="en-US" sz="3600">
              <a:solidFill>
                <a:srgbClr val="000000"/>
              </a:solidFill>
              <a:latin typeface="Times New Roman"/>
              <a:ea typeface="Times New Roman"/>
              <a:cs typeface="Times New Roman"/>
              <a:sym typeface="Times New Roman"/>
            </a:endParaRPr>
          </a:p>
          <a:p>
            <a:pPr marL="777240" lvl="1" indent="-388620" algn="l">
              <a:lnSpc>
                <a:spcPts val="3974"/>
              </a:lnSpc>
              <a:buFont typeface="Arial"/>
              <a:buChar char="•"/>
            </a:pPr>
            <a:r>
              <a:rPr lang="en-US" sz="3600" u="sng">
                <a:solidFill>
                  <a:srgbClr val="000000"/>
                </a:solidFill>
                <a:latin typeface="Times New Roman"/>
                <a:ea typeface="Times New Roman"/>
                <a:cs typeface="Times New Roman"/>
                <a:sym typeface="Times New Roman"/>
              </a:rPr>
              <a:t>Context-Aware and Group-Based Recommendation Systems</a:t>
            </a:r>
            <a:r>
              <a:rPr lang="en-US" sz="3600">
                <a:solidFill>
                  <a:srgbClr val="000000"/>
                </a:solidFill>
                <a:latin typeface="Times New Roman"/>
                <a:ea typeface="Times New Roman"/>
                <a:cs typeface="Times New Roman"/>
                <a:sym typeface="Times New Roman"/>
              </a:rPr>
              <a:t>: Some studies incorporate contextual factors such as lifestyle, time, location, or group preferences to improve recommendation relevance. Group-based systems show higher satisfaction but often lack comprehensive integration of nutrition, health constraints, regional context, and food safety within a unified framework.</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9</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232048"/>
            <a:ext cx="16230600" cy="6921758"/>
          </a:xfrm>
          <a:prstGeom prst="rect">
            <a:avLst/>
          </a:prstGeom>
        </p:spPr>
        <p:txBody>
          <a:bodyPr lIns="0" tIns="0" rIns="0" bIns="0" rtlCol="0" anchor="t">
            <a:spAutoFit/>
          </a:bodyPr>
          <a:lstStyle/>
          <a:p>
            <a:pPr marL="725315" lvl="1" indent="-362658" algn="l">
              <a:lnSpc>
                <a:spcPts val="3267"/>
              </a:lnSpc>
              <a:buAutoNum type="arabicPeriod"/>
            </a:pPr>
            <a:r>
              <a:rPr lang="en-US" sz="3025" b="1">
                <a:solidFill>
                  <a:srgbClr val="000000"/>
                </a:solidFill>
                <a:latin typeface="Times New Roman Bold"/>
                <a:ea typeface="Times New Roman Bold"/>
                <a:cs typeface="Times New Roman Bold"/>
                <a:sym typeface="Times New Roman Bold"/>
              </a:rPr>
              <a:t>Data Collection</a:t>
            </a:r>
          </a:p>
          <a:p>
            <a:pPr marL="681171" lvl="1" indent="-340586" algn="l">
              <a:lnSpc>
                <a:spcPts val="3068"/>
              </a:lnSpc>
            </a:pPr>
            <a:endParaRPr lang="en-US" sz="3025" b="1">
              <a:solidFill>
                <a:srgbClr val="000000"/>
              </a:solidFill>
              <a:latin typeface="Times New Roman Bold"/>
              <a:ea typeface="Times New Roman Bold"/>
              <a:cs typeface="Times New Roman Bold"/>
              <a:sym typeface="Times New Roman Bold"/>
            </a:endParaRPr>
          </a:p>
          <a:p>
            <a:pPr marL="1479939" lvl="2" indent="-493313" algn="l">
              <a:lnSpc>
                <a:spcPts val="3068"/>
              </a:lnSpc>
              <a:buFont typeface="Arial"/>
              <a:buChar char="⚬"/>
            </a:pPr>
            <a:r>
              <a:rPr lang="en-US" sz="2841">
                <a:solidFill>
                  <a:srgbClr val="000000"/>
                </a:solidFill>
                <a:latin typeface="Times New Roman"/>
                <a:ea typeface="Times New Roman"/>
                <a:cs typeface="Times New Roman"/>
                <a:sym typeface="Times New Roman"/>
              </a:rPr>
              <a:t>Datasets Used: </a:t>
            </a:r>
          </a:p>
          <a:p>
            <a:pPr marL="2453935" lvl="4" indent="-490787" algn="l">
              <a:lnSpc>
                <a:spcPts val="3068"/>
              </a:lnSpc>
              <a:buFont typeface="Arial"/>
              <a:buChar char="•"/>
            </a:pPr>
            <a:r>
              <a:rPr lang="en-US" sz="2841">
                <a:solidFill>
                  <a:srgbClr val="000000"/>
                </a:solidFill>
                <a:latin typeface="Times New Roman"/>
                <a:ea typeface="Times New Roman"/>
                <a:cs typeface="Times New Roman"/>
                <a:sym typeface="Times New Roman"/>
              </a:rPr>
              <a:t>Food Nutrition Datasets:</a:t>
            </a:r>
          </a:p>
          <a:p>
            <a:pPr marL="3067418" lvl="5" indent="-511236" algn="l">
              <a:lnSpc>
                <a:spcPts val="3068"/>
              </a:lnSpc>
              <a:buFont typeface="Arial"/>
              <a:buChar char="⚬"/>
            </a:pPr>
            <a:r>
              <a:rPr lang="en-US" sz="2841">
                <a:solidFill>
                  <a:srgbClr val="000000"/>
                </a:solidFill>
                <a:latin typeface="Times New Roman"/>
                <a:ea typeface="Times New Roman"/>
                <a:cs typeface="Times New Roman"/>
                <a:sym typeface="Times New Roman"/>
              </a:rPr>
              <a:t>Contain macro- and micro-nutrient values such as calories, protein, fat, sugar, fiber, and sodium.</a:t>
            </a:r>
          </a:p>
          <a:p>
            <a:pPr marL="3067418" lvl="5" indent="-511236" algn="l">
              <a:lnSpc>
                <a:spcPts val="3068"/>
              </a:lnSpc>
              <a:buFont typeface="Arial"/>
              <a:buChar char="⚬"/>
            </a:pPr>
            <a:r>
              <a:rPr lang="en-US" sz="2841">
                <a:solidFill>
                  <a:srgbClr val="000000"/>
                </a:solidFill>
                <a:latin typeface="Times New Roman"/>
                <a:ea typeface="Times New Roman"/>
                <a:cs typeface="Times New Roman"/>
                <a:sym typeface="Times New Roman"/>
              </a:rPr>
              <a:t>Used to evaluate the nutritional suitability of food items for different health conditions and dietary goals.</a:t>
            </a:r>
          </a:p>
          <a:p>
            <a:pPr marL="2453935" lvl="4" indent="-490787" algn="l">
              <a:lnSpc>
                <a:spcPts val="3068"/>
              </a:lnSpc>
              <a:buFont typeface="Arial"/>
              <a:buChar char="•"/>
            </a:pPr>
            <a:r>
              <a:rPr lang="en-US" sz="2841">
                <a:solidFill>
                  <a:srgbClr val="000000"/>
                </a:solidFill>
                <a:latin typeface="Times New Roman"/>
                <a:ea typeface="Times New Roman"/>
                <a:cs typeface="Times New Roman"/>
                <a:sym typeface="Times New Roman"/>
              </a:rPr>
              <a:t>User Lifestyle &amp; Health Datasets:</a:t>
            </a:r>
          </a:p>
          <a:p>
            <a:pPr marL="3067418" lvl="5" indent="-511236" algn="l">
              <a:lnSpc>
                <a:spcPts val="3068"/>
              </a:lnSpc>
              <a:buFont typeface="Arial"/>
              <a:buChar char="⚬"/>
            </a:pPr>
            <a:r>
              <a:rPr lang="en-US" sz="2841">
                <a:solidFill>
                  <a:srgbClr val="000000"/>
                </a:solidFill>
                <a:latin typeface="Times New Roman"/>
                <a:ea typeface="Times New Roman"/>
                <a:cs typeface="Times New Roman"/>
                <a:sym typeface="Times New Roman"/>
              </a:rPr>
              <a:t>Capture user-specific attributes including dietary goals, health conditions, allergies, activity levels, and food awareness.</a:t>
            </a:r>
          </a:p>
          <a:p>
            <a:pPr marL="3067418" lvl="5" indent="-511236" algn="l">
              <a:lnSpc>
                <a:spcPts val="3068"/>
              </a:lnSpc>
              <a:buFont typeface="Arial"/>
              <a:buChar char="⚬"/>
            </a:pPr>
            <a:r>
              <a:rPr lang="en-US" sz="2841">
                <a:solidFill>
                  <a:srgbClr val="000000"/>
                </a:solidFill>
                <a:latin typeface="Times New Roman"/>
                <a:ea typeface="Times New Roman"/>
                <a:cs typeface="Times New Roman"/>
                <a:sym typeface="Times New Roman"/>
              </a:rPr>
              <a:t>Enable personalized and health-aware recommendation generation.</a:t>
            </a:r>
          </a:p>
          <a:p>
            <a:pPr marL="2453935" lvl="4" indent="-490787" algn="l">
              <a:lnSpc>
                <a:spcPts val="3068"/>
              </a:lnSpc>
              <a:buFont typeface="Arial"/>
              <a:buChar char="•"/>
            </a:pPr>
            <a:r>
              <a:rPr lang="en-US" sz="2841">
                <a:solidFill>
                  <a:srgbClr val="000000"/>
                </a:solidFill>
                <a:latin typeface="Times New Roman"/>
                <a:ea typeface="Times New Roman"/>
                <a:cs typeface="Times New Roman"/>
                <a:sym typeface="Times New Roman"/>
              </a:rPr>
              <a:t>Food Safety Alert Datasets:</a:t>
            </a:r>
          </a:p>
          <a:p>
            <a:pPr marL="3067418" lvl="5" indent="-511236" algn="l">
              <a:lnSpc>
                <a:spcPts val="3068"/>
              </a:lnSpc>
              <a:buFont typeface="Arial"/>
              <a:buChar char="⚬"/>
            </a:pPr>
            <a:r>
              <a:rPr lang="en-US" sz="2841">
                <a:solidFill>
                  <a:srgbClr val="000000"/>
                </a:solidFill>
                <a:latin typeface="Times New Roman"/>
                <a:ea typeface="Times New Roman"/>
                <a:cs typeface="Times New Roman"/>
                <a:sym typeface="Times New Roman"/>
              </a:rPr>
              <a:t>Provide information about potentially unsafe or restricted food categories.</a:t>
            </a:r>
          </a:p>
          <a:p>
            <a:pPr marL="3067418" lvl="5" indent="-511236" algn="l">
              <a:lnSpc>
                <a:spcPts val="3068"/>
              </a:lnSpc>
              <a:buFont typeface="Arial"/>
              <a:buChar char="⚬"/>
            </a:pPr>
            <a:r>
              <a:rPr lang="en-US" sz="2841">
                <a:solidFill>
                  <a:srgbClr val="000000"/>
                </a:solidFill>
                <a:latin typeface="Times New Roman"/>
                <a:ea typeface="Times New Roman"/>
                <a:cs typeface="Times New Roman"/>
                <a:sym typeface="Times New Roman"/>
              </a:rPr>
              <a:t>Used for safety-aware filtering and penalization during recommendation ranking.</a:t>
            </a:r>
          </a:p>
          <a:p>
            <a:pPr marL="2453935" lvl="4" indent="-490787" algn="l">
              <a:lnSpc>
                <a:spcPts val="3068"/>
              </a:lnSpc>
              <a:buFont typeface="Arial"/>
              <a:buChar char="•"/>
            </a:pPr>
            <a:r>
              <a:rPr lang="en-US" sz="2841">
                <a:solidFill>
                  <a:srgbClr val="000000"/>
                </a:solidFill>
                <a:latin typeface="Times New Roman"/>
                <a:ea typeface="Times New Roman"/>
                <a:cs typeface="Times New Roman"/>
                <a:sym typeface="Times New Roman"/>
              </a:rPr>
              <a:t>Synthetic User–Food Interaction Datasets:</a:t>
            </a:r>
          </a:p>
          <a:p>
            <a:pPr marL="3067418" lvl="5" indent="-511236" algn="l">
              <a:lnSpc>
                <a:spcPts val="3068"/>
              </a:lnSpc>
              <a:buFont typeface="Arial"/>
              <a:buChar char="⚬"/>
            </a:pPr>
            <a:r>
              <a:rPr lang="en-US" sz="2841">
                <a:solidFill>
                  <a:srgbClr val="000000"/>
                </a:solidFill>
                <a:latin typeface="Times New Roman"/>
                <a:ea typeface="Times New Roman"/>
                <a:cs typeface="Times New Roman"/>
                <a:sym typeface="Times New Roman"/>
              </a:rPr>
              <a:t>Simulate realistic food consumption patterns in the absence of re</a:t>
            </a:r>
            <a:r>
              <a:rPr lang="en-US" sz="2841" u="none">
                <a:solidFill>
                  <a:srgbClr val="000000"/>
                </a:solidFill>
                <a:latin typeface="Times New Roman"/>
                <a:ea typeface="Times New Roman"/>
                <a:cs typeface="Times New Roman"/>
                <a:sym typeface="Times New Roman"/>
              </a:rPr>
              <a:t>a</a:t>
            </a:r>
            <a:r>
              <a:rPr lang="en-US" sz="2841">
                <a:solidFill>
                  <a:srgbClr val="000000"/>
                </a:solidFill>
                <a:latin typeface="Times New Roman"/>
                <a:ea typeface="Times New Roman"/>
                <a:cs typeface="Times New Roman"/>
                <a:sym typeface="Times New Roman"/>
              </a:rPr>
              <a:t>l</a:t>
            </a:r>
            <a:r>
              <a:rPr lang="en-US" sz="2841" u="none">
                <a:solidFill>
                  <a:srgbClr val="000000"/>
                </a:solidFill>
                <a:latin typeface="Times New Roman"/>
                <a:ea typeface="Times New Roman"/>
                <a:cs typeface="Times New Roman"/>
                <a:sym typeface="Times New Roman"/>
              </a:rPr>
              <a:t> </a:t>
            </a:r>
            <a:r>
              <a:rPr lang="en-US" sz="2841">
                <a:solidFill>
                  <a:srgbClr val="000000"/>
                </a:solidFill>
                <a:latin typeface="Times New Roman"/>
                <a:ea typeface="Times New Roman"/>
                <a:cs typeface="Times New Roman"/>
                <a:sym typeface="Times New Roman"/>
              </a:rPr>
              <a:t>i</a:t>
            </a:r>
            <a:r>
              <a:rPr lang="en-US" sz="2841" u="none">
                <a:solidFill>
                  <a:srgbClr val="000000"/>
                </a:solidFill>
                <a:latin typeface="Times New Roman"/>
                <a:ea typeface="Times New Roman"/>
                <a:cs typeface="Times New Roman"/>
                <a:sym typeface="Times New Roman"/>
              </a:rPr>
              <a:t>ntera</a:t>
            </a:r>
            <a:r>
              <a:rPr lang="en-US" sz="2841">
                <a:solidFill>
                  <a:srgbClr val="000000"/>
                </a:solidFill>
                <a:latin typeface="Times New Roman"/>
                <a:ea typeface="Times New Roman"/>
                <a:cs typeface="Times New Roman"/>
                <a:sym typeface="Times New Roman"/>
              </a:rPr>
              <a:t>c</a:t>
            </a:r>
            <a:r>
              <a:rPr lang="en-US" sz="2841" u="none">
                <a:solidFill>
                  <a:srgbClr val="000000"/>
                </a:solidFill>
                <a:latin typeface="Times New Roman"/>
                <a:ea typeface="Times New Roman"/>
                <a:cs typeface="Times New Roman"/>
                <a:sym typeface="Times New Roman"/>
              </a:rPr>
              <a:t>tion</a:t>
            </a:r>
            <a:r>
              <a:rPr lang="en-US" sz="2841">
                <a:solidFill>
                  <a:srgbClr val="000000"/>
                </a:solidFill>
                <a:latin typeface="Times New Roman"/>
                <a:ea typeface="Times New Roman"/>
                <a:cs typeface="Times New Roman"/>
                <a:sym typeface="Times New Roman"/>
              </a:rPr>
              <a:t> logs.</a:t>
            </a:r>
          </a:p>
          <a:p>
            <a:pPr marL="3067418" lvl="5" indent="-511236" algn="l">
              <a:lnSpc>
                <a:spcPts val="3068"/>
              </a:lnSpc>
              <a:buFont typeface="Arial"/>
              <a:buChar char="⚬"/>
            </a:pPr>
            <a:r>
              <a:rPr lang="en-US" sz="2841">
                <a:solidFill>
                  <a:srgbClr val="000000"/>
                </a:solidFill>
                <a:latin typeface="Times New Roman"/>
                <a:ea typeface="Times New Roman"/>
                <a:cs typeface="Times New Roman"/>
                <a:sym typeface="Times New Roman"/>
              </a:rPr>
              <a:t>Required for training machine learning and deep learning recommendation models.</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10</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0" y="2341881"/>
            <a:ext cx="15799500" cy="5622287"/>
          </a:xfrm>
          <a:prstGeom prst="rect">
            <a:avLst/>
          </a:prstGeom>
        </p:spPr>
        <p:txBody>
          <a:bodyPr lIns="0" tIns="0" rIns="0" bIns="0" rtlCol="0" anchor="t">
            <a:spAutoFit/>
          </a:bodyPr>
          <a:lstStyle/>
          <a:p>
            <a:pPr algn="l">
              <a:lnSpc>
                <a:spcPts val="4904"/>
              </a:lnSpc>
            </a:pPr>
            <a:endParaRPr/>
          </a:p>
          <a:p>
            <a:pPr marL="2365323" lvl="2" indent="-788441" algn="l">
              <a:lnSpc>
                <a:spcPts val="4904"/>
              </a:lnSpc>
              <a:buFont typeface="Arial"/>
              <a:buChar char="⚬"/>
            </a:pPr>
            <a:r>
              <a:rPr lang="en-US" sz="4541" u="sng">
                <a:solidFill>
                  <a:srgbClr val="000000"/>
                </a:solidFill>
                <a:latin typeface="Times New Roman"/>
                <a:ea typeface="Times New Roman"/>
                <a:cs typeface="Times New Roman"/>
                <a:sym typeface="Times New Roman"/>
              </a:rPr>
              <a:t>Dataset Integration:</a:t>
            </a:r>
          </a:p>
          <a:p>
            <a:pPr marL="3922018" lvl="4" indent="-784404" algn="l">
              <a:lnSpc>
                <a:spcPts val="4904"/>
              </a:lnSpc>
              <a:buFont typeface="Arial"/>
              <a:buChar char="•"/>
            </a:pPr>
            <a:r>
              <a:rPr lang="en-US" sz="4541">
                <a:solidFill>
                  <a:srgbClr val="000000"/>
                </a:solidFill>
                <a:latin typeface="Times New Roman"/>
                <a:ea typeface="Times New Roman"/>
                <a:cs typeface="Times New Roman"/>
                <a:sym typeface="Times New Roman"/>
              </a:rPr>
              <a:t>All datasets are merged into a unified structured dataset.</a:t>
            </a:r>
          </a:p>
          <a:p>
            <a:pPr marL="3922018" lvl="4" indent="-784404" algn="l">
              <a:lnSpc>
                <a:spcPts val="4904"/>
              </a:lnSpc>
              <a:buFont typeface="Arial"/>
              <a:buChar char="•"/>
            </a:pPr>
            <a:r>
              <a:rPr lang="en-US" sz="4541">
                <a:solidFill>
                  <a:srgbClr val="000000"/>
                </a:solidFill>
                <a:latin typeface="Times New Roman"/>
                <a:ea typeface="Times New Roman"/>
                <a:cs typeface="Times New Roman"/>
                <a:sym typeface="Times New Roman"/>
              </a:rPr>
              <a:t>Consistent food identifiers are assigned across nutrition, safety, and interaction data.</a:t>
            </a:r>
          </a:p>
          <a:p>
            <a:pPr marL="3922018" lvl="4" indent="-784404" algn="l">
              <a:lnSpc>
                <a:spcPts val="4904"/>
              </a:lnSpc>
              <a:buFont typeface="Arial"/>
              <a:buChar char="•"/>
            </a:pPr>
            <a:r>
              <a:rPr lang="en-US" sz="4541">
                <a:solidFill>
                  <a:srgbClr val="000000"/>
                </a:solidFill>
                <a:latin typeface="Times New Roman"/>
                <a:ea typeface="Times New Roman"/>
                <a:cs typeface="Times New Roman"/>
                <a:sym typeface="Times New Roman"/>
              </a:rPr>
              <a:t>User attributes are aligned with interaction records to enable seamless feature extraction and model training.</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11</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241573"/>
            <a:ext cx="16230600" cy="6950621"/>
          </a:xfrm>
          <a:prstGeom prst="rect">
            <a:avLst/>
          </a:prstGeom>
        </p:spPr>
        <p:txBody>
          <a:bodyPr lIns="0" tIns="0" rIns="0" bIns="0" rtlCol="0" anchor="t">
            <a:spAutoFit/>
          </a:bodyPr>
          <a:lstStyle/>
          <a:p>
            <a:pPr marL="830176" lvl="1" indent="-514350" algn="l">
              <a:lnSpc>
                <a:spcPts val="3159"/>
              </a:lnSpc>
              <a:buFont typeface="+mj-lt"/>
              <a:buAutoNum type="arabicPeriod" startAt="2"/>
            </a:pPr>
            <a:r>
              <a:rPr lang="en-US" sz="2925" b="1" dirty="0">
                <a:solidFill>
                  <a:srgbClr val="000000"/>
                </a:solidFill>
                <a:latin typeface="Times New Roman Bold"/>
                <a:ea typeface="Times New Roman Bold"/>
                <a:cs typeface="Times New Roman Bold"/>
                <a:sym typeface="Times New Roman Bold"/>
              </a:rPr>
              <a:t>Data Preprocessing</a:t>
            </a:r>
          </a:p>
          <a:p>
            <a:pPr marL="657200" lvl="1" indent="-328600" algn="l">
              <a:lnSpc>
                <a:spcPts val="2960"/>
              </a:lnSpc>
            </a:pPr>
            <a:endParaRPr lang="en-US" sz="2925" b="1" dirty="0">
              <a:solidFill>
                <a:srgbClr val="000000"/>
              </a:solidFill>
              <a:latin typeface="Times New Roman Bold"/>
              <a:ea typeface="Times New Roman Bold"/>
              <a:cs typeface="Times New Roman Bold"/>
              <a:sym typeface="Times New Roman Bold"/>
            </a:endParaRPr>
          </a:p>
          <a:p>
            <a:pPr marL="1445430" lvl="1" indent="-722715" algn="l">
              <a:lnSpc>
                <a:spcPts val="2960"/>
              </a:lnSpc>
              <a:buFont typeface="Arial"/>
              <a:buChar char="•"/>
            </a:pPr>
            <a:r>
              <a:rPr lang="en-US" sz="2741" dirty="0">
                <a:solidFill>
                  <a:srgbClr val="000000"/>
                </a:solidFill>
                <a:latin typeface="Times New Roman"/>
                <a:ea typeface="Times New Roman"/>
                <a:cs typeface="Times New Roman"/>
                <a:sym typeface="Times New Roman"/>
              </a:rPr>
              <a:t>Data Cleaning</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Removed duplicate and inconsistent food records to ensure a reliable item catalog.</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Handled missing nutritional values using controlled imputation to maintain numerical stability.</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Eliminated invalid or incomplete user entries to prevent biased learning during model training.</a:t>
            </a:r>
          </a:p>
          <a:p>
            <a:pPr algn="l">
              <a:lnSpc>
                <a:spcPts val="2960"/>
              </a:lnSpc>
            </a:pPr>
            <a:endParaRPr lang="en-US" sz="2741" dirty="0">
              <a:solidFill>
                <a:srgbClr val="000000"/>
              </a:solidFill>
              <a:latin typeface="Times New Roman"/>
              <a:ea typeface="Times New Roman"/>
              <a:cs typeface="Times New Roman"/>
              <a:sym typeface="Times New Roman"/>
            </a:endParaRPr>
          </a:p>
          <a:p>
            <a:pPr marL="1445266" lvl="1" indent="-722633" algn="l">
              <a:lnSpc>
                <a:spcPts val="2960"/>
              </a:lnSpc>
              <a:buFont typeface="Arial"/>
              <a:buChar char="•"/>
            </a:pPr>
            <a:r>
              <a:rPr lang="en-US" sz="2741" dirty="0">
                <a:solidFill>
                  <a:srgbClr val="000000"/>
                </a:solidFill>
                <a:latin typeface="Times New Roman"/>
                <a:ea typeface="Times New Roman"/>
                <a:cs typeface="Times New Roman"/>
                <a:sym typeface="Times New Roman"/>
              </a:rPr>
              <a:t>Standardization &amp; Encoding</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Standardized nutrient values (calories, protein, fat, sugar, sodium) to common measurement units.</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Encoded categorical attributes such as region, cuisine type, health condition, and activity level into model-compatible formats.</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Assigned unique food identifiers to enable consistent mapping across nutrition, safety, and interaction datasets.</a:t>
            </a:r>
          </a:p>
          <a:p>
            <a:pPr algn="l">
              <a:lnSpc>
                <a:spcPts val="2960"/>
              </a:lnSpc>
            </a:pPr>
            <a:endParaRPr lang="en-US" sz="2741" dirty="0">
              <a:solidFill>
                <a:srgbClr val="000000"/>
              </a:solidFill>
              <a:latin typeface="Times New Roman"/>
              <a:ea typeface="Times New Roman"/>
              <a:cs typeface="Times New Roman"/>
              <a:sym typeface="Times New Roman"/>
            </a:endParaRPr>
          </a:p>
          <a:p>
            <a:pPr marL="1445266" lvl="1" indent="-722633" algn="l">
              <a:lnSpc>
                <a:spcPts val="2960"/>
              </a:lnSpc>
              <a:buFont typeface="Arial"/>
              <a:buChar char="•"/>
            </a:pPr>
            <a:r>
              <a:rPr lang="en-US" sz="2741" dirty="0">
                <a:solidFill>
                  <a:srgbClr val="000000"/>
                </a:solidFill>
                <a:latin typeface="Times New Roman"/>
                <a:ea typeface="Times New Roman"/>
                <a:cs typeface="Times New Roman"/>
                <a:sym typeface="Times New Roman"/>
              </a:rPr>
              <a:t>Health &amp; Safety Handling</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Flagged food items conflicting with declared user allergies as strict exclusion constraints.</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Marked foods unsuitable for specific health conditions to apply health-aware penalties.</a:t>
            </a:r>
          </a:p>
          <a:p>
            <a:pPr marL="2367577" lvl="4" indent="-473515" algn="l">
              <a:lnSpc>
                <a:spcPts val="2960"/>
              </a:lnSpc>
              <a:buFont typeface="Arial"/>
              <a:buChar char="•"/>
            </a:pPr>
            <a:r>
              <a:rPr lang="en-US" sz="2741" dirty="0">
                <a:solidFill>
                  <a:srgbClr val="000000"/>
                </a:solidFill>
                <a:latin typeface="Times New Roman"/>
                <a:ea typeface="Times New Roman"/>
                <a:cs typeface="Times New Roman"/>
                <a:sym typeface="Times New Roman"/>
              </a:rPr>
              <a:t>Integrated food safety alerts to penalize or filter high-risk food items during recommendation.</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12</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402200"/>
            <a:ext cx="16230600" cy="6519063"/>
          </a:xfrm>
          <a:prstGeom prst="rect">
            <a:avLst/>
          </a:prstGeom>
        </p:spPr>
        <p:txBody>
          <a:bodyPr lIns="0" tIns="0" rIns="0" bIns="0" rtlCol="0" anchor="t">
            <a:spAutoFit/>
          </a:bodyPr>
          <a:lstStyle/>
          <a:p>
            <a:pPr algn="l">
              <a:lnSpc>
                <a:spcPts val="3207"/>
              </a:lnSpc>
            </a:pPr>
            <a:r>
              <a:rPr lang="en-US" sz="3300" b="1">
                <a:solidFill>
                  <a:srgbClr val="000000"/>
                </a:solidFill>
                <a:latin typeface="Times New Roman Bold"/>
                <a:ea typeface="Times New Roman Bold"/>
                <a:cs typeface="Times New Roman Bold"/>
                <a:sym typeface="Times New Roman Bold"/>
              </a:rPr>
              <a:t>3.   Feature Extraction</a:t>
            </a:r>
          </a:p>
          <a:p>
            <a:pPr algn="l">
              <a:lnSpc>
                <a:spcPts val="2916"/>
              </a:lnSpc>
            </a:pPr>
            <a:endParaRPr lang="en-US" sz="3300" b="1">
              <a:solidFill>
                <a:srgbClr val="000000"/>
              </a:solidFill>
              <a:latin typeface="Times New Roman Bold"/>
              <a:ea typeface="Times New Roman Bold"/>
              <a:cs typeface="Times New Roman Bold"/>
              <a:sym typeface="Times New Roman Bold"/>
            </a:endParaRPr>
          </a:p>
          <a:p>
            <a:pPr marL="1287402" lvl="1" indent="-643701" algn="l">
              <a:lnSpc>
                <a:spcPts val="3240"/>
              </a:lnSpc>
              <a:buFont typeface="Arial"/>
              <a:buChar char="•"/>
            </a:pPr>
            <a:r>
              <a:rPr lang="en-US" sz="3000" b="1">
                <a:solidFill>
                  <a:srgbClr val="000000"/>
                </a:solidFill>
                <a:latin typeface="Times New Roman Bold"/>
                <a:ea typeface="Times New Roman Bold"/>
                <a:cs typeface="Times New Roman Bold"/>
                <a:sym typeface="Times New Roman Bold"/>
              </a:rPr>
              <a:t>Food Feature Embeddings</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Generated structured food representations using nutritional attributes such as calories, macronutrients, fiber, and sodium.</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Incorporated region and cuisine tags to preserve cultural and dietary relevance.</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Included food safety risk indicators as additional features for safety-aware ranking.</a:t>
            </a:r>
          </a:p>
          <a:p>
            <a:pPr algn="l">
              <a:lnSpc>
                <a:spcPts val="3240"/>
              </a:lnSpc>
            </a:pPr>
            <a:endParaRPr lang="en-US" sz="3000">
              <a:solidFill>
                <a:srgbClr val="000000"/>
              </a:solidFill>
              <a:latin typeface="Times New Roman"/>
              <a:ea typeface="Times New Roman"/>
              <a:cs typeface="Times New Roman"/>
              <a:sym typeface="Times New Roman"/>
            </a:endParaRPr>
          </a:p>
          <a:p>
            <a:pPr marL="1287402" lvl="1" indent="-643701" algn="l">
              <a:lnSpc>
                <a:spcPts val="3240"/>
              </a:lnSpc>
              <a:buFont typeface="Arial"/>
              <a:buChar char="•"/>
            </a:pPr>
            <a:r>
              <a:rPr lang="en-US" sz="3000" b="1">
                <a:solidFill>
                  <a:srgbClr val="000000"/>
                </a:solidFill>
                <a:latin typeface="Times New Roman Bold"/>
                <a:ea typeface="Times New Roman Bold"/>
                <a:cs typeface="Times New Roman Bold"/>
                <a:sym typeface="Times New Roman Bold"/>
              </a:rPr>
              <a:t>User Feature Representation</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Encoded user health conditions, dietary goals, allergies, and activity levels.</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Modeled lifestyle attributes to align recommendations with daily energy requirements.</a:t>
            </a:r>
          </a:p>
          <a:p>
            <a:pPr algn="l">
              <a:lnSpc>
                <a:spcPts val="3240"/>
              </a:lnSpc>
            </a:pPr>
            <a:endParaRPr lang="en-US" sz="3000">
              <a:solidFill>
                <a:srgbClr val="000000"/>
              </a:solidFill>
              <a:latin typeface="Times New Roman"/>
              <a:ea typeface="Times New Roman"/>
              <a:cs typeface="Times New Roman"/>
              <a:sym typeface="Times New Roman"/>
            </a:endParaRPr>
          </a:p>
          <a:p>
            <a:pPr marL="1287402" lvl="1" indent="-643701" algn="l">
              <a:lnSpc>
                <a:spcPts val="3240"/>
              </a:lnSpc>
              <a:buFont typeface="Arial"/>
              <a:buChar char="•"/>
            </a:pPr>
            <a:r>
              <a:rPr lang="en-US" sz="3000" b="1">
                <a:solidFill>
                  <a:srgbClr val="000000"/>
                </a:solidFill>
                <a:latin typeface="Times New Roman Bold"/>
                <a:ea typeface="Times New Roman Bold"/>
                <a:cs typeface="Times New Roman Bold"/>
                <a:sym typeface="Times New Roman Bold"/>
              </a:rPr>
              <a:t>Preference &amp; Context Features</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Utilized user–food interaction history (where available) to simulate preference learning.</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Integrated regional context to ensure recommendations remain region-specific and culturally appropriate.</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13</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64100"/>
            <a:ext cx="16230600" cy="6849237"/>
          </a:xfrm>
          <a:prstGeom prst="rect">
            <a:avLst/>
          </a:prstGeom>
        </p:spPr>
        <p:txBody>
          <a:bodyPr lIns="0" tIns="0" rIns="0" bIns="0" rtlCol="0" anchor="t">
            <a:spAutoFit/>
          </a:bodyPr>
          <a:lstStyle/>
          <a:p>
            <a:pPr algn="l">
              <a:lnSpc>
                <a:spcPts val="2808"/>
              </a:lnSpc>
            </a:pPr>
            <a:r>
              <a:rPr lang="en-US" sz="2600" b="1">
                <a:solidFill>
                  <a:srgbClr val="000000"/>
                </a:solidFill>
                <a:latin typeface="Times New Roman Bold"/>
                <a:ea typeface="Times New Roman Bold"/>
                <a:cs typeface="Times New Roman Bold"/>
                <a:sym typeface="Times New Roman Bold"/>
              </a:rPr>
              <a:t>4.	Model Development</a:t>
            </a:r>
          </a:p>
          <a:p>
            <a:pPr algn="l">
              <a:lnSpc>
                <a:spcPts val="2484"/>
              </a:lnSpc>
            </a:pPr>
            <a:endParaRPr lang="en-US" sz="2600" b="1">
              <a:solidFill>
                <a:srgbClr val="000000"/>
              </a:solidFill>
              <a:latin typeface="Times New Roman Bold"/>
              <a:ea typeface="Times New Roman Bold"/>
              <a:cs typeface="Times New Roman Bold"/>
              <a:sym typeface="Times New Roman Bold"/>
            </a:endParaRPr>
          </a:p>
          <a:p>
            <a:pPr marL="496575" lvl="1" indent="-248288" algn="l">
              <a:lnSpc>
                <a:spcPts val="2760"/>
              </a:lnSpc>
              <a:buFont typeface="Arial"/>
              <a:buChar char="•"/>
            </a:pPr>
            <a:r>
              <a:rPr lang="en-US" sz="2300" b="1">
                <a:solidFill>
                  <a:srgbClr val="000000"/>
                </a:solidFill>
                <a:latin typeface="Times New Roman Bold"/>
                <a:ea typeface="Times New Roman Bold"/>
                <a:cs typeface="Times New Roman Bold"/>
                <a:sym typeface="Times New Roman Bold"/>
              </a:rPr>
              <a:t>Recommendation Models Used:</a:t>
            </a:r>
          </a:p>
          <a:p>
            <a:pPr marL="993151" lvl="2" indent="-331050" algn="l">
              <a:lnSpc>
                <a:spcPts val="2760"/>
              </a:lnSpc>
              <a:buFont typeface="Arial"/>
              <a:buChar char="⚬"/>
            </a:pPr>
            <a:r>
              <a:rPr lang="en-US" sz="2300">
                <a:solidFill>
                  <a:srgbClr val="000000"/>
                </a:solidFill>
                <a:latin typeface="Times New Roman"/>
                <a:ea typeface="Times New Roman"/>
                <a:cs typeface="Times New Roman"/>
                <a:sym typeface="Times New Roman"/>
              </a:rPr>
              <a:t>Collaborative Filtering (Matrix Factorization)</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Learns long-term user preference patterns from user–food interaction data.</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Captures stable consumption behavior using latent user and food embeddings.</a:t>
            </a:r>
          </a:p>
          <a:p>
            <a:pPr marL="993151" lvl="2" indent="-331050" algn="l">
              <a:lnSpc>
                <a:spcPts val="2760"/>
              </a:lnSpc>
              <a:buFont typeface="Arial"/>
              <a:buChar char="⚬"/>
            </a:pPr>
            <a:r>
              <a:rPr lang="en-US" sz="2300">
                <a:solidFill>
                  <a:srgbClr val="000000"/>
                </a:solidFill>
                <a:latin typeface="Times New Roman"/>
                <a:ea typeface="Times New Roman"/>
                <a:cs typeface="Times New Roman"/>
                <a:sym typeface="Times New Roman"/>
              </a:rPr>
              <a:t>Sequence-Based Modeling (Transformer Architecture)</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Models short-term eating behavior by learning sequential food consumption patterns.</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Uses attention mechanisms to focus on recent and relevant food choices.</a:t>
            </a:r>
          </a:p>
          <a:p>
            <a:pPr marL="993151" lvl="2" indent="-331050" algn="l">
              <a:lnSpc>
                <a:spcPts val="2760"/>
              </a:lnSpc>
              <a:buFont typeface="Arial"/>
              <a:buChar char="⚬"/>
            </a:pPr>
            <a:r>
              <a:rPr lang="en-US" sz="2300">
                <a:solidFill>
                  <a:srgbClr val="000000"/>
                </a:solidFill>
                <a:latin typeface="Times New Roman"/>
                <a:ea typeface="Times New Roman"/>
                <a:cs typeface="Times New Roman"/>
                <a:sym typeface="Times New Roman"/>
              </a:rPr>
              <a:t>Content-Based Similarity Models</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Leverages nutritional, regional, and categorical food attributes.</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Supports cold-start users and newly introduced food items.</a:t>
            </a:r>
          </a:p>
          <a:p>
            <a:pPr algn="l">
              <a:lnSpc>
                <a:spcPts val="2760"/>
              </a:lnSpc>
            </a:pPr>
            <a:endParaRPr lang="en-US" sz="2300">
              <a:solidFill>
                <a:srgbClr val="000000"/>
              </a:solidFill>
              <a:latin typeface="Times New Roman"/>
              <a:ea typeface="Times New Roman"/>
              <a:cs typeface="Times New Roman"/>
              <a:sym typeface="Times New Roman"/>
            </a:endParaRPr>
          </a:p>
          <a:p>
            <a:pPr marL="496575" lvl="1" indent="-248288" algn="l">
              <a:lnSpc>
                <a:spcPts val="2760"/>
              </a:lnSpc>
              <a:buFont typeface="Arial"/>
              <a:buChar char="•"/>
            </a:pPr>
            <a:r>
              <a:rPr lang="en-US" sz="2300">
                <a:solidFill>
                  <a:srgbClr val="000000"/>
                </a:solidFill>
                <a:latin typeface="Times New Roman"/>
                <a:ea typeface="Times New Roman"/>
                <a:cs typeface="Times New Roman"/>
                <a:sym typeface="Times New Roman"/>
              </a:rPr>
              <a:t>Hybrid Recommendation Strategy</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Combined outputs from collaborative filtering, sequence modeling, and content-based similarity models.</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Enforced health-condition penalties, allergy-based filtering, and food safety constraints during ranking.</a:t>
            </a:r>
          </a:p>
          <a:p>
            <a:pPr marL="1489726" lvl="3" indent="-372432" algn="l">
              <a:lnSpc>
                <a:spcPts val="2760"/>
              </a:lnSpc>
              <a:buFont typeface="Arial"/>
              <a:buChar char="￭"/>
            </a:pPr>
            <a:r>
              <a:rPr lang="en-US" sz="2300">
                <a:solidFill>
                  <a:srgbClr val="000000"/>
                </a:solidFill>
                <a:latin typeface="Times New Roman"/>
                <a:ea typeface="Times New Roman"/>
                <a:cs typeface="Times New Roman"/>
                <a:sym typeface="Times New Roman"/>
              </a:rPr>
              <a:t>Final recommendation score balances:</a:t>
            </a:r>
          </a:p>
          <a:p>
            <a:pPr marL="1986302" lvl="4" indent="-397260" algn="l">
              <a:lnSpc>
                <a:spcPts val="2760"/>
              </a:lnSpc>
              <a:buFont typeface="Arial"/>
              <a:buChar char="•"/>
            </a:pPr>
            <a:r>
              <a:rPr lang="en-US" sz="2300">
                <a:solidFill>
                  <a:srgbClr val="000000"/>
                </a:solidFill>
                <a:latin typeface="Times New Roman"/>
                <a:ea typeface="Times New Roman"/>
                <a:cs typeface="Times New Roman"/>
                <a:sym typeface="Times New Roman"/>
              </a:rPr>
              <a:t>Preference relevance</a:t>
            </a:r>
          </a:p>
          <a:p>
            <a:pPr marL="1986302" lvl="4" indent="-397260" algn="l">
              <a:lnSpc>
                <a:spcPts val="2760"/>
              </a:lnSpc>
              <a:buFont typeface="Arial"/>
              <a:buChar char="•"/>
            </a:pPr>
            <a:r>
              <a:rPr lang="en-US" sz="2300">
                <a:solidFill>
                  <a:srgbClr val="000000"/>
                </a:solidFill>
                <a:latin typeface="Times New Roman"/>
                <a:ea typeface="Times New Roman"/>
                <a:cs typeface="Times New Roman"/>
                <a:sym typeface="Times New Roman"/>
              </a:rPr>
              <a:t>Nutritional suitability</a:t>
            </a:r>
          </a:p>
          <a:p>
            <a:pPr marL="1986302" lvl="4" indent="-397260" algn="l">
              <a:lnSpc>
                <a:spcPts val="2760"/>
              </a:lnSpc>
              <a:buFont typeface="Arial"/>
              <a:buChar char="•"/>
            </a:pPr>
            <a:r>
              <a:rPr lang="en-US" sz="2300">
                <a:solidFill>
                  <a:srgbClr val="000000"/>
                </a:solidFill>
                <a:latin typeface="Times New Roman"/>
                <a:ea typeface="Times New Roman"/>
                <a:cs typeface="Times New Roman"/>
                <a:sym typeface="Times New Roman"/>
              </a:rPr>
              <a:t>Regional and cultural context</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62"/>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14</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73625"/>
            <a:ext cx="16230600" cy="6806946"/>
          </a:xfrm>
          <a:prstGeom prst="rect">
            <a:avLst/>
          </a:prstGeom>
        </p:spPr>
        <p:txBody>
          <a:bodyPr lIns="0" tIns="0" rIns="0" bIns="0" rtlCol="0" anchor="t">
            <a:spAutoFit/>
          </a:bodyPr>
          <a:lstStyle/>
          <a:p>
            <a:pPr algn="l">
              <a:lnSpc>
                <a:spcPts val="3564"/>
              </a:lnSpc>
            </a:pPr>
            <a:r>
              <a:rPr lang="en-US" sz="3300" b="1">
                <a:solidFill>
                  <a:srgbClr val="000000"/>
                </a:solidFill>
                <a:latin typeface="Times New Roman Bold"/>
                <a:ea typeface="Times New Roman Bold"/>
                <a:cs typeface="Times New Roman Bold"/>
                <a:sym typeface="Times New Roman Bold"/>
              </a:rPr>
              <a:t>5. Attention-Based Fusion Mechanism</a:t>
            </a:r>
          </a:p>
          <a:p>
            <a:pPr algn="l">
              <a:lnSpc>
                <a:spcPts val="3240"/>
              </a:lnSpc>
            </a:pPr>
            <a:endParaRPr lang="en-US" sz="3300" b="1">
              <a:solidFill>
                <a:srgbClr val="000000"/>
              </a:solidFill>
              <a:latin typeface="Times New Roman Bold"/>
              <a:ea typeface="Times New Roman Bold"/>
              <a:cs typeface="Times New Roman Bold"/>
              <a:sym typeface="Times New Roman Bold"/>
            </a:endParaRPr>
          </a:p>
          <a:p>
            <a:pPr marL="1287402" lvl="1" indent="-643701" algn="l">
              <a:lnSpc>
                <a:spcPts val="3600"/>
              </a:lnSpc>
              <a:buFont typeface="Arial"/>
              <a:buChar char="•"/>
            </a:pPr>
            <a:r>
              <a:rPr lang="en-US" sz="3000" b="1">
                <a:solidFill>
                  <a:srgbClr val="000000"/>
                </a:solidFill>
                <a:latin typeface="Times New Roman Bold"/>
                <a:ea typeface="Times New Roman Bold"/>
                <a:cs typeface="Times New Roman Bold"/>
                <a:sym typeface="Times New Roman Bold"/>
              </a:rPr>
              <a:t>A</a:t>
            </a:r>
            <a:r>
              <a:rPr lang="en-US" sz="3000">
                <a:solidFill>
                  <a:srgbClr val="000000"/>
                </a:solidFill>
                <a:latin typeface="Times New Roman"/>
                <a:ea typeface="Times New Roman"/>
                <a:cs typeface="Times New Roman"/>
                <a:sym typeface="Times New Roman"/>
              </a:rPr>
              <a:t>pplied an attention-based fusion layer to combine:</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Sequence-level food consumption representation</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Static user preference embedding</a:t>
            </a:r>
          </a:p>
          <a:p>
            <a:pPr marL="1287402" lvl="1" indent="-643701" algn="l">
              <a:lnSpc>
                <a:spcPts val="3600"/>
              </a:lnSpc>
              <a:buFont typeface="Arial"/>
              <a:buChar char="•"/>
            </a:pPr>
            <a:r>
              <a:rPr lang="en-US" sz="3000">
                <a:solidFill>
                  <a:srgbClr val="000000"/>
                </a:solidFill>
                <a:latin typeface="Times New Roman"/>
                <a:ea typeface="Times New Roman"/>
                <a:cs typeface="Times New Roman"/>
                <a:sym typeface="Times New Roman"/>
              </a:rPr>
              <a:t>Attention mechanism dynamically learns the relative importance of:</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Recent eating behavior</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Long-term preference patterns</a:t>
            </a:r>
          </a:p>
          <a:p>
            <a:pPr marL="1287402" lvl="1" indent="-643701" algn="l">
              <a:lnSpc>
                <a:spcPts val="3600"/>
              </a:lnSpc>
              <a:buFont typeface="Arial"/>
              <a:buChar char="•"/>
            </a:pPr>
            <a:r>
              <a:rPr lang="en-US" sz="3000">
                <a:solidFill>
                  <a:srgbClr val="000000"/>
                </a:solidFill>
                <a:latin typeface="Times New Roman"/>
                <a:ea typeface="Times New Roman"/>
                <a:cs typeface="Times New Roman"/>
                <a:sym typeface="Times New Roman"/>
              </a:rPr>
              <a:t>Produces a unified representation used for final recommendation scoring.</a:t>
            </a:r>
          </a:p>
          <a:p>
            <a:pPr algn="l">
              <a:lnSpc>
                <a:spcPts val="3600"/>
              </a:lnSpc>
            </a:pPr>
            <a:endParaRPr lang="en-US" sz="3000">
              <a:solidFill>
                <a:srgbClr val="000000"/>
              </a:solidFill>
              <a:latin typeface="Times New Roman"/>
              <a:ea typeface="Times New Roman"/>
              <a:cs typeface="Times New Roman"/>
              <a:sym typeface="Times New Roman"/>
            </a:endParaRPr>
          </a:p>
          <a:p>
            <a:pPr algn="l">
              <a:lnSpc>
                <a:spcPts val="3600"/>
              </a:lnSpc>
            </a:pPr>
            <a:r>
              <a:rPr lang="en-US" sz="3000" b="1">
                <a:solidFill>
                  <a:srgbClr val="000000"/>
                </a:solidFill>
                <a:latin typeface="Times New Roman Bold"/>
                <a:ea typeface="Times New Roman Bold"/>
                <a:cs typeface="Times New Roman Bold"/>
                <a:sym typeface="Times New Roman Bold"/>
              </a:rPr>
              <a:t>6. Model Training &amp; Evaluation</a:t>
            </a:r>
          </a:p>
          <a:p>
            <a:pPr marL="1295403" lvl="2" indent="-431801" algn="l">
              <a:lnSpc>
                <a:spcPts val="3600"/>
              </a:lnSpc>
              <a:buFont typeface="Arial"/>
              <a:buChar char="⚬"/>
            </a:pPr>
            <a:r>
              <a:rPr lang="en-US" sz="3000">
                <a:solidFill>
                  <a:srgbClr val="000000"/>
                </a:solidFill>
                <a:latin typeface="Times New Roman"/>
                <a:ea typeface="Times New Roman"/>
                <a:cs typeface="Times New Roman"/>
                <a:sym typeface="Times New Roman"/>
              </a:rPr>
              <a:t>Training Process</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Models are trained independently using neural network-based optimization techniques.</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Matrix Factorization uses interaction-based loss functions.</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Sequence model uses cross-entropy loss for next-food prediction.</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15</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64100"/>
            <a:ext cx="16230600" cy="3549472"/>
          </a:xfrm>
          <a:prstGeom prst="rect">
            <a:avLst/>
          </a:prstGeom>
        </p:spPr>
        <p:txBody>
          <a:bodyPr lIns="0" tIns="0" rIns="0" bIns="0" rtlCol="0" anchor="t">
            <a:spAutoFit/>
          </a:bodyPr>
          <a:lstStyle/>
          <a:p>
            <a:pPr marL="627189" lvl="1" indent="-313594" algn="l">
              <a:lnSpc>
                <a:spcPts val="3137"/>
              </a:lnSpc>
              <a:buFont typeface="Arial"/>
              <a:buChar char="•"/>
            </a:pPr>
            <a:r>
              <a:rPr lang="en-US" sz="2904">
                <a:solidFill>
                  <a:srgbClr val="000000"/>
                </a:solidFill>
                <a:latin typeface="Times New Roman"/>
                <a:ea typeface="Times New Roman"/>
                <a:cs typeface="Times New Roman"/>
                <a:sym typeface="Times New Roman"/>
              </a:rPr>
              <a:t>Evaluation Approach</a:t>
            </a:r>
          </a:p>
          <a:p>
            <a:pPr marL="1254378" lvl="2" indent="-418126" algn="l">
              <a:lnSpc>
                <a:spcPts val="3137"/>
              </a:lnSpc>
              <a:buFont typeface="Arial"/>
              <a:buChar char="⚬"/>
            </a:pPr>
            <a:r>
              <a:rPr lang="en-US" sz="2904">
                <a:solidFill>
                  <a:srgbClr val="000000"/>
                </a:solidFill>
                <a:latin typeface="Times New Roman"/>
                <a:ea typeface="Times New Roman"/>
                <a:cs typeface="Times New Roman"/>
                <a:sym typeface="Times New Roman"/>
              </a:rPr>
              <a:t>Model Evaluation Strategy</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Model performance is evaluated using training loss convergence across epochs.</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A monotonically decreasing loss curve indicates:</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Stable gradient updates</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Effective feature learning</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Absence of model divergence</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Since the system is recommendation-based, loss behavior is the primary indicator of learning quality rather than classification accuracy.</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16</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Freeform 15"/>
          <p:cNvSpPr/>
          <p:nvPr/>
        </p:nvSpPr>
        <p:spPr>
          <a:xfrm>
            <a:off x="5540012" y="8549675"/>
            <a:ext cx="7207975" cy="922280"/>
          </a:xfrm>
          <a:custGeom>
            <a:avLst/>
            <a:gdLst/>
            <a:ahLst/>
            <a:cxnLst/>
            <a:rect l="l" t="t" r="r" b="b"/>
            <a:pathLst>
              <a:path w="7207975" h="922280">
                <a:moveTo>
                  <a:pt x="0" y="0"/>
                </a:moveTo>
                <a:lnTo>
                  <a:pt x="7207976" y="0"/>
                </a:lnTo>
                <a:lnTo>
                  <a:pt x="7207976" y="922281"/>
                </a:lnTo>
                <a:lnTo>
                  <a:pt x="0" y="922281"/>
                </a:lnTo>
                <a:lnTo>
                  <a:pt x="0" y="0"/>
                </a:lnTo>
                <a:close/>
              </a:path>
            </a:pathLst>
          </a:custGeom>
          <a:blipFill>
            <a:blip r:embed="rId3"/>
            <a:stretch>
              <a:fillRect/>
            </a:stretch>
          </a:blipFill>
        </p:spPr>
      </p:sp>
      <p:sp>
        <p:nvSpPr>
          <p:cNvPr id="16" name="TextBox 16"/>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17" name="TextBox 17"/>
          <p:cNvSpPr txBox="1"/>
          <p:nvPr/>
        </p:nvSpPr>
        <p:spPr>
          <a:xfrm>
            <a:off x="1028700" y="6228928"/>
            <a:ext cx="16230600" cy="2377897"/>
          </a:xfrm>
          <a:prstGeom prst="rect">
            <a:avLst/>
          </a:prstGeom>
        </p:spPr>
        <p:txBody>
          <a:bodyPr lIns="0" tIns="0" rIns="0" bIns="0" rtlCol="0" anchor="t">
            <a:spAutoFit/>
          </a:bodyPr>
          <a:lstStyle/>
          <a:p>
            <a:pPr marL="1254378" lvl="2" indent="-418126" algn="l">
              <a:lnSpc>
                <a:spcPts val="3137"/>
              </a:lnSpc>
              <a:buFont typeface="Arial"/>
              <a:buChar char="⚬"/>
            </a:pPr>
            <a:r>
              <a:rPr lang="en-US" sz="2904">
                <a:solidFill>
                  <a:srgbClr val="000000"/>
                </a:solidFill>
                <a:latin typeface="Times New Roman"/>
                <a:ea typeface="Times New Roman"/>
                <a:cs typeface="Times New Roman"/>
                <a:sym typeface="Times New Roman"/>
              </a:rPr>
              <a:t>Matrix Factorization (MF) – Loss Function</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The MF model is trained using Binary Cross-Entropy Loss with Logits.</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Each user–food interaction is modeled as:</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Positive interaction (label = 1)</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Negative sampled interaction (label = 0)</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Loss Formula: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17</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4" name="Freeform 14"/>
          <p:cNvSpPr/>
          <p:nvPr/>
        </p:nvSpPr>
        <p:spPr>
          <a:xfrm>
            <a:off x="12282794" y="7673054"/>
            <a:ext cx="1395518" cy="536738"/>
          </a:xfrm>
          <a:custGeom>
            <a:avLst/>
            <a:gdLst/>
            <a:ahLst/>
            <a:cxnLst/>
            <a:rect l="l" t="t" r="r" b="b"/>
            <a:pathLst>
              <a:path w="1395518" h="536738">
                <a:moveTo>
                  <a:pt x="0" y="0"/>
                </a:moveTo>
                <a:lnTo>
                  <a:pt x="1395518" y="0"/>
                </a:lnTo>
                <a:lnTo>
                  <a:pt x="1395518" y="536738"/>
                </a:lnTo>
                <a:lnTo>
                  <a:pt x="0" y="536738"/>
                </a:lnTo>
                <a:lnTo>
                  <a:pt x="0" y="0"/>
                </a:lnTo>
                <a:close/>
              </a:path>
            </a:pathLst>
          </a:custGeom>
          <a:blipFill>
            <a:blip r:embed="rId3"/>
            <a:stretch>
              <a:fillRect/>
            </a:stretch>
          </a:blipFill>
        </p:spPr>
      </p:sp>
      <p:sp>
        <p:nvSpPr>
          <p:cNvPr id="15" name="TextBox 15"/>
          <p:cNvSpPr txBox="1"/>
          <p:nvPr/>
        </p:nvSpPr>
        <p:spPr>
          <a:xfrm>
            <a:off x="12406420" y="7394064"/>
            <a:ext cx="5219700" cy="1543050"/>
          </a:xfrm>
          <a:prstGeom prst="rect">
            <a:avLst/>
          </a:prstGeom>
        </p:spPr>
        <p:txBody>
          <a:bodyPr lIns="0" tIns="0" rIns="0" bIns="0" rtlCol="0" anchor="t">
            <a:spAutoFit/>
          </a:bodyPr>
          <a:lstStyle/>
          <a:p>
            <a:pPr algn="l">
              <a:lnSpc>
                <a:spcPts val="3016"/>
              </a:lnSpc>
              <a:spcBef>
                <a:spcPct val="0"/>
              </a:spcBef>
            </a:pPr>
            <a:r>
              <a:rPr lang="en-US" sz="2513">
                <a:solidFill>
                  <a:srgbClr val="000000"/>
                </a:solidFill>
                <a:latin typeface="Times New Roman"/>
                <a:ea typeface="Times New Roman"/>
                <a:cs typeface="Times New Roman"/>
                <a:sym typeface="Times New Roman"/>
              </a:rPr>
              <a:t>Where:</a:t>
            </a:r>
          </a:p>
          <a:p>
            <a:pPr algn="l">
              <a:lnSpc>
                <a:spcPts val="3016"/>
              </a:lnSpc>
              <a:spcBef>
                <a:spcPct val="0"/>
              </a:spcBef>
            </a:pPr>
            <a:r>
              <a:rPr lang="en-US" sz="2513">
                <a:solidFill>
                  <a:srgbClr val="000000"/>
                </a:solidFill>
                <a:latin typeface="Times New Roman"/>
                <a:ea typeface="Times New Roman"/>
                <a:cs typeface="Times New Roman"/>
                <a:sym typeface="Times New Roman"/>
              </a:rPr>
              <a:t>​                  → predicted interaction score</a:t>
            </a:r>
          </a:p>
          <a:p>
            <a:pPr algn="l">
              <a:lnSpc>
                <a:spcPts val="3016"/>
              </a:lnSpc>
              <a:spcBef>
                <a:spcPct val="0"/>
              </a:spcBef>
            </a:pPr>
            <a:r>
              <a:rPr lang="en-US" sz="2513">
                <a:solidFill>
                  <a:srgbClr val="000000"/>
                </a:solidFill>
                <a:latin typeface="Times New Roman"/>
                <a:ea typeface="Times New Roman"/>
                <a:cs typeface="Times New Roman"/>
                <a:sym typeface="Times New Roman"/>
              </a:rPr>
              <a:t>            → user and food embeddings</a:t>
            </a:r>
          </a:p>
          <a:p>
            <a:pPr algn="l">
              <a:lnSpc>
                <a:spcPts val="3016"/>
              </a:lnSpc>
              <a:spcBef>
                <a:spcPct val="0"/>
              </a:spcBef>
            </a:pPr>
            <a:r>
              <a:rPr lang="en-US" sz="2513">
                <a:solidFill>
                  <a:srgbClr val="000000"/>
                </a:solidFill>
                <a:latin typeface="Times New Roman"/>
                <a:ea typeface="Times New Roman"/>
                <a:cs typeface="Times New Roman"/>
                <a:sym typeface="Times New Roman"/>
              </a:rPr>
              <a:t>σ(⋅) → sigmoid activation</a:t>
            </a:r>
          </a:p>
        </p:txBody>
      </p:sp>
      <p:sp>
        <p:nvSpPr>
          <p:cNvPr id="16" name="TextBox 16"/>
          <p:cNvSpPr txBox="1"/>
          <p:nvPr/>
        </p:nvSpPr>
        <p:spPr>
          <a:xfrm>
            <a:off x="1028700" y="6228928"/>
            <a:ext cx="16230600" cy="2377897"/>
          </a:xfrm>
          <a:prstGeom prst="rect">
            <a:avLst/>
          </a:prstGeom>
        </p:spPr>
        <p:txBody>
          <a:bodyPr lIns="0" tIns="0" rIns="0" bIns="0" rtlCol="0" anchor="t">
            <a:spAutoFit/>
          </a:bodyPr>
          <a:lstStyle/>
          <a:p>
            <a:pPr marL="1254378" lvl="2" indent="-418126" algn="l">
              <a:lnSpc>
                <a:spcPts val="3137"/>
              </a:lnSpc>
              <a:buFont typeface="Arial"/>
              <a:buChar char="⚬"/>
            </a:pPr>
            <a:r>
              <a:rPr lang="en-US" sz="2904" b="1">
                <a:solidFill>
                  <a:srgbClr val="000000"/>
                </a:solidFill>
                <a:latin typeface="Times New Roman Bold"/>
                <a:ea typeface="Times New Roman Bold"/>
                <a:cs typeface="Times New Roman Bold"/>
                <a:sym typeface="Times New Roman Bold"/>
              </a:rPr>
              <a:t>Matrix Factorization (MF) – Loss Function</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The MF model is trained using Binary Cross-Entropy Loss with Logits.</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Each user–food interaction is modeled as:</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Positive interaction (label = 1)</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Negative sampled interaction (label = 0)</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Loss Formula:</a:t>
            </a:r>
          </a:p>
        </p:txBody>
      </p:sp>
      <p:sp>
        <p:nvSpPr>
          <p:cNvPr id="17" name="Freeform 17"/>
          <p:cNvSpPr/>
          <p:nvPr/>
        </p:nvSpPr>
        <p:spPr>
          <a:xfrm>
            <a:off x="4258396" y="8549675"/>
            <a:ext cx="7207975" cy="922280"/>
          </a:xfrm>
          <a:custGeom>
            <a:avLst/>
            <a:gdLst/>
            <a:ahLst/>
            <a:cxnLst/>
            <a:rect l="l" t="t" r="r" b="b"/>
            <a:pathLst>
              <a:path w="7207975" h="922280">
                <a:moveTo>
                  <a:pt x="0" y="0"/>
                </a:moveTo>
                <a:lnTo>
                  <a:pt x="7207976" y="0"/>
                </a:lnTo>
                <a:lnTo>
                  <a:pt x="7207976" y="922281"/>
                </a:lnTo>
                <a:lnTo>
                  <a:pt x="0" y="922281"/>
                </a:lnTo>
                <a:lnTo>
                  <a:pt x="0" y="0"/>
                </a:lnTo>
                <a:close/>
              </a:path>
            </a:pathLst>
          </a:custGeom>
          <a:blipFill>
            <a:blip r:embed="rId4"/>
            <a:stretch>
              <a:fillRect/>
            </a:stretch>
          </a:blipFill>
        </p:spPr>
      </p:sp>
      <p:sp>
        <p:nvSpPr>
          <p:cNvPr id="18" name="Freeform 18"/>
          <p:cNvSpPr/>
          <p:nvPr/>
        </p:nvSpPr>
        <p:spPr>
          <a:xfrm>
            <a:off x="12282794" y="8117964"/>
            <a:ext cx="952742" cy="431711"/>
          </a:xfrm>
          <a:custGeom>
            <a:avLst/>
            <a:gdLst/>
            <a:ahLst/>
            <a:cxnLst/>
            <a:rect l="l" t="t" r="r" b="b"/>
            <a:pathLst>
              <a:path w="952742" h="431711">
                <a:moveTo>
                  <a:pt x="0" y="0"/>
                </a:moveTo>
                <a:lnTo>
                  <a:pt x="952741" y="0"/>
                </a:lnTo>
                <a:lnTo>
                  <a:pt x="952741" y="431711"/>
                </a:lnTo>
                <a:lnTo>
                  <a:pt x="0" y="431711"/>
                </a:lnTo>
                <a:lnTo>
                  <a:pt x="0" y="0"/>
                </a:lnTo>
                <a:close/>
              </a:path>
            </a:pathLst>
          </a:custGeom>
          <a:blipFill>
            <a:blip r:embed="rId5"/>
            <a:stretch>
              <a:fillRect/>
            </a:stretch>
          </a:blipFill>
        </p:spPr>
      </p:sp>
      <p:sp>
        <p:nvSpPr>
          <p:cNvPr id="19" name="TextBox 19"/>
          <p:cNvSpPr txBox="1"/>
          <p:nvPr/>
        </p:nvSpPr>
        <p:spPr>
          <a:xfrm>
            <a:off x="1028700" y="2364100"/>
            <a:ext cx="16230600" cy="3549472"/>
          </a:xfrm>
          <a:prstGeom prst="rect">
            <a:avLst/>
          </a:prstGeom>
        </p:spPr>
        <p:txBody>
          <a:bodyPr lIns="0" tIns="0" rIns="0" bIns="0" rtlCol="0" anchor="t">
            <a:spAutoFit/>
          </a:bodyPr>
          <a:lstStyle/>
          <a:p>
            <a:pPr marL="627189" lvl="1" indent="-313594" algn="l">
              <a:lnSpc>
                <a:spcPts val="3137"/>
              </a:lnSpc>
              <a:buFont typeface="Arial"/>
              <a:buChar char="•"/>
            </a:pPr>
            <a:r>
              <a:rPr lang="en-US" sz="2904" b="1">
                <a:solidFill>
                  <a:srgbClr val="000000"/>
                </a:solidFill>
                <a:latin typeface="Times New Roman Bold"/>
                <a:ea typeface="Times New Roman Bold"/>
                <a:cs typeface="Times New Roman Bold"/>
                <a:sym typeface="Times New Roman Bold"/>
              </a:rPr>
              <a:t>Evaluation Approach</a:t>
            </a:r>
          </a:p>
          <a:p>
            <a:pPr marL="1254378" lvl="2" indent="-418126" algn="l">
              <a:lnSpc>
                <a:spcPts val="3137"/>
              </a:lnSpc>
              <a:buFont typeface="Arial"/>
              <a:buChar char="⚬"/>
            </a:pPr>
            <a:r>
              <a:rPr lang="en-US" sz="2904" b="1">
                <a:solidFill>
                  <a:srgbClr val="000000"/>
                </a:solidFill>
                <a:latin typeface="Times New Roman Bold"/>
                <a:ea typeface="Times New Roman Bold"/>
                <a:cs typeface="Times New Roman Bold"/>
                <a:sym typeface="Times New Roman Bold"/>
              </a:rPr>
              <a:t>Model Evaluation Strategy</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Model performance is evaluated using training loss convergence across epochs.</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A monotonically decreasing loss curve indicates:</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Stable gradient updates</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Effective feature learning</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Absence of model divergence</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Since the system is recommendation-based, loss behavior is the primary indicator of learning quality rather than classification accuracy.</a:t>
            </a:r>
          </a:p>
        </p:txBody>
      </p:sp>
      <p:sp>
        <p:nvSpPr>
          <p:cNvPr id="20" name="TextBox 20"/>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18</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4" name="Freeform 14"/>
          <p:cNvSpPr/>
          <p:nvPr/>
        </p:nvSpPr>
        <p:spPr>
          <a:xfrm>
            <a:off x="4355538" y="4046672"/>
            <a:ext cx="4297493" cy="1016374"/>
          </a:xfrm>
          <a:custGeom>
            <a:avLst/>
            <a:gdLst/>
            <a:ahLst/>
            <a:cxnLst/>
            <a:rect l="l" t="t" r="r" b="b"/>
            <a:pathLst>
              <a:path w="4297493" h="1016374">
                <a:moveTo>
                  <a:pt x="0" y="0"/>
                </a:moveTo>
                <a:lnTo>
                  <a:pt x="4297493" y="0"/>
                </a:lnTo>
                <a:lnTo>
                  <a:pt x="4297493" y="1016374"/>
                </a:lnTo>
                <a:lnTo>
                  <a:pt x="0" y="1016374"/>
                </a:lnTo>
                <a:lnTo>
                  <a:pt x="0" y="0"/>
                </a:lnTo>
                <a:close/>
              </a:path>
            </a:pathLst>
          </a:custGeom>
          <a:blipFill>
            <a:blip r:embed="rId3"/>
            <a:stretch>
              <a:fillRect/>
            </a:stretch>
          </a:blipFill>
        </p:spPr>
      </p:sp>
      <p:sp>
        <p:nvSpPr>
          <p:cNvPr id="15" name="Freeform 15"/>
          <p:cNvSpPr/>
          <p:nvPr/>
        </p:nvSpPr>
        <p:spPr>
          <a:xfrm>
            <a:off x="5679940" y="8012443"/>
            <a:ext cx="4298767" cy="611977"/>
          </a:xfrm>
          <a:custGeom>
            <a:avLst/>
            <a:gdLst/>
            <a:ahLst/>
            <a:cxnLst/>
            <a:rect l="l" t="t" r="r" b="b"/>
            <a:pathLst>
              <a:path w="4298767" h="611977">
                <a:moveTo>
                  <a:pt x="0" y="0"/>
                </a:moveTo>
                <a:lnTo>
                  <a:pt x="4298768" y="0"/>
                </a:lnTo>
                <a:lnTo>
                  <a:pt x="4298768" y="611977"/>
                </a:lnTo>
                <a:lnTo>
                  <a:pt x="0" y="611977"/>
                </a:lnTo>
                <a:lnTo>
                  <a:pt x="0" y="0"/>
                </a:lnTo>
                <a:close/>
              </a:path>
            </a:pathLst>
          </a:custGeom>
          <a:blipFill>
            <a:blip r:embed="rId4"/>
            <a:stretch>
              <a:fillRect/>
            </a:stretch>
          </a:blipFill>
        </p:spPr>
      </p:sp>
      <p:sp>
        <p:nvSpPr>
          <p:cNvPr id="16" name="TextBox 16"/>
          <p:cNvSpPr txBox="1"/>
          <p:nvPr/>
        </p:nvSpPr>
        <p:spPr>
          <a:xfrm>
            <a:off x="1028700" y="2364100"/>
            <a:ext cx="16230600" cy="1596847"/>
          </a:xfrm>
          <a:prstGeom prst="rect">
            <a:avLst/>
          </a:prstGeom>
        </p:spPr>
        <p:txBody>
          <a:bodyPr lIns="0" tIns="0" rIns="0" bIns="0" rtlCol="0" anchor="t">
            <a:spAutoFit/>
          </a:bodyPr>
          <a:lstStyle/>
          <a:p>
            <a:pPr marL="1254378" lvl="2" indent="-418126" algn="l">
              <a:lnSpc>
                <a:spcPts val="3137"/>
              </a:lnSpc>
              <a:buFont typeface="Arial"/>
              <a:buChar char="⚬"/>
            </a:pPr>
            <a:r>
              <a:rPr lang="en-US" sz="2904" b="1">
                <a:solidFill>
                  <a:srgbClr val="000000"/>
                </a:solidFill>
                <a:latin typeface="Times New Roman Bold"/>
                <a:ea typeface="Times New Roman Bold"/>
                <a:cs typeface="Times New Roman Bold"/>
                <a:sym typeface="Times New Roman Bold"/>
              </a:rPr>
              <a:t>Transformer Sequence Model – Loss Function</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The sequence model predicts the next food item given a user’s food history.</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Trained using Categorical Cross-Entropy Loss over the item vocabulary.</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Loss Formula:</a:t>
            </a:r>
          </a:p>
        </p:txBody>
      </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18" name="TextBox 18"/>
          <p:cNvSpPr txBox="1"/>
          <p:nvPr/>
        </p:nvSpPr>
        <p:spPr>
          <a:xfrm>
            <a:off x="11065762" y="3941897"/>
            <a:ext cx="6213157" cy="1076325"/>
          </a:xfrm>
          <a:prstGeom prst="rect">
            <a:avLst/>
          </a:prstGeom>
        </p:spPr>
        <p:txBody>
          <a:bodyPr lIns="0" tIns="0" rIns="0" bIns="0" rtlCol="0" anchor="t">
            <a:spAutoFit/>
          </a:bodyPr>
          <a:lstStyle/>
          <a:p>
            <a:pPr algn="l">
              <a:lnSpc>
                <a:spcPts val="2803"/>
              </a:lnSpc>
              <a:spcBef>
                <a:spcPct val="0"/>
              </a:spcBef>
            </a:pPr>
            <a:r>
              <a:rPr lang="en-US" sz="2336">
                <a:solidFill>
                  <a:srgbClr val="000000"/>
                </a:solidFill>
                <a:latin typeface="Times New Roman"/>
                <a:ea typeface="Times New Roman"/>
                <a:cs typeface="Times New Roman"/>
                <a:sym typeface="Times New Roman"/>
              </a:rPr>
              <a:t>Where:</a:t>
            </a:r>
          </a:p>
          <a:p>
            <a:pPr algn="l">
              <a:lnSpc>
                <a:spcPts val="2803"/>
              </a:lnSpc>
              <a:spcBef>
                <a:spcPct val="0"/>
              </a:spcBef>
            </a:pPr>
            <a:r>
              <a:rPr lang="en-US" sz="2336">
                <a:solidFill>
                  <a:srgbClr val="000000"/>
                </a:solidFill>
                <a:latin typeface="Times New Roman"/>
                <a:ea typeface="Times New Roman"/>
                <a:cs typeface="Times New Roman"/>
                <a:sym typeface="Times New Roman"/>
              </a:rPr>
              <a:t>P(yi​) → softmax probability of the correct next item</a:t>
            </a:r>
          </a:p>
          <a:p>
            <a:pPr algn="l">
              <a:lnSpc>
                <a:spcPts val="2803"/>
              </a:lnSpc>
              <a:spcBef>
                <a:spcPct val="0"/>
              </a:spcBef>
            </a:pPr>
            <a:r>
              <a:rPr lang="en-US" sz="2336">
                <a:solidFill>
                  <a:srgbClr val="000000"/>
                </a:solidFill>
                <a:latin typeface="Times New Roman"/>
                <a:ea typeface="Times New Roman"/>
                <a:cs typeface="Times New Roman"/>
                <a:sym typeface="Times New Roman"/>
              </a:rPr>
              <a:t>X1:i−1​ → historical food consumption sequence</a:t>
            </a:r>
          </a:p>
        </p:txBody>
      </p:sp>
      <p:sp>
        <p:nvSpPr>
          <p:cNvPr id="19" name="TextBox 19"/>
          <p:cNvSpPr txBox="1"/>
          <p:nvPr/>
        </p:nvSpPr>
        <p:spPr>
          <a:xfrm>
            <a:off x="1028700" y="5158296"/>
            <a:ext cx="16230600" cy="2768422"/>
          </a:xfrm>
          <a:prstGeom prst="rect">
            <a:avLst/>
          </a:prstGeom>
        </p:spPr>
        <p:txBody>
          <a:bodyPr lIns="0" tIns="0" rIns="0" bIns="0" rtlCol="0" anchor="t">
            <a:spAutoFit/>
          </a:bodyPr>
          <a:lstStyle/>
          <a:p>
            <a:pPr marL="1254378" lvl="2" indent="-418126" algn="l">
              <a:lnSpc>
                <a:spcPts val="3137"/>
              </a:lnSpc>
              <a:buFont typeface="Arial"/>
              <a:buChar char="⚬"/>
            </a:pPr>
            <a:r>
              <a:rPr lang="en-US" sz="2904" b="1">
                <a:solidFill>
                  <a:srgbClr val="000000"/>
                </a:solidFill>
                <a:latin typeface="Times New Roman Bold"/>
                <a:ea typeface="Times New Roman Bold"/>
                <a:cs typeface="Times New Roman Bold"/>
                <a:sym typeface="Times New Roman Bold"/>
              </a:rPr>
              <a:t>Hybrid Model – Pseudo-Loss</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The hybrid recommender does not have a single trainable loss.</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It combines outputs from:</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Matrix Factorization (long-term preferences)</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Transformer Sequence Model (short-term behavior)</a:t>
            </a:r>
          </a:p>
          <a:p>
            <a:pPr marL="2508756" lvl="4" indent="-501751" algn="l">
              <a:lnSpc>
                <a:spcPts val="3137"/>
              </a:lnSpc>
              <a:buFont typeface="Arial"/>
              <a:buChar char="•"/>
            </a:pPr>
            <a:r>
              <a:rPr lang="en-US" sz="2904">
                <a:solidFill>
                  <a:srgbClr val="000000"/>
                </a:solidFill>
                <a:latin typeface="Times New Roman"/>
                <a:ea typeface="Times New Roman"/>
                <a:cs typeface="Times New Roman"/>
                <a:sym typeface="Times New Roman"/>
              </a:rPr>
              <a:t>Content-based similarity model</a:t>
            </a:r>
          </a:p>
          <a:p>
            <a:pPr marL="1881567" lvl="3" indent="-470392" algn="l">
              <a:lnSpc>
                <a:spcPts val="3137"/>
              </a:lnSpc>
              <a:buFont typeface="Arial"/>
              <a:buChar char="￭"/>
            </a:pPr>
            <a:r>
              <a:rPr lang="en-US" sz="2904">
                <a:solidFill>
                  <a:srgbClr val="000000"/>
                </a:solidFill>
                <a:latin typeface="Times New Roman"/>
                <a:ea typeface="Times New Roman"/>
                <a:cs typeface="Times New Roman"/>
                <a:sym typeface="Times New Roman"/>
              </a:rPr>
              <a:t>Pseudo-Loss Formula:</a:t>
            </a:r>
          </a:p>
        </p:txBody>
      </p:sp>
      <p:sp>
        <p:nvSpPr>
          <p:cNvPr id="20" name="TextBox 20"/>
          <p:cNvSpPr txBox="1"/>
          <p:nvPr/>
        </p:nvSpPr>
        <p:spPr>
          <a:xfrm>
            <a:off x="11065762" y="7613582"/>
            <a:ext cx="6478799" cy="1390650"/>
          </a:xfrm>
          <a:prstGeom prst="rect">
            <a:avLst/>
          </a:prstGeom>
        </p:spPr>
        <p:txBody>
          <a:bodyPr lIns="0" tIns="0" rIns="0" bIns="0" rtlCol="0" anchor="t">
            <a:spAutoFit/>
          </a:bodyPr>
          <a:lstStyle/>
          <a:p>
            <a:pPr algn="l">
              <a:lnSpc>
                <a:spcPts val="2762"/>
              </a:lnSpc>
              <a:spcBef>
                <a:spcPct val="0"/>
              </a:spcBef>
            </a:pPr>
            <a:r>
              <a:rPr lang="en-US" sz="2302">
                <a:solidFill>
                  <a:srgbClr val="000000"/>
                </a:solidFill>
                <a:latin typeface="Times New Roman"/>
                <a:ea typeface="Times New Roman"/>
                <a:cs typeface="Times New Roman"/>
                <a:sym typeface="Times New Roman"/>
              </a:rPr>
              <a:t>Where:</a:t>
            </a:r>
          </a:p>
          <a:p>
            <a:pPr algn="l">
              <a:lnSpc>
                <a:spcPts val="2762"/>
              </a:lnSpc>
              <a:spcBef>
                <a:spcPct val="0"/>
              </a:spcBef>
            </a:pPr>
            <a:r>
              <a:rPr lang="en-US" sz="2302">
                <a:solidFill>
                  <a:srgbClr val="000000"/>
                </a:solidFill>
                <a:latin typeface="Times New Roman"/>
                <a:ea typeface="Times New Roman"/>
                <a:cs typeface="Times New Roman"/>
                <a:sym typeface="Times New Roman"/>
              </a:rPr>
              <a:t>α+β=1</a:t>
            </a:r>
          </a:p>
          <a:p>
            <a:pPr algn="l">
              <a:lnSpc>
                <a:spcPts val="2762"/>
              </a:lnSpc>
              <a:spcBef>
                <a:spcPct val="0"/>
              </a:spcBef>
            </a:pPr>
            <a:r>
              <a:rPr lang="en-US" sz="2302">
                <a:solidFill>
                  <a:srgbClr val="000000"/>
                </a:solidFill>
                <a:latin typeface="Times New Roman"/>
                <a:ea typeface="Times New Roman"/>
                <a:cs typeface="Times New Roman"/>
                <a:sym typeface="Times New Roman"/>
              </a:rPr>
              <a:t>Used only for analysis and comparison, not backpropagation.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73625"/>
            <a:ext cx="16230600" cy="6566992"/>
          </a:xfrm>
          <a:prstGeom prst="rect">
            <a:avLst/>
          </a:prstGeom>
        </p:spPr>
        <p:txBody>
          <a:bodyPr lIns="0" tIns="0" rIns="0" bIns="0" rtlCol="0" anchor="t">
            <a:spAutoFit/>
          </a:bodyPr>
          <a:lstStyle/>
          <a:p>
            <a:pPr marL="735136" lvl="1" indent="-367568" algn="l">
              <a:lnSpc>
                <a:spcPts val="3677"/>
              </a:lnSpc>
              <a:buFont typeface="Arial"/>
              <a:buChar char="•"/>
            </a:pPr>
            <a:r>
              <a:rPr lang="en-US" sz="3404">
                <a:solidFill>
                  <a:srgbClr val="000000"/>
                </a:solidFill>
                <a:latin typeface="Times New Roman"/>
                <a:ea typeface="Times New Roman"/>
                <a:cs typeface="Times New Roman"/>
                <a:sym typeface="Times New Roman"/>
              </a:rPr>
              <a:t>Loss Convergence Analysis</a:t>
            </a:r>
          </a:p>
          <a:p>
            <a:pPr marL="1470273" lvl="2" indent="-490091" algn="l">
              <a:lnSpc>
                <a:spcPts val="3677"/>
              </a:lnSpc>
              <a:buFont typeface="Arial"/>
              <a:buChar char="⚬"/>
            </a:pPr>
            <a:r>
              <a:rPr lang="en-US" sz="3404" b="1">
                <a:solidFill>
                  <a:srgbClr val="000000"/>
                </a:solidFill>
                <a:latin typeface="Times New Roman Bold"/>
                <a:ea typeface="Times New Roman Bold"/>
                <a:cs typeface="Times New Roman Bold"/>
                <a:sym typeface="Times New Roman Bold"/>
              </a:rPr>
              <a:t>MF Model:</a:t>
            </a:r>
            <a:r>
              <a:rPr lang="en-US" sz="3404">
                <a:solidFill>
                  <a:srgbClr val="000000"/>
                </a:solidFill>
                <a:latin typeface="Times New Roman"/>
                <a:ea typeface="Times New Roman"/>
                <a:cs typeface="Times New Roman"/>
                <a:sym typeface="Times New Roman"/>
              </a:rPr>
              <a:t> Fast convergence due to simple latent factor learning.</a:t>
            </a:r>
          </a:p>
          <a:p>
            <a:pPr marL="1470273" lvl="2" indent="-490091" algn="l">
              <a:lnSpc>
                <a:spcPts val="3677"/>
              </a:lnSpc>
              <a:buFont typeface="Arial"/>
              <a:buChar char="⚬"/>
            </a:pPr>
            <a:r>
              <a:rPr lang="en-US" sz="3404" b="1">
                <a:solidFill>
                  <a:srgbClr val="000000"/>
                </a:solidFill>
                <a:latin typeface="Times New Roman Bold"/>
                <a:ea typeface="Times New Roman Bold"/>
                <a:cs typeface="Times New Roman Bold"/>
                <a:sym typeface="Times New Roman Bold"/>
              </a:rPr>
              <a:t>Sequence Model:</a:t>
            </a:r>
            <a:r>
              <a:rPr lang="en-US" sz="3404">
                <a:solidFill>
                  <a:srgbClr val="000000"/>
                </a:solidFill>
                <a:latin typeface="Times New Roman"/>
                <a:ea typeface="Times New Roman"/>
                <a:cs typeface="Times New Roman"/>
                <a:sym typeface="Times New Roman"/>
              </a:rPr>
              <a:t> Higher initial loss from long user sequences and large item space.</a:t>
            </a:r>
          </a:p>
          <a:p>
            <a:pPr marL="1470273" lvl="2" indent="-490091" algn="l">
              <a:lnSpc>
                <a:spcPts val="3677"/>
              </a:lnSpc>
              <a:buFont typeface="Arial"/>
              <a:buChar char="⚬"/>
            </a:pPr>
            <a:r>
              <a:rPr lang="en-US" sz="3404" b="1">
                <a:solidFill>
                  <a:srgbClr val="000000"/>
                </a:solidFill>
                <a:latin typeface="Times New Roman Bold"/>
                <a:ea typeface="Times New Roman Bold"/>
                <a:cs typeface="Times New Roman Bold"/>
                <a:sym typeface="Times New Roman Bold"/>
              </a:rPr>
              <a:t>Hybrid Model:</a:t>
            </a:r>
            <a:r>
              <a:rPr lang="en-US" sz="3404">
                <a:solidFill>
                  <a:srgbClr val="000000"/>
                </a:solidFill>
                <a:latin typeface="Times New Roman"/>
                <a:ea typeface="Times New Roman"/>
                <a:cs typeface="Times New Roman"/>
                <a:sym typeface="Times New Roman"/>
              </a:rPr>
              <a:t> Smooth and stable pseudo-loss, effectively balancing long-term preferences and recent behavior.</a:t>
            </a:r>
          </a:p>
          <a:p>
            <a:pPr algn="l">
              <a:lnSpc>
                <a:spcPts val="3677"/>
              </a:lnSpc>
            </a:pPr>
            <a:endParaRPr lang="en-US" sz="3404">
              <a:solidFill>
                <a:srgbClr val="000000"/>
              </a:solidFill>
              <a:latin typeface="Times New Roman"/>
              <a:ea typeface="Times New Roman"/>
              <a:cs typeface="Times New Roman"/>
              <a:sym typeface="Times New Roman"/>
            </a:endParaRPr>
          </a:p>
          <a:p>
            <a:pPr algn="l">
              <a:lnSpc>
                <a:spcPts val="3677"/>
              </a:lnSpc>
            </a:pPr>
            <a:r>
              <a:rPr lang="en-US" sz="3404">
                <a:solidFill>
                  <a:srgbClr val="000000"/>
                </a:solidFill>
                <a:latin typeface="Times New Roman"/>
                <a:ea typeface="Times New Roman"/>
                <a:cs typeface="Times New Roman"/>
                <a:sym typeface="Times New Roman"/>
              </a:rPr>
              <a:t>7. </a:t>
            </a:r>
            <a:r>
              <a:rPr lang="en-US" sz="3404" b="1">
                <a:solidFill>
                  <a:srgbClr val="000000"/>
                </a:solidFill>
                <a:latin typeface="Times New Roman Bold"/>
                <a:ea typeface="Times New Roman Bold"/>
                <a:cs typeface="Times New Roman Bold"/>
                <a:sym typeface="Times New Roman Bold"/>
              </a:rPr>
              <a:t>Recommendation Generation &amp; Serving</a:t>
            </a:r>
          </a:p>
          <a:p>
            <a:pPr marL="1470273" lvl="2" indent="-490091" algn="l">
              <a:lnSpc>
                <a:spcPts val="3677"/>
              </a:lnSpc>
              <a:buFont typeface="Arial"/>
              <a:buChar char="⚬"/>
            </a:pPr>
            <a:r>
              <a:rPr lang="en-US" sz="3404">
                <a:solidFill>
                  <a:srgbClr val="000000"/>
                </a:solidFill>
                <a:latin typeface="Times New Roman"/>
                <a:ea typeface="Times New Roman"/>
                <a:cs typeface="Times New Roman"/>
                <a:sym typeface="Times New Roman"/>
              </a:rPr>
              <a:t>Final recommendations are generated by combining:</a:t>
            </a:r>
          </a:p>
          <a:p>
            <a:pPr marL="2205409" lvl="3" indent="-551352" algn="l">
              <a:lnSpc>
                <a:spcPts val="3677"/>
              </a:lnSpc>
              <a:buFont typeface="Arial"/>
              <a:buChar char="￭"/>
            </a:pPr>
            <a:r>
              <a:rPr lang="en-US" sz="3404">
                <a:solidFill>
                  <a:srgbClr val="000000"/>
                </a:solidFill>
                <a:latin typeface="Times New Roman"/>
                <a:ea typeface="Times New Roman"/>
                <a:cs typeface="Times New Roman"/>
                <a:sym typeface="Times New Roman"/>
              </a:rPr>
              <a:t>Collaborative filtering scores</a:t>
            </a:r>
          </a:p>
          <a:p>
            <a:pPr marL="2205409" lvl="3" indent="-551352" algn="l">
              <a:lnSpc>
                <a:spcPts val="3677"/>
              </a:lnSpc>
              <a:buFont typeface="Arial"/>
              <a:buChar char="￭"/>
            </a:pPr>
            <a:r>
              <a:rPr lang="en-US" sz="3404">
                <a:solidFill>
                  <a:srgbClr val="000000"/>
                </a:solidFill>
                <a:latin typeface="Times New Roman"/>
                <a:ea typeface="Times New Roman"/>
                <a:cs typeface="Times New Roman"/>
                <a:sym typeface="Times New Roman"/>
              </a:rPr>
              <a:t>Sequence model scores</a:t>
            </a:r>
          </a:p>
          <a:p>
            <a:pPr marL="2205409" lvl="3" indent="-551352" algn="l">
              <a:lnSpc>
                <a:spcPts val="3677"/>
              </a:lnSpc>
              <a:buFont typeface="Arial"/>
              <a:buChar char="￭"/>
            </a:pPr>
            <a:r>
              <a:rPr lang="en-US" sz="3404">
                <a:solidFill>
                  <a:srgbClr val="000000"/>
                </a:solidFill>
                <a:latin typeface="Times New Roman"/>
                <a:ea typeface="Times New Roman"/>
                <a:cs typeface="Times New Roman"/>
                <a:sym typeface="Times New Roman"/>
              </a:rPr>
              <a:t>Content similarity scores</a:t>
            </a:r>
          </a:p>
          <a:p>
            <a:pPr marL="1470273" lvl="2" indent="-490091" algn="l">
              <a:lnSpc>
                <a:spcPts val="3677"/>
              </a:lnSpc>
              <a:buFont typeface="Arial"/>
              <a:buChar char="⚬"/>
            </a:pPr>
            <a:r>
              <a:rPr lang="en-US" sz="3404">
                <a:solidFill>
                  <a:srgbClr val="000000"/>
                </a:solidFill>
                <a:latin typeface="Times New Roman"/>
                <a:ea typeface="Times New Roman"/>
                <a:cs typeface="Times New Roman"/>
                <a:sym typeface="Times New Roman"/>
              </a:rPr>
              <a:t>Health penalties and safety filters are applied before ranking.</a:t>
            </a:r>
          </a:p>
          <a:p>
            <a:pPr marL="1470273" lvl="2" indent="-490091" algn="l">
              <a:lnSpc>
                <a:spcPts val="3677"/>
              </a:lnSpc>
              <a:buFont typeface="Arial"/>
              <a:buChar char="⚬"/>
            </a:pPr>
            <a:r>
              <a:rPr lang="en-US" sz="3404">
                <a:solidFill>
                  <a:srgbClr val="000000"/>
                </a:solidFill>
                <a:latin typeface="Times New Roman"/>
                <a:ea typeface="Times New Roman"/>
                <a:cs typeface="Times New Roman"/>
                <a:sym typeface="Times New Roman"/>
              </a:rPr>
              <a:t>System outputs top-K personalized, health-aware food recommendations via an API-based interface.</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19</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08105"/>
            <a:ext cx="16230600" cy="6410325"/>
          </a:xfrm>
          <a:prstGeom prst="rect">
            <a:avLst/>
          </a:prstGeom>
        </p:spPr>
        <p:txBody>
          <a:bodyPr lIns="0" tIns="0" rIns="0" bIns="0" rtlCol="0" anchor="t">
            <a:spAutoFit/>
          </a:bodyPr>
          <a:lstStyle/>
          <a:p>
            <a:pPr algn="l">
              <a:lnSpc>
                <a:spcPts val="4211"/>
              </a:lnSpc>
            </a:pPr>
            <a:r>
              <a:rPr lang="en-US" sz="3899" b="1">
                <a:solidFill>
                  <a:srgbClr val="000000"/>
                </a:solidFill>
                <a:latin typeface="Times New Roman Bold"/>
                <a:ea typeface="Times New Roman Bold"/>
                <a:cs typeface="Times New Roman Bold"/>
                <a:sym typeface="Times New Roman Bold"/>
              </a:rPr>
              <a:t>8.	Future Improvements</a:t>
            </a:r>
          </a:p>
          <a:p>
            <a:pPr algn="l">
              <a:lnSpc>
                <a:spcPts val="3887"/>
              </a:lnSpc>
            </a:pPr>
            <a:endParaRPr lang="en-US" sz="3899" b="1">
              <a:solidFill>
                <a:srgbClr val="000000"/>
              </a:solidFill>
              <a:latin typeface="Times New Roman Bold"/>
              <a:ea typeface="Times New Roman Bold"/>
              <a:cs typeface="Times New Roman Bold"/>
              <a:sym typeface="Times New Roman Bold"/>
            </a:endParaRPr>
          </a:p>
          <a:p>
            <a:pPr marL="1544876" lvl="1" indent="-772438" algn="l">
              <a:lnSpc>
                <a:spcPts val="3887"/>
              </a:lnSpc>
              <a:buFont typeface="Arial"/>
              <a:buChar char="•"/>
            </a:pPr>
            <a:r>
              <a:rPr lang="en-US" sz="3599">
                <a:solidFill>
                  <a:srgbClr val="000000"/>
                </a:solidFill>
                <a:latin typeface="Times New Roman"/>
                <a:ea typeface="Times New Roman"/>
                <a:cs typeface="Times New Roman"/>
                <a:sym typeface="Times New Roman"/>
              </a:rPr>
              <a:t>Family-Centric Recommendation: Extend the system to aggregate preferences, health conditions, and nutritional needs of multiple family members, enabling balanced and age-aware household-level recommendations.</a:t>
            </a:r>
          </a:p>
          <a:p>
            <a:pPr marL="1544876" lvl="1" indent="-772438" algn="l">
              <a:lnSpc>
                <a:spcPts val="3887"/>
              </a:lnSpc>
              <a:buFont typeface="Arial"/>
              <a:buChar char="•"/>
            </a:pPr>
            <a:r>
              <a:rPr lang="en-US" sz="3599">
                <a:solidFill>
                  <a:srgbClr val="000000"/>
                </a:solidFill>
                <a:latin typeface="Times New Roman"/>
                <a:ea typeface="Times New Roman"/>
                <a:cs typeface="Times New Roman"/>
                <a:sym typeface="Times New Roman"/>
              </a:rPr>
              <a:t>Structured Meal Planning: Generate complete daily and weekly meal plans (breakfast, lunch, dinner) with calorie and macro-nutrient balancing while preserving regional and cultural relevance.</a:t>
            </a:r>
          </a:p>
          <a:p>
            <a:pPr marL="1544876" lvl="1" indent="-772438" algn="l">
              <a:lnSpc>
                <a:spcPts val="3887"/>
              </a:lnSpc>
              <a:buFont typeface="Arial"/>
              <a:buChar char="•"/>
            </a:pPr>
            <a:r>
              <a:rPr lang="en-US" sz="3599">
                <a:solidFill>
                  <a:srgbClr val="000000"/>
                </a:solidFill>
                <a:latin typeface="Times New Roman"/>
                <a:ea typeface="Times New Roman"/>
                <a:cs typeface="Times New Roman"/>
                <a:sym typeface="Times New Roman"/>
              </a:rPr>
              <a:t>Feedback-Driven Learning: Incorporate user feedback on recommended foods to continuously refine preference modeling and improve personalization over time.</a:t>
            </a:r>
          </a:p>
          <a:p>
            <a:pPr marL="1544876" lvl="1" indent="-772438" algn="l">
              <a:lnSpc>
                <a:spcPts val="3887"/>
              </a:lnSpc>
              <a:buFont typeface="Arial"/>
              <a:buChar char="•"/>
            </a:pPr>
            <a:r>
              <a:rPr lang="en-US" sz="3599">
                <a:solidFill>
                  <a:srgbClr val="000000"/>
                </a:solidFill>
                <a:latin typeface="Times New Roman"/>
                <a:ea typeface="Times New Roman"/>
                <a:cs typeface="Times New Roman"/>
                <a:sym typeface="Times New Roman"/>
              </a:rPr>
              <a:t>Explainability: Provide clear health, nutrition, and safety-based explanations for each recommendation to enhance transparency, trust, and user adoption.</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20</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Graph-Based Interaction Modeling</a:t>
              </a:r>
            </a:p>
          </p:txBody>
        </p:sp>
      </p:grpSp>
      <p:sp>
        <p:nvSpPr>
          <p:cNvPr id="5" name="TextBox 5"/>
          <p:cNvSpPr txBox="1"/>
          <p:nvPr/>
        </p:nvSpPr>
        <p:spPr>
          <a:xfrm>
            <a:off x="1348725" y="2803187"/>
            <a:ext cx="15590550" cy="6119317"/>
          </a:xfrm>
          <a:prstGeom prst="rect">
            <a:avLst/>
          </a:prstGeom>
        </p:spPr>
        <p:txBody>
          <a:bodyPr lIns="0" tIns="0" rIns="0" bIns="0" rtlCol="0" anchor="t">
            <a:spAutoFit/>
          </a:bodyPr>
          <a:lstStyle/>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Modeled user–food consumption data as a bipartite graph.</a:t>
            </a:r>
          </a:p>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Defined two disjoint node sets:</a:t>
            </a:r>
          </a:p>
          <a:p>
            <a:pPr marL="1740146" lvl="2" indent="-580049" algn="l">
              <a:lnSpc>
                <a:spcPts val="4352"/>
              </a:lnSpc>
              <a:buFont typeface="Arial"/>
              <a:buChar char="⚬"/>
            </a:pPr>
            <a:r>
              <a:rPr lang="en-US" sz="4029">
                <a:solidFill>
                  <a:srgbClr val="000000"/>
                </a:solidFill>
                <a:latin typeface="Times New Roman"/>
                <a:ea typeface="Times New Roman"/>
                <a:cs typeface="Times New Roman"/>
                <a:sym typeface="Times New Roman"/>
              </a:rPr>
              <a:t>Users</a:t>
            </a:r>
          </a:p>
          <a:p>
            <a:pPr marL="1740146" lvl="2" indent="-580049" algn="l">
              <a:lnSpc>
                <a:spcPts val="4352"/>
              </a:lnSpc>
              <a:buFont typeface="Arial"/>
              <a:buChar char="⚬"/>
            </a:pPr>
            <a:r>
              <a:rPr lang="en-US" sz="4029">
                <a:solidFill>
                  <a:srgbClr val="000000"/>
                </a:solidFill>
                <a:latin typeface="Times New Roman"/>
                <a:ea typeface="Times New Roman"/>
                <a:cs typeface="Times New Roman"/>
                <a:sym typeface="Times New Roman"/>
              </a:rPr>
              <a:t>Food items</a:t>
            </a:r>
          </a:p>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Created edges between users and food items based on interaction history.</a:t>
            </a:r>
          </a:p>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Used the bipartite structure to:</a:t>
            </a:r>
          </a:p>
          <a:p>
            <a:pPr marL="1740146" lvl="2" indent="-580049" algn="l">
              <a:lnSpc>
                <a:spcPts val="4352"/>
              </a:lnSpc>
              <a:buFont typeface="Arial"/>
              <a:buChar char="⚬"/>
            </a:pPr>
            <a:r>
              <a:rPr lang="en-US" sz="4029">
                <a:solidFill>
                  <a:srgbClr val="000000"/>
                </a:solidFill>
                <a:latin typeface="Times New Roman"/>
                <a:ea typeface="Times New Roman"/>
                <a:cs typeface="Times New Roman"/>
                <a:sym typeface="Times New Roman"/>
              </a:rPr>
              <a:t>Capture user preference behavior</a:t>
            </a:r>
          </a:p>
          <a:p>
            <a:pPr marL="1740146" lvl="2" indent="-580049" algn="l">
              <a:lnSpc>
                <a:spcPts val="4352"/>
              </a:lnSpc>
              <a:buFont typeface="Arial"/>
              <a:buChar char="⚬"/>
            </a:pPr>
            <a:r>
              <a:rPr lang="en-US" sz="4029">
                <a:solidFill>
                  <a:srgbClr val="000000"/>
                </a:solidFill>
                <a:latin typeface="Times New Roman"/>
                <a:ea typeface="Times New Roman"/>
                <a:cs typeface="Times New Roman"/>
                <a:sym typeface="Times New Roman"/>
              </a:rPr>
              <a:t>Analyze food popularity and user activity distribution</a:t>
            </a:r>
          </a:p>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Generated interaction matrices from the graph to support collaborative filtering.</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21</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Collaborative Filtering (Matrix Factorization)</a:t>
              </a:r>
            </a:p>
          </p:txBody>
        </p:sp>
      </p:grpSp>
      <p:sp>
        <p:nvSpPr>
          <p:cNvPr id="5" name="TextBox 5"/>
          <p:cNvSpPr txBox="1"/>
          <p:nvPr/>
        </p:nvSpPr>
        <p:spPr>
          <a:xfrm>
            <a:off x="1348725" y="2812713"/>
            <a:ext cx="15590550" cy="6321933"/>
          </a:xfrm>
          <a:prstGeom prst="rect">
            <a:avLst/>
          </a:prstGeom>
        </p:spPr>
        <p:txBody>
          <a:bodyPr lIns="0" tIns="0" rIns="0" bIns="0" rtlCol="0" anchor="t">
            <a:spAutoFit/>
          </a:bodyPr>
          <a:lstStyle/>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Applied Matrix Factorization (MF) on user–food interaction data.</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Decomposed the interaction matrix into:</a:t>
            </a:r>
          </a:p>
          <a:p>
            <a:pPr marL="1813560" lvl="2" indent="-604520" algn="l">
              <a:lnSpc>
                <a:spcPts val="4536"/>
              </a:lnSpc>
              <a:buFont typeface="Arial"/>
              <a:buChar char="⚬"/>
            </a:pPr>
            <a:r>
              <a:rPr lang="en-US" sz="4200">
                <a:solidFill>
                  <a:srgbClr val="000000"/>
                </a:solidFill>
                <a:latin typeface="Times New Roman"/>
                <a:ea typeface="Times New Roman"/>
                <a:cs typeface="Times New Roman"/>
                <a:sym typeface="Times New Roman"/>
              </a:rPr>
              <a:t>User latent factor matrix</a:t>
            </a:r>
          </a:p>
          <a:p>
            <a:pPr marL="1813560" lvl="2" indent="-604520" algn="l">
              <a:lnSpc>
                <a:spcPts val="4536"/>
              </a:lnSpc>
              <a:buFont typeface="Arial"/>
              <a:buChar char="⚬"/>
            </a:pPr>
            <a:r>
              <a:rPr lang="en-US" sz="4200">
                <a:solidFill>
                  <a:srgbClr val="000000"/>
                </a:solidFill>
                <a:latin typeface="Times New Roman"/>
                <a:ea typeface="Times New Roman"/>
                <a:cs typeface="Times New Roman"/>
                <a:sym typeface="Times New Roman"/>
              </a:rPr>
              <a:t>Food latent factor matrix</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Used dot product of latent vectors to predict user–food affinity scores.</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Applied negative sampling to distinguish positive and negative interactions.</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Optimized the model using binary cross-entropy loss.</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Trained for multiple epochs until loss convergence was observed.</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Saved learned embeddings for hybrid recommendation scoring.</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22</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7"/>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Sequence-Based Learning (Transformer Model)</a:t>
              </a:r>
            </a:p>
          </p:txBody>
        </p:sp>
      </p:grpSp>
      <p:sp>
        <p:nvSpPr>
          <p:cNvPr id="5" name="TextBox 5"/>
          <p:cNvSpPr txBox="1"/>
          <p:nvPr/>
        </p:nvSpPr>
        <p:spPr>
          <a:xfrm>
            <a:off x="1348725" y="2793662"/>
            <a:ext cx="15590550" cy="6450711"/>
          </a:xfrm>
          <a:prstGeom prst="rect">
            <a:avLst/>
          </a:prstGeom>
        </p:spPr>
        <p:txBody>
          <a:bodyPr lIns="0" tIns="0" rIns="0" bIns="0" rtlCol="0" anchor="t">
            <a:spAutoFit/>
          </a:bodyPr>
          <a:lstStyle/>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Modeled food consumption as a sequential prediction problem.</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Constructed ordered food sequences for each user from interaction history.</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Used a Transformer encoder architecture to learn temporal eating behavior.</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Input components included:</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Food item embeddings</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Regional embeddings</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Positional embeddings</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Self-attention mechanism identifies important past food items influencing the next choice.</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Trained the model using cross-entropy loss for next-item predictio</a:t>
            </a:r>
            <a:r>
              <a:rPr lang="en-US" sz="3900" u="none">
                <a:solidFill>
                  <a:srgbClr val="000000"/>
                </a:solidFill>
                <a:latin typeface="Times New Roman"/>
                <a:ea typeface="Times New Roman"/>
                <a:cs typeface="Times New Roman"/>
                <a:sym typeface="Times New Roman"/>
              </a:rPr>
              <a:t>n</a:t>
            </a:r>
            <a:r>
              <a:rPr lang="en-US" sz="3900">
                <a:solidFill>
                  <a:srgbClr val="000000"/>
                </a:solidFill>
                <a:latin typeface="Times New Roman"/>
                <a:ea typeface="Times New Roman"/>
                <a:cs typeface="Times New Roman"/>
                <a:sym typeface="Times New Roman"/>
              </a:rPr>
              <a:t>.</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Captur</a:t>
            </a:r>
            <a:r>
              <a:rPr lang="en-US" sz="3900" u="none">
                <a:solidFill>
                  <a:srgbClr val="000000"/>
                </a:solidFill>
                <a:latin typeface="Times New Roman"/>
                <a:ea typeface="Times New Roman"/>
                <a:cs typeface="Times New Roman"/>
                <a:sym typeface="Times New Roman"/>
              </a:rPr>
              <a:t>e</a:t>
            </a:r>
            <a:r>
              <a:rPr lang="en-US" sz="3900">
                <a:solidFill>
                  <a:srgbClr val="000000"/>
                </a:solidFill>
                <a:latin typeface="Times New Roman"/>
                <a:ea typeface="Times New Roman"/>
                <a:cs typeface="Times New Roman"/>
                <a:sym typeface="Times New Roman"/>
              </a:rPr>
              <a:t>s</a:t>
            </a:r>
            <a:r>
              <a:rPr lang="en-US" sz="3900" u="none">
                <a:solidFill>
                  <a:srgbClr val="000000"/>
                </a:solidFill>
                <a:latin typeface="Times New Roman"/>
                <a:ea typeface="Times New Roman"/>
                <a:cs typeface="Times New Roman"/>
                <a:sym typeface="Times New Roman"/>
              </a:rPr>
              <a:t> </a:t>
            </a:r>
            <a:r>
              <a:rPr lang="en-US" sz="3900">
                <a:solidFill>
                  <a:srgbClr val="000000"/>
                </a:solidFill>
                <a:latin typeface="Times New Roman"/>
                <a:ea typeface="Times New Roman"/>
                <a:cs typeface="Times New Roman"/>
                <a:sym typeface="Times New Roman"/>
              </a:rPr>
              <a:t>short-term </a:t>
            </a:r>
            <a:r>
              <a:rPr lang="en-US" sz="3900" u="none">
                <a:solidFill>
                  <a:srgbClr val="000000"/>
                </a:solidFill>
                <a:latin typeface="Times New Roman"/>
                <a:ea typeface="Times New Roman"/>
                <a:cs typeface="Times New Roman"/>
                <a:sym typeface="Times New Roman"/>
              </a:rPr>
              <a:t>a</a:t>
            </a:r>
            <a:r>
              <a:rPr lang="en-US" sz="3900">
                <a:solidFill>
                  <a:srgbClr val="000000"/>
                </a:solidFill>
                <a:latin typeface="Times New Roman"/>
                <a:ea typeface="Times New Roman"/>
                <a:cs typeface="Times New Roman"/>
                <a:sym typeface="Times New Roman"/>
              </a:rPr>
              <a:t>nd r</a:t>
            </a:r>
            <a:r>
              <a:rPr lang="en-US" sz="3900" u="none">
                <a:solidFill>
                  <a:srgbClr val="000000"/>
                </a:solidFill>
                <a:latin typeface="Times New Roman"/>
                <a:ea typeface="Times New Roman"/>
                <a:cs typeface="Times New Roman"/>
                <a:sym typeface="Times New Roman"/>
              </a:rPr>
              <a:t>e</a:t>
            </a:r>
            <a:r>
              <a:rPr lang="en-US" sz="3900">
                <a:solidFill>
                  <a:srgbClr val="000000"/>
                </a:solidFill>
                <a:latin typeface="Times New Roman"/>
                <a:ea typeface="Times New Roman"/>
                <a:cs typeface="Times New Roman"/>
                <a:sym typeface="Times New Roman"/>
              </a:rPr>
              <a:t>c</a:t>
            </a:r>
            <a:r>
              <a:rPr lang="en-US" sz="3900" u="none">
                <a:solidFill>
                  <a:srgbClr val="000000"/>
                </a:solidFill>
                <a:latin typeface="Times New Roman"/>
                <a:ea typeface="Times New Roman"/>
                <a:cs typeface="Times New Roman"/>
                <a:sym typeface="Times New Roman"/>
              </a:rPr>
              <a:t>e</a:t>
            </a:r>
            <a:r>
              <a:rPr lang="en-US" sz="3900">
                <a:solidFill>
                  <a:srgbClr val="000000"/>
                </a:solidFill>
                <a:latin typeface="Times New Roman"/>
                <a:ea typeface="Times New Roman"/>
                <a:cs typeface="Times New Roman"/>
                <a:sym typeface="Times New Roman"/>
              </a:rPr>
              <a:t>nt</a:t>
            </a:r>
            <a:r>
              <a:rPr lang="en-US" sz="3900" u="none">
                <a:solidFill>
                  <a:srgbClr val="000000"/>
                </a:solidFill>
                <a:latin typeface="Times New Roman"/>
                <a:ea typeface="Times New Roman"/>
                <a:cs typeface="Times New Roman"/>
                <a:sym typeface="Times New Roman"/>
              </a:rPr>
              <a:t> </a:t>
            </a:r>
            <a:r>
              <a:rPr lang="en-US" sz="3900">
                <a:solidFill>
                  <a:srgbClr val="000000"/>
                </a:solidFill>
                <a:latin typeface="Times New Roman"/>
                <a:ea typeface="Times New Roman"/>
                <a:cs typeface="Times New Roman"/>
                <a:sym typeface="Times New Roman"/>
              </a:rPr>
              <a:t>die</a:t>
            </a:r>
            <a:r>
              <a:rPr lang="en-US" sz="3900" u="none">
                <a:solidFill>
                  <a:srgbClr val="000000"/>
                </a:solidFill>
                <a:latin typeface="Times New Roman"/>
                <a:ea typeface="Times New Roman"/>
                <a:cs typeface="Times New Roman"/>
                <a:sym typeface="Times New Roman"/>
              </a:rPr>
              <a:t>tar</a:t>
            </a:r>
            <a:r>
              <a:rPr lang="en-US" sz="3900">
                <a:solidFill>
                  <a:srgbClr val="000000"/>
                </a:solidFill>
                <a:latin typeface="Times New Roman"/>
                <a:ea typeface="Times New Roman"/>
                <a:cs typeface="Times New Roman"/>
                <a:sym typeface="Times New Roman"/>
              </a:rPr>
              <a:t>y p</a:t>
            </a:r>
            <a:r>
              <a:rPr lang="en-US" sz="3900" u="none">
                <a:solidFill>
                  <a:srgbClr val="000000"/>
                </a:solidFill>
                <a:latin typeface="Times New Roman"/>
                <a:ea typeface="Times New Roman"/>
                <a:cs typeface="Times New Roman"/>
                <a:sym typeface="Times New Roman"/>
              </a:rPr>
              <a:t>a</a:t>
            </a:r>
            <a:r>
              <a:rPr lang="en-US" sz="3900">
                <a:solidFill>
                  <a:srgbClr val="000000"/>
                </a:solidFill>
                <a:latin typeface="Times New Roman"/>
                <a:ea typeface="Times New Roman"/>
                <a:cs typeface="Times New Roman"/>
                <a:sym typeface="Times New Roman"/>
              </a:rPr>
              <a:t>tt</a:t>
            </a:r>
            <a:r>
              <a:rPr lang="en-US" sz="3900" u="none">
                <a:solidFill>
                  <a:srgbClr val="000000"/>
                </a:solidFill>
                <a:latin typeface="Times New Roman"/>
                <a:ea typeface="Times New Roman"/>
                <a:cs typeface="Times New Roman"/>
                <a:sym typeface="Times New Roman"/>
              </a:rPr>
              <a:t>e</a:t>
            </a:r>
            <a:r>
              <a:rPr lang="en-US" sz="3900">
                <a:solidFill>
                  <a:srgbClr val="000000"/>
                </a:solidFill>
                <a:latin typeface="Times New Roman"/>
                <a:ea typeface="Times New Roman"/>
                <a:cs typeface="Times New Roman"/>
                <a:sym typeface="Times New Roman"/>
              </a:rPr>
              <a:t>rns.</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23</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Attention-Based </a:t>
              </a:r>
            </a:p>
            <a:p>
              <a:pPr algn="ctr">
                <a:lnSpc>
                  <a:spcPts val="7128"/>
                </a:lnSpc>
              </a:pPr>
              <a:r>
                <a:rPr lang="en-US" sz="6600" u="sng">
                  <a:solidFill>
                    <a:srgbClr val="000000"/>
                  </a:solidFill>
                  <a:latin typeface="Times New Roman"/>
                  <a:ea typeface="Times New Roman"/>
                  <a:cs typeface="Times New Roman"/>
                  <a:sym typeface="Times New Roman"/>
                </a:rPr>
                <a:t>Feature Fusion</a:t>
              </a:r>
            </a:p>
          </p:txBody>
        </p:sp>
      </p:grpSp>
      <p:sp>
        <p:nvSpPr>
          <p:cNvPr id="5" name="TextBox 5"/>
          <p:cNvSpPr txBox="1"/>
          <p:nvPr/>
        </p:nvSpPr>
        <p:spPr>
          <a:xfrm>
            <a:off x="1348725" y="2803187"/>
            <a:ext cx="15590550" cy="6014085"/>
          </a:xfrm>
          <a:prstGeom prst="rect">
            <a:avLst/>
          </a:prstGeom>
        </p:spPr>
        <p:txBody>
          <a:bodyPr lIns="0" tIns="0" rIns="0" bIns="0" rtlCol="0" anchor="t">
            <a:spAutoFit/>
          </a:bodyPr>
          <a:lstStyle/>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Introduced an Attention Fusion mechanism to combine multiple preference signals.</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Inputs to the attention module:</a:t>
            </a:r>
          </a:p>
          <a:p>
            <a:pPr marL="1727202" lvl="2" indent="-575734" algn="l">
              <a:lnSpc>
                <a:spcPts val="4320"/>
              </a:lnSpc>
              <a:buFont typeface="Arial"/>
              <a:buChar char="⚬"/>
            </a:pPr>
            <a:r>
              <a:rPr lang="en-US" sz="4000">
                <a:solidFill>
                  <a:srgbClr val="000000"/>
                </a:solidFill>
                <a:latin typeface="Times New Roman"/>
                <a:ea typeface="Times New Roman"/>
                <a:cs typeface="Times New Roman"/>
                <a:sym typeface="Times New Roman"/>
              </a:rPr>
              <a:t>Sequence-level representation from Transformer</a:t>
            </a:r>
          </a:p>
          <a:p>
            <a:pPr marL="1727202" lvl="2" indent="-575734" algn="l">
              <a:lnSpc>
                <a:spcPts val="4320"/>
              </a:lnSpc>
              <a:buFont typeface="Arial"/>
              <a:buChar char="⚬"/>
            </a:pPr>
            <a:r>
              <a:rPr lang="en-US" sz="4000">
                <a:solidFill>
                  <a:srgbClr val="000000"/>
                </a:solidFill>
                <a:latin typeface="Times New Roman"/>
                <a:ea typeface="Times New Roman"/>
                <a:cs typeface="Times New Roman"/>
                <a:sym typeface="Times New Roman"/>
              </a:rPr>
              <a:t>Static user preference embedding</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Used a learnable query vector to compute attention weights.</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Attention scores dynamically decide:</a:t>
            </a:r>
          </a:p>
          <a:p>
            <a:pPr marL="1727202" lvl="2" indent="-575734" algn="l">
              <a:lnSpc>
                <a:spcPts val="4320"/>
              </a:lnSpc>
              <a:buFont typeface="Arial"/>
              <a:buChar char="⚬"/>
            </a:pPr>
            <a:r>
              <a:rPr lang="en-US" sz="4000">
                <a:solidFill>
                  <a:srgbClr val="000000"/>
                </a:solidFill>
                <a:latin typeface="Times New Roman"/>
                <a:ea typeface="Times New Roman"/>
                <a:cs typeface="Times New Roman"/>
                <a:sym typeface="Times New Roman"/>
              </a:rPr>
              <a:t>Whether recent behavior or long-term preference is more important</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Generated a unified user representation through weighted aggregation.</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Improved adaptability of recommendations across different user behaviors.</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24</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Content-Based Similarity Modeling</a:t>
              </a:r>
            </a:p>
          </p:txBody>
        </p:sp>
      </p:grpSp>
      <p:sp>
        <p:nvSpPr>
          <p:cNvPr id="5" name="TextBox 5"/>
          <p:cNvSpPr txBox="1"/>
          <p:nvPr/>
        </p:nvSpPr>
        <p:spPr>
          <a:xfrm>
            <a:off x="1348725" y="2803187"/>
            <a:ext cx="15590550" cy="5471160"/>
          </a:xfrm>
          <a:prstGeom prst="rect">
            <a:avLst/>
          </a:prstGeom>
        </p:spPr>
        <p:txBody>
          <a:bodyPr lIns="0" tIns="0" rIns="0" bIns="0" rtlCol="0" anchor="t">
            <a:spAutoFit/>
          </a:bodyPr>
          <a:lstStyle/>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Generated food embeddings using:</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Nutritional attributes</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Regional and category information</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Computed similarity between:</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User preference profile</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Food feature embeddings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Used cosine similarity to handle:</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Cold-start users</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Newly introduced food items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Content-based scores act as a complementary signal in hybrid ranking.</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25</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Hybrid Recommendation Strategy</a:t>
              </a:r>
            </a:p>
          </p:txBody>
        </p:sp>
      </p:grpSp>
      <p:sp>
        <p:nvSpPr>
          <p:cNvPr id="5" name="TextBox 5"/>
          <p:cNvSpPr txBox="1"/>
          <p:nvPr/>
        </p:nvSpPr>
        <p:spPr>
          <a:xfrm>
            <a:off x="1348725" y="2803187"/>
            <a:ext cx="15590550" cy="6014085"/>
          </a:xfrm>
          <a:prstGeom prst="rect">
            <a:avLst/>
          </a:prstGeom>
        </p:spPr>
        <p:txBody>
          <a:bodyPr lIns="0" tIns="0" rIns="0" bIns="0" rtlCol="0" anchor="t">
            <a:spAutoFit/>
          </a:bodyPr>
          <a:lstStyle/>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Combined multiple model outputs using weighted aggregation:</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Matrix Factorization score (long-term preference)</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Sequence model score (short-term behavior)</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Content similarity score (food attributes)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Applied allergy-based hard filtering to remove unsafe food items.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Applied health-condition-based soft penalties during ranking.</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Integrated food safety alerts to penalize high-risk foods.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Final ranking balances:</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Personal preference relevance</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Nutritional suitability</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Regional and cultural alignment</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26</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52850"/>
            <a:chOff x="0" y="0"/>
            <a:chExt cx="21031200" cy="2203800"/>
          </a:xfrm>
        </p:grpSpPr>
        <p:sp>
          <p:nvSpPr>
            <p:cNvPr id="3" name="Freeform 3"/>
            <p:cNvSpPr/>
            <p:nvPr/>
          </p:nvSpPr>
          <p:spPr>
            <a:xfrm>
              <a:off x="0" y="0"/>
              <a:ext cx="21031200" cy="2203800"/>
            </a:xfrm>
            <a:custGeom>
              <a:avLst/>
              <a:gdLst/>
              <a:ahLst/>
              <a:cxnLst/>
              <a:rect l="l" t="t" r="r" b="b"/>
              <a:pathLst>
                <a:path w="21031200" h="2203800">
                  <a:moveTo>
                    <a:pt x="0" y="0"/>
                  </a:moveTo>
                  <a:lnTo>
                    <a:pt x="21031200" y="0"/>
                  </a:lnTo>
                  <a:lnTo>
                    <a:pt x="21031200" y="2203800"/>
                  </a:lnTo>
                  <a:lnTo>
                    <a:pt x="0" y="2203800"/>
                  </a:lnTo>
                  <a:close/>
                </a:path>
              </a:pathLst>
            </a:custGeom>
            <a:solidFill>
              <a:srgbClr val="000000">
                <a:alpha val="0"/>
              </a:srgbClr>
            </a:solidFill>
          </p:spPr>
        </p:sp>
        <p:sp>
          <p:nvSpPr>
            <p:cNvPr id="4" name="TextBox 4"/>
            <p:cNvSpPr txBox="1"/>
            <p:nvPr/>
          </p:nvSpPr>
          <p:spPr>
            <a:xfrm>
              <a:off x="0" y="38100"/>
              <a:ext cx="21031200" cy="2165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Uniqueness</a:t>
              </a:r>
            </a:p>
          </p:txBody>
        </p:sp>
      </p:grpSp>
      <p:sp>
        <p:nvSpPr>
          <p:cNvPr id="5" name="TextBox 5"/>
          <p:cNvSpPr txBox="1"/>
          <p:nvPr/>
        </p:nvSpPr>
        <p:spPr>
          <a:xfrm>
            <a:off x="1348725" y="2227187"/>
            <a:ext cx="15590550" cy="6562725"/>
          </a:xfrm>
          <a:prstGeom prst="rect">
            <a:avLst/>
          </a:prstGeom>
        </p:spPr>
        <p:txBody>
          <a:bodyPr lIns="0" tIns="0" rIns="0" bIns="0" rtlCol="0" anchor="t">
            <a:spAutoFit/>
          </a:bodyPr>
          <a:lstStyle/>
          <a:p>
            <a:pPr algn="l">
              <a:lnSpc>
                <a:spcPts val="3996"/>
              </a:lnSpc>
            </a:pPr>
            <a:r>
              <a:rPr lang="en-US" sz="3330">
                <a:solidFill>
                  <a:srgbClr val="000000"/>
                </a:solidFill>
                <a:latin typeface="Times New Roman"/>
                <a:ea typeface="Times New Roman"/>
                <a:cs typeface="Times New Roman"/>
                <a:sym typeface="Times New Roman"/>
              </a:rPr>
              <a:t>This project stands out from existing food recommendation solutions due to its integrated focus on health awareness, regional relevance, and future family-centric extensibility. The key unique aspects are:</a:t>
            </a:r>
          </a:p>
          <a:p>
            <a:pPr algn="l">
              <a:lnSpc>
                <a:spcPts val="3329"/>
              </a:lnSpc>
            </a:pPr>
            <a:endParaRPr lang="en-US" sz="3330">
              <a:solidFill>
                <a:srgbClr val="000000"/>
              </a:solidFill>
              <a:latin typeface="Times New Roman"/>
              <a:ea typeface="Times New Roman"/>
              <a:cs typeface="Times New Roman"/>
              <a:sym typeface="Times New Roman"/>
            </a:endParaRPr>
          </a:p>
          <a:p>
            <a:pPr marL="654453" lvl="1" indent="-327227" algn="l">
              <a:lnSpc>
                <a:spcPts val="3329"/>
              </a:lnSpc>
              <a:buAutoNum type="arabicPeriod"/>
            </a:pPr>
            <a:r>
              <a:rPr lang="en-US" sz="2775" u="sng">
                <a:solidFill>
                  <a:srgbClr val="000000"/>
                </a:solidFill>
                <a:latin typeface="Times New Roman"/>
                <a:ea typeface="Times New Roman"/>
                <a:cs typeface="Times New Roman"/>
                <a:sym typeface="Times New Roman"/>
              </a:rPr>
              <a:t>Health-Constrained Personalization:</a:t>
            </a:r>
            <a:r>
              <a:rPr lang="en-US" sz="2775">
                <a:solidFill>
                  <a:srgbClr val="000000"/>
                </a:solidFill>
                <a:latin typeface="Times New Roman"/>
                <a:ea typeface="Times New Roman"/>
                <a:cs typeface="Times New Roman"/>
                <a:sym typeface="Times New Roman"/>
              </a:rPr>
              <a:t> The system explicitly integrates health conditions, dietary goals, allergies, and activity levels into the recommendation process, ensuring nutritionally safe and responsible food suggestions.</a:t>
            </a:r>
          </a:p>
          <a:p>
            <a:pPr marL="654453" lvl="1" indent="-327227" algn="l">
              <a:lnSpc>
                <a:spcPts val="3329"/>
              </a:lnSpc>
              <a:buAutoNum type="arabicPeriod"/>
            </a:pPr>
            <a:r>
              <a:rPr lang="en-US" sz="2775" u="sng">
                <a:solidFill>
                  <a:srgbClr val="000000"/>
                </a:solidFill>
                <a:latin typeface="Times New Roman"/>
                <a:ea typeface="Times New Roman"/>
                <a:cs typeface="Times New Roman"/>
                <a:sym typeface="Times New Roman"/>
              </a:rPr>
              <a:t>Region-Aware Recommendation:</a:t>
            </a:r>
            <a:r>
              <a:rPr lang="en-US" sz="2775">
                <a:solidFill>
                  <a:srgbClr val="000000"/>
                </a:solidFill>
                <a:latin typeface="Times New Roman"/>
                <a:ea typeface="Times New Roman"/>
                <a:cs typeface="Times New Roman"/>
                <a:sym typeface="Times New Roman"/>
              </a:rPr>
              <a:t> Unlike generic food recommenders, the prototype incorporates regional and cuisine-specific context, making recommendations culturally relevant and practically adoptable.</a:t>
            </a:r>
          </a:p>
          <a:p>
            <a:pPr marL="654453" lvl="1" indent="-327227" algn="l">
              <a:lnSpc>
                <a:spcPts val="3329"/>
              </a:lnSpc>
              <a:buAutoNum type="arabicPeriod"/>
            </a:pPr>
            <a:r>
              <a:rPr lang="en-US" sz="2775" u="sng">
                <a:solidFill>
                  <a:srgbClr val="000000"/>
                </a:solidFill>
                <a:latin typeface="Times New Roman"/>
                <a:ea typeface="Times New Roman"/>
                <a:cs typeface="Times New Roman"/>
                <a:sym typeface="Times New Roman"/>
              </a:rPr>
              <a:t>Integrated Nutrition, Safety, and Preference Modeling:</a:t>
            </a:r>
            <a:r>
              <a:rPr lang="en-US" sz="2775">
                <a:solidFill>
                  <a:srgbClr val="000000"/>
                </a:solidFill>
                <a:latin typeface="Times New Roman"/>
                <a:ea typeface="Times New Roman"/>
                <a:cs typeface="Times New Roman"/>
                <a:sym typeface="Times New Roman"/>
              </a:rPr>
              <a:t> Nutritional attributes, food safety alerts, and user lifestyle data are jointly considered, enabling multi-constraint decision-making within a single recommendation pipeline.</a:t>
            </a:r>
          </a:p>
          <a:p>
            <a:pPr marL="654453" lvl="1" indent="-327227" algn="l">
              <a:lnSpc>
                <a:spcPts val="3329"/>
              </a:lnSpc>
              <a:buAutoNum type="arabicPeriod"/>
            </a:pPr>
            <a:r>
              <a:rPr lang="en-US" sz="2775" u="sng">
                <a:solidFill>
                  <a:srgbClr val="000000"/>
                </a:solidFill>
                <a:latin typeface="Times New Roman"/>
                <a:ea typeface="Times New Roman"/>
                <a:cs typeface="Times New Roman"/>
                <a:sym typeface="Times New Roman"/>
              </a:rPr>
              <a:t>Scalable Foundation for Family-Centric Meal Planning:</a:t>
            </a:r>
            <a:r>
              <a:rPr lang="en-US" sz="2775">
                <a:solidFill>
                  <a:srgbClr val="000000"/>
                </a:solidFill>
                <a:latin typeface="Times New Roman"/>
                <a:ea typeface="Times New Roman"/>
                <a:cs typeface="Times New Roman"/>
                <a:sym typeface="Times New Roman"/>
              </a:rPr>
              <a:t> Although currently individual-centric, the modular design supports future extension to family and community-level meal planning and structured daily diets.</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27</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99488"/>
            <a:ext cx="6172200" cy="1988550"/>
            <a:chOff x="0" y="0"/>
            <a:chExt cx="8229600" cy="2651400"/>
          </a:xfrm>
        </p:grpSpPr>
        <p:sp>
          <p:nvSpPr>
            <p:cNvPr id="3" name="Freeform 3"/>
            <p:cNvSpPr/>
            <p:nvPr/>
          </p:nvSpPr>
          <p:spPr>
            <a:xfrm>
              <a:off x="0" y="0"/>
              <a:ext cx="8229600" cy="2651400"/>
            </a:xfrm>
            <a:custGeom>
              <a:avLst/>
              <a:gdLst/>
              <a:ahLst/>
              <a:cxnLst/>
              <a:rect l="l" t="t" r="r" b="b"/>
              <a:pathLst>
                <a:path w="8229600" h="2651400">
                  <a:moveTo>
                    <a:pt x="0" y="0"/>
                  </a:moveTo>
                  <a:lnTo>
                    <a:pt x="8229600" y="0"/>
                  </a:lnTo>
                  <a:lnTo>
                    <a:pt x="8229600" y="2651400"/>
                  </a:lnTo>
                  <a:lnTo>
                    <a:pt x="0" y="2651400"/>
                  </a:lnTo>
                  <a:close/>
                </a:path>
              </a:pathLst>
            </a:custGeom>
            <a:solidFill>
              <a:srgbClr val="000000">
                <a:alpha val="0"/>
              </a:srgbClr>
            </a:solidFill>
          </p:spPr>
        </p:sp>
        <p:sp>
          <p:nvSpPr>
            <p:cNvPr id="4" name="TextBox 4"/>
            <p:cNvSpPr txBox="1"/>
            <p:nvPr/>
          </p:nvSpPr>
          <p:spPr>
            <a:xfrm>
              <a:off x="0" y="38100"/>
              <a:ext cx="82296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Workflow</a:t>
              </a: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88888"/>
                  </a:solidFill>
                  <a:latin typeface="Times New Roman"/>
                  <a:ea typeface="Times New Roman"/>
                  <a:cs typeface="Times New Roman"/>
                  <a:sym typeface="Times New Roman"/>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19050"/>
              <a:ext cx="5486400" cy="749300"/>
            </a:xfrm>
            <a:prstGeom prst="rect">
              <a:avLst/>
            </a:prstGeom>
          </p:spPr>
          <p:txBody>
            <a:bodyPr lIns="0" tIns="0" rIns="0" bIns="0" rtlCol="0" anchor="ctr"/>
            <a:lstStyle/>
            <a:p>
              <a:pPr algn="r">
                <a:lnSpc>
                  <a:spcPts val="2160"/>
                </a:lnSpc>
              </a:pPr>
              <a:r>
                <a:rPr lang="en-US" sz="1800" dirty="0">
                  <a:solidFill>
                    <a:srgbClr val="888888"/>
                  </a:solidFill>
                  <a:latin typeface="Times New Roman"/>
                  <a:ea typeface="Times New Roman"/>
                  <a:cs typeface="Times New Roman"/>
                  <a:sym typeface="Times New Roman"/>
                </a:rPr>
                <a:t>28</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888888"/>
                  </a:solidFill>
                  <a:latin typeface="Times New Roman"/>
                  <a:ea typeface="Times New Roman"/>
                  <a:cs typeface="Times New Roman"/>
                  <a:sym typeface="Times New Roman"/>
                </a:rPr>
                <a:t>22-12-2025</a:t>
              </a:r>
            </a:p>
          </p:txBody>
        </p:sp>
      </p:grpSp>
      <p:grpSp>
        <p:nvGrpSpPr>
          <p:cNvPr id="14" name="Group 14"/>
          <p:cNvGrpSpPr/>
          <p:nvPr/>
        </p:nvGrpSpPr>
        <p:grpSpPr>
          <a:xfrm>
            <a:off x="1876810" y="4806015"/>
            <a:ext cx="1378884" cy="689442"/>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00000"/>
              </a:solidFill>
              <a:prstDash val="solid"/>
              <a:miter/>
            </a:ln>
          </p:spPr>
        </p:sp>
        <p:sp>
          <p:nvSpPr>
            <p:cNvPr id="16" name="TextBox 16"/>
            <p:cNvSpPr txBox="1"/>
            <p:nvPr/>
          </p:nvSpPr>
          <p:spPr>
            <a:xfrm>
              <a:off x="0" y="-9525"/>
              <a:ext cx="812800" cy="415925"/>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START</a:t>
              </a:r>
            </a:p>
          </p:txBody>
        </p:sp>
      </p:grpSp>
      <p:grpSp>
        <p:nvGrpSpPr>
          <p:cNvPr id="17" name="Group 17"/>
          <p:cNvGrpSpPr/>
          <p:nvPr/>
        </p:nvGrpSpPr>
        <p:grpSpPr>
          <a:xfrm>
            <a:off x="4764335" y="4576894"/>
            <a:ext cx="1750977" cy="1147685"/>
            <a:chOff x="0" y="0"/>
            <a:chExt cx="540425" cy="354224"/>
          </a:xfrm>
        </p:grpSpPr>
        <p:sp>
          <p:nvSpPr>
            <p:cNvPr id="18" name="Freeform 18"/>
            <p:cNvSpPr/>
            <p:nvPr/>
          </p:nvSpPr>
          <p:spPr>
            <a:xfrm>
              <a:off x="0" y="0"/>
              <a:ext cx="540425" cy="354224"/>
            </a:xfrm>
            <a:custGeom>
              <a:avLst/>
              <a:gdLst/>
              <a:ahLst/>
              <a:cxnLst/>
              <a:rect l="l" t="t" r="r" b="b"/>
              <a:pathLst>
                <a:path w="540425" h="354224">
                  <a:moveTo>
                    <a:pt x="86357" y="0"/>
                  </a:moveTo>
                  <a:lnTo>
                    <a:pt x="454068" y="0"/>
                  </a:lnTo>
                  <a:cubicBezTo>
                    <a:pt x="476971" y="0"/>
                    <a:pt x="498936" y="9098"/>
                    <a:pt x="515131" y="25293"/>
                  </a:cubicBezTo>
                  <a:cubicBezTo>
                    <a:pt x="531327" y="41489"/>
                    <a:pt x="540425" y="63454"/>
                    <a:pt x="540425" y="86357"/>
                  </a:cubicBezTo>
                  <a:lnTo>
                    <a:pt x="540425" y="267867"/>
                  </a:lnTo>
                  <a:cubicBezTo>
                    <a:pt x="540425" y="290770"/>
                    <a:pt x="531327" y="312735"/>
                    <a:pt x="515131" y="328930"/>
                  </a:cubicBezTo>
                  <a:cubicBezTo>
                    <a:pt x="498936" y="345125"/>
                    <a:pt x="476971" y="354224"/>
                    <a:pt x="454068" y="354224"/>
                  </a:cubicBezTo>
                  <a:lnTo>
                    <a:pt x="86357" y="354224"/>
                  </a:lnTo>
                  <a:cubicBezTo>
                    <a:pt x="38663" y="354224"/>
                    <a:pt x="0" y="315560"/>
                    <a:pt x="0" y="267867"/>
                  </a:cubicBezTo>
                  <a:lnTo>
                    <a:pt x="0" y="86357"/>
                  </a:lnTo>
                  <a:cubicBezTo>
                    <a:pt x="0" y="38663"/>
                    <a:pt x="38663" y="0"/>
                    <a:pt x="86357" y="0"/>
                  </a:cubicBezTo>
                  <a:close/>
                </a:path>
              </a:pathLst>
            </a:custGeom>
            <a:solidFill>
              <a:srgbClr val="000000">
                <a:alpha val="0"/>
              </a:srgbClr>
            </a:solidFill>
            <a:ln w="38100" cap="rnd">
              <a:solidFill>
                <a:srgbClr val="000000"/>
              </a:solidFill>
              <a:prstDash val="solid"/>
              <a:round/>
            </a:ln>
          </p:spPr>
        </p:sp>
        <p:sp>
          <p:nvSpPr>
            <p:cNvPr id="19" name="TextBox 19"/>
            <p:cNvSpPr txBox="1"/>
            <p:nvPr/>
          </p:nvSpPr>
          <p:spPr>
            <a:xfrm>
              <a:off x="0" y="-9525"/>
              <a:ext cx="540425" cy="36374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Raw Data</a:t>
              </a:r>
            </a:p>
            <a:p>
              <a:pPr algn="ctr">
                <a:lnSpc>
                  <a:spcPts val="2879"/>
                </a:lnSpc>
              </a:pPr>
              <a:r>
                <a:rPr lang="en-US" sz="2399">
                  <a:solidFill>
                    <a:srgbClr val="000000"/>
                  </a:solidFill>
                  <a:latin typeface="Times New Roman"/>
                  <a:ea typeface="Times New Roman"/>
                  <a:cs typeface="Times New Roman"/>
                  <a:sym typeface="Times New Roman"/>
                </a:rPr>
                <a:t> Layer</a:t>
              </a:r>
            </a:p>
          </p:txBody>
        </p:sp>
      </p:grpSp>
      <p:grpSp>
        <p:nvGrpSpPr>
          <p:cNvPr id="20" name="Group 20"/>
          <p:cNvGrpSpPr/>
          <p:nvPr/>
        </p:nvGrpSpPr>
        <p:grpSpPr>
          <a:xfrm>
            <a:off x="8023952" y="4576894"/>
            <a:ext cx="1750977" cy="1147685"/>
            <a:chOff x="0" y="0"/>
            <a:chExt cx="540425" cy="354224"/>
          </a:xfrm>
        </p:grpSpPr>
        <p:sp>
          <p:nvSpPr>
            <p:cNvPr id="21" name="Freeform 21"/>
            <p:cNvSpPr/>
            <p:nvPr/>
          </p:nvSpPr>
          <p:spPr>
            <a:xfrm>
              <a:off x="0" y="0"/>
              <a:ext cx="540425" cy="354224"/>
            </a:xfrm>
            <a:custGeom>
              <a:avLst/>
              <a:gdLst/>
              <a:ahLst/>
              <a:cxnLst/>
              <a:rect l="l" t="t" r="r" b="b"/>
              <a:pathLst>
                <a:path w="540425" h="354224">
                  <a:moveTo>
                    <a:pt x="86357" y="0"/>
                  </a:moveTo>
                  <a:lnTo>
                    <a:pt x="454068" y="0"/>
                  </a:lnTo>
                  <a:cubicBezTo>
                    <a:pt x="476971" y="0"/>
                    <a:pt x="498936" y="9098"/>
                    <a:pt x="515131" y="25293"/>
                  </a:cubicBezTo>
                  <a:cubicBezTo>
                    <a:pt x="531327" y="41489"/>
                    <a:pt x="540425" y="63454"/>
                    <a:pt x="540425" y="86357"/>
                  </a:cubicBezTo>
                  <a:lnTo>
                    <a:pt x="540425" y="267867"/>
                  </a:lnTo>
                  <a:cubicBezTo>
                    <a:pt x="540425" y="290770"/>
                    <a:pt x="531327" y="312735"/>
                    <a:pt x="515131" y="328930"/>
                  </a:cubicBezTo>
                  <a:cubicBezTo>
                    <a:pt x="498936" y="345125"/>
                    <a:pt x="476971" y="354224"/>
                    <a:pt x="454068" y="354224"/>
                  </a:cubicBezTo>
                  <a:lnTo>
                    <a:pt x="86357" y="354224"/>
                  </a:lnTo>
                  <a:cubicBezTo>
                    <a:pt x="38663" y="354224"/>
                    <a:pt x="0" y="315560"/>
                    <a:pt x="0" y="267867"/>
                  </a:cubicBezTo>
                  <a:lnTo>
                    <a:pt x="0" y="86357"/>
                  </a:lnTo>
                  <a:cubicBezTo>
                    <a:pt x="0" y="38663"/>
                    <a:pt x="38663" y="0"/>
                    <a:pt x="86357" y="0"/>
                  </a:cubicBezTo>
                  <a:close/>
                </a:path>
              </a:pathLst>
            </a:custGeom>
            <a:solidFill>
              <a:srgbClr val="000000">
                <a:alpha val="0"/>
              </a:srgbClr>
            </a:solidFill>
            <a:ln w="38100" cap="rnd">
              <a:solidFill>
                <a:srgbClr val="000000"/>
              </a:solidFill>
              <a:prstDash val="solid"/>
              <a:round/>
            </a:ln>
          </p:spPr>
        </p:sp>
        <p:sp>
          <p:nvSpPr>
            <p:cNvPr id="22" name="TextBox 22"/>
            <p:cNvSpPr txBox="1"/>
            <p:nvPr/>
          </p:nvSpPr>
          <p:spPr>
            <a:xfrm>
              <a:off x="0" y="-9525"/>
              <a:ext cx="540425" cy="36374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Data Ingestion</a:t>
              </a:r>
            </a:p>
          </p:txBody>
        </p:sp>
      </p:grpSp>
      <p:sp>
        <p:nvSpPr>
          <p:cNvPr id="23" name="Freeform 23"/>
          <p:cNvSpPr/>
          <p:nvPr/>
        </p:nvSpPr>
        <p:spPr>
          <a:xfrm>
            <a:off x="6515311" y="4936430"/>
            <a:ext cx="1508640" cy="428612"/>
          </a:xfrm>
          <a:custGeom>
            <a:avLst/>
            <a:gdLst/>
            <a:ahLst/>
            <a:cxnLst/>
            <a:rect l="l" t="t" r="r" b="b"/>
            <a:pathLst>
              <a:path w="1508640" h="428612">
                <a:moveTo>
                  <a:pt x="0" y="0"/>
                </a:moveTo>
                <a:lnTo>
                  <a:pt x="1508641" y="0"/>
                </a:lnTo>
                <a:lnTo>
                  <a:pt x="1508641"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4"/>
          <p:cNvSpPr/>
          <p:nvPr/>
        </p:nvSpPr>
        <p:spPr>
          <a:xfrm>
            <a:off x="3255695" y="4936430"/>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5" name="Group 25"/>
          <p:cNvGrpSpPr/>
          <p:nvPr/>
        </p:nvGrpSpPr>
        <p:grpSpPr>
          <a:xfrm>
            <a:off x="11279878" y="4576894"/>
            <a:ext cx="2801571" cy="1147685"/>
            <a:chOff x="0" y="0"/>
            <a:chExt cx="864682" cy="354224"/>
          </a:xfrm>
        </p:grpSpPr>
        <p:sp>
          <p:nvSpPr>
            <p:cNvPr id="26" name="Freeform 26"/>
            <p:cNvSpPr/>
            <p:nvPr/>
          </p:nvSpPr>
          <p:spPr>
            <a:xfrm>
              <a:off x="0" y="0"/>
              <a:ext cx="864682" cy="354224"/>
            </a:xfrm>
            <a:custGeom>
              <a:avLst/>
              <a:gdLst/>
              <a:ahLst/>
              <a:cxnLst/>
              <a:rect l="l" t="t" r="r" b="b"/>
              <a:pathLst>
                <a:path w="864682" h="354224">
                  <a:moveTo>
                    <a:pt x="53973" y="0"/>
                  </a:moveTo>
                  <a:lnTo>
                    <a:pt x="810709" y="0"/>
                  </a:lnTo>
                  <a:cubicBezTo>
                    <a:pt x="825024" y="0"/>
                    <a:pt x="838752" y="5686"/>
                    <a:pt x="848874" y="15808"/>
                  </a:cubicBezTo>
                  <a:cubicBezTo>
                    <a:pt x="858996" y="25930"/>
                    <a:pt x="864682" y="39659"/>
                    <a:pt x="864682" y="53973"/>
                  </a:cubicBezTo>
                  <a:lnTo>
                    <a:pt x="864682" y="300251"/>
                  </a:lnTo>
                  <a:cubicBezTo>
                    <a:pt x="864682" y="314565"/>
                    <a:pt x="858996" y="328293"/>
                    <a:pt x="848874" y="338415"/>
                  </a:cubicBezTo>
                  <a:cubicBezTo>
                    <a:pt x="838752" y="348537"/>
                    <a:pt x="825024" y="354224"/>
                    <a:pt x="810709" y="354224"/>
                  </a:cubicBezTo>
                  <a:lnTo>
                    <a:pt x="53973" y="354224"/>
                  </a:lnTo>
                  <a:cubicBezTo>
                    <a:pt x="39659" y="354224"/>
                    <a:pt x="25930" y="348537"/>
                    <a:pt x="15808" y="338415"/>
                  </a:cubicBezTo>
                  <a:cubicBezTo>
                    <a:pt x="5686" y="328293"/>
                    <a:pt x="0" y="314565"/>
                    <a:pt x="0" y="300251"/>
                  </a:cubicBezTo>
                  <a:lnTo>
                    <a:pt x="0" y="53973"/>
                  </a:lnTo>
                  <a:cubicBezTo>
                    <a:pt x="0" y="39659"/>
                    <a:pt x="5686" y="25930"/>
                    <a:pt x="15808" y="15808"/>
                  </a:cubicBezTo>
                  <a:cubicBezTo>
                    <a:pt x="25930" y="5686"/>
                    <a:pt x="39659" y="0"/>
                    <a:pt x="53973" y="0"/>
                  </a:cubicBezTo>
                  <a:close/>
                </a:path>
              </a:pathLst>
            </a:custGeom>
            <a:solidFill>
              <a:srgbClr val="000000">
                <a:alpha val="0"/>
              </a:srgbClr>
            </a:solidFill>
            <a:ln w="38100" cap="rnd">
              <a:solidFill>
                <a:srgbClr val="000000"/>
              </a:solidFill>
              <a:prstDash val="solid"/>
              <a:round/>
            </a:ln>
          </p:spPr>
        </p:sp>
        <p:sp>
          <p:nvSpPr>
            <p:cNvPr id="27" name="TextBox 27"/>
            <p:cNvSpPr txBox="1"/>
            <p:nvPr/>
          </p:nvSpPr>
          <p:spPr>
            <a:xfrm>
              <a:off x="0" y="-9525"/>
              <a:ext cx="864682" cy="36374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Data Preprocessing</a:t>
              </a:r>
            </a:p>
          </p:txBody>
        </p:sp>
      </p:grpSp>
      <p:sp>
        <p:nvSpPr>
          <p:cNvPr id="28" name="Freeform 28"/>
          <p:cNvSpPr/>
          <p:nvPr/>
        </p:nvSpPr>
        <p:spPr>
          <a:xfrm>
            <a:off x="9793535" y="4936430"/>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9" name="Group 29"/>
          <p:cNvGrpSpPr/>
          <p:nvPr/>
        </p:nvGrpSpPr>
        <p:grpSpPr>
          <a:xfrm>
            <a:off x="9268487" y="8110615"/>
            <a:ext cx="3436305" cy="1147685"/>
            <a:chOff x="0" y="0"/>
            <a:chExt cx="1060588" cy="354224"/>
          </a:xfrm>
        </p:grpSpPr>
        <p:sp>
          <p:nvSpPr>
            <p:cNvPr id="30" name="Freeform 30"/>
            <p:cNvSpPr/>
            <p:nvPr/>
          </p:nvSpPr>
          <p:spPr>
            <a:xfrm>
              <a:off x="0" y="0"/>
              <a:ext cx="1060588" cy="354224"/>
            </a:xfrm>
            <a:custGeom>
              <a:avLst/>
              <a:gdLst/>
              <a:ahLst/>
              <a:cxnLst/>
              <a:rect l="l" t="t" r="r" b="b"/>
              <a:pathLst>
                <a:path w="1060588" h="354224">
                  <a:moveTo>
                    <a:pt x="44003" y="0"/>
                  </a:moveTo>
                  <a:lnTo>
                    <a:pt x="1016584" y="0"/>
                  </a:lnTo>
                  <a:cubicBezTo>
                    <a:pt x="1040887" y="0"/>
                    <a:pt x="1060588" y="19701"/>
                    <a:pt x="1060588" y="44003"/>
                  </a:cubicBezTo>
                  <a:lnTo>
                    <a:pt x="1060588" y="310220"/>
                  </a:lnTo>
                  <a:cubicBezTo>
                    <a:pt x="1060588" y="334523"/>
                    <a:pt x="1040887" y="354224"/>
                    <a:pt x="1016584" y="354224"/>
                  </a:cubicBezTo>
                  <a:lnTo>
                    <a:pt x="44003" y="354224"/>
                  </a:lnTo>
                  <a:cubicBezTo>
                    <a:pt x="19701" y="354224"/>
                    <a:pt x="0" y="334523"/>
                    <a:pt x="0" y="310220"/>
                  </a:cubicBezTo>
                  <a:lnTo>
                    <a:pt x="0" y="44003"/>
                  </a:lnTo>
                  <a:cubicBezTo>
                    <a:pt x="0" y="19701"/>
                    <a:pt x="19701" y="0"/>
                    <a:pt x="44003" y="0"/>
                  </a:cubicBezTo>
                  <a:close/>
                </a:path>
              </a:pathLst>
            </a:custGeom>
            <a:solidFill>
              <a:srgbClr val="000000">
                <a:alpha val="0"/>
              </a:srgbClr>
            </a:solidFill>
            <a:ln w="38100" cap="rnd">
              <a:solidFill>
                <a:srgbClr val="000000"/>
              </a:solidFill>
              <a:prstDash val="solid"/>
              <a:round/>
            </a:ln>
          </p:spPr>
        </p:sp>
        <p:sp>
          <p:nvSpPr>
            <p:cNvPr id="31" name="TextBox 31"/>
            <p:cNvSpPr txBox="1"/>
            <p:nvPr/>
          </p:nvSpPr>
          <p:spPr>
            <a:xfrm>
              <a:off x="0" y="-9525"/>
              <a:ext cx="1060588" cy="36374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Builds User Interactions according to ratings</a:t>
              </a:r>
            </a:p>
          </p:txBody>
        </p:sp>
      </p:grpSp>
      <p:grpSp>
        <p:nvGrpSpPr>
          <p:cNvPr id="32" name="Group 32"/>
          <p:cNvGrpSpPr/>
          <p:nvPr/>
        </p:nvGrpSpPr>
        <p:grpSpPr>
          <a:xfrm>
            <a:off x="12974885" y="8110615"/>
            <a:ext cx="3436305" cy="1147685"/>
            <a:chOff x="0" y="0"/>
            <a:chExt cx="1060588" cy="354224"/>
          </a:xfrm>
        </p:grpSpPr>
        <p:sp>
          <p:nvSpPr>
            <p:cNvPr id="33" name="Freeform 33"/>
            <p:cNvSpPr/>
            <p:nvPr/>
          </p:nvSpPr>
          <p:spPr>
            <a:xfrm>
              <a:off x="0" y="0"/>
              <a:ext cx="1060588" cy="354224"/>
            </a:xfrm>
            <a:custGeom>
              <a:avLst/>
              <a:gdLst/>
              <a:ahLst/>
              <a:cxnLst/>
              <a:rect l="l" t="t" r="r" b="b"/>
              <a:pathLst>
                <a:path w="1060588" h="354224">
                  <a:moveTo>
                    <a:pt x="44003" y="0"/>
                  </a:moveTo>
                  <a:lnTo>
                    <a:pt x="1016584" y="0"/>
                  </a:lnTo>
                  <a:cubicBezTo>
                    <a:pt x="1040887" y="0"/>
                    <a:pt x="1060588" y="19701"/>
                    <a:pt x="1060588" y="44003"/>
                  </a:cubicBezTo>
                  <a:lnTo>
                    <a:pt x="1060588" y="310220"/>
                  </a:lnTo>
                  <a:cubicBezTo>
                    <a:pt x="1060588" y="334523"/>
                    <a:pt x="1040887" y="354224"/>
                    <a:pt x="1016584" y="354224"/>
                  </a:cubicBezTo>
                  <a:lnTo>
                    <a:pt x="44003" y="354224"/>
                  </a:lnTo>
                  <a:cubicBezTo>
                    <a:pt x="19701" y="354224"/>
                    <a:pt x="0" y="334523"/>
                    <a:pt x="0" y="310220"/>
                  </a:cubicBezTo>
                  <a:lnTo>
                    <a:pt x="0" y="44003"/>
                  </a:lnTo>
                  <a:cubicBezTo>
                    <a:pt x="0" y="19701"/>
                    <a:pt x="19701" y="0"/>
                    <a:pt x="44003" y="0"/>
                  </a:cubicBezTo>
                  <a:close/>
                </a:path>
              </a:pathLst>
            </a:custGeom>
            <a:solidFill>
              <a:srgbClr val="000000">
                <a:alpha val="0"/>
              </a:srgbClr>
            </a:solidFill>
            <a:ln w="38100" cap="rnd">
              <a:solidFill>
                <a:srgbClr val="000000"/>
              </a:solidFill>
              <a:prstDash val="solid"/>
              <a:round/>
            </a:ln>
          </p:spPr>
        </p:sp>
        <p:sp>
          <p:nvSpPr>
            <p:cNvPr id="34" name="TextBox 34"/>
            <p:cNvSpPr txBox="1"/>
            <p:nvPr/>
          </p:nvSpPr>
          <p:spPr>
            <a:xfrm>
              <a:off x="0" y="-9525"/>
              <a:ext cx="1060588" cy="36374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Replaces Missing Values in Region Column</a:t>
              </a:r>
            </a:p>
          </p:txBody>
        </p:sp>
      </p:grpSp>
      <p:grpSp>
        <p:nvGrpSpPr>
          <p:cNvPr id="35" name="Group 35"/>
          <p:cNvGrpSpPr/>
          <p:nvPr/>
        </p:nvGrpSpPr>
        <p:grpSpPr>
          <a:xfrm>
            <a:off x="5356441" y="2325751"/>
            <a:ext cx="1629808" cy="1356568"/>
            <a:chOff x="0" y="0"/>
            <a:chExt cx="503027" cy="418694"/>
          </a:xfrm>
        </p:grpSpPr>
        <p:sp>
          <p:nvSpPr>
            <p:cNvPr id="36" name="Freeform 36"/>
            <p:cNvSpPr/>
            <p:nvPr/>
          </p:nvSpPr>
          <p:spPr>
            <a:xfrm>
              <a:off x="0" y="0"/>
              <a:ext cx="503027" cy="418694"/>
            </a:xfrm>
            <a:custGeom>
              <a:avLst/>
              <a:gdLst/>
              <a:ahLst/>
              <a:cxnLst/>
              <a:rect l="l" t="t" r="r" b="b"/>
              <a:pathLst>
                <a:path w="503027" h="418694">
                  <a:moveTo>
                    <a:pt x="92777" y="0"/>
                  </a:moveTo>
                  <a:lnTo>
                    <a:pt x="410250" y="0"/>
                  </a:lnTo>
                  <a:cubicBezTo>
                    <a:pt x="461489" y="0"/>
                    <a:pt x="503027" y="41538"/>
                    <a:pt x="503027" y="92777"/>
                  </a:cubicBezTo>
                  <a:lnTo>
                    <a:pt x="503027" y="325916"/>
                  </a:lnTo>
                  <a:cubicBezTo>
                    <a:pt x="503027" y="377156"/>
                    <a:pt x="461489" y="418694"/>
                    <a:pt x="410250" y="418694"/>
                  </a:cubicBezTo>
                  <a:lnTo>
                    <a:pt x="92777" y="418694"/>
                  </a:lnTo>
                  <a:cubicBezTo>
                    <a:pt x="41538" y="418694"/>
                    <a:pt x="0" y="377156"/>
                    <a:pt x="0" y="325916"/>
                  </a:cubicBezTo>
                  <a:lnTo>
                    <a:pt x="0" y="92777"/>
                  </a:lnTo>
                  <a:cubicBezTo>
                    <a:pt x="0" y="41538"/>
                    <a:pt x="41538" y="0"/>
                    <a:pt x="92777" y="0"/>
                  </a:cubicBezTo>
                  <a:close/>
                </a:path>
              </a:pathLst>
            </a:custGeom>
            <a:solidFill>
              <a:srgbClr val="000000">
                <a:alpha val="0"/>
              </a:srgbClr>
            </a:solidFill>
            <a:ln w="38100" cap="rnd">
              <a:solidFill>
                <a:srgbClr val="000000"/>
              </a:solidFill>
              <a:prstDash val="solid"/>
              <a:round/>
            </a:ln>
          </p:spPr>
        </p:sp>
        <p:sp>
          <p:nvSpPr>
            <p:cNvPr id="37" name="TextBox 37"/>
            <p:cNvSpPr txBox="1"/>
            <p:nvPr/>
          </p:nvSpPr>
          <p:spPr>
            <a:xfrm>
              <a:off x="0" y="-9525"/>
              <a:ext cx="503027" cy="42821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Reading .csv files</a:t>
              </a:r>
            </a:p>
          </p:txBody>
        </p:sp>
      </p:grpSp>
      <p:grpSp>
        <p:nvGrpSpPr>
          <p:cNvPr id="38" name="Group 38"/>
          <p:cNvGrpSpPr/>
          <p:nvPr/>
        </p:nvGrpSpPr>
        <p:grpSpPr>
          <a:xfrm>
            <a:off x="10814572" y="2388037"/>
            <a:ext cx="1842595" cy="1294281"/>
            <a:chOff x="0" y="0"/>
            <a:chExt cx="568702" cy="399469"/>
          </a:xfrm>
        </p:grpSpPr>
        <p:sp>
          <p:nvSpPr>
            <p:cNvPr id="39" name="Freeform 39"/>
            <p:cNvSpPr/>
            <p:nvPr/>
          </p:nvSpPr>
          <p:spPr>
            <a:xfrm>
              <a:off x="0" y="0"/>
              <a:ext cx="568702" cy="399469"/>
            </a:xfrm>
            <a:custGeom>
              <a:avLst/>
              <a:gdLst/>
              <a:ahLst/>
              <a:cxnLst/>
              <a:rect l="l" t="t" r="r" b="b"/>
              <a:pathLst>
                <a:path w="568702" h="399469">
                  <a:moveTo>
                    <a:pt x="82063" y="0"/>
                  </a:moveTo>
                  <a:lnTo>
                    <a:pt x="486639" y="0"/>
                  </a:lnTo>
                  <a:cubicBezTo>
                    <a:pt x="508403" y="0"/>
                    <a:pt x="529276" y="8646"/>
                    <a:pt x="544666" y="24036"/>
                  </a:cubicBezTo>
                  <a:cubicBezTo>
                    <a:pt x="560056" y="39426"/>
                    <a:pt x="568702" y="60299"/>
                    <a:pt x="568702" y="82063"/>
                  </a:cubicBezTo>
                  <a:lnTo>
                    <a:pt x="568702" y="317406"/>
                  </a:lnTo>
                  <a:cubicBezTo>
                    <a:pt x="568702" y="339171"/>
                    <a:pt x="560056" y="360044"/>
                    <a:pt x="544666" y="375434"/>
                  </a:cubicBezTo>
                  <a:cubicBezTo>
                    <a:pt x="529276" y="390823"/>
                    <a:pt x="508403" y="399469"/>
                    <a:pt x="486639" y="399469"/>
                  </a:cubicBezTo>
                  <a:lnTo>
                    <a:pt x="82063" y="399469"/>
                  </a:lnTo>
                  <a:cubicBezTo>
                    <a:pt x="60299" y="399469"/>
                    <a:pt x="39426" y="390823"/>
                    <a:pt x="24036" y="375434"/>
                  </a:cubicBezTo>
                  <a:cubicBezTo>
                    <a:pt x="8646" y="360044"/>
                    <a:pt x="0" y="339171"/>
                    <a:pt x="0" y="317406"/>
                  </a:cubicBezTo>
                  <a:lnTo>
                    <a:pt x="0" y="82063"/>
                  </a:lnTo>
                  <a:cubicBezTo>
                    <a:pt x="0" y="60299"/>
                    <a:pt x="8646" y="39426"/>
                    <a:pt x="24036" y="24036"/>
                  </a:cubicBezTo>
                  <a:cubicBezTo>
                    <a:pt x="39426" y="8646"/>
                    <a:pt x="60299" y="0"/>
                    <a:pt x="82063" y="0"/>
                  </a:cubicBezTo>
                  <a:close/>
                </a:path>
              </a:pathLst>
            </a:custGeom>
            <a:solidFill>
              <a:srgbClr val="000000">
                <a:alpha val="0"/>
              </a:srgbClr>
            </a:solidFill>
            <a:ln w="38100" cap="rnd">
              <a:solidFill>
                <a:srgbClr val="000000"/>
              </a:solidFill>
              <a:prstDash val="solid"/>
              <a:round/>
            </a:ln>
          </p:spPr>
        </p:sp>
        <p:sp>
          <p:nvSpPr>
            <p:cNvPr id="40" name="TextBox 40"/>
            <p:cNvSpPr txBox="1"/>
            <p:nvPr/>
          </p:nvSpPr>
          <p:spPr>
            <a:xfrm>
              <a:off x="0" y="-9525"/>
              <a:ext cx="568702" cy="408994"/>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Write raw .parquet files</a:t>
              </a:r>
            </a:p>
          </p:txBody>
        </p:sp>
      </p:grpSp>
      <p:grpSp>
        <p:nvGrpSpPr>
          <p:cNvPr id="41" name="Group 41"/>
          <p:cNvGrpSpPr/>
          <p:nvPr/>
        </p:nvGrpSpPr>
        <p:grpSpPr>
          <a:xfrm>
            <a:off x="7395824" y="2325751"/>
            <a:ext cx="3007231" cy="1356568"/>
            <a:chOff x="0" y="0"/>
            <a:chExt cx="928158" cy="418694"/>
          </a:xfrm>
        </p:grpSpPr>
        <p:sp>
          <p:nvSpPr>
            <p:cNvPr id="42" name="Freeform 42"/>
            <p:cNvSpPr/>
            <p:nvPr/>
          </p:nvSpPr>
          <p:spPr>
            <a:xfrm>
              <a:off x="0" y="0"/>
              <a:ext cx="928158" cy="418694"/>
            </a:xfrm>
            <a:custGeom>
              <a:avLst/>
              <a:gdLst/>
              <a:ahLst/>
              <a:cxnLst/>
              <a:rect l="l" t="t" r="r" b="b"/>
              <a:pathLst>
                <a:path w="928158" h="418694">
                  <a:moveTo>
                    <a:pt x="50282" y="0"/>
                  </a:moveTo>
                  <a:lnTo>
                    <a:pt x="877876" y="0"/>
                  </a:lnTo>
                  <a:cubicBezTo>
                    <a:pt x="891212" y="0"/>
                    <a:pt x="904001" y="5298"/>
                    <a:pt x="913431" y="14727"/>
                  </a:cubicBezTo>
                  <a:cubicBezTo>
                    <a:pt x="922860" y="24157"/>
                    <a:pt x="928158" y="36946"/>
                    <a:pt x="928158" y="50282"/>
                  </a:cubicBezTo>
                  <a:lnTo>
                    <a:pt x="928158" y="368412"/>
                  </a:lnTo>
                  <a:cubicBezTo>
                    <a:pt x="928158" y="381747"/>
                    <a:pt x="922860" y="394537"/>
                    <a:pt x="913431" y="403967"/>
                  </a:cubicBezTo>
                  <a:cubicBezTo>
                    <a:pt x="904001" y="413396"/>
                    <a:pt x="891212" y="418694"/>
                    <a:pt x="877876" y="418694"/>
                  </a:cubicBezTo>
                  <a:lnTo>
                    <a:pt x="50282" y="418694"/>
                  </a:lnTo>
                  <a:cubicBezTo>
                    <a:pt x="22512" y="418694"/>
                    <a:pt x="0" y="396182"/>
                    <a:pt x="0" y="368412"/>
                  </a:cubicBezTo>
                  <a:lnTo>
                    <a:pt x="0" y="50282"/>
                  </a:lnTo>
                  <a:cubicBezTo>
                    <a:pt x="0" y="22512"/>
                    <a:pt x="22512" y="0"/>
                    <a:pt x="50282" y="0"/>
                  </a:cubicBezTo>
                  <a:close/>
                </a:path>
              </a:pathLst>
            </a:custGeom>
            <a:solidFill>
              <a:srgbClr val="000000">
                <a:alpha val="0"/>
              </a:srgbClr>
            </a:solidFill>
            <a:ln w="38100" cap="rnd">
              <a:solidFill>
                <a:srgbClr val="000000"/>
              </a:solidFill>
              <a:prstDash val="solid"/>
              <a:round/>
            </a:ln>
          </p:spPr>
        </p:sp>
        <p:sp>
          <p:nvSpPr>
            <p:cNvPr id="43" name="TextBox 43"/>
            <p:cNvSpPr txBox="1"/>
            <p:nvPr/>
          </p:nvSpPr>
          <p:spPr>
            <a:xfrm>
              <a:off x="0" y="-9525"/>
              <a:ext cx="928158" cy="42821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Basic Cleaning, dtype cast and Duplicates Removal</a:t>
              </a:r>
            </a:p>
          </p:txBody>
        </p:sp>
      </p:grpSp>
      <p:grpSp>
        <p:nvGrpSpPr>
          <p:cNvPr id="44" name="Group 44"/>
          <p:cNvGrpSpPr/>
          <p:nvPr/>
        </p:nvGrpSpPr>
        <p:grpSpPr>
          <a:xfrm>
            <a:off x="6171345" y="3682318"/>
            <a:ext cx="5564524" cy="894575"/>
            <a:chOff x="0" y="0"/>
            <a:chExt cx="7419366" cy="1192767"/>
          </a:xfrm>
        </p:grpSpPr>
        <p:grpSp>
          <p:nvGrpSpPr>
            <p:cNvPr id="45" name="Group 45"/>
            <p:cNvGrpSpPr/>
            <p:nvPr/>
          </p:nvGrpSpPr>
          <p:grpSpPr>
            <a:xfrm>
              <a:off x="0" y="564633"/>
              <a:ext cx="7419366" cy="63796"/>
              <a:chOff x="0" y="0"/>
              <a:chExt cx="1465554" cy="12602"/>
            </a:xfrm>
          </p:grpSpPr>
          <p:sp>
            <p:nvSpPr>
              <p:cNvPr id="46" name="Freeform 46"/>
              <p:cNvSpPr/>
              <p:nvPr/>
            </p:nvSpPr>
            <p:spPr>
              <a:xfrm>
                <a:off x="0" y="0"/>
                <a:ext cx="1465554" cy="12602"/>
              </a:xfrm>
              <a:custGeom>
                <a:avLst/>
                <a:gdLst/>
                <a:ahLst/>
                <a:cxnLst/>
                <a:rect l="l" t="t" r="r" b="b"/>
                <a:pathLst>
                  <a:path w="1465554" h="12602">
                    <a:moveTo>
                      <a:pt x="0" y="0"/>
                    </a:moveTo>
                    <a:lnTo>
                      <a:pt x="1465554" y="0"/>
                    </a:lnTo>
                    <a:lnTo>
                      <a:pt x="1465554" y="12602"/>
                    </a:lnTo>
                    <a:lnTo>
                      <a:pt x="0" y="12602"/>
                    </a:lnTo>
                    <a:close/>
                  </a:path>
                </a:pathLst>
              </a:custGeom>
              <a:solidFill>
                <a:srgbClr val="000000"/>
              </a:solidFill>
            </p:spPr>
          </p:sp>
          <p:sp>
            <p:nvSpPr>
              <p:cNvPr id="47" name="TextBox 47"/>
              <p:cNvSpPr txBox="1"/>
              <p:nvPr/>
            </p:nvSpPr>
            <p:spPr>
              <a:xfrm>
                <a:off x="0" y="-38100"/>
                <a:ext cx="1465554" cy="50702"/>
              </a:xfrm>
              <a:prstGeom prst="rect">
                <a:avLst/>
              </a:prstGeom>
            </p:spPr>
            <p:txBody>
              <a:bodyPr lIns="50800" tIns="50800" rIns="50800" bIns="50800" rtlCol="0" anchor="ctr"/>
              <a:lstStyle/>
              <a:p>
                <a:pPr algn="ctr">
                  <a:lnSpc>
                    <a:spcPts val="2160"/>
                  </a:lnSpc>
                </a:pPr>
                <a:endParaRPr/>
              </a:p>
            </p:txBody>
          </p:sp>
        </p:grpSp>
        <p:grpSp>
          <p:nvGrpSpPr>
            <p:cNvPr id="48" name="Group 48"/>
            <p:cNvGrpSpPr/>
            <p:nvPr/>
          </p:nvGrpSpPr>
          <p:grpSpPr>
            <a:xfrm>
              <a:off x="3573960" y="0"/>
              <a:ext cx="63500" cy="1192767"/>
              <a:chOff x="0" y="0"/>
              <a:chExt cx="12543" cy="235608"/>
            </a:xfrm>
          </p:grpSpPr>
          <p:sp>
            <p:nvSpPr>
              <p:cNvPr id="49" name="Freeform 49"/>
              <p:cNvSpPr/>
              <p:nvPr/>
            </p:nvSpPr>
            <p:spPr>
              <a:xfrm>
                <a:off x="0" y="0"/>
                <a:ext cx="12543" cy="235608"/>
              </a:xfrm>
              <a:custGeom>
                <a:avLst/>
                <a:gdLst/>
                <a:ahLst/>
                <a:cxnLst/>
                <a:rect l="l" t="t" r="r" b="b"/>
                <a:pathLst>
                  <a:path w="12543" h="235608">
                    <a:moveTo>
                      <a:pt x="0" y="0"/>
                    </a:moveTo>
                    <a:lnTo>
                      <a:pt x="12543" y="0"/>
                    </a:lnTo>
                    <a:lnTo>
                      <a:pt x="12543" y="235608"/>
                    </a:lnTo>
                    <a:lnTo>
                      <a:pt x="0" y="235608"/>
                    </a:lnTo>
                    <a:close/>
                  </a:path>
                </a:pathLst>
              </a:custGeom>
              <a:solidFill>
                <a:srgbClr val="000000"/>
              </a:solidFill>
            </p:spPr>
          </p:sp>
          <p:sp>
            <p:nvSpPr>
              <p:cNvPr id="50" name="TextBox 50"/>
              <p:cNvSpPr txBox="1"/>
              <p:nvPr/>
            </p:nvSpPr>
            <p:spPr>
              <a:xfrm>
                <a:off x="0" y="-38100"/>
                <a:ext cx="12543" cy="273708"/>
              </a:xfrm>
              <a:prstGeom prst="rect">
                <a:avLst/>
              </a:prstGeom>
            </p:spPr>
            <p:txBody>
              <a:bodyPr lIns="50800" tIns="50800" rIns="50800" bIns="50800" rtlCol="0" anchor="ctr"/>
              <a:lstStyle/>
              <a:p>
                <a:pPr algn="ctr">
                  <a:lnSpc>
                    <a:spcPts val="2160"/>
                  </a:lnSpc>
                </a:pPr>
                <a:endParaRPr/>
              </a:p>
            </p:txBody>
          </p:sp>
        </p:grpSp>
        <p:grpSp>
          <p:nvGrpSpPr>
            <p:cNvPr id="51" name="Group 51"/>
            <p:cNvGrpSpPr/>
            <p:nvPr/>
          </p:nvGrpSpPr>
          <p:grpSpPr>
            <a:xfrm>
              <a:off x="0" y="0"/>
              <a:ext cx="63500" cy="628430"/>
              <a:chOff x="0" y="0"/>
              <a:chExt cx="12543" cy="124134"/>
            </a:xfrm>
          </p:grpSpPr>
          <p:sp>
            <p:nvSpPr>
              <p:cNvPr id="52" name="Freeform 52"/>
              <p:cNvSpPr/>
              <p:nvPr/>
            </p:nvSpPr>
            <p:spPr>
              <a:xfrm>
                <a:off x="0" y="0"/>
                <a:ext cx="12543" cy="124134"/>
              </a:xfrm>
              <a:custGeom>
                <a:avLst/>
                <a:gdLst/>
                <a:ahLst/>
                <a:cxnLst/>
                <a:rect l="l" t="t" r="r" b="b"/>
                <a:pathLst>
                  <a:path w="12543" h="124134">
                    <a:moveTo>
                      <a:pt x="0" y="0"/>
                    </a:moveTo>
                    <a:lnTo>
                      <a:pt x="12543" y="0"/>
                    </a:lnTo>
                    <a:lnTo>
                      <a:pt x="12543" y="124134"/>
                    </a:lnTo>
                    <a:lnTo>
                      <a:pt x="0" y="124134"/>
                    </a:lnTo>
                    <a:close/>
                  </a:path>
                </a:pathLst>
              </a:custGeom>
              <a:solidFill>
                <a:srgbClr val="000000"/>
              </a:solidFill>
            </p:spPr>
          </p:sp>
          <p:sp>
            <p:nvSpPr>
              <p:cNvPr id="53" name="TextBox 53"/>
              <p:cNvSpPr txBox="1"/>
              <p:nvPr/>
            </p:nvSpPr>
            <p:spPr>
              <a:xfrm>
                <a:off x="0" y="-38100"/>
                <a:ext cx="12543" cy="162234"/>
              </a:xfrm>
              <a:prstGeom prst="rect">
                <a:avLst/>
              </a:prstGeom>
            </p:spPr>
            <p:txBody>
              <a:bodyPr lIns="50800" tIns="50800" rIns="50800" bIns="50800" rtlCol="0" anchor="ctr"/>
              <a:lstStyle/>
              <a:p>
                <a:pPr algn="ctr">
                  <a:lnSpc>
                    <a:spcPts val="2160"/>
                  </a:lnSpc>
                </a:pPr>
                <a:endParaRPr/>
              </a:p>
            </p:txBody>
          </p:sp>
        </p:grpSp>
        <p:grpSp>
          <p:nvGrpSpPr>
            <p:cNvPr id="54" name="Group 54"/>
            <p:cNvGrpSpPr/>
            <p:nvPr/>
          </p:nvGrpSpPr>
          <p:grpSpPr>
            <a:xfrm>
              <a:off x="7354754" y="0"/>
              <a:ext cx="64612" cy="596383"/>
              <a:chOff x="0" y="0"/>
              <a:chExt cx="12763" cy="117804"/>
            </a:xfrm>
          </p:grpSpPr>
          <p:sp>
            <p:nvSpPr>
              <p:cNvPr id="55" name="Freeform 55"/>
              <p:cNvSpPr/>
              <p:nvPr/>
            </p:nvSpPr>
            <p:spPr>
              <a:xfrm>
                <a:off x="0" y="0"/>
                <a:ext cx="12763" cy="117804"/>
              </a:xfrm>
              <a:custGeom>
                <a:avLst/>
                <a:gdLst/>
                <a:ahLst/>
                <a:cxnLst/>
                <a:rect l="l" t="t" r="r" b="b"/>
                <a:pathLst>
                  <a:path w="12763" h="117804">
                    <a:moveTo>
                      <a:pt x="0" y="0"/>
                    </a:moveTo>
                    <a:lnTo>
                      <a:pt x="12763" y="0"/>
                    </a:lnTo>
                    <a:lnTo>
                      <a:pt x="12763" y="117804"/>
                    </a:lnTo>
                    <a:lnTo>
                      <a:pt x="0" y="117804"/>
                    </a:lnTo>
                    <a:close/>
                  </a:path>
                </a:pathLst>
              </a:custGeom>
              <a:solidFill>
                <a:srgbClr val="000000"/>
              </a:solidFill>
            </p:spPr>
          </p:sp>
          <p:sp>
            <p:nvSpPr>
              <p:cNvPr id="56" name="TextBox 56"/>
              <p:cNvSpPr txBox="1"/>
              <p:nvPr/>
            </p:nvSpPr>
            <p:spPr>
              <a:xfrm>
                <a:off x="0" y="-38100"/>
                <a:ext cx="12763" cy="155904"/>
              </a:xfrm>
              <a:prstGeom prst="rect">
                <a:avLst/>
              </a:prstGeom>
            </p:spPr>
            <p:txBody>
              <a:bodyPr lIns="50800" tIns="50800" rIns="50800" bIns="50800" rtlCol="0" anchor="ctr"/>
              <a:lstStyle/>
              <a:p>
                <a:pPr algn="ctr">
                  <a:lnSpc>
                    <a:spcPts val="2160"/>
                  </a:lnSpc>
                </a:pPr>
                <a:endParaRPr/>
              </a:p>
            </p:txBody>
          </p:sp>
        </p:grpSp>
      </p:grpSp>
      <p:grpSp>
        <p:nvGrpSpPr>
          <p:cNvPr id="57" name="Group 57"/>
          <p:cNvGrpSpPr/>
          <p:nvPr/>
        </p:nvGrpSpPr>
        <p:grpSpPr>
          <a:xfrm>
            <a:off x="10986639" y="5724578"/>
            <a:ext cx="3658773" cy="2386037"/>
            <a:chOff x="0" y="0"/>
            <a:chExt cx="4878364" cy="3181383"/>
          </a:xfrm>
        </p:grpSpPr>
        <p:grpSp>
          <p:nvGrpSpPr>
            <p:cNvPr id="58" name="Group 58"/>
            <p:cNvGrpSpPr/>
            <p:nvPr/>
          </p:nvGrpSpPr>
          <p:grpSpPr>
            <a:xfrm>
              <a:off x="4814864" y="2429770"/>
              <a:ext cx="63500" cy="751613"/>
              <a:chOff x="0" y="0"/>
              <a:chExt cx="12543" cy="148467"/>
            </a:xfrm>
          </p:grpSpPr>
          <p:sp>
            <p:nvSpPr>
              <p:cNvPr id="59" name="Freeform 59"/>
              <p:cNvSpPr/>
              <p:nvPr/>
            </p:nvSpPr>
            <p:spPr>
              <a:xfrm>
                <a:off x="0" y="0"/>
                <a:ext cx="12543" cy="148467"/>
              </a:xfrm>
              <a:custGeom>
                <a:avLst/>
                <a:gdLst/>
                <a:ahLst/>
                <a:cxnLst/>
                <a:rect l="l" t="t" r="r" b="b"/>
                <a:pathLst>
                  <a:path w="12543" h="148467">
                    <a:moveTo>
                      <a:pt x="0" y="0"/>
                    </a:moveTo>
                    <a:lnTo>
                      <a:pt x="12543" y="0"/>
                    </a:lnTo>
                    <a:lnTo>
                      <a:pt x="12543" y="148467"/>
                    </a:lnTo>
                    <a:lnTo>
                      <a:pt x="0" y="148467"/>
                    </a:lnTo>
                    <a:close/>
                  </a:path>
                </a:pathLst>
              </a:custGeom>
              <a:solidFill>
                <a:srgbClr val="000000"/>
              </a:solidFill>
            </p:spPr>
          </p:sp>
          <p:sp>
            <p:nvSpPr>
              <p:cNvPr id="60" name="TextBox 60"/>
              <p:cNvSpPr txBox="1"/>
              <p:nvPr/>
            </p:nvSpPr>
            <p:spPr>
              <a:xfrm>
                <a:off x="0" y="-38100"/>
                <a:ext cx="12543" cy="186567"/>
              </a:xfrm>
              <a:prstGeom prst="rect">
                <a:avLst/>
              </a:prstGeom>
            </p:spPr>
            <p:txBody>
              <a:bodyPr lIns="50800" tIns="50800" rIns="50800" bIns="50800" rtlCol="0" anchor="ctr"/>
              <a:lstStyle/>
              <a:p>
                <a:pPr algn="ctr">
                  <a:lnSpc>
                    <a:spcPts val="2160"/>
                  </a:lnSpc>
                </a:pPr>
                <a:endParaRPr/>
              </a:p>
            </p:txBody>
          </p:sp>
        </p:grpSp>
        <p:grpSp>
          <p:nvGrpSpPr>
            <p:cNvPr id="61" name="Group 61"/>
            <p:cNvGrpSpPr/>
            <p:nvPr/>
          </p:nvGrpSpPr>
          <p:grpSpPr>
            <a:xfrm>
              <a:off x="0" y="2359497"/>
              <a:ext cx="4878364" cy="65257"/>
              <a:chOff x="0" y="0"/>
              <a:chExt cx="963627" cy="12890"/>
            </a:xfrm>
          </p:grpSpPr>
          <p:sp>
            <p:nvSpPr>
              <p:cNvPr id="62" name="Freeform 62"/>
              <p:cNvSpPr/>
              <p:nvPr/>
            </p:nvSpPr>
            <p:spPr>
              <a:xfrm>
                <a:off x="0" y="0"/>
                <a:ext cx="963627" cy="12890"/>
              </a:xfrm>
              <a:custGeom>
                <a:avLst/>
                <a:gdLst/>
                <a:ahLst/>
                <a:cxnLst/>
                <a:rect l="l" t="t" r="r" b="b"/>
                <a:pathLst>
                  <a:path w="963627" h="12890">
                    <a:moveTo>
                      <a:pt x="0" y="0"/>
                    </a:moveTo>
                    <a:lnTo>
                      <a:pt x="963627" y="0"/>
                    </a:lnTo>
                    <a:lnTo>
                      <a:pt x="963627" y="12890"/>
                    </a:lnTo>
                    <a:lnTo>
                      <a:pt x="0" y="12890"/>
                    </a:lnTo>
                    <a:close/>
                  </a:path>
                </a:pathLst>
              </a:custGeom>
              <a:solidFill>
                <a:srgbClr val="000000"/>
              </a:solidFill>
            </p:spPr>
          </p:sp>
          <p:sp>
            <p:nvSpPr>
              <p:cNvPr id="63" name="TextBox 63"/>
              <p:cNvSpPr txBox="1"/>
              <p:nvPr/>
            </p:nvSpPr>
            <p:spPr>
              <a:xfrm>
                <a:off x="0" y="-38100"/>
                <a:ext cx="963627" cy="50990"/>
              </a:xfrm>
              <a:prstGeom prst="rect">
                <a:avLst/>
              </a:prstGeom>
            </p:spPr>
            <p:txBody>
              <a:bodyPr lIns="50800" tIns="50800" rIns="50800" bIns="50800" rtlCol="0" anchor="ctr"/>
              <a:lstStyle/>
              <a:p>
                <a:pPr algn="ctr">
                  <a:lnSpc>
                    <a:spcPts val="2160"/>
                  </a:lnSpc>
                </a:pPr>
                <a:endParaRPr/>
              </a:p>
            </p:txBody>
          </p:sp>
        </p:grpSp>
        <p:grpSp>
          <p:nvGrpSpPr>
            <p:cNvPr id="64" name="Group 64"/>
            <p:cNvGrpSpPr/>
            <p:nvPr/>
          </p:nvGrpSpPr>
          <p:grpSpPr>
            <a:xfrm>
              <a:off x="0" y="2429770"/>
              <a:ext cx="63500" cy="751613"/>
              <a:chOff x="0" y="0"/>
              <a:chExt cx="12543" cy="148467"/>
            </a:xfrm>
          </p:grpSpPr>
          <p:sp>
            <p:nvSpPr>
              <p:cNvPr id="65" name="Freeform 65"/>
              <p:cNvSpPr/>
              <p:nvPr/>
            </p:nvSpPr>
            <p:spPr>
              <a:xfrm>
                <a:off x="0" y="0"/>
                <a:ext cx="12543" cy="148467"/>
              </a:xfrm>
              <a:custGeom>
                <a:avLst/>
                <a:gdLst/>
                <a:ahLst/>
                <a:cxnLst/>
                <a:rect l="l" t="t" r="r" b="b"/>
                <a:pathLst>
                  <a:path w="12543" h="148467">
                    <a:moveTo>
                      <a:pt x="0" y="0"/>
                    </a:moveTo>
                    <a:lnTo>
                      <a:pt x="12543" y="0"/>
                    </a:lnTo>
                    <a:lnTo>
                      <a:pt x="12543" y="148467"/>
                    </a:lnTo>
                    <a:lnTo>
                      <a:pt x="0" y="148467"/>
                    </a:lnTo>
                    <a:close/>
                  </a:path>
                </a:pathLst>
              </a:custGeom>
              <a:solidFill>
                <a:srgbClr val="000000"/>
              </a:solidFill>
            </p:spPr>
          </p:sp>
          <p:sp>
            <p:nvSpPr>
              <p:cNvPr id="66" name="TextBox 66"/>
              <p:cNvSpPr txBox="1"/>
              <p:nvPr/>
            </p:nvSpPr>
            <p:spPr>
              <a:xfrm>
                <a:off x="0" y="-38100"/>
                <a:ext cx="12543" cy="186567"/>
              </a:xfrm>
              <a:prstGeom prst="rect">
                <a:avLst/>
              </a:prstGeom>
            </p:spPr>
            <p:txBody>
              <a:bodyPr lIns="50800" tIns="50800" rIns="50800" bIns="50800" rtlCol="0" anchor="ctr"/>
              <a:lstStyle/>
              <a:p>
                <a:pPr algn="ctr">
                  <a:lnSpc>
                    <a:spcPts val="2160"/>
                  </a:lnSpc>
                </a:pPr>
                <a:endParaRPr/>
              </a:p>
            </p:txBody>
          </p:sp>
        </p:grpSp>
        <p:grpSp>
          <p:nvGrpSpPr>
            <p:cNvPr id="67" name="Group 67"/>
            <p:cNvGrpSpPr/>
            <p:nvPr/>
          </p:nvGrpSpPr>
          <p:grpSpPr>
            <a:xfrm>
              <a:off x="2161492" y="0"/>
              <a:ext cx="65878" cy="2359497"/>
              <a:chOff x="0" y="0"/>
              <a:chExt cx="13013" cy="466073"/>
            </a:xfrm>
          </p:grpSpPr>
          <p:sp>
            <p:nvSpPr>
              <p:cNvPr id="68" name="Freeform 68"/>
              <p:cNvSpPr/>
              <p:nvPr/>
            </p:nvSpPr>
            <p:spPr>
              <a:xfrm>
                <a:off x="0" y="0"/>
                <a:ext cx="13013" cy="466073"/>
              </a:xfrm>
              <a:custGeom>
                <a:avLst/>
                <a:gdLst/>
                <a:ahLst/>
                <a:cxnLst/>
                <a:rect l="l" t="t" r="r" b="b"/>
                <a:pathLst>
                  <a:path w="13013" h="466073">
                    <a:moveTo>
                      <a:pt x="0" y="0"/>
                    </a:moveTo>
                    <a:lnTo>
                      <a:pt x="13013" y="0"/>
                    </a:lnTo>
                    <a:lnTo>
                      <a:pt x="13013" y="466073"/>
                    </a:lnTo>
                    <a:lnTo>
                      <a:pt x="0" y="466073"/>
                    </a:lnTo>
                    <a:close/>
                  </a:path>
                </a:pathLst>
              </a:custGeom>
              <a:solidFill>
                <a:srgbClr val="000000"/>
              </a:solidFill>
            </p:spPr>
          </p:sp>
          <p:sp>
            <p:nvSpPr>
              <p:cNvPr id="69" name="TextBox 69"/>
              <p:cNvSpPr txBox="1"/>
              <p:nvPr/>
            </p:nvSpPr>
            <p:spPr>
              <a:xfrm>
                <a:off x="0" y="-38100"/>
                <a:ext cx="13013" cy="504173"/>
              </a:xfrm>
              <a:prstGeom prst="rect">
                <a:avLst/>
              </a:prstGeom>
            </p:spPr>
            <p:txBody>
              <a:bodyPr lIns="50800" tIns="50800" rIns="50800" bIns="50800" rtlCol="0" anchor="ctr"/>
              <a:lstStyle/>
              <a:p>
                <a:pPr algn="ctr">
                  <a:lnSpc>
                    <a:spcPts val="2160"/>
                  </a:lnSpc>
                </a:pPr>
                <a:endParaRPr/>
              </a:p>
            </p:txBody>
          </p:sp>
        </p:grpSp>
      </p:grpSp>
      <p:grpSp>
        <p:nvGrpSpPr>
          <p:cNvPr id="70" name="Group 70"/>
          <p:cNvGrpSpPr/>
          <p:nvPr/>
        </p:nvGrpSpPr>
        <p:grpSpPr>
          <a:xfrm>
            <a:off x="14081449" y="5143500"/>
            <a:ext cx="4251944" cy="78474"/>
            <a:chOff x="0" y="0"/>
            <a:chExt cx="1119854" cy="20668"/>
          </a:xfrm>
        </p:grpSpPr>
        <p:sp>
          <p:nvSpPr>
            <p:cNvPr id="71" name="Freeform 71"/>
            <p:cNvSpPr/>
            <p:nvPr/>
          </p:nvSpPr>
          <p:spPr>
            <a:xfrm>
              <a:off x="0" y="0"/>
              <a:ext cx="1119854" cy="20668"/>
            </a:xfrm>
            <a:custGeom>
              <a:avLst/>
              <a:gdLst/>
              <a:ahLst/>
              <a:cxnLst/>
              <a:rect l="l" t="t" r="r" b="b"/>
              <a:pathLst>
                <a:path w="1119854" h="20668">
                  <a:moveTo>
                    <a:pt x="0" y="0"/>
                  </a:moveTo>
                  <a:lnTo>
                    <a:pt x="1119854" y="0"/>
                  </a:lnTo>
                  <a:lnTo>
                    <a:pt x="1119854" y="20668"/>
                  </a:lnTo>
                  <a:lnTo>
                    <a:pt x="0" y="20668"/>
                  </a:lnTo>
                  <a:close/>
                </a:path>
              </a:pathLst>
            </a:custGeom>
            <a:solidFill>
              <a:srgbClr val="000000"/>
            </a:solidFill>
          </p:spPr>
        </p:sp>
        <p:sp>
          <p:nvSpPr>
            <p:cNvPr id="72" name="TextBox 72"/>
            <p:cNvSpPr txBox="1"/>
            <p:nvPr/>
          </p:nvSpPr>
          <p:spPr>
            <a:xfrm>
              <a:off x="0" y="-19050"/>
              <a:ext cx="1119854" cy="39718"/>
            </a:xfrm>
            <a:prstGeom prst="rect">
              <a:avLst/>
            </a:prstGeom>
          </p:spPr>
          <p:txBody>
            <a:bodyPr lIns="50800" tIns="50800" rIns="50800" bIns="50800" rtlCol="0" anchor="ctr"/>
            <a:lstStyle/>
            <a:p>
              <a:pPr algn="ctr">
                <a:lnSpc>
                  <a:spcPts val="2160"/>
                </a:lnSpc>
              </a:pPr>
              <a:endParaRPr/>
            </a:p>
          </p:txBody>
        </p:sp>
      </p:grpSp>
      <p:sp>
        <p:nvSpPr>
          <p:cNvPr id="73" name="TextBox 73"/>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74" name="TextBox 74"/>
          <p:cNvSpPr txBox="1"/>
          <p:nvPr/>
        </p:nvSpPr>
        <p:spPr>
          <a:xfrm>
            <a:off x="6707435" y="5285562"/>
            <a:ext cx="688389" cy="733425"/>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Raw .csv rows</a:t>
            </a:r>
          </a:p>
        </p:txBody>
      </p:sp>
      <p:sp>
        <p:nvSpPr>
          <p:cNvPr id="75" name="TextBox 75"/>
          <p:cNvSpPr txBox="1"/>
          <p:nvPr/>
        </p:nvSpPr>
        <p:spPr>
          <a:xfrm>
            <a:off x="10058861" y="5285562"/>
            <a:ext cx="688389" cy="1209675"/>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Cleaned Parquet tables per source</a:t>
            </a:r>
          </a:p>
        </p:txBody>
      </p:sp>
      <p:sp>
        <p:nvSpPr>
          <p:cNvPr id="76" name="TextBox 76"/>
          <p:cNvSpPr txBox="1"/>
          <p:nvPr/>
        </p:nvSpPr>
        <p:spPr>
          <a:xfrm>
            <a:off x="15588312" y="5370369"/>
            <a:ext cx="1148024" cy="971550"/>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Master Food Catalog and Interactions List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99488"/>
            <a:ext cx="6172200" cy="1988550"/>
            <a:chOff x="0" y="0"/>
            <a:chExt cx="8229600" cy="2651400"/>
          </a:xfrm>
        </p:grpSpPr>
        <p:sp>
          <p:nvSpPr>
            <p:cNvPr id="3" name="Freeform 3"/>
            <p:cNvSpPr/>
            <p:nvPr/>
          </p:nvSpPr>
          <p:spPr>
            <a:xfrm>
              <a:off x="0" y="0"/>
              <a:ext cx="8229600" cy="2651400"/>
            </a:xfrm>
            <a:custGeom>
              <a:avLst/>
              <a:gdLst/>
              <a:ahLst/>
              <a:cxnLst/>
              <a:rect l="l" t="t" r="r" b="b"/>
              <a:pathLst>
                <a:path w="8229600" h="2651400">
                  <a:moveTo>
                    <a:pt x="0" y="0"/>
                  </a:moveTo>
                  <a:lnTo>
                    <a:pt x="8229600" y="0"/>
                  </a:lnTo>
                  <a:lnTo>
                    <a:pt x="8229600" y="2651400"/>
                  </a:lnTo>
                  <a:lnTo>
                    <a:pt x="0" y="2651400"/>
                  </a:lnTo>
                  <a:close/>
                </a:path>
              </a:pathLst>
            </a:custGeom>
            <a:solidFill>
              <a:srgbClr val="000000">
                <a:alpha val="0"/>
              </a:srgbClr>
            </a:solidFill>
          </p:spPr>
        </p:sp>
        <p:sp>
          <p:nvSpPr>
            <p:cNvPr id="4" name="TextBox 4"/>
            <p:cNvSpPr txBox="1"/>
            <p:nvPr/>
          </p:nvSpPr>
          <p:spPr>
            <a:xfrm>
              <a:off x="0" y="38100"/>
              <a:ext cx="82296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Workflow</a:t>
              </a: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88888"/>
                  </a:solidFill>
                  <a:latin typeface="Times New Roman"/>
                  <a:ea typeface="Times New Roman"/>
                  <a:cs typeface="Times New Roman"/>
                  <a:sym typeface="Times New Roman"/>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19050"/>
              <a:ext cx="5486400" cy="749300"/>
            </a:xfrm>
            <a:prstGeom prst="rect">
              <a:avLst/>
            </a:prstGeom>
          </p:spPr>
          <p:txBody>
            <a:bodyPr lIns="0" tIns="0" rIns="0" bIns="0" rtlCol="0" anchor="ctr"/>
            <a:lstStyle/>
            <a:p>
              <a:pPr algn="r">
                <a:lnSpc>
                  <a:spcPts val="2160"/>
                </a:lnSpc>
              </a:pPr>
              <a:r>
                <a:rPr lang="en-US" sz="1800" dirty="0">
                  <a:solidFill>
                    <a:srgbClr val="888888"/>
                  </a:solidFill>
                  <a:latin typeface="Times New Roman"/>
                  <a:ea typeface="Times New Roman"/>
                  <a:cs typeface="Times New Roman"/>
                  <a:sym typeface="Times New Roman"/>
                </a:rPr>
                <a:t>29</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19050"/>
              <a:ext cx="5486400" cy="749300"/>
            </a:xfrm>
            <a:prstGeom prst="rect">
              <a:avLst/>
            </a:prstGeom>
          </p:spPr>
          <p:txBody>
            <a:bodyPr lIns="0" tIns="0" rIns="0" bIns="0" rtlCol="0" anchor="ctr"/>
            <a:lstStyle/>
            <a:p>
              <a:pPr algn="l">
                <a:lnSpc>
                  <a:spcPts val="2160"/>
                </a:lnSpc>
              </a:pPr>
              <a:r>
                <a:rPr lang="en-US" sz="1800">
                  <a:solidFill>
                    <a:srgbClr val="888888"/>
                  </a:solidFill>
                  <a:latin typeface="Times New Roman"/>
                  <a:ea typeface="Times New Roman"/>
                  <a:cs typeface="Times New Roman"/>
                  <a:sym typeface="Times New Roman"/>
                </a:rPr>
                <a:t>22-12-2025</a:t>
              </a:r>
            </a:p>
          </p:txBody>
        </p:sp>
      </p:grpSp>
      <p:sp>
        <p:nvSpPr>
          <p:cNvPr id="14" name="Freeform 14"/>
          <p:cNvSpPr/>
          <p:nvPr/>
        </p:nvSpPr>
        <p:spPr>
          <a:xfrm>
            <a:off x="55083"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Freeform 15"/>
          <p:cNvSpPr/>
          <p:nvPr/>
        </p:nvSpPr>
        <p:spPr>
          <a:xfrm>
            <a:off x="3453295"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6" name="Group 16"/>
          <p:cNvGrpSpPr/>
          <p:nvPr/>
        </p:nvGrpSpPr>
        <p:grpSpPr>
          <a:xfrm>
            <a:off x="1702318" y="4465960"/>
            <a:ext cx="1750977" cy="1355079"/>
            <a:chOff x="0" y="0"/>
            <a:chExt cx="540425" cy="418234"/>
          </a:xfrm>
        </p:grpSpPr>
        <p:sp>
          <p:nvSpPr>
            <p:cNvPr id="17" name="Freeform 17"/>
            <p:cNvSpPr/>
            <p:nvPr/>
          </p:nvSpPr>
          <p:spPr>
            <a:xfrm>
              <a:off x="0" y="0"/>
              <a:ext cx="540425" cy="418234"/>
            </a:xfrm>
            <a:custGeom>
              <a:avLst/>
              <a:gdLst/>
              <a:ahLst/>
              <a:cxnLst/>
              <a:rect l="l" t="t" r="r" b="b"/>
              <a:pathLst>
                <a:path w="540425" h="418234">
                  <a:moveTo>
                    <a:pt x="86357" y="0"/>
                  </a:moveTo>
                  <a:lnTo>
                    <a:pt x="454068" y="0"/>
                  </a:lnTo>
                  <a:cubicBezTo>
                    <a:pt x="476971" y="0"/>
                    <a:pt x="498936" y="9098"/>
                    <a:pt x="515131" y="25293"/>
                  </a:cubicBezTo>
                  <a:cubicBezTo>
                    <a:pt x="531327" y="41489"/>
                    <a:pt x="540425" y="63454"/>
                    <a:pt x="540425" y="86357"/>
                  </a:cubicBezTo>
                  <a:lnTo>
                    <a:pt x="540425" y="331877"/>
                  </a:lnTo>
                  <a:cubicBezTo>
                    <a:pt x="540425" y="379571"/>
                    <a:pt x="501761" y="418234"/>
                    <a:pt x="454068" y="418234"/>
                  </a:cubicBezTo>
                  <a:lnTo>
                    <a:pt x="86357" y="418234"/>
                  </a:lnTo>
                  <a:cubicBezTo>
                    <a:pt x="38663" y="418234"/>
                    <a:pt x="0" y="379571"/>
                    <a:pt x="0" y="331877"/>
                  </a:cubicBezTo>
                  <a:lnTo>
                    <a:pt x="0" y="86357"/>
                  </a:lnTo>
                  <a:cubicBezTo>
                    <a:pt x="0" y="38663"/>
                    <a:pt x="38663" y="0"/>
                    <a:pt x="86357" y="0"/>
                  </a:cubicBezTo>
                  <a:close/>
                </a:path>
              </a:pathLst>
            </a:custGeom>
            <a:solidFill>
              <a:srgbClr val="000000">
                <a:alpha val="0"/>
              </a:srgbClr>
            </a:solidFill>
            <a:ln w="38100" cap="rnd">
              <a:solidFill>
                <a:srgbClr val="000000"/>
              </a:solidFill>
              <a:prstDash val="solid"/>
              <a:round/>
            </a:ln>
          </p:spPr>
        </p:sp>
        <p:sp>
          <p:nvSpPr>
            <p:cNvPr id="18" name="TextBox 18"/>
            <p:cNvSpPr txBox="1"/>
            <p:nvPr/>
          </p:nvSpPr>
          <p:spPr>
            <a:xfrm>
              <a:off x="0" y="-9525"/>
              <a:ext cx="540425"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Processing Nutrition Features</a:t>
              </a:r>
            </a:p>
          </p:txBody>
        </p:sp>
      </p:grpSp>
      <p:grpSp>
        <p:nvGrpSpPr>
          <p:cNvPr id="19" name="Group 19"/>
          <p:cNvGrpSpPr/>
          <p:nvPr/>
        </p:nvGrpSpPr>
        <p:grpSpPr>
          <a:xfrm>
            <a:off x="4961935" y="4465960"/>
            <a:ext cx="1750977" cy="1355079"/>
            <a:chOff x="0" y="0"/>
            <a:chExt cx="540425" cy="418234"/>
          </a:xfrm>
        </p:grpSpPr>
        <p:sp>
          <p:nvSpPr>
            <p:cNvPr id="20" name="Freeform 20"/>
            <p:cNvSpPr/>
            <p:nvPr/>
          </p:nvSpPr>
          <p:spPr>
            <a:xfrm>
              <a:off x="0" y="0"/>
              <a:ext cx="540425" cy="418234"/>
            </a:xfrm>
            <a:custGeom>
              <a:avLst/>
              <a:gdLst/>
              <a:ahLst/>
              <a:cxnLst/>
              <a:rect l="l" t="t" r="r" b="b"/>
              <a:pathLst>
                <a:path w="540425" h="418234">
                  <a:moveTo>
                    <a:pt x="86357" y="0"/>
                  </a:moveTo>
                  <a:lnTo>
                    <a:pt x="454068" y="0"/>
                  </a:lnTo>
                  <a:cubicBezTo>
                    <a:pt x="476971" y="0"/>
                    <a:pt x="498936" y="9098"/>
                    <a:pt x="515131" y="25293"/>
                  </a:cubicBezTo>
                  <a:cubicBezTo>
                    <a:pt x="531327" y="41489"/>
                    <a:pt x="540425" y="63454"/>
                    <a:pt x="540425" y="86357"/>
                  </a:cubicBezTo>
                  <a:lnTo>
                    <a:pt x="540425" y="331877"/>
                  </a:lnTo>
                  <a:cubicBezTo>
                    <a:pt x="540425" y="379571"/>
                    <a:pt x="501761" y="418234"/>
                    <a:pt x="454068" y="418234"/>
                  </a:cubicBezTo>
                  <a:lnTo>
                    <a:pt x="86357" y="418234"/>
                  </a:lnTo>
                  <a:cubicBezTo>
                    <a:pt x="38663" y="418234"/>
                    <a:pt x="0" y="379571"/>
                    <a:pt x="0" y="331877"/>
                  </a:cubicBezTo>
                  <a:lnTo>
                    <a:pt x="0" y="86357"/>
                  </a:lnTo>
                  <a:cubicBezTo>
                    <a:pt x="0" y="38663"/>
                    <a:pt x="38663" y="0"/>
                    <a:pt x="86357" y="0"/>
                  </a:cubicBezTo>
                  <a:close/>
                </a:path>
              </a:pathLst>
            </a:custGeom>
            <a:solidFill>
              <a:srgbClr val="000000">
                <a:alpha val="0"/>
              </a:srgbClr>
            </a:solidFill>
            <a:ln w="38100" cap="rnd">
              <a:solidFill>
                <a:srgbClr val="000000"/>
              </a:solidFill>
              <a:prstDash val="solid"/>
              <a:round/>
            </a:ln>
          </p:spPr>
        </p:sp>
        <p:sp>
          <p:nvSpPr>
            <p:cNvPr id="21" name="TextBox 21"/>
            <p:cNvSpPr txBox="1"/>
            <p:nvPr/>
          </p:nvSpPr>
          <p:spPr>
            <a:xfrm>
              <a:off x="0" y="-9525"/>
              <a:ext cx="540425"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Processing Text Features</a:t>
              </a:r>
            </a:p>
          </p:txBody>
        </p:sp>
      </p:grpSp>
      <p:grpSp>
        <p:nvGrpSpPr>
          <p:cNvPr id="22" name="Group 22"/>
          <p:cNvGrpSpPr/>
          <p:nvPr/>
        </p:nvGrpSpPr>
        <p:grpSpPr>
          <a:xfrm>
            <a:off x="8217862" y="4465960"/>
            <a:ext cx="1750977" cy="1355079"/>
            <a:chOff x="0" y="0"/>
            <a:chExt cx="540425" cy="418234"/>
          </a:xfrm>
        </p:grpSpPr>
        <p:sp>
          <p:nvSpPr>
            <p:cNvPr id="23" name="Freeform 23"/>
            <p:cNvSpPr/>
            <p:nvPr/>
          </p:nvSpPr>
          <p:spPr>
            <a:xfrm>
              <a:off x="0" y="0"/>
              <a:ext cx="540425" cy="418234"/>
            </a:xfrm>
            <a:custGeom>
              <a:avLst/>
              <a:gdLst/>
              <a:ahLst/>
              <a:cxnLst/>
              <a:rect l="l" t="t" r="r" b="b"/>
              <a:pathLst>
                <a:path w="540425" h="418234">
                  <a:moveTo>
                    <a:pt x="86357" y="0"/>
                  </a:moveTo>
                  <a:lnTo>
                    <a:pt x="454068" y="0"/>
                  </a:lnTo>
                  <a:cubicBezTo>
                    <a:pt x="476971" y="0"/>
                    <a:pt x="498936" y="9098"/>
                    <a:pt x="515131" y="25293"/>
                  </a:cubicBezTo>
                  <a:cubicBezTo>
                    <a:pt x="531327" y="41489"/>
                    <a:pt x="540425" y="63454"/>
                    <a:pt x="540425" y="86357"/>
                  </a:cubicBezTo>
                  <a:lnTo>
                    <a:pt x="540425" y="331877"/>
                  </a:lnTo>
                  <a:cubicBezTo>
                    <a:pt x="540425" y="379571"/>
                    <a:pt x="501761" y="418234"/>
                    <a:pt x="454068" y="418234"/>
                  </a:cubicBezTo>
                  <a:lnTo>
                    <a:pt x="86357" y="418234"/>
                  </a:lnTo>
                  <a:cubicBezTo>
                    <a:pt x="38663" y="418234"/>
                    <a:pt x="0" y="379571"/>
                    <a:pt x="0" y="331877"/>
                  </a:cubicBezTo>
                  <a:lnTo>
                    <a:pt x="0" y="86357"/>
                  </a:lnTo>
                  <a:cubicBezTo>
                    <a:pt x="0" y="38663"/>
                    <a:pt x="38663" y="0"/>
                    <a:pt x="86357" y="0"/>
                  </a:cubicBezTo>
                  <a:close/>
                </a:path>
              </a:pathLst>
            </a:custGeom>
            <a:solidFill>
              <a:srgbClr val="000000">
                <a:alpha val="0"/>
              </a:srgbClr>
            </a:solidFill>
            <a:ln w="38100" cap="rnd">
              <a:solidFill>
                <a:srgbClr val="000000"/>
              </a:solidFill>
              <a:prstDash val="solid"/>
              <a:round/>
            </a:ln>
          </p:spPr>
        </p:sp>
        <p:sp>
          <p:nvSpPr>
            <p:cNvPr id="24" name="TextBox 24"/>
            <p:cNvSpPr txBox="1"/>
            <p:nvPr/>
          </p:nvSpPr>
          <p:spPr>
            <a:xfrm>
              <a:off x="0" y="-9525"/>
              <a:ext cx="540425"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Constructing Bi-partite Graph</a:t>
              </a:r>
            </a:p>
          </p:txBody>
        </p:sp>
      </p:grpSp>
      <p:sp>
        <p:nvSpPr>
          <p:cNvPr id="25" name="Freeform 25"/>
          <p:cNvSpPr/>
          <p:nvPr/>
        </p:nvSpPr>
        <p:spPr>
          <a:xfrm>
            <a:off x="6712912"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6" name="Freeform 26"/>
          <p:cNvSpPr/>
          <p:nvPr/>
        </p:nvSpPr>
        <p:spPr>
          <a:xfrm>
            <a:off x="9968838" y="4929194"/>
            <a:ext cx="1508640" cy="428612"/>
          </a:xfrm>
          <a:custGeom>
            <a:avLst/>
            <a:gdLst/>
            <a:ahLst/>
            <a:cxnLst/>
            <a:rect l="l" t="t" r="r" b="b"/>
            <a:pathLst>
              <a:path w="1508640" h="428612">
                <a:moveTo>
                  <a:pt x="0" y="0"/>
                </a:moveTo>
                <a:lnTo>
                  <a:pt x="1508641" y="0"/>
                </a:lnTo>
                <a:lnTo>
                  <a:pt x="1508641"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7" name="Group 27"/>
          <p:cNvGrpSpPr/>
          <p:nvPr/>
        </p:nvGrpSpPr>
        <p:grpSpPr>
          <a:xfrm>
            <a:off x="1726131" y="7682265"/>
            <a:ext cx="1750977" cy="1717029"/>
            <a:chOff x="0" y="0"/>
            <a:chExt cx="540425" cy="529947"/>
          </a:xfrm>
        </p:grpSpPr>
        <p:sp>
          <p:nvSpPr>
            <p:cNvPr id="28" name="Freeform 28"/>
            <p:cNvSpPr/>
            <p:nvPr/>
          </p:nvSpPr>
          <p:spPr>
            <a:xfrm>
              <a:off x="0" y="0"/>
              <a:ext cx="540425" cy="529947"/>
            </a:xfrm>
            <a:custGeom>
              <a:avLst/>
              <a:gdLst/>
              <a:ahLst/>
              <a:cxnLst/>
              <a:rect l="l" t="t" r="r" b="b"/>
              <a:pathLst>
                <a:path w="540425" h="529947">
                  <a:moveTo>
                    <a:pt x="86357" y="0"/>
                  </a:moveTo>
                  <a:lnTo>
                    <a:pt x="454068" y="0"/>
                  </a:lnTo>
                  <a:cubicBezTo>
                    <a:pt x="476971" y="0"/>
                    <a:pt x="498936" y="9098"/>
                    <a:pt x="515131" y="25293"/>
                  </a:cubicBezTo>
                  <a:cubicBezTo>
                    <a:pt x="531327" y="41489"/>
                    <a:pt x="540425" y="63454"/>
                    <a:pt x="540425" y="86357"/>
                  </a:cubicBezTo>
                  <a:lnTo>
                    <a:pt x="540425" y="443590"/>
                  </a:lnTo>
                  <a:cubicBezTo>
                    <a:pt x="540425" y="491284"/>
                    <a:pt x="501761" y="529947"/>
                    <a:pt x="454068" y="529947"/>
                  </a:cubicBezTo>
                  <a:lnTo>
                    <a:pt x="86357" y="529947"/>
                  </a:lnTo>
                  <a:cubicBezTo>
                    <a:pt x="38663" y="529947"/>
                    <a:pt x="0" y="491284"/>
                    <a:pt x="0" y="443590"/>
                  </a:cubicBezTo>
                  <a:lnTo>
                    <a:pt x="0" y="86357"/>
                  </a:lnTo>
                  <a:cubicBezTo>
                    <a:pt x="0" y="38663"/>
                    <a:pt x="38663" y="0"/>
                    <a:pt x="86357" y="0"/>
                  </a:cubicBezTo>
                  <a:close/>
                </a:path>
              </a:pathLst>
            </a:custGeom>
            <a:solidFill>
              <a:srgbClr val="FFFFFF"/>
            </a:solidFill>
            <a:ln w="38100" cap="rnd">
              <a:solidFill>
                <a:srgbClr val="000000"/>
              </a:solidFill>
              <a:prstDash val="solid"/>
              <a:round/>
            </a:ln>
          </p:spPr>
        </p:sp>
        <p:sp>
          <p:nvSpPr>
            <p:cNvPr id="29" name="TextBox 29"/>
            <p:cNvSpPr txBox="1"/>
            <p:nvPr/>
          </p:nvSpPr>
          <p:spPr>
            <a:xfrm>
              <a:off x="0" y="-9525"/>
              <a:ext cx="540425" cy="539472"/>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Handles missing nutritional values</a:t>
              </a:r>
            </a:p>
          </p:txBody>
        </p:sp>
      </p:grpSp>
      <p:grpSp>
        <p:nvGrpSpPr>
          <p:cNvPr id="30" name="Group 30"/>
          <p:cNvGrpSpPr/>
          <p:nvPr/>
        </p:nvGrpSpPr>
        <p:grpSpPr>
          <a:xfrm>
            <a:off x="3542187" y="7682265"/>
            <a:ext cx="2128818" cy="1717029"/>
            <a:chOff x="0" y="0"/>
            <a:chExt cx="657043" cy="529947"/>
          </a:xfrm>
        </p:grpSpPr>
        <p:sp>
          <p:nvSpPr>
            <p:cNvPr id="31" name="Freeform 31"/>
            <p:cNvSpPr/>
            <p:nvPr/>
          </p:nvSpPr>
          <p:spPr>
            <a:xfrm>
              <a:off x="0" y="0"/>
              <a:ext cx="657043" cy="529947"/>
            </a:xfrm>
            <a:custGeom>
              <a:avLst/>
              <a:gdLst/>
              <a:ahLst/>
              <a:cxnLst/>
              <a:rect l="l" t="t" r="r" b="b"/>
              <a:pathLst>
                <a:path w="657043" h="529947">
                  <a:moveTo>
                    <a:pt x="71030" y="0"/>
                  </a:moveTo>
                  <a:lnTo>
                    <a:pt x="586013" y="0"/>
                  </a:lnTo>
                  <a:cubicBezTo>
                    <a:pt x="625242" y="0"/>
                    <a:pt x="657043" y="31801"/>
                    <a:pt x="657043" y="71030"/>
                  </a:cubicBezTo>
                  <a:lnTo>
                    <a:pt x="657043" y="458918"/>
                  </a:lnTo>
                  <a:cubicBezTo>
                    <a:pt x="657043" y="498146"/>
                    <a:pt x="625242" y="529947"/>
                    <a:pt x="586013" y="529947"/>
                  </a:cubicBezTo>
                  <a:lnTo>
                    <a:pt x="71030" y="529947"/>
                  </a:lnTo>
                  <a:cubicBezTo>
                    <a:pt x="31801" y="529947"/>
                    <a:pt x="0" y="498146"/>
                    <a:pt x="0" y="458918"/>
                  </a:cubicBezTo>
                  <a:lnTo>
                    <a:pt x="0" y="71030"/>
                  </a:lnTo>
                  <a:cubicBezTo>
                    <a:pt x="0" y="31801"/>
                    <a:pt x="31801" y="0"/>
                    <a:pt x="71030" y="0"/>
                  </a:cubicBezTo>
                  <a:close/>
                </a:path>
              </a:pathLst>
            </a:custGeom>
            <a:solidFill>
              <a:srgbClr val="000000">
                <a:alpha val="0"/>
              </a:srgbClr>
            </a:solidFill>
            <a:ln w="38100" cap="rnd">
              <a:solidFill>
                <a:srgbClr val="000000"/>
              </a:solidFill>
              <a:prstDash val="solid"/>
              <a:round/>
            </a:ln>
          </p:spPr>
        </p:sp>
        <p:sp>
          <p:nvSpPr>
            <p:cNvPr id="32" name="TextBox 32"/>
            <p:cNvSpPr txBox="1"/>
            <p:nvPr/>
          </p:nvSpPr>
          <p:spPr>
            <a:xfrm>
              <a:off x="0" y="-9525"/>
              <a:ext cx="657043" cy="539472"/>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Scaling and Standardization</a:t>
              </a:r>
            </a:p>
          </p:txBody>
        </p:sp>
      </p:grpSp>
      <p:grpSp>
        <p:nvGrpSpPr>
          <p:cNvPr id="33" name="Group 33"/>
          <p:cNvGrpSpPr/>
          <p:nvPr/>
        </p:nvGrpSpPr>
        <p:grpSpPr>
          <a:xfrm>
            <a:off x="2577807" y="5821040"/>
            <a:ext cx="2052602" cy="1895475"/>
            <a:chOff x="0" y="0"/>
            <a:chExt cx="2736802" cy="2527300"/>
          </a:xfrm>
        </p:grpSpPr>
        <p:grpSp>
          <p:nvGrpSpPr>
            <p:cNvPr id="34" name="Group 34"/>
            <p:cNvGrpSpPr/>
            <p:nvPr/>
          </p:nvGrpSpPr>
          <p:grpSpPr>
            <a:xfrm>
              <a:off x="0" y="0"/>
              <a:ext cx="63500" cy="2481634"/>
              <a:chOff x="0" y="0"/>
              <a:chExt cx="12543" cy="490199"/>
            </a:xfrm>
          </p:grpSpPr>
          <p:sp>
            <p:nvSpPr>
              <p:cNvPr id="35" name="Freeform 35"/>
              <p:cNvSpPr/>
              <p:nvPr/>
            </p:nvSpPr>
            <p:spPr>
              <a:xfrm>
                <a:off x="0" y="0"/>
                <a:ext cx="12543" cy="490199"/>
              </a:xfrm>
              <a:custGeom>
                <a:avLst/>
                <a:gdLst/>
                <a:ahLst/>
                <a:cxnLst/>
                <a:rect l="l" t="t" r="r" b="b"/>
                <a:pathLst>
                  <a:path w="12543" h="490199">
                    <a:moveTo>
                      <a:pt x="0" y="0"/>
                    </a:moveTo>
                    <a:lnTo>
                      <a:pt x="12543" y="0"/>
                    </a:lnTo>
                    <a:lnTo>
                      <a:pt x="12543" y="490199"/>
                    </a:lnTo>
                    <a:lnTo>
                      <a:pt x="0" y="490199"/>
                    </a:lnTo>
                    <a:close/>
                  </a:path>
                </a:pathLst>
              </a:custGeom>
              <a:solidFill>
                <a:srgbClr val="000000"/>
              </a:solidFill>
            </p:spPr>
          </p:sp>
          <p:sp>
            <p:nvSpPr>
              <p:cNvPr id="36" name="TextBox 36"/>
              <p:cNvSpPr txBox="1"/>
              <p:nvPr/>
            </p:nvSpPr>
            <p:spPr>
              <a:xfrm>
                <a:off x="0" y="-38100"/>
                <a:ext cx="12543" cy="528299"/>
              </a:xfrm>
              <a:prstGeom prst="rect">
                <a:avLst/>
              </a:prstGeom>
            </p:spPr>
            <p:txBody>
              <a:bodyPr lIns="50800" tIns="50800" rIns="50800" bIns="50800" rtlCol="0" anchor="ctr"/>
              <a:lstStyle/>
              <a:p>
                <a:pPr algn="ctr">
                  <a:lnSpc>
                    <a:spcPts val="2160"/>
                  </a:lnSpc>
                </a:pPr>
                <a:endParaRPr/>
              </a:p>
            </p:txBody>
          </p:sp>
        </p:grpSp>
        <p:grpSp>
          <p:nvGrpSpPr>
            <p:cNvPr id="37" name="Group 37"/>
            <p:cNvGrpSpPr/>
            <p:nvPr/>
          </p:nvGrpSpPr>
          <p:grpSpPr>
            <a:xfrm rot="5400000">
              <a:off x="1359163" y="481694"/>
              <a:ext cx="63500" cy="2691779"/>
              <a:chOff x="0" y="0"/>
              <a:chExt cx="12543" cy="531709"/>
            </a:xfrm>
          </p:grpSpPr>
          <p:sp>
            <p:nvSpPr>
              <p:cNvPr id="38" name="Freeform 38"/>
              <p:cNvSpPr/>
              <p:nvPr/>
            </p:nvSpPr>
            <p:spPr>
              <a:xfrm>
                <a:off x="0" y="0"/>
                <a:ext cx="12543" cy="531709"/>
              </a:xfrm>
              <a:custGeom>
                <a:avLst/>
                <a:gdLst/>
                <a:ahLst/>
                <a:cxnLst/>
                <a:rect l="l" t="t" r="r" b="b"/>
                <a:pathLst>
                  <a:path w="12543" h="531709">
                    <a:moveTo>
                      <a:pt x="0" y="0"/>
                    </a:moveTo>
                    <a:lnTo>
                      <a:pt x="12543" y="0"/>
                    </a:lnTo>
                    <a:lnTo>
                      <a:pt x="12543" y="531709"/>
                    </a:lnTo>
                    <a:lnTo>
                      <a:pt x="0" y="531709"/>
                    </a:lnTo>
                    <a:close/>
                  </a:path>
                </a:pathLst>
              </a:custGeom>
              <a:solidFill>
                <a:srgbClr val="000000"/>
              </a:solidFill>
            </p:spPr>
          </p:sp>
          <p:sp>
            <p:nvSpPr>
              <p:cNvPr id="39" name="TextBox 39"/>
              <p:cNvSpPr txBox="1"/>
              <p:nvPr/>
            </p:nvSpPr>
            <p:spPr>
              <a:xfrm>
                <a:off x="0" y="-38100"/>
                <a:ext cx="12543" cy="569809"/>
              </a:xfrm>
              <a:prstGeom prst="rect">
                <a:avLst/>
              </a:prstGeom>
            </p:spPr>
            <p:txBody>
              <a:bodyPr lIns="50800" tIns="50800" rIns="50800" bIns="50800" rtlCol="0" anchor="ctr"/>
              <a:lstStyle/>
              <a:p>
                <a:pPr algn="ctr">
                  <a:lnSpc>
                    <a:spcPts val="2160"/>
                  </a:lnSpc>
                </a:pPr>
                <a:endParaRPr/>
              </a:p>
            </p:txBody>
          </p:sp>
        </p:grpSp>
        <p:grpSp>
          <p:nvGrpSpPr>
            <p:cNvPr id="40" name="Group 40"/>
            <p:cNvGrpSpPr/>
            <p:nvPr/>
          </p:nvGrpSpPr>
          <p:grpSpPr>
            <a:xfrm>
              <a:off x="2673302" y="1795834"/>
              <a:ext cx="63500" cy="731466"/>
              <a:chOff x="0" y="0"/>
              <a:chExt cx="12543" cy="144487"/>
            </a:xfrm>
          </p:grpSpPr>
          <p:sp>
            <p:nvSpPr>
              <p:cNvPr id="41" name="Freeform 41"/>
              <p:cNvSpPr/>
              <p:nvPr/>
            </p:nvSpPr>
            <p:spPr>
              <a:xfrm>
                <a:off x="0" y="0"/>
                <a:ext cx="12543" cy="144487"/>
              </a:xfrm>
              <a:custGeom>
                <a:avLst/>
                <a:gdLst/>
                <a:ahLst/>
                <a:cxnLst/>
                <a:rect l="l" t="t" r="r" b="b"/>
                <a:pathLst>
                  <a:path w="12543" h="144487">
                    <a:moveTo>
                      <a:pt x="0" y="0"/>
                    </a:moveTo>
                    <a:lnTo>
                      <a:pt x="12543" y="0"/>
                    </a:lnTo>
                    <a:lnTo>
                      <a:pt x="12543" y="144487"/>
                    </a:lnTo>
                    <a:lnTo>
                      <a:pt x="0" y="144487"/>
                    </a:lnTo>
                    <a:close/>
                  </a:path>
                </a:pathLst>
              </a:custGeom>
              <a:solidFill>
                <a:srgbClr val="000000"/>
              </a:solidFill>
            </p:spPr>
          </p:sp>
          <p:sp>
            <p:nvSpPr>
              <p:cNvPr id="42" name="TextBox 42"/>
              <p:cNvSpPr txBox="1"/>
              <p:nvPr/>
            </p:nvSpPr>
            <p:spPr>
              <a:xfrm>
                <a:off x="0" y="-38100"/>
                <a:ext cx="12543" cy="182587"/>
              </a:xfrm>
              <a:prstGeom prst="rect">
                <a:avLst/>
              </a:prstGeom>
            </p:spPr>
            <p:txBody>
              <a:bodyPr lIns="50800" tIns="50800" rIns="50800" bIns="50800" rtlCol="0" anchor="ctr"/>
              <a:lstStyle/>
              <a:p>
                <a:pPr algn="ctr">
                  <a:lnSpc>
                    <a:spcPts val="2160"/>
                  </a:lnSpc>
                </a:pPr>
                <a:endParaRPr/>
              </a:p>
            </p:txBody>
          </p:sp>
        </p:grpSp>
      </p:grpSp>
      <p:sp>
        <p:nvSpPr>
          <p:cNvPr id="43" name="TextBox 43"/>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44" name="TextBox 44"/>
          <p:cNvSpPr txBox="1"/>
          <p:nvPr/>
        </p:nvSpPr>
        <p:spPr>
          <a:xfrm>
            <a:off x="5096494" y="2192775"/>
            <a:ext cx="2848213" cy="381000"/>
          </a:xfrm>
          <a:prstGeom prst="rect">
            <a:avLst/>
          </a:prstGeom>
        </p:spPr>
        <p:txBody>
          <a:bodyPr lIns="0" tIns="0" rIns="0" bIns="0" rtlCol="0" anchor="t">
            <a:spAutoFit/>
          </a:bodyPr>
          <a:lstStyle/>
          <a:p>
            <a:pPr algn="ctr">
              <a:lnSpc>
                <a:spcPts val="2999"/>
              </a:lnSpc>
              <a:spcBef>
                <a:spcPct val="0"/>
              </a:spcBef>
            </a:pPr>
            <a:r>
              <a:rPr lang="en-US" sz="2499">
                <a:solidFill>
                  <a:srgbClr val="000000"/>
                </a:solidFill>
                <a:latin typeface="Times New Roman"/>
                <a:ea typeface="Times New Roman"/>
                <a:cs typeface="Times New Roman"/>
                <a:sym typeface="Times New Roman"/>
              </a:rPr>
              <a:t>FEATURE PIPELINE</a:t>
            </a:r>
          </a:p>
        </p:txBody>
      </p:sp>
      <p:grpSp>
        <p:nvGrpSpPr>
          <p:cNvPr id="45" name="Group 45"/>
          <p:cNvGrpSpPr/>
          <p:nvPr/>
        </p:nvGrpSpPr>
        <p:grpSpPr>
          <a:xfrm rot="-10800000">
            <a:off x="4056023" y="3606170"/>
            <a:ext cx="3229965" cy="859790"/>
            <a:chOff x="0" y="0"/>
            <a:chExt cx="4306619" cy="1146386"/>
          </a:xfrm>
        </p:grpSpPr>
        <p:grpSp>
          <p:nvGrpSpPr>
            <p:cNvPr id="46" name="Group 46"/>
            <p:cNvGrpSpPr/>
            <p:nvPr/>
          </p:nvGrpSpPr>
          <p:grpSpPr>
            <a:xfrm>
              <a:off x="4250562" y="875549"/>
              <a:ext cx="56058" cy="270838"/>
              <a:chOff x="0" y="0"/>
              <a:chExt cx="12543" cy="60601"/>
            </a:xfrm>
          </p:grpSpPr>
          <p:sp>
            <p:nvSpPr>
              <p:cNvPr id="47" name="Freeform 47"/>
              <p:cNvSpPr/>
              <p:nvPr/>
            </p:nvSpPr>
            <p:spPr>
              <a:xfrm>
                <a:off x="0" y="0"/>
                <a:ext cx="12543" cy="60601"/>
              </a:xfrm>
              <a:custGeom>
                <a:avLst/>
                <a:gdLst/>
                <a:ahLst/>
                <a:cxnLst/>
                <a:rect l="l" t="t" r="r" b="b"/>
                <a:pathLst>
                  <a:path w="12543" h="60601">
                    <a:moveTo>
                      <a:pt x="0" y="0"/>
                    </a:moveTo>
                    <a:lnTo>
                      <a:pt x="12543" y="0"/>
                    </a:lnTo>
                    <a:lnTo>
                      <a:pt x="12543" y="60601"/>
                    </a:lnTo>
                    <a:lnTo>
                      <a:pt x="0" y="60601"/>
                    </a:lnTo>
                    <a:close/>
                  </a:path>
                </a:pathLst>
              </a:custGeom>
              <a:solidFill>
                <a:srgbClr val="000000"/>
              </a:solidFill>
            </p:spPr>
          </p:sp>
          <p:sp>
            <p:nvSpPr>
              <p:cNvPr id="48" name="TextBox 48"/>
              <p:cNvSpPr txBox="1"/>
              <p:nvPr/>
            </p:nvSpPr>
            <p:spPr>
              <a:xfrm>
                <a:off x="0" y="-38100"/>
                <a:ext cx="12543" cy="98701"/>
              </a:xfrm>
              <a:prstGeom prst="rect">
                <a:avLst/>
              </a:prstGeom>
            </p:spPr>
            <p:txBody>
              <a:bodyPr lIns="50800" tIns="50800" rIns="50800" bIns="50800" rtlCol="0" anchor="ctr"/>
              <a:lstStyle/>
              <a:p>
                <a:pPr algn="ctr">
                  <a:lnSpc>
                    <a:spcPts val="2159"/>
                  </a:lnSpc>
                </a:pPr>
                <a:endParaRPr/>
              </a:p>
            </p:txBody>
          </p:sp>
        </p:grpSp>
        <p:grpSp>
          <p:nvGrpSpPr>
            <p:cNvPr id="49" name="Group 49"/>
            <p:cNvGrpSpPr/>
            <p:nvPr/>
          </p:nvGrpSpPr>
          <p:grpSpPr>
            <a:xfrm>
              <a:off x="0" y="810241"/>
              <a:ext cx="4306619" cy="63500"/>
              <a:chOff x="0" y="0"/>
              <a:chExt cx="963627" cy="14208"/>
            </a:xfrm>
          </p:grpSpPr>
          <p:sp>
            <p:nvSpPr>
              <p:cNvPr id="50" name="Freeform 50"/>
              <p:cNvSpPr/>
              <p:nvPr/>
            </p:nvSpPr>
            <p:spPr>
              <a:xfrm>
                <a:off x="0" y="0"/>
                <a:ext cx="963627" cy="14208"/>
              </a:xfrm>
              <a:custGeom>
                <a:avLst/>
                <a:gdLst/>
                <a:ahLst/>
                <a:cxnLst/>
                <a:rect l="l" t="t" r="r" b="b"/>
                <a:pathLst>
                  <a:path w="963627" h="14208">
                    <a:moveTo>
                      <a:pt x="0" y="0"/>
                    </a:moveTo>
                    <a:lnTo>
                      <a:pt x="963627" y="0"/>
                    </a:lnTo>
                    <a:lnTo>
                      <a:pt x="963627" y="14208"/>
                    </a:lnTo>
                    <a:lnTo>
                      <a:pt x="0" y="14208"/>
                    </a:lnTo>
                    <a:close/>
                  </a:path>
                </a:pathLst>
              </a:custGeom>
              <a:solidFill>
                <a:srgbClr val="000000"/>
              </a:solidFill>
            </p:spPr>
          </p:sp>
          <p:sp>
            <p:nvSpPr>
              <p:cNvPr id="51" name="TextBox 51"/>
              <p:cNvSpPr txBox="1"/>
              <p:nvPr/>
            </p:nvSpPr>
            <p:spPr>
              <a:xfrm>
                <a:off x="0" y="-38100"/>
                <a:ext cx="963627" cy="52308"/>
              </a:xfrm>
              <a:prstGeom prst="rect">
                <a:avLst/>
              </a:prstGeom>
            </p:spPr>
            <p:txBody>
              <a:bodyPr lIns="50800" tIns="50800" rIns="50800" bIns="50800" rtlCol="0" anchor="ctr"/>
              <a:lstStyle/>
              <a:p>
                <a:pPr algn="ctr">
                  <a:lnSpc>
                    <a:spcPts val="2159"/>
                  </a:lnSpc>
                </a:pPr>
                <a:endParaRPr/>
              </a:p>
            </p:txBody>
          </p:sp>
        </p:grpSp>
        <p:grpSp>
          <p:nvGrpSpPr>
            <p:cNvPr id="52" name="Group 52"/>
            <p:cNvGrpSpPr/>
            <p:nvPr/>
          </p:nvGrpSpPr>
          <p:grpSpPr>
            <a:xfrm>
              <a:off x="0" y="875549"/>
              <a:ext cx="56058" cy="270838"/>
              <a:chOff x="0" y="0"/>
              <a:chExt cx="12543" cy="60601"/>
            </a:xfrm>
          </p:grpSpPr>
          <p:sp>
            <p:nvSpPr>
              <p:cNvPr id="53" name="Freeform 53"/>
              <p:cNvSpPr/>
              <p:nvPr/>
            </p:nvSpPr>
            <p:spPr>
              <a:xfrm>
                <a:off x="0" y="0"/>
                <a:ext cx="12543" cy="60601"/>
              </a:xfrm>
              <a:custGeom>
                <a:avLst/>
                <a:gdLst/>
                <a:ahLst/>
                <a:cxnLst/>
                <a:rect l="l" t="t" r="r" b="b"/>
                <a:pathLst>
                  <a:path w="12543" h="60601">
                    <a:moveTo>
                      <a:pt x="0" y="0"/>
                    </a:moveTo>
                    <a:lnTo>
                      <a:pt x="12543" y="0"/>
                    </a:lnTo>
                    <a:lnTo>
                      <a:pt x="12543" y="60601"/>
                    </a:lnTo>
                    <a:lnTo>
                      <a:pt x="0" y="60601"/>
                    </a:lnTo>
                    <a:close/>
                  </a:path>
                </a:pathLst>
              </a:custGeom>
              <a:solidFill>
                <a:srgbClr val="000000"/>
              </a:solidFill>
            </p:spPr>
          </p:sp>
          <p:sp>
            <p:nvSpPr>
              <p:cNvPr id="54" name="TextBox 54"/>
              <p:cNvSpPr txBox="1"/>
              <p:nvPr/>
            </p:nvSpPr>
            <p:spPr>
              <a:xfrm>
                <a:off x="0" y="-38100"/>
                <a:ext cx="12543" cy="98701"/>
              </a:xfrm>
              <a:prstGeom prst="rect">
                <a:avLst/>
              </a:prstGeom>
            </p:spPr>
            <p:txBody>
              <a:bodyPr lIns="50800" tIns="50800" rIns="50800" bIns="50800" rtlCol="0" anchor="ctr"/>
              <a:lstStyle/>
              <a:p>
                <a:pPr algn="ctr">
                  <a:lnSpc>
                    <a:spcPts val="2159"/>
                  </a:lnSpc>
                </a:pPr>
                <a:endParaRPr/>
              </a:p>
            </p:txBody>
          </p:sp>
        </p:grpSp>
        <p:grpSp>
          <p:nvGrpSpPr>
            <p:cNvPr id="55" name="Group 55"/>
            <p:cNvGrpSpPr/>
            <p:nvPr/>
          </p:nvGrpSpPr>
          <p:grpSpPr>
            <a:xfrm>
              <a:off x="1908165" y="0"/>
              <a:ext cx="58157" cy="850226"/>
              <a:chOff x="0" y="0"/>
              <a:chExt cx="13013" cy="190242"/>
            </a:xfrm>
          </p:grpSpPr>
          <p:sp>
            <p:nvSpPr>
              <p:cNvPr id="56" name="Freeform 56"/>
              <p:cNvSpPr/>
              <p:nvPr/>
            </p:nvSpPr>
            <p:spPr>
              <a:xfrm>
                <a:off x="0" y="0"/>
                <a:ext cx="13013" cy="190242"/>
              </a:xfrm>
              <a:custGeom>
                <a:avLst/>
                <a:gdLst/>
                <a:ahLst/>
                <a:cxnLst/>
                <a:rect l="l" t="t" r="r" b="b"/>
                <a:pathLst>
                  <a:path w="13013" h="190242">
                    <a:moveTo>
                      <a:pt x="0" y="0"/>
                    </a:moveTo>
                    <a:lnTo>
                      <a:pt x="13013" y="0"/>
                    </a:lnTo>
                    <a:lnTo>
                      <a:pt x="13013" y="190242"/>
                    </a:lnTo>
                    <a:lnTo>
                      <a:pt x="0" y="190242"/>
                    </a:lnTo>
                    <a:close/>
                  </a:path>
                </a:pathLst>
              </a:custGeom>
              <a:solidFill>
                <a:srgbClr val="000000"/>
              </a:solidFill>
            </p:spPr>
          </p:sp>
          <p:sp>
            <p:nvSpPr>
              <p:cNvPr id="57" name="TextBox 57"/>
              <p:cNvSpPr txBox="1"/>
              <p:nvPr/>
            </p:nvSpPr>
            <p:spPr>
              <a:xfrm>
                <a:off x="0" y="-38100"/>
                <a:ext cx="13013" cy="228342"/>
              </a:xfrm>
              <a:prstGeom prst="rect">
                <a:avLst/>
              </a:prstGeom>
            </p:spPr>
            <p:txBody>
              <a:bodyPr lIns="50800" tIns="50800" rIns="50800" bIns="50800" rtlCol="0" anchor="ctr"/>
              <a:lstStyle/>
              <a:p>
                <a:pPr algn="ctr">
                  <a:lnSpc>
                    <a:spcPts val="2159"/>
                  </a:lnSpc>
                </a:pPr>
                <a:endParaRPr/>
              </a:p>
            </p:txBody>
          </p:sp>
        </p:grpSp>
      </p:grpSp>
      <p:grpSp>
        <p:nvGrpSpPr>
          <p:cNvPr id="58" name="Group 58"/>
          <p:cNvGrpSpPr/>
          <p:nvPr/>
        </p:nvGrpSpPr>
        <p:grpSpPr>
          <a:xfrm>
            <a:off x="2845528" y="2833902"/>
            <a:ext cx="2526572" cy="772268"/>
            <a:chOff x="0" y="0"/>
            <a:chExt cx="779806" cy="238354"/>
          </a:xfrm>
        </p:grpSpPr>
        <p:sp>
          <p:nvSpPr>
            <p:cNvPr id="59" name="Freeform 59"/>
            <p:cNvSpPr/>
            <p:nvPr/>
          </p:nvSpPr>
          <p:spPr>
            <a:xfrm>
              <a:off x="0" y="0"/>
              <a:ext cx="779806" cy="238354"/>
            </a:xfrm>
            <a:custGeom>
              <a:avLst/>
              <a:gdLst/>
              <a:ahLst/>
              <a:cxnLst/>
              <a:rect l="l" t="t" r="r" b="b"/>
              <a:pathLst>
                <a:path w="779806" h="238354">
                  <a:moveTo>
                    <a:pt x="59848" y="0"/>
                  </a:moveTo>
                  <a:lnTo>
                    <a:pt x="719959" y="0"/>
                  </a:lnTo>
                  <a:cubicBezTo>
                    <a:pt x="735831" y="0"/>
                    <a:pt x="751054" y="6305"/>
                    <a:pt x="762277" y="17529"/>
                  </a:cubicBezTo>
                  <a:cubicBezTo>
                    <a:pt x="773501" y="28753"/>
                    <a:pt x="779806" y="43975"/>
                    <a:pt x="779806" y="59848"/>
                  </a:cubicBezTo>
                  <a:lnTo>
                    <a:pt x="779806" y="178507"/>
                  </a:lnTo>
                  <a:cubicBezTo>
                    <a:pt x="779806" y="211560"/>
                    <a:pt x="753012" y="238354"/>
                    <a:pt x="719959" y="238354"/>
                  </a:cubicBezTo>
                  <a:lnTo>
                    <a:pt x="59848" y="238354"/>
                  </a:lnTo>
                  <a:cubicBezTo>
                    <a:pt x="43975" y="238354"/>
                    <a:pt x="28753" y="232049"/>
                    <a:pt x="17529" y="220825"/>
                  </a:cubicBezTo>
                  <a:cubicBezTo>
                    <a:pt x="6305" y="209602"/>
                    <a:pt x="0" y="194379"/>
                    <a:pt x="0" y="178507"/>
                  </a:cubicBezTo>
                  <a:lnTo>
                    <a:pt x="0" y="59848"/>
                  </a:lnTo>
                  <a:cubicBezTo>
                    <a:pt x="0" y="43975"/>
                    <a:pt x="6305" y="28753"/>
                    <a:pt x="17529" y="17529"/>
                  </a:cubicBezTo>
                  <a:cubicBezTo>
                    <a:pt x="28753" y="6305"/>
                    <a:pt x="43975" y="0"/>
                    <a:pt x="59848" y="0"/>
                  </a:cubicBezTo>
                  <a:close/>
                </a:path>
              </a:pathLst>
            </a:custGeom>
            <a:solidFill>
              <a:srgbClr val="FFFFFF"/>
            </a:solidFill>
            <a:ln w="38100" cap="rnd">
              <a:solidFill>
                <a:srgbClr val="000000"/>
              </a:solidFill>
              <a:prstDash val="solid"/>
              <a:round/>
            </a:ln>
          </p:spPr>
        </p:sp>
        <p:sp>
          <p:nvSpPr>
            <p:cNvPr id="60" name="TextBox 60"/>
            <p:cNvSpPr txBox="1"/>
            <p:nvPr/>
          </p:nvSpPr>
          <p:spPr>
            <a:xfrm>
              <a:off x="0" y="-9525"/>
              <a:ext cx="779806" cy="24787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TF-IDF Vectorizer</a:t>
              </a:r>
            </a:p>
          </p:txBody>
        </p:sp>
      </p:grpSp>
      <p:grpSp>
        <p:nvGrpSpPr>
          <p:cNvPr id="61" name="Group 61"/>
          <p:cNvGrpSpPr/>
          <p:nvPr/>
        </p:nvGrpSpPr>
        <p:grpSpPr>
          <a:xfrm>
            <a:off x="6057900" y="2833902"/>
            <a:ext cx="2526572" cy="772268"/>
            <a:chOff x="0" y="0"/>
            <a:chExt cx="779806" cy="238354"/>
          </a:xfrm>
        </p:grpSpPr>
        <p:sp>
          <p:nvSpPr>
            <p:cNvPr id="62" name="Freeform 62"/>
            <p:cNvSpPr/>
            <p:nvPr/>
          </p:nvSpPr>
          <p:spPr>
            <a:xfrm>
              <a:off x="0" y="0"/>
              <a:ext cx="779806" cy="238354"/>
            </a:xfrm>
            <a:custGeom>
              <a:avLst/>
              <a:gdLst/>
              <a:ahLst/>
              <a:cxnLst/>
              <a:rect l="l" t="t" r="r" b="b"/>
              <a:pathLst>
                <a:path w="779806" h="238354">
                  <a:moveTo>
                    <a:pt x="59848" y="0"/>
                  </a:moveTo>
                  <a:lnTo>
                    <a:pt x="719959" y="0"/>
                  </a:lnTo>
                  <a:cubicBezTo>
                    <a:pt x="735831" y="0"/>
                    <a:pt x="751054" y="6305"/>
                    <a:pt x="762277" y="17529"/>
                  </a:cubicBezTo>
                  <a:cubicBezTo>
                    <a:pt x="773501" y="28753"/>
                    <a:pt x="779806" y="43975"/>
                    <a:pt x="779806" y="59848"/>
                  </a:cubicBezTo>
                  <a:lnTo>
                    <a:pt x="779806" y="178507"/>
                  </a:lnTo>
                  <a:cubicBezTo>
                    <a:pt x="779806" y="211560"/>
                    <a:pt x="753012" y="238354"/>
                    <a:pt x="719959" y="238354"/>
                  </a:cubicBezTo>
                  <a:lnTo>
                    <a:pt x="59848" y="238354"/>
                  </a:lnTo>
                  <a:cubicBezTo>
                    <a:pt x="43975" y="238354"/>
                    <a:pt x="28753" y="232049"/>
                    <a:pt x="17529" y="220825"/>
                  </a:cubicBezTo>
                  <a:cubicBezTo>
                    <a:pt x="6305" y="209602"/>
                    <a:pt x="0" y="194379"/>
                    <a:pt x="0" y="178507"/>
                  </a:cubicBezTo>
                  <a:lnTo>
                    <a:pt x="0" y="59848"/>
                  </a:lnTo>
                  <a:cubicBezTo>
                    <a:pt x="0" y="43975"/>
                    <a:pt x="6305" y="28753"/>
                    <a:pt x="17529" y="17529"/>
                  </a:cubicBezTo>
                  <a:cubicBezTo>
                    <a:pt x="28753" y="6305"/>
                    <a:pt x="43975" y="0"/>
                    <a:pt x="59848" y="0"/>
                  </a:cubicBezTo>
                  <a:close/>
                </a:path>
              </a:pathLst>
            </a:custGeom>
            <a:solidFill>
              <a:srgbClr val="FFFFFF"/>
            </a:solidFill>
            <a:ln w="38100" cap="rnd">
              <a:solidFill>
                <a:srgbClr val="000000"/>
              </a:solidFill>
              <a:prstDash val="solid"/>
              <a:round/>
            </a:ln>
          </p:spPr>
        </p:sp>
        <p:sp>
          <p:nvSpPr>
            <p:cNvPr id="63" name="TextBox 63"/>
            <p:cNvSpPr txBox="1"/>
            <p:nvPr/>
          </p:nvSpPr>
          <p:spPr>
            <a:xfrm>
              <a:off x="0" y="-9525"/>
              <a:ext cx="779806" cy="24787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Truncated SVD</a:t>
              </a:r>
            </a:p>
          </p:txBody>
        </p:sp>
      </p:grpSp>
      <p:sp>
        <p:nvSpPr>
          <p:cNvPr id="64" name="TextBox 64"/>
          <p:cNvSpPr txBox="1"/>
          <p:nvPr/>
        </p:nvSpPr>
        <p:spPr>
          <a:xfrm>
            <a:off x="3490967" y="5151684"/>
            <a:ext cx="1130112" cy="971550"/>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Dense Numeric Vectors per Food</a:t>
            </a:r>
          </a:p>
        </p:txBody>
      </p:sp>
      <p:sp>
        <p:nvSpPr>
          <p:cNvPr id="65" name="TextBox 65"/>
          <p:cNvSpPr txBox="1"/>
          <p:nvPr/>
        </p:nvSpPr>
        <p:spPr>
          <a:xfrm>
            <a:off x="6756130" y="5151684"/>
            <a:ext cx="1130112" cy="971550"/>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Dense Semantic Vector per Food</a:t>
            </a:r>
          </a:p>
        </p:txBody>
      </p:sp>
      <p:grpSp>
        <p:nvGrpSpPr>
          <p:cNvPr id="66" name="Group 66"/>
          <p:cNvGrpSpPr/>
          <p:nvPr/>
        </p:nvGrpSpPr>
        <p:grpSpPr>
          <a:xfrm>
            <a:off x="7529018" y="5821040"/>
            <a:ext cx="3229965" cy="1805981"/>
            <a:chOff x="0" y="0"/>
            <a:chExt cx="4306619" cy="2407975"/>
          </a:xfrm>
        </p:grpSpPr>
        <p:grpSp>
          <p:nvGrpSpPr>
            <p:cNvPr id="67" name="Group 67"/>
            <p:cNvGrpSpPr/>
            <p:nvPr/>
          </p:nvGrpSpPr>
          <p:grpSpPr>
            <a:xfrm>
              <a:off x="4250562" y="1810891"/>
              <a:ext cx="56058" cy="597084"/>
              <a:chOff x="0" y="0"/>
              <a:chExt cx="12543" cy="133600"/>
            </a:xfrm>
          </p:grpSpPr>
          <p:sp>
            <p:nvSpPr>
              <p:cNvPr id="68" name="Freeform 68"/>
              <p:cNvSpPr/>
              <p:nvPr/>
            </p:nvSpPr>
            <p:spPr>
              <a:xfrm>
                <a:off x="0" y="0"/>
                <a:ext cx="12543" cy="133600"/>
              </a:xfrm>
              <a:custGeom>
                <a:avLst/>
                <a:gdLst/>
                <a:ahLst/>
                <a:cxnLst/>
                <a:rect l="l" t="t" r="r" b="b"/>
                <a:pathLst>
                  <a:path w="12543" h="133600">
                    <a:moveTo>
                      <a:pt x="0" y="0"/>
                    </a:moveTo>
                    <a:lnTo>
                      <a:pt x="12543" y="0"/>
                    </a:lnTo>
                    <a:lnTo>
                      <a:pt x="12543" y="133600"/>
                    </a:lnTo>
                    <a:lnTo>
                      <a:pt x="0" y="133600"/>
                    </a:lnTo>
                    <a:close/>
                  </a:path>
                </a:pathLst>
              </a:custGeom>
              <a:solidFill>
                <a:srgbClr val="000000"/>
              </a:solidFill>
            </p:spPr>
          </p:sp>
          <p:sp>
            <p:nvSpPr>
              <p:cNvPr id="69" name="TextBox 69"/>
              <p:cNvSpPr txBox="1"/>
              <p:nvPr/>
            </p:nvSpPr>
            <p:spPr>
              <a:xfrm>
                <a:off x="0" y="-38100"/>
                <a:ext cx="12543" cy="171700"/>
              </a:xfrm>
              <a:prstGeom prst="rect">
                <a:avLst/>
              </a:prstGeom>
            </p:spPr>
            <p:txBody>
              <a:bodyPr lIns="44846" tIns="44846" rIns="44846" bIns="44846" rtlCol="0" anchor="ctr"/>
              <a:lstStyle/>
              <a:p>
                <a:pPr algn="ctr">
                  <a:lnSpc>
                    <a:spcPts val="2160"/>
                  </a:lnSpc>
                </a:pPr>
                <a:endParaRPr/>
              </a:p>
            </p:txBody>
          </p:sp>
        </p:grpSp>
        <p:grpSp>
          <p:nvGrpSpPr>
            <p:cNvPr id="70" name="Group 70"/>
            <p:cNvGrpSpPr/>
            <p:nvPr/>
          </p:nvGrpSpPr>
          <p:grpSpPr>
            <a:xfrm>
              <a:off x="0" y="1810891"/>
              <a:ext cx="4306619" cy="63500"/>
              <a:chOff x="0" y="0"/>
              <a:chExt cx="963627" cy="14208"/>
            </a:xfrm>
          </p:grpSpPr>
          <p:sp>
            <p:nvSpPr>
              <p:cNvPr id="71" name="Freeform 71"/>
              <p:cNvSpPr/>
              <p:nvPr/>
            </p:nvSpPr>
            <p:spPr>
              <a:xfrm>
                <a:off x="0" y="0"/>
                <a:ext cx="963627" cy="14208"/>
              </a:xfrm>
              <a:custGeom>
                <a:avLst/>
                <a:gdLst/>
                <a:ahLst/>
                <a:cxnLst/>
                <a:rect l="l" t="t" r="r" b="b"/>
                <a:pathLst>
                  <a:path w="963627" h="14208">
                    <a:moveTo>
                      <a:pt x="0" y="0"/>
                    </a:moveTo>
                    <a:lnTo>
                      <a:pt x="963627" y="0"/>
                    </a:lnTo>
                    <a:lnTo>
                      <a:pt x="963627" y="14208"/>
                    </a:lnTo>
                    <a:lnTo>
                      <a:pt x="0" y="14208"/>
                    </a:lnTo>
                    <a:close/>
                  </a:path>
                </a:pathLst>
              </a:custGeom>
              <a:solidFill>
                <a:srgbClr val="000000"/>
              </a:solidFill>
            </p:spPr>
          </p:sp>
          <p:sp>
            <p:nvSpPr>
              <p:cNvPr id="72" name="TextBox 72"/>
              <p:cNvSpPr txBox="1"/>
              <p:nvPr/>
            </p:nvSpPr>
            <p:spPr>
              <a:xfrm>
                <a:off x="0" y="-38100"/>
                <a:ext cx="963627" cy="52308"/>
              </a:xfrm>
              <a:prstGeom prst="rect">
                <a:avLst/>
              </a:prstGeom>
            </p:spPr>
            <p:txBody>
              <a:bodyPr lIns="44846" tIns="44846" rIns="44846" bIns="44846" rtlCol="0" anchor="ctr"/>
              <a:lstStyle/>
              <a:p>
                <a:pPr algn="ctr">
                  <a:lnSpc>
                    <a:spcPts val="2160"/>
                  </a:lnSpc>
                </a:pPr>
                <a:endParaRPr/>
              </a:p>
            </p:txBody>
          </p:sp>
        </p:grpSp>
        <p:grpSp>
          <p:nvGrpSpPr>
            <p:cNvPr id="73" name="Group 73"/>
            <p:cNvGrpSpPr/>
            <p:nvPr/>
          </p:nvGrpSpPr>
          <p:grpSpPr>
            <a:xfrm>
              <a:off x="0" y="1810891"/>
              <a:ext cx="56058" cy="597084"/>
              <a:chOff x="0" y="0"/>
              <a:chExt cx="12543" cy="133600"/>
            </a:xfrm>
          </p:grpSpPr>
          <p:sp>
            <p:nvSpPr>
              <p:cNvPr id="74" name="Freeform 74"/>
              <p:cNvSpPr/>
              <p:nvPr/>
            </p:nvSpPr>
            <p:spPr>
              <a:xfrm>
                <a:off x="0" y="0"/>
                <a:ext cx="12543" cy="133600"/>
              </a:xfrm>
              <a:custGeom>
                <a:avLst/>
                <a:gdLst/>
                <a:ahLst/>
                <a:cxnLst/>
                <a:rect l="l" t="t" r="r" b="b"/>
                <a:pathLst>
                  <a:path w="12543" h="133600">
                    <a:moveTo>
                      <a:pt x="0" y="0"/>
                    </a:moveTo>
                    <a:lnTo>
                      <a:pt x="12543" y="0"/>
                    </a:lnTo>
                    <a:lnTo>
                      <a:pt x="12543" y="133600"/>
                    </a:lnTo>
                    <a:lnTo>
                      <a:pt x="0" y="133600"/>
                    </a:lnTo>
                    <a:close/>
                  </a:path>
                </a:pathLst>
              </a:custGeom>
              <a:solidFill>
                <a:srgbClr val="000000"/>
              </a:solidFill>
            </p:spPr>
          </p:sp>
          <p:sp>
            <p:nvSpPr>
              <p:cNvPr id="75" name="TextBox 75"/>
              <p:cNvSpPr txBox="1"/>
              <p:nvPr/>
            </p:nvSpPr>
            <p:spPr>
              <a:xfrm>
                <a:off x="0" y="-38100"/>
                <a:ext cx="12543" cy="171700"/>
              </a:xfrm>
              <a:prstGeom prst="rect">
                <a:avLst/>
              </a:prstGeom>
            </p:spPr>
            <p:txBody>
              <a:bodyPr lIns="44846" tIns="44846" rIns="44846" bIns="44846" rtlCol="0" anchor="ctr"/>
              <a:lstStyle/>
              <a:p>
                <a:pPr algn="ctr">
                  <a:lnSpc>
                    <a:spcPts val="2160"/>
                  </a:lnSpc>
                </a:pPr>
                <a:endParaRPr/>
              </a:p>
            </p:txBody>
          </p:sp>
        </p:grpSp>
        <p:grpSp>
          <p:nvGrpSpPr>
            <p:cNvPr id="76" name="Group 76"/>
            <p:cNvGrpSpPr/>
            <p:nvPr/>
          </p:nvGrpSpPr>
          <p:grpSpPr>
            <a:xfrm>
              <a:off x="1908165" y="0"/>
              <a:ext cx="58157" cy="1874391"/>
              <a:chOff x="0" y="0"/>
              <a:chExt cx="13013" cy="419404"/>
            </a:xfrm>
          </p:grpSpPr>
          <p:sp>
            <p:nvSpPr>
              <p:cNvPr id="77" name="Freeform 77"/>
              <p:cNvSpPr/>
              <p:nvPr/>
            </p:nvSpPr>
            <p:spPr>
              <a:xfrm>
                <a:off x="0" y="0"/>
                <a:ext cx="13013" cy="419404"/>
              </a:xfrm>
              <a:custGeom>
                <a:avLst/>
                <a:gdLst/>
                <a:ahLst/>
                <a:cxnLst/>
                <a:rect l="l" t="t" r="r" b="b"/>
                <a:pathLst>
                  <a:path w="13013" h="419404">
                    <a:moveTo>
                      <a:pt x="0" y="0"/>
                    </a:moveTo>
                    <a:lnTo>
                      <a:pt x="13013" y="0"/>
                    </a:lnTo>
                    <a:lnTo>
                      <a:pt x="13013" y="419404"/>
                    </a:lnTo>
                    <a:lnTo>
                      <a:pt x="0" y="419404"/>
                    </a:lnTo>
                    <a:close/>
                  </a:path>
                </a:pathLst>
              </a:custGeom>
              <a:solidFill>
                <a:srgbClr val="000000"/>
              </a:solidFill>
            </p:spPr>
          </p:sp>
          <p:sp>
            <p:nvSpPr>
              <p:cNvPr id="78" name="TextBox 78"/>
              <p:cNvSpPr txBox="1"/>
              <p:nvPr/>
            </p:nvSpPr>
            <p:spPr>
              <a:xfrm>
                <a:off x="0" y="-38100"/>
                <a:ext cx="13013" cy="457504"/>
              </a:xfrm>
              <a:prstGeom prst="rect">
                <a:avLst/>
              </a:prstGeom>
            </p:spPr>
            <p:txBody>
              <a:bodyPr lIns="44846" tIns="44846" rIns="44846" bIns="44846" rtlCol="0" anchor="ctr"/>
              <a:lstStyle/>
              <a:p>
                <a:pPr algn="ctr">
                  <a:lnSpc>
                    <a:spcPts val="2160"/>
                  </a:lnSpc>
                </a:pPr>
                <a:endParaRPr/>
              </a:p>
            </p:txBody>
          </p:sp>
        </p:grpSp>
      </p:grpSp>
      <p:grpSp>
        <p:nvGrpSpPr>
          <p:cNvPr id="79" name="Group 79"/>
          <p:cNvGrpSpPr/>
          <p:nvPr/>
        </p:nvGrpSpPr>
        <p:grpSpPr>
          <a:xfrm>
            <a:off x="1562025" y="2573775"/>
            <a:ext cx="9913755" cy="6960750"/>
            <a:chOff x="0" y="0"/>
            <a:chExt cx="540425" cy="379449"/>
          </a:xfrm>
        </p:grpSpPr>
        <p:sp>
          <p:nvSpPr>
            <p:cNvPr id="80" name="Freeform 80"/>
            <p:cNvSpPr/>
            <p:nvPr/>
          </p:nvSpPr>
          <p:spPr>
            <a:xfrm>
              <a:off x="0" y="0"/>
              <a:ext cx="540425" cy="379449"/>
            </a:xfrm>
            <a:custGeom>
              <a:avLst/>
              <a:gdLst/>
              <a:ahLst/>
              <a:cxnLst/>
              <a:rect l="l" t="t" r="r" b="b"/>
              <a:pathLst>
                <a:path w="540425" h="379449">
                  <a:moveTo>
                    <a:pt x="15252" y="0"/>
                  </a:moveTo>
                  <a:lnTo>
                    <a:pt x="525172" y="0"/>
                  </a:lnTo>
                  <a:cubicBezTo>
                    <a:pt x="533596" y="0"/>
                    <a:pt x="540425" y="6829"/>
                    <a:pt x="540425" y="15252"/>
                  </a:cubicBezTo>
                  <a:lnTo>
                    <a:pt x="540425" y="364196"/>
                  </a:lnTo>
                  <a:cubicBezTo>
                    <a:pt x="540425" y="372620"/>
                    <a:pt x="533596" y="379449"/>
                    <a:pt x="525172" y="379449"/>
                  </a:cubicBezTo>
                  <a:lnTo>
                    <a:pt x="15252" y="379449"/>
                  </a:lnTo>
                  <a:cubicBezTo>
                    <a:pt x="6829" y="379449"/>
                    <a:pt x="0" y="372620"/>
                    <a:pt x="0" y="364196"/>
                  </a:cubicBezTo>
                  <a:lnTo>
                    <a:pt x="0" y="15252"/>
                  </a:lnTo>
                  <a:cubicBezTo>
                    <a:pt x="0" y="6829"/>
                    <a:pt x="6829" y="0"/>
                    <a:pt x="15252" y="0"/>
                  </a:cubicBezTo>
                  <a:close/>
                </a:path>
              </a:pathLst>
            </a:custGeom>
            <a:solidFill>
              <a:srgbClr val="000000">
                <a:alpha val="0"/>
              </a:srgbClr>
            </a:solidFill>
            <a:ln w="38100" cap="rnd">
              <a:solidFill>
                <a:srgbClr val="000000"/>
              </a:solidFill>
              <a:prstDash val="solid"/>
              <a:round/>
            </a:ln>
          </p:spPr>
        </p:sp>
        <p:sp>
          <p:nvSpPr>
            <p:cNvPr id="81" name="TextBox 81"/>
            <p:cNvSpPr txBox="1"/>
            <p:nvPr/>
          </p:nvSpPr>
          <p:spPr>
            <a:xfrm>
              <a:off x="0" y="-9525"/>
              <a:ext cx="540425" cy="388974"/>
            </a:xfrm>
            <a:prstGeom prst="rect">
              <a:avLst/>
            </a:prstGeom>
          </p:spPr>
          <p:txBody>
            <a:bodyPr lIns="50800" tIns="50800" rIns="50800" bIns="50800" rtlCol="0" anchor="ctr"/>
            <a:lstStyle/>
            <a:p>
              <a:pPr algn="ctr">
                <a:lnSpc>
                  <a:spcPts val="2879"/>
                </a:lnSpc>
              </a:pPr>
              <a:endParaRPr/>
            </a:p>
          </p:txBody>
        </p:sp>
      </p:grpSp>
      <p:grpSp>
        <p:nvGrpSpPr>
          <p:cNvPr id="82" name="Group 82"/>
          <p:cNvGrpSpPr/>
          <p:nvPr/>
        </p:nvGrpSpPr>
        <p:grpSpPr>
          <a:xfrm>
            <a:off x="7088250" y="7627021"/>
            <a:ext cx="1908647" cy="1147685"/>
            <a:chOff x="0" y="0"/>
            <a:chExt cx="589089" cy="354224"/>
          </a:xfrm>
        </p:grpSpPr>
        <p:sp>
          <p:nvSpPr>
            <p:cNvPr id="83" name="Freeform 83"/>
            <p:cNvSpPr/>
            <p:nvPr/>
          </p:nvSpPr>
          <p:spPr>
            <a:xfrm>
              <a:off x="0" y="0"/>
              <a:ext cx="589089" cy="354224"/>
            </a:xfrm>
            <a:custGeom>
              <a:avLst/>
              <a:gdLst/>
              <a:ahLst/>
              <a:cxnLst/>
              <a:rect l="l" t="t" r="r" b="b"/>
              <a:pathLst>
                <a:path w="589089" h="354224">
                  <a:moveTo>
                    <a:pt x="79223" y="0"/>
                  </a:moveTo>
                  <a:lnTo>
                    <a:pt x="509865" y="0"/>
                  </a:lnTo>
                  <a:cubicBezTo>
                    <a:pt x="530877" y="0"/>
                    <a:pt x="551027" y="8347"/>
                    <a:pt x="565885" y="23204"/>
                  </a:cubicBezTo>
                  <a:cubicBezTo>
                    <a:pt x="580742" y="38061"/>
                    <a:pt x="589089" y="58212"/>
                    <a:pt x="589089" y="79223"/>
                  </a:cubicBezTo>
                  <a:lnTo>
                    <a:pt x="589089" y="275000"/>
                  </a:lnTo>
                  <a:cubicBezTo>
                    <a:pt x="589089" y="296012"/>
                    <a:pt x="580742" y="316162"/>
                    <a:pt x="565885" y="331020"/>
                  </a:cubicBezTo>
                  <a:cubicBezTo>
                    <a:pt x="551027" y="345877"/>
                    <a:pt x="530877" y="354224"/>
                    <a:pt x="509865" y="354224"/>
                  </a:cubicBezTo>
                  <a:lnTo>
                    <a:pt x="79223" y="354224"/>
                  </a:lnTo>
                  <a:cubicBezTo>
                    <a:pt x="58212" y="354224"/>
                    <a:pt x="38061" y="345877"/>
                    <a:pt x="23204" y="331020"/>
                  </a:cubicBezTo>
                  <a:cubicBezTo>
                    <a:pt x="8347" y="316162"/>
                    <a:pt x="0" y="296012"/>
                    <a:pt x="0" y="275000"/>
                  </a:cubicBezTo>
                  <a:lnTo>
                    <a:pt x="0" y="79223"/>
                  </a:lnTo>
                  <a:cubicBezTo>
                    <a:pt x="0" y="58212"/>
                    <a:pt x="8347" y="38061"/>
                    <a:pt x="23204" y="23204"/>
                  </a:cubicBezTo>
                  <a:cubicBezTo>
                    <a:pt x="38061" y="8347"/>
                    <a:pt x="58212" y="0"/>
                    <a:pt x="79223" y="0"/>
                  </a:cubicBezTo>
                  <a:close/>
                </a:path>
              </a:pathLst>
            </a:custGeom>
            <a:solidFill>
              <a:srgbClr val="000000">
                <a:alpha val="0"/>
              </a:srgbClr>
            </a:solidFill>
            <a:ln w="38100" cap="rnd">
              <a:solidFill>
                <a:srgbClr val="000000"/>
              </a:solidFill>
              <a:prstDash val="solid"/>
              <a:round/>
            </a:ln>
          </p:spPr>
        </p:sp>
        <p:sp>
          <p:nvSpPr>
            <p:cNvPr id="84" name="TextBox 84"/>
            <p:cNvSpPr txBox="1"/>
            <p:nvPr/>
          </p:nvSpPr>
          <p:spPr>
            <a:xfrm>
              <a:off x="0" y="-9525"/>
              <a:ext cx="589089" cy="36374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Building Edge List</a:t>
              </a:r>
            </a:p>
          </p:txBody>
        </p:sp>
      </p:grpSp>
      <p:grpSp>
        <p:nvGrpSpPr>
          <p:cNvPr id="85" name="Group 85"/>
          <p:cNvGrpSpPr/>
          <p:nvPr/>
        </p:nvGrpSpPr>
        <p:grpSpPr>
          <a:xfrm>
            <a:off x="9388216" y="7627021"/>
            <a:ext cx="1908647" cy="1147685"/>
            <a:chOff x="0" y="0"/>
            <a:chExt cx="589089" cy="354224"/>
          </a:xfrm>
        </p:grpSpPr>
        <p:sp>
          <p:nvSpPr>
            <p:cNvPr id="86" name="Freeform 86"/>
            <p:cNvSpPr/>
            <p:nvPr/>
          </p:nvSpPr>
          <p:spPr>
            <a:xfrm>
              <a:off x="0" y="0"/>
              <a:ext cx="589089" cy="354224"/>
            </a:xfrm>
            <a:custGeom>
              <a:avLst/>
              <a:gdLst/>
              <a:ahLst/>
              <a:cxnLst/>
              <a:rect l="l" t="t" r="r" b="b"/>
              <a:pathLst>
                <a:path w="589089" h="354224">
                  <a:moveTo>
                    <a:pt x="79223" y="0"/>
                  </a:moveTo>
                  <a:lnTo>
                    <a:pt x="509865" y="0"/>
                  </a:lnTo>
                  <a:cubicBezTo>
                    <a:pt x="530877" y="0"/>
                    <a:pt x="551027" y="8347"/>
                    <a:pt x="565885" y="23204"/>
                  </a:cubicBezTo>
                  <a:cubicBezTo>
                    <a:pt x="580742" y="38061"/>
                    <a:pt x="589089" y="58212"/>
                    <a:pt x="589089" y="79223"/>
                  </a:cubicBezTo>
                  <a:lnTo>
                    <a:pt x="589089" y="275000"/>
                  </a:lnTo>
                  <a:cubicBezTo>
                    <a:pt x="589089" y="296012"/>
                    <a:pt x="580742" y="316162"/>
                    <a:pt x="565885" y="331020"/>
                  </a:cubicBezTo>
                  <a:cubicBezTo>
                    <a:pt x="551027" y="345877"/>
                    <a:pt x="530877" y="354224"/>
                    <a:pt x="509865" y="354224"/>
                  </a:cubicBezTo>
                  <a:lnTo>
                    <a:pt x="79223" y="354224"/>
                  </a:lnTo>
                  <a:cubicBezTo>
                    <a:pt x="58212" y="354224"/>
                    <a:pt x="38061" y="345877"/>
                    <a:pt x="23204" y="331020"/>
                  </a:cubicBezTo>
                  <a:cubicBezTo>
                    <a:pt x="8347" y="316162"/>
                    <a:pt x="0" y="296012"/>
                    <a:pt x="0" y="275000"/>
                  </a:cubicBezTo>
                  <a:lnTo>
                    <a:pt x="0" y="79223"/>
                  </a:lnTo>
                  <a:cubicBezTo>
                    <a:pt x="0" y="58212"/>
                    <a:pt x="8347" y="38061"/>
                    <a:pt x="23204" y="23204"/>
                  </a:cubicBezTo>
                  <a:cubicBezTo>
                    <a:pt x="38061" y="8347"/>
                    <a:pt x="58212" y="0"/>
                    <a:pt x="79223" y="0"/>
                  </a:cubicBezTo>
                  <a:close/>
                </a:path>
              </a:pathLst>
            </a:custGeom>
            <a:solidFill>
              <a:srgbClr val="000000">
                <a:alpha val="0"/>
              </a:srgbClr>
            </a:solidFill>
            <a:ln w="38100" cap="rnd">
              <a:solidFill>
                <a:srgbClr val="000000"/>
              </a:solidFill>
              <a:prstDash val="solid"/>
              <a:round/>
            </a:ln>
          </p:spPr>
        </p:sp>
        <p:sp>
          <p:nvSpPr>
            <p:cNvPr id="87" name="TextBox 87"/>
            <p:cNvSpPr txBox="1"/>
            <p:nvPr/>
          </p:nvSpPr>
          <p:spPr>
            <a:xfrm>
              <a:off x="0" y="-9525"/>
              <a:ext cx="589089" cy="36374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Computes Item Counts</a:t>
              </a:r>
            </a:p>
          </p:txBody>
        </p:sp>
      </p:grpSp>
      <p:sp>
        <p:nvSpPr>
          <p:cNvPr id="88" name="TextBox 88"/>
          <p:cNvSpPr txBox="1"/>
          <p:nvPr/>
        </p:nvSpPr>
        <p:spPr>
          <a:xfrm>
            <a:off x="10006938" y="5210135"/>
            <a:ext cx="1016700" cy="1209675"/>
          </a:xfrm>
          <a:prstGeom prst="rect">
            <a:avLst/>
          </a:prstGeom>
        </p:spPr>
        <p:txBody>
          <a:bodyPr lIns="0" tIns="0" rIns="0" bIns="0" rtlCol="0" anchor="t">
            <a:spAutoFit/>
          </a:bodyPr>
          <a:lstStyle/>
          <a:p>
            <a:pPr algn="ctr">
              <a:lnSpc>
                <a:spcPts val="1917"/>
              </a:lnSpc>
            </a:pPr>
            <a:r>
              <a:rPr lang="en-US" sz="1597">
                <a:solidFill>
                  <a:srgbClr val="000000"/>
                </a:solidFill>
                <a:latin typeface="Times New Roman"/>
                <a:ea typeface="Times New Roman"/>
                <a:cs typeface="Times New Roman"/>
                <a:sym typeface="Times New Roman"/>
              </a:rPr>
              <a:t>Popularity</a:t>
            </a:r>
          </a:p>
          <a:p>
            <a:pPr algn="ctr">
              <a:lnSpc>
                <a:spcPts val="1917"/>
              </a:lnSpc>
              <a:spcBef>
                <a:spcPct val="0"/>
              </a:spcBef>
            </a:pPr>
            <a:r>
              <a:rPr lang="en-US" sz="1597">
                <a:solidFill>
                  <a:srgbClr val="000000"/>
                </a:solidFill>
                <a:latin typeface="Times New Roman"/>
                <a:ea typeface="Times New Roman"/>
                <a:cs typeface="Times New Roman"/>
                <a:sym typeface="Times New Roman"/>
              </a:rPr>
              <a:t> / Degree Centrality scalar per food</a:t>
            </a:r>
          </a:p>
        </p:txBody>
      </p:sp>
      <p:sp>
        <p:nvSpPr>
          <p:cNvPr id="89" name="Freeform 89"/>
          <p:cNvSpPr/>
          <p:nvPr/>
        </p:nvSpPr>
        <p:spPr>
          <a:xfrm>
            <a:off x="11475780"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0" name="TextBox 90"/>
          <p:cNvSpPr txBox="1"/>
          <p:nvPr/>
        </p:nvSpPr>
        <p:spPr>
          <a:xfrm>
            <a:off x="11549407" y="3248801"/>
            <a:ext cx="1156036" cy="1685925"/>
          </a:xfrm>
          <a:prstGeom prst="rect">
            <a:avLst/>
          </a:prstGeom>
        </p:spPr>
        <p:txBody>
          <a:bodyPr lIns="0" tIns="0" rIns="0" bIns="0" rtlCol="0" anchor="t">
            <a:spAutoFit/>
          </a:bodyPr>
          <a:lstStyle/>
          <a:p>
            <a:pPr algn="ctr">
              <a:lnSpc>
                <a:spcPts val="1917"/>
              </a:lnSpc>
            </a:pPr>
            <a:r>
              <a:rPr lang="en-US" sz="1597">
                <a:solidFill>
                  <a:srgbClr val="000000"/>
                </a:solidFill>
                <a:latin typeface="Times New Roman"/>
                <a:ea typeface="Times New Roman"/>
                <a:cs typeface="Times New Roman"/>
                <a:sym typeface="Times New Roman"/>
              </a:rPr>
              <a:t>Item Nutrition Vectors,</a:t>
            </a:r>
          </a:p>
          <a:p>
            <a:pPr algn="ctr">
              <a:lnSpc>
                <a:spcPts val="1917"/>
              </a:lnSpc>
              <a:spcBef>
                <a:spcPct val="0"/>
              </a:spcBef>
            </a:pPr>
            <a:r>
              <a:rPr lang="en-US" sz="1597">
                <a:solidFill>
                  <a:srgbClr val="000000"/>
                </a:solidFill>
                <a:latin typeface="Times New Roman"/>
                <a:ea typeface="Times New Roman"/>
                <a:cs typeface="Times New Roman"/>
                <a:sym typeface="Times New Roman"/>
              </a:rPr>
              <a:t>Text Embedding and Centrality Scalars</a:t>
            </a:r>
          </a:p>
        </p:txBody>
      </p:sp>
      <p:grpSp>
        <p:nvGrpSpPr>
          <p:cNvPr id="91" name="Group 91"/>
          <p:cNvGrpSpPr/>
          <p:nvPr/>
        </p:nvGrpSpPr>
        <p:grpSpPr>
          <a:xfrm>
            <a:off x="12969150" y="4569658"/>
            <a:ext cx="2004150" cy="1147685"/>
            <a:chOff x="0" y="0"/>
            <a:chExt cx="618565" cy="354224"/>
          </a:xfrm>
        </p:grpSpPr>
        <p:sp>
          <p:nvSpPr>
            <p:cNvPr id="92" name="Freeform 92"/>
            <p:cNvSpPr/>
            <p:nvPr/>
          </p:nvSpPr>
          <p:spPr>
            <a:xfrm>
              <a:off x="0" y="0"/>
              <a:ext cx="618565" cy="354224"/>
            </a:xfrm>
            <a:custGeom>
              <a:avLst/>
              <a:gdLst/>
              <a:ahLst/>
              <a:cxnLst/>
              <a:rect l="l" t="t" r="r" b="b"/>
              <a:pathLst>
                <a:path w="618565" h="354224">
                  <a:moveTo>
                    <a:pt x="75448" y="0"/>
                  </a:moveTo>
                  <a:lnTo>
                    <a:pt x="543117" y="0"/>
                  </a:lnTo>
                  <a:cubicBezTo>
                    <a:pt x="563127" y="0"/>
                    <a:pt x="582317" y="7949"/>
                    <a:pt x="596467" y="22098"/>
                  </a:cubicBezTo>
                  <a:cubicBezTo>
                    <a:pt x="610616" y="36248"/>
                    <a:pt x="618565" y="55438"/>
                    <a:pt x="618565" y="75448"/>
                  </a:cubicBezTo>
                  <a:lnTo>
                    <a:pt x="618565" y="278776"/>
                  </a:lnTo>
                  <a:cubicBezTo>
                    <a:pt x="618565" y="298786"/>
                    <a:pt x="610616" y="317976"/>
                    <a:pt x="596467" y="332125"/>
                  </a:cubicBezTo>
                  <a:cubicBezTo>
                    <a:pt x="582317" y="346275"/>
                    <a:pt x="563127" y="354224"/>
                    <a:pt x="543117" y="354224"/>
                  </a:cubicBezTo>
                  <a:lnTo>
                    <a:pt x="75448" y="354224"/>
                  </a:lnTo>
                  <a:cubicBezTo>
                    <a:pt x="55438" y="354224"/>
                    <a:pt x="36248" y="346275"/>
                    <a:pt x="22098" y="332125"/>
                  </a:cubicBezTo>
                  <a:cubicBezTo>
                    <a:pt x="7949" y="317976"/>
                    <a:pt x="0" y="298786"/>
                    <a:pt x="0" y="278776"/>
                  </a:cubicBezTo>
                  <a:lnTo>
                    <a:pt x="0" y="75448"/>
                  </a:lnTo>
                  <a:cubicBezTo>
                    <a:pt x="0" y="55438"/>
                    <a:pt x="7949" y="36248"/>
                    <a:pt x="22098" y="22098"/>
                  </a:cubicBezTo>
                  <a:cubicBezTo>
                    <a:pt x="36248" y="7949"/>
                    <a:pt x="55438" y="0"/>
                    <a:pt x="75448" y="0"/>
                  </a:cubicBezTo>
                  <a:close/>
                </a:path>
              </a:pathLst>
            </a:custGeom>
            <a:solidFill>
              <a:srgbClr val="000000">
                <a:alpha val="0"/>
              </a:srgbClr>
            </a:solidFill>
            <a:ln w="38100" cap="rnd">
              <a:solidFill>
                <a:srgbClr val="000000"/>
              </a:solidFill>
              <a:prstDash val="solid"/>
              <a:round/>
            </a:ln>
          </p:spPr>
        </p:sp>
        <p:sp>
          <p:nvSpPr>
            <p:cNvPr id="93" name="TextBox 93"/>
            <p:cNvSpPr txBox="1"/>
            <p:nvPr/>
          </p:nvSpPr>
          <p:spPr>
            <a:xfrm>
              <a:off x="0" y="-9525"/>
              <a:ext cx="618565" cy="36374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Unified Item Representation</a:t>
              </a:r>
            </a:p>
          </p:txBody>
        </p:sp>
      </p:grpSp>
      <p:grpSp>
        <p:nvGrpSpPr>
          <p:cNvPr id="94" name="Group 94"/>
          <p:cNvGrpSpPr/>
          <p:nvPr/>
        </p:nvGrpSpPr>
        <p:grpSpPr>
          <a:xfrm>
            <a:off x="12497214" y="5717342"/>
            <a:ext cx="3229965" cy="1964923"/>
            <a:chOff x="0" y="0"/>
            <a:chExt cx="4306619" cy="2619897"/>
          </a:xfrm>
        </p:grpSpPr>
        <p:grpSp>
          <p:nvGrpSpPr>
            <p:cNvPr id="95" name="Group 95"/>
            <p:cNvGrpSpPr/>
            <p:nvPr/>
          </p:nvGrpSpPr>
          <p:grpSpPr>
            <a:xfrm>
              <a:off x="4250562" y="1970265"/>
              <a:ext cx="56058" cy="649632"/>
              <a:chOff x="0" y="0"/>
              <a:chExt cx="12543" cy="145358"/>
            </a:xfrm>
          </p:grpSpPr>
          <p:sp>
            <p:nvSpPr>
              <p:cNvPr id="96" name="Freeform 96"/>
              <p:cNvSpPr/>
              <p:nvPr/>
            </p:nvSpPr>
            <p:spPr>
              <a:xfrm>
                <a:off x="0" y="0"/>
                <a:ext cx="12543" cy="145358"/>
              </a:xfrm>
              <a:custGeom>
                <a:avLst/>
                <a:gdLst/>
                <a:ahLst/>
                <a:cxnLst/>
                <a:rect l="l" t="t" r="r" b="b"/>
                <a:pathLst>
                  <a:path w="12543" h="145358">
                    <a:moveTo>
                      <a:pt x="0" y="0"/>
                    </a:moveTo>
                    <a:lnTo>
                      <a:pt x="12543" y="0"/>
                    </a:lnTo>
                    <a:lnTo>
                      <a:pt x="12543" y="145358"/>
                    </a:lnTo>
                    <a:lnTo>
                      <a:pt x="0" y="145358"/>
                    </a:lnTo>
                    <a:close/>
                  </a:path>
                </a:pathLst>
              </a:custGeom>
              <a:solidFill>
                <a:srgbClr val="000000"/>
              </a:solidFill>
            </p:spPr>
          </p:sp>
          <p:sp>
            <p:nvSpPr>
              <p:cNvPr id="97" name="TextBox 97"/>
              <p:cNvSpPr txBox="1"/>
              <p:nvPr/>
            </p:nvSpPr>
            <p:spPr>
              <a:xfrm>
                <a:off x="0" y="-38100"/>
                <a:ext cx="12543" cy="183458"/>
              </a:xfrm>
              <a:prstGeom prst="rect">
                <a:avLst/>
              </a:prstGeom>
            </p:spPr>
            <p:txBody>
              <a:bodyPr lIns="44846" tIns="44846" rIns="44846" bIns="44846" rtlCol="0" anchor="ctr"/>
              <a:lstStyle/>
              <a:p>
                <a:pPr algn="ctr">
                  <a:lnSpc>
                    <a:spcPts val="2160"/>
                  </a:lnSpc>
                </a:pPr>
                <a:endParaRPr/>
              </a:p>
            </p:txBody>
          </p:sp>
        </p:grpSp>
        <p:grpSp>
          <p:nvGrpSpPr>
            <p:cNvPr id="98" name="Group 98"/>
            <p:cNvGrpSpPr/>
            <p:nvPr/>
          </p:nvGrpSpPr>
          <p:grpSpPr>
            <a:xfrm>
              <a:off x="0" y="1970265"/>
              <a:ext cx="4306619" cy="69089"/>
              <a:chOff x="0" y="0"/>
              <a:chExt cx="963627" cy="15459"/>
            </a:xfrm>
          </p:grpSpPr>
          <p:sp>
            <p:nvSpPr>
              <p:cNvPr id="99" name="Freeform 99"/>
              <p:cNvSpPr/>
              <p:nvPr/>
            </p:nvSpPr>
            <p:spPr>
              <a:xfrm>
                <a:off x="0" y="0"/>
                <a:ext cx="963627" cy="15459"/>
              </a:xfrm>
              <a:custGeom>
                <a:avLst/>
                <a:gdLst/>
                <a:ahLst/>
                <a:cxnLst/>
                <a:rect l="l" t="t" r="r" b="b"/>
                <a:pathLst>
                  <a:path w="963627" h="15459">
                    <a:moveTo>
                      <a:pt x="0" y="0"/>
                    </a:moveTo>
                    <a:lnTo>
                      <a:pt x="963627" y="0"/>
                    </a:lnTo>
                    <a:lnTo>
                      <a:pt x="963627" y="15459"/>
                    </a:lnTo>
                    <a:lnTo>
                      <a:pt x="0" y="15459"/>
                    </a:lnTo>
                    <a:close/>
                  </a:path>
                </a:pathLst>
              </a:custGeom>
              <a:solidFill>
                <a:srgbClr val="000000"/>
              </a:solidFill>
            </p:spPr>
          </p:sp>
          <p:sp>
            <p:nvSpPr>
              <p:cNvPr id="100" name="TextBox 100"/>
              <p:cNvSpPr txBox="1"/>
              <p:nvPr/>
            </p:nvSpPr>
            <p:spPr>
              <a:xfrm>
                <a:off x="0" y="-38100"/>
                <a:ext cx="963627" cy="53559"/>
              </a:xfrm>
              <a:prstGeom prst="rect">
                <a:avLst/>
              </a:prstGeom>
            </p:spPr>
            <p:txBody>
              <a:bodyPr lIns="44846" tIns="44846" rIns="44846" bIns="44846" rtlCol="0" anchor="ctr"/>
              <a:lstStyle/>
              <a:p>
                <a:pPr algn="ctr">
                  <a:lnSpc>
                    <a:spcPts val="2160"/>
                  </a:lnSpc>
                </a:pPr>
                <a:endParaRPr/>
              </a:p>
            </p:txBody>
          </p:sp>
        </p:grpSp>
        <p:grpSp>
          <p:nvGrpSpPr>
            <p:cNvPr id="101" name="Group 101"/>
            <p:cNvGrpSpPr/>
            <p:nvPr/>
          </p:nvGrpSpPr>
          <p:grpSpPr>
            <a:xfrm>
              <a:off x="0" y="1970265"/>
              <a:ext cx="56058" cy="649632"/>
              <a:chOff x="0" y="0"/>
              <a:chExt cx="12543" cy="145358"/>
            </a:xfrm>
          </p:grpSpPr>
          <p:sp>
            <p:nvSpPr>
              <p:cNvPr id="102" name="Freeform 102"/>
              <p:cNvSpPr/>
              <p:nvPr/>
            </p:nvSpPr>
            <p:spPr>
              <a:xfrm>
                <a:off x="0" y="0"/>
                <a:ext cx="12543" cy="145358"/>
              </a:xfrm>
              <a:custGeom>
                <a:avLst/>
                <a:gdLst/>
                <a:ahLst/>
                <a:cxnLst/>
                <a:rect l="l" t="t" r="r" b="b"/>
                <a:pathLst>
                  <a:path w="12543" h="145358">
                    <a:moveTo>
                      <a:pt x="0" y="0"/>
                    </a:moveTo>
                    <a:lnTo>
                      <a:pt x="12543" y="0"/>
                    </a:lnTo>
                    <a:lnTo>
                      <a:pt x="12543" y="145358"/>
                    </a:lnTo>
                    <a:lnTo>
                      <a:pt x="0" y="145358"/>
                    </a:lnTo>
                    <a:close/>
                  </a:path>
                </a:pathLst>
              </a:custGeom>
              <a:solidFill>
                <a:srgbClr val="000000"/>
              </a:solidFill>
            </p:spPr>
          </p:sp>
          <p:sp>
            <p:nvSpPr>
              <p:cNvPr id="103" name="TextBox 103"/>
              <p:cNvSpPr txBox="1"/>
              <p:nvPr/>
            </p:nvSpPr>
            <p:spPr>
              <a:xfrm>
                <a:off x="0" y="-38100"/>
                <a:ext cx="12543" cy="183458"/>
              </a:xfrm>
              <a:prstGeom prst="rect">
                <a:avLst/>
              </a:prstGeom>
            </p:spPr>
            <p:txBody>
              <a:bodyPr lIns="44846" tIns="44846" rIns="44846" bIns="44846" rtlCol="0" anchor="ctr"/>
              <a:lstStyle/>
              <a:p>
                <a:pPr algn="ctr">
                  <a:lnSpc>
                    <a:spcPts val="2160"/>
                  </a:lnSpc>
                </a:pPr>
                <a:endParaRPr/>
              </a:p>
            </p:txBody>
          </p:sp>
        </p:grpSp>
        <p:grpSp>
          <p:nvGrpSpPr>
            <p:cNvPr id="104" name="Group 104"/>
            <p:cNvGrpSpPr/>
            <p:nvPr/>
          </p:nvGrpSpPr>
          <p:grpSpPr>
            <a:xfrm>
              <a:off x="1908165" y="0"/>
              <a:ext cx="58157" cy="2039353"/>
              <a:chOff x="0" y="0"/>
              <a:chExt cx="13013" cy="456315"/>
            </a:xfrm>
          </p:grpSpPr>
          <p:sp>
            <p:nvSpPr>
              <p:cNvPr id="105" name="Freeform 105"/>
              <p:cNvSpPr/>
              <p:nvPr/>
            </p:nvSpPr>
            <p:spPr>
              <a:xfrm>
                <a:off x="0" y="0"/>
                <a:ext cx="13013" cy="456315"/>
              </a:xfrm>
              <a:custGeom>
                <a:avLst/>
                <a:gdLst/>
                <a:ahLst/>
                <a:cxnLst/>
                <a:rect l="l" t="t" r="r" b="b"/>
                <a:pathLst>
                  <a:path w="13013" h="456315">
                    <a:moveTo>
                      <a:pt x="0" y="0"/>
                    </a:moveTo>
                    <a:lnTo>
                      <a:pt x="13013" y="0"/>
                    </a:lnTo>
                    <a:lnTo>
                      <a:pt x="13013" y="456315"/>
                    </a:lnTo>
                    <a:lnTo>
                      <a:pt x="0" y="456315"/>
                    </a:lnTo>
                    <a:close/>
                  </a:path>
                </a:pathLst>
              </a:custGeom>
              <a:solidFill>
                <a:srgbClr val="000000"/>
              </a:solidFill>
            </p:spPr>
          </p:sp>
          <p:sp>
            <p:nvSpPr>
              <p:cNvPr id="106" name="TextBox 106"/>
              <p:cNvSpPr txBox="1"/>
              <p:nvPr/>
            </p:nvSpPr>
            <p:spPr>
              <a:xfrm>
                <a:off x="0" y="-38100"/>
                <a:ext cx="13013" cy="494415"/>
              </a:xfrm>
              <a:prstGeom prst="rect">
                <a:avLst/>
              </a:prstGeom>
            </p:spPr>
            <p:txBody>
              <a:bodyPr lIns="44846" tIns="44846" rIns="44846" bIns="44846" rtlCol="0" anchor="ctr"/>
              <a:lstStyle/>
              <a:p>
                <a:pPr algn="ctr">
                  <a:lnSpc>
                    <a:spcPts val="2160"/>
                  </a:lnSpc>
                </a:pPr>
                <a:endParaRPr/>
              </a:p>
            </p:txBody>
          </p:sp>
        </p:grpSp>
      </p:grpSp>
      <p:grpSp>
        <p:nvGrpSpPr>
          <p:cNvPr id="107" name="Group 107"/>
          <p:cNvGrpSpPr/>
          <p:nvPr/>
        </p:nvGrpSpPr>
        <p:grpSpPr>
          <a:xfrm>
            <a:off x="11619075" y="7682265"/>
            <a:ext cx="2215070" cy="1717029"/>
            <a:chOff x="0" y="0"/>
            <a:chExt cx="683664" cy="529947"/>
          </a:xfrm>
        </p:grpSpPr>
        <p:sp>
          <p:nvSpPr>
            <p:cNvPr id="108" name="Freeform 108"/>
            <p:cNvSpPr/>
            <p:nvPr/>
          </p:nvSpPr>
          <p:spPr>
            <a:xfrm>
              <a:off x="0" y="0"/>
              <a:ext cx="683664" cy="529947"/>
            </a:xfrm>
            <a:custGeom>
              <a:avLst/>
              <a:gdLst/>
              <a:ahLst/>
              <a:cxnLst/>
              <a:rect l="l" t="t" r="r" b="b"/>
              <a:pathLst>
                <a:path w="683664" h="529947">
                  <a:moveTo>
                    <a:pt x="68264" y="0"/>
                  </a:moveTo>
                  <a:lnTo>
                    <a:pt x="615400" y="0"/>
                  </a:lnTo>
                  <a:cubicBezTo>
                    <a:pt x="633504" y="0"/>
                    <a:pt x="650868" y="7192"/>
                    <a:pt x="663670" y="19994"/>
                  </a:cubicBezTo>
                  <a:cubicBezTo>
                    <a:pt x="676472" y="32796"/>
                    <a:pt x="683664" y="50159"/>
                    <a:pt x="683664" y="68264"/>
                  </a:cubicBezTo>
                  <a:lnTo>
                    <a:pt x="683664" y="461683"/>
                  </a:lnTo>
                  <a:cubicBezTo>
                    <a:pt x="683664" y="479788"/>
                    <a:pt x="676472" y="497151"/>
                    <a:pt x="663670" y="509953"/>
                  </a:cubicBezTo>
                  <a:cubicBezTo>
                    <a:pt x="650868" y="522755"/>
                    <a:pt x="633504" y="529947"/>
                    <a:pt x="615400" y="529947"/>
                  </a:cubicBezTo>
                  <a:lnTo>
                    <a:pt x="68264" y="529947"/>
                  </a:lnTo>
                  <a:cubicBezTo>
                    <a:pt x="50159" y="529947"/>
                    <a:pt x="32796" y="522755"/>
                    <a:pt x="19994" y="509953"/>
                  </a:cubicBezTo>
                  <a:cubicBezTo>
                    <a:pt x="7192" y="497151"/>
                    <a:pt x="0" y="479788"/>
                    <a:pt x="0" y="461683"/>
                  </a:cubicBezTo>
                  <a:lnTo>
                    <a:pt x="0" y="68264"/>
                  </a:lnTo>
                  <a:cubicBezTo>
                    <a:pt x="0" y="50159"/>
                    <a:pt x="7192" y="32796"/>
                    <a:pt x="19994" y="19994"/>
                  </a:cubicBezTo>
                  <a:cubicBezTo>
                    <a:pt x="32796" y="7192"/>
                    <a:pt x="50159" y="0"/>
                    <a:pt x="68264" y="0"/>
                  </a:cubicBezTo>
                  <a:close/>
                </a:path>
              </a:pathLst>
            </a:custGeom>
            <a:solidFill>
              <a:srgbClr val="000000">
                <a:alpha val="0"/>
              </a:srgbClr>
            </a:solidFill>
            <a:ln w="38100" cap="rnd">
              <a:solidFill>
                <a:srgbClr val="000000"/>
              </a:solidFill>
              <a:prstDash val="solid"/>
              <a:round/>
            </a:ln>
          </p:spPr>
        </p:sp>
        <p:sp>
          <p:nvSpPr>
            <p:cNvPr id="109" name="TextBox 109"/>
            <p:cNvSpPr txBox="1"/>
            <p:nvPr/>
          </p:nvSpPr>
          <p:spPr>
            <a:xfrm>
              <a:off x="0" y="-9525"/>
              <a:ext cx="683664" cy="539472"/>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Concatenation and Normalization</a:t>
              </a:r>
            </a:p>
          </p:txBody>
        </p:sp>
      </p:grpSp>
      <p:grpSp>
        <p:nvGrpSpPr>
          <p:cNvPr id="110" name="Group 110"/>
          <p:cNvGrpSpPr/>
          <p:nvPr/>
        </p:nvGrpSpPr>
        <p:grpSpPr>
          <a:xfrm>
            <a:off x="14466432" y="7682265"/>
            <a:ext cx="2215070" cy="1717029"/>
            <a:chOff x="0" y="0"/>
            <a:chExt cx="683664" cy="529947"/>
          </a:xfrm>
        </p:grpSpPr>
        <p:sp>
          <p:nvSpPr>
            <p:cNvPr id="111" name="Freeform 111"/>
            <p:cNvSpPr/>
            <p:nvPr/>
          </p:nvSpPr>
          <p:spPr>
            <a:xfrm>
              <a:off x="0" y="0"/>
              <a:ext cx="683664" cy="529947"/>
            </a:xfrm>
            <a:custGeom>
              <a:avLst/>
              <a:gdLst/>
              <a:ahLst/>
              <a:cxnLst/>
              <a:rect l="l" t="t" r="r" b="b"/>
              <a:pathLst>
                <a:path w="683664" h="529947">
                  <a:moveTo>
                    <a:pt x="68264" y="0"/>
                  </a:moveTo>
                  <a:lnTo>
                    <a:pt x="615400" y="0"/>
                  </a:lnTo>
                  <a:cubicBezTo>
                    <a:pt x="633504" y="0"/>
                    <a:pt x="650868" y="7192"/>
                    <a:pt x="663670" y="19994"/>
                  </a:cubicBezTo>
                  <a:cubicBezTo>
                    <a:pt x="676472" y="32796"/>
                    <a:pt x="683664" y="50159"/>
                    <a:pt x="683664" y="68264"/>
                  </a:cubicBezTo>
                  <a:lnTo>
                    <a:pt x="683664" y="461683"/>
                  </a:lnTo>
                  <a:cubicBezTo>
                    <a:pt x="683664" y="479788"/>
                    <a:pt x="676472" y="497151"/>
                    <a:pt x="663670" y="509953"/>
                  </a:cubicBezTo>
                  <a:cubicBezTo>
                    <a:pt x="650868" y="522755"/>
                    <a:pt x="633504" y="529947"/>
                    <a:pt x="615400" y="529947"/>
                  </a:cubicBezTo>
                  <a:lnTo>
                    <a:pt x="68264" y="529947"/>
                  </a:lnTo>
                  <a:cubicBezTo>
                    <a:pt x="50159" y="529947"/>
                    <a:pt x="32796" y="522755"/>
                    <a:pt x="19994" y="509953"/>
                  </a:cubicBezTo>
                  <a:cubicBezTo>
                    <a:pt x="7192" y="497151"/>
                    <a:pt x="0" y="479788"/>
                    <a:pt x="0" y="461683"/>
                  </a:cubicBezTo>
                  <a:lnTo>
                    <a:pt x="0" y="68264"/>
                  </a:lnTo>
                  <a:cubicBezTo>
                    <a:pt x="0" y="50159"/>
                    <a:pt x="7192" y="32796"/>
                    <a:pt x="19994" y="19994"/>
                  </a:cubicBezTo>
                  <a:cubicBezTo>
                    <a:pt x="32796" y="7192"/>
                    <a:pt x="50159" y="0"/>
                    <a:pt x="68264" y="0"/>
                  </a:cubicBezTo>
                  <a:close/>
                </a:path>
              </a:pathLst>
            </a:custGeom>
            <a:solidFill>
              <a:srgbClr val="000000">
                <a:alpha val="0"/>
              </a:srgbClr>
            </a:solidFill>
            <a:ln w="38100" cap="rnd">
              <a:solidFill>
                <a:srgbClr val="000000"/>
              </a:solidFill>
              <a:prstDash val="solid"/>
              <a:round/>
            </a:ln>
          </p:spPr>
        </p:sp>
        <p:sp>
          <p:nvSpPr>
            <p:cNvPr id="112" name="TextBox 112"/>
            <p:cNvSpPr txBox="1"/>
            <p:nvPr/>
          </p:nvSpPr>
          <p:spPr>
            <a:xfrm>
              <a:off x="0" y="-9525"/>
              <a:ext cx="683664" cy="539472"/>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Generating the Final, Merged Embedding Matrix</a:t>
              </a:r>
            </a:p>
          </p:txBody>
        </p:sp>
      </p:grpSp>
      <p:grpSp>
        <p:nvGrpSpPr>
          <p:cNvPr id="113" name="Group 113"/>
          <p:cNvGrpSpPr/>
          <p:nvPr/>
        </p:nvGrpSpPr>
        <p:grpSpPr>
          <a:xfrm>
            <a:off x="14973300" y="5065026"/>
            <a:ext cx="4251944" cy="78474"/>
            <a:chOff x="0" y="0"/>
            <a:chExt cx="1119854" cy="20668"/>
          </a:xfrm>
        </p:grpSpPr>
        <p:sp>
          <p:nvSpPr>
            <p:cNvPr id="114" name="Freeform 114"/>
            <p:cNvSpPr/>
            <p:nvPr/>
          </p:nvSpPr>
          <p:spPr>
            <a:xfrm>
              <a:off x="0" y="0"/>
              <a:ext cx="1119854" cy="20668"/>
            </a:xfrm>
            <a:custGeom>
              <a:avLst/>
              <a:gdLst/>
              <a:ahLst/>
              <a:cxnLst/>
              <a:rect l="l" t="t" r="r" b="b"/>
              <a:pathLst>
                <a:path w="1119854" h="20668">
                  <a:moveTo>
                    <a:pt x="0" y="0"/>
                  </a:moveTo>
                  <a:lnTo>
                    <a:pt x="1119854" y="0"/>
                  </a:lnTo>
                  <a:lnTo>
                    <a:pt x="1119854" y="20668"/>
                  </a:lnTo>
                  <a:lnTo>
                    <a:pt x="0" y="20668"/>
                  </a:lnTo>
                  <a:close/>
                </a:path>
              </a:pathLst>
            </a:custGeom>
            <a:solidFill>
              <a:srgbClr val="000000"/>
            </a:solidFill>
          </p:spPr>
        </p:sp>
        <p:sp>
          <p:nvSpPr>
            <p:cNvPr id="115" name="TextBox 115"/>
            <p:cNvSpPr txBox="1"/>
            <p:nvPr/>
          </p:nvSpPr>
          <p:spPr>
            <a:xfrm>
              <a:off x="0" y="-19050"/>
              <a:ext cx="1119854" cy="39718"/>
            </a:xfrm>
            <a:prstGeom prst="rect">
              <a:avLst/>
            </a:prstGeom>
          </p:spPr>
          <p:txBody>
            <a:bodyPr lIns="50800" tIns="50800" rIns="50800" bIns="50800" rtlCol="0" anchor="ctr"/>
            <a:lstStyle/>
            <a:p>
              <a:pPr algn="ctr">
                <a:lnSpc>
                  <a:spcPts val="2160"/>
                </a:lnSpc>
              </a:pPr>
              <a:endParaRPr/>
            </a:p>
          </p:txBody>
        </p:sp>
      </p:grpSp>
      <p:sp>
        <p:nvSpPr>
          <p:cNvPr id="116" name="TextBox 116"/>
          <p:cNvSpPr txBox="1"/>
          <p:nvPr/>
        </p:nvSpPr>
        <p:spPr>
          <a:xfrm>
            <a:off x="15573375" y="3963176"/>
            <a:ext cx="1456733" cy="971550"/>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Unified, Normalized Item Vectors for Cosine Similarity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99488"/>
            <a:ext cx="6172200" cy="1988550"/>
            <a:chOff x="0" y="0"/>
            <a:chExt cx="8229600" cy="2651400"/>
          </a:xfrm>
        </p:grpSpPr>
        <p:sp>
          <p:nvSpPr>
            <p:cNvPr id="3" name="Freeform 3"/>
            <p:cNvSpPr/>
            <p:nvPr/>
          </p:nvSpPr>
          <p:spPr>
            <a:xfrm>
              <a:off x="0" y="0"/>
              <a:ext cx="8229600" cy="2651400"/>
            </a:xfrm>
            <a:custGeom>
              <a:avLst/>
              <a:gdLst/>
              <a:ahLst/>
              <a:cxnLst/>
              <a:rect l="l" t="t" r="r" b="b"/>
              <a:pathLst>
                <a:path w="8229600" h="2651400">
                  <a:moveTo>
                    <a:pt x="0" y="0"/>
                  </a:moveTo>
                  <a:lnTo>
                    <a:pt x="8229600" y="0"/>
                  </a:lnTo>
                  <a:lnTo>
                    <a:pt x="8229600" y="2651400"/>
                  </a:lnTo>
                  <a:lnTo>
                    <a:pt x="0" y="2651400"/>
                  </a:lnTo>
                  <a:close/>
                </a:path>
              </a:pathLst>
            </a:custGeom>
            <a:solidFill>
              <a:srgbClr val="000000">
                <a:alpha val="0"/>
              </a:srgbClr>
            </a:solidFill>
          </p:spPr>
        </p:sp>
        <p:sp>
          <p:nvSpPr>
            <p:cNvPr id="4" name="TextBox 4"/>
            <p:cNvSpPr txBox="1"/>
            <p:nvPr/>
          </p:nvSpPr>
          <p:spPr>
            <a:xfrm>
              <a:off x="0" y="38100"/>
              <a:ext cx="82296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Workflow</a:t>
              </a: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30</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4" name="TextBox 14"/>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15" name="Freeform 15"/>
          <p:cNvSpPr/>
          <p:nvPr/>
        </p:nvSpPr>
        <p:spPr>
          <a:xfrm>
            <a:off x="55083"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6" name="Group 16"/>
          <p:cNvGrpSpPr/>
          <p:nvPr/>
        </p:nvGrpSpPr>
        <p:grpSpPr>
          <a:xfrm>
            <a:off x="1834068" y="4465960"/>
            <a:ext cx="2083746" cy="1355079"/>
            <a:chOff x="0" y="0"/>
            <a:chExt cx="643131" cy="418234"/>
          </a:xfrm>
        </p:grpSpPr>
        <p:sp>
          <p:nvSpPr>
            <p:cNvPr id="17" name="Freeform 17"/>
            <p:cNvSpPr/>
            <p:nvPr/>
          </p:nvSpPr>
          <p:spPr>
            <a:xfrm>
              <a:off x="0" y="0"/>
              <a:ext cx="643131" cy="418234"/>
            </a:xfrm>
            <a:custGeom>
              <a:avLst/>
              <a:gdLst/>
              <a:ahLst/>
              <a:cxnLst/>
              <a:rect l="l" t="t" r="r" b="b"/>
              <a:pathLst>
                <a:path w="643131" h="418234">
                  <a:moveTo>
                    <a:pt x="72566" y="0"/>
                  </a:moveTo>
                  <a:lnTo>
                    <a:pt x="570565" y="0"/>
                  </a:lnTo>
                  <a:cubicBezTo>
                    <a:pt x="610642" y="0"/>
                    <a:pt x="643131" y="32489"/>
                    <a:pt x="643131" y="72566"/>
                  </a:cubicBezTo>
                  <a:lnTo>
                    <a:pt x="643131" y="345668"/>
                  </a:lnTo>
                  <a:cubicBezTo>
                    <a:pt x="643131" y="364914"/>
                    <a:pt x="635486" y="383371"/>
                    <a:pt x="621877" y="396980"/>
                  </a:cubicBezTo>
                  <a:cubicBezTo>
                    <a:pt x="608268" y="410589"/>
                    <a:pt x="589811" y="418234"/>
                    <a:pt x="570565" y="418234"/>
                  </a:cubicBezTo>
                  <a:lnTo>
                    <a:pt x="72566" y="418234"/>
                  </a:lnTo>
                  <a:cubicBezTo>
                    <a:pt x="53320" y="418234"/>
                    <a:pt x="34863" y="410589"/>
                    <a:pt x="21254" y="396980"/>
                  </a:cubicBezTo>
                  <a:cubicBezTo>
                    <a:pt x="7645" y="383371"/>
                    <a:pt x="0" y="364914"/>
                    <a:pt x="0" y="345668"/>
                  </a:cubicBezTo>
                  <a:lnTo>
                    <a:pt x="0" y="72566"/>
                  </a:lnTo>
                  <a:cubicBezTo>
                    <a:pt x="0" y="53320"/>
                    <a:pt x="7645" y="34863"/>
                    <a:pt x="21254" y="21254"/>
                  </a:cubicBezTo>
                  <a:cubicBezTo>
                    <a:pt x="34863" y="7645"/>
                    <a:pt x="53320" y="0"/>
                    <a:pt x="72566" y="0"/>
                  </a:cubicBezTo>
                  <a:close/>
                </a:path>
              </a:pathLst>
            </a:custGeom>
            <a:solidFill>
              <a:srgbClr val="000000">
                <a:alpha val="0"/>
              </a:srgbClr>
            </a:solidFill>
            <a:ln w="38100" cap="rnd">
              <a:solidFill>
                <a:srgbClr val="000000"/>
              </a:solidFill>
              <a:prstDash val="solid"/>
              <a:round/>
            </a:ln>
          </p:spPr>
        </p:sp>
        <p:sp>
          <p:nvSpPr>
            <p:cNvPr id="18" name="TextBox 18"/>
            <p:cNvSpPr txBox="1"/>
            <p:nvPr/>
          </p:nvSpPr>
          <p:spPr>
            <a:xfrm>
              <a:off x="0" y="-9525"/>
              <a:ext cx="643131"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Matrix Factorization Model</a:t>
              </a:r>
            </a:p>
          </p:txBody>
        </p:sp>
      </p:grpSp>
      <p:sp>
        <p:nvSpPr>
          <p:cNvPr id="19" name="TextBox 19"/>
          <p:cNvSpPr txBox="1"/>
          <p:nvPr/>
        </p:nvSpPr>
        <p:spPr>
          <a:xfrm>
            <a:off x="6523656" y="2192775"/>
            <a:ext cx="2989064" cy="381000"/>
          </a:xfrm>
          <a:prstGeom prst="rect">
            <a:avLst/>
          </a:prstGeom>
        </p:spPr>
        <p:txBody>
          <a:bodyPr lIns="0" tIns="0" rIns="0" bIns="0" rtlCol="0" anchor="t">
            <a:spAutoFit/>
          </a:bodyPr>
          <a:lstStyle/>
          <a:p>
            <a:pPr algn="ctr">
              <a:lnSpc>
                <a:spcPts val="2999"/>
              </a:lnSpc>
              <a:spcBef>
                <a:spcPct val="0"/>
              </a:spcBef>
            </a:pPr>
            <a:r>
              <a:rPr lang="en-US" sz="2499">
                <a:solidFill>
                  <a:srgbClr val="000000"/>
                </a:solidFill>
                <a:latin typeface="Times New Roman"/>
                <a:ea typeface="Times New Roman"/>
                <a:cs typeface="Times New Roman"/>
                <a:sym typeface="Times New Roman"/>
              </a:rPr>
              <a:t>TRAINING PIPELINE</a:t>
            </a:r>
          </a:p>
        </p:txBody>
      </p:sp>
      <p:grpSp>
        <p:nvGrpSpPr>
          <p:cNvPr id="20" name="Group 20"/>
          <p:cNvGrpSpPr/>
          <p:nvPr/>
        </p:nvGrpSpPr>
        <p:grpSpPr>
          <a:xfrm>
            <a:off x="2875941" y="3766224"/>
            <a:ext cx="5636379" cy="699736"/>
            <a:chOff x="0" y="0"/>
            <a:chExt cx="7515172" cy="932982"/>
          </a:xfrm>
        </p:grpSpPr>
        <p:grpSp>
          <p:nvGrpSpPr>
            <p:cNvPr id="21" name="Group 21"/>
            <p:cNvGrpSpPr/>
            <p:nvPr/>
          </p:nvGrpSpPr>
          <p:grpSpPr>
            <a:xfrm>
              <a:off x="63500" y="478696"/>
              <a:ext cx="7451672" cy="63500"/>
              <a:chOff x="0" y="0"/>
              <a:chExt cx="1471935" cy="12543"/>
            </a:xfrm>
          </p:grpSpPr>
          <p:sp>
            <p:nvSpPr>
              <p:cNvPr id="22" name="Freeform 22"/>
              <p:cNvSpPr/>
              <p:nvPr/>
            </p:nvSpPr>
            <p:spPr>
              <a:xfrm>
                <a:off x="0" y="0"/>
                <a:ext cx="1471935" cy="12543"/>
              </a:xfrm>
              <a:custGeom>
                <a:avLst/>
                <a:gdLst/>
                <a:ahLst/>
                <a:cxnLst/>
                <a:rect l="l" t="t" r="r" b="b"/>
                <a:pathLst>
                  <a:path w="1471935" h="12543">
                    <a:moveTo>
                      <a:pt x="0" y="0"/>
                    </a:moveTo>
                    <a:lnTo>
                      <a:pt x="1471935" y="0"/>
                    </a:lnTo>
                    <a:lnTo>
                      <a:pt x="1471935" y="12543"/>
                    </a:lnTo>
                    <a:lnTo>
                      <a:pt x="0" y="12543"/>
                    </a:lnTo>
                    <a:close/>
                  </a:path>
                </a:pathLst>
              </a:custGeom>
              <a:solidFill>
                <a:srgbClr val="000000"/>
              </a:solidFill>
            </p:spPr>
          </p:sp>
          <p:sp>
            <p:nvSpPr>
              <p:cNvPr id="23" name="TextBox 23"/>
              <p:cNvSpPr txBox="1"/>
              <p:nvPr/>
            </p:nvSpPr>
            <p:spPr>
              <a:xfrm>
                <a:off x="0" y="-38100"/>
                <a:ext cx="1471935" cy="50643"/>
              </a:xfrm>
              <a:prstGeom prst="rect">
                <a:avLst/>
              </a:prstGeom>
            </p:spPr>
            <p:txBody>
              <a:bodyPr lIns="50800" tIns="50800" rIns="50800" bIns="50800" rtlCol="0" anchor="ctr"/>
              <a:lstStyle/>
              <a:p>
                <a:pPr algn="ctr">
                  <a:lnSpc>
                    <a:spcPts val="2160"/>
                  </a:lnSpc>
                </a:pPr>
                <a:endParaRPr/>
              </a:p>
            </p:txBody>
          </p:sp>
        </p:grpSp>
        <p:grpSp>
          <p:nvGrpSpPr>
            <p:cNvPr id="24" name="Group 24"/>
            <p:cNvGrpSpPr/>
            <p:nvPr/>
          </p:nvGrpSpPr>
          <p:grpSpPr>
            <a:xfrm>
              <a:off x="0" y="0"/>
              <a:ext cx="63500" cy="932982"/>
              <a:chOff x="0" y="0"/>
              <a:chExt cx="12543" cy="184293"/>
            </a:xfrm>
          </p:grpSpPr>
          <p:sp>
            <p:nvSpPr>
              <p:cNvPr id="25" name="Freeform 25"/>
              <p:cNvSpPr/>
              <p:nvPr/>
            </p:nvSpPr>
            <p:spPr>
              <a:xfrm>
                <a:off x="0" y="0"/>
                <a:ext cx="12543" cy="184293"/>
              </a:xfrm>
              <a:custGeom>
                <a:avLst/>
                <a:gdLst/>
                <a:ahLst/>
                <a:cxnLst/>
                <a:rect l="l" t="t" r="r" b="b"/>
                <a:pathLst>
                  <a:path w="12543" h="184293">
                    <a:moveTo>
                      <a:pt x="0" y="0"/>
                    </a:moveTo>
                    <a:lnTo>
                      <a:pt x="12543" y="0"/>
                    </a:lnTo>
                    <a:lnTo>
                      <a:pt x="12543" y="184293"/>
                    </a:lnTo>
                    <a:lnTo>
                      <a:pt x="0" y="184293"/>
                    </a:lnTo>
                    <a:close/>
                  </a:path>
                </a:pathLst>
              </a:custGeom>
              <a:solidFill>
                <a:srgbClr val="000000"/>
              </a:solidFill>
            </p:spPr>
          </p:sp>
          <p:sp>
            <p:nvSpPr>
              <p:cNvPr id="26" name="TextBox 26"/>
              <p:cNvSpPr txBox="1"/>
              <p:nvPr/>
            </p:nvSpPr>
            <p:spPr>
              <a:xfrm>
                <a:off x="0" y="-38100"/>
                <a:ext cx="12543" cy="222393"/>
              </a:xfrm>
              <a:prstGeom prst="rect">
                <a:avLst/>
              </a:prstGeom>
            </p:spPr>
            <p:txBody>
              <a:bodyPr lIns="50800" tIns="50800" rIns="50800" bIns="50800" rtlCol="0" anchor="ctr"/>
              <a:lstStyle/>
              <a:p>
                <a:pPr algn="ctr">
                  <a:lnSpc>
                    <a:spcPts val="2160"/>
                  </a:lnSpc>
                </a:pPr>
                <a:endParaRPr/>
              </a:p>
            </p:txBody>
          </p:sp>
        </p:grpSp>
        <p:grpSp>
          <p:nvGrpSpPr>
            <p:cNvPr id="27" name="Group 27"/>
            <p:cNvGrpSpPr/>
            <p:nvPr/>
          </p:nvGrpSpPr>
          <p:grpSpPr>
            <a:xfrm>
              <a:off x="3694086" y="0"/>
              <a:ext cx="63500" cy="478696"/>
              <a:chOff x="0" y="0"/>
              <a:chExt cx="12543" cy="94557"/>
            </a:xfrm>
          </p:grpSpPr>
          <p:sp>
            <p:nvSpPr>
              <p:cNvPr id="28" name="Freeform 28"/>
              <p:cNvSpPr/>
              <p:nvPr/>
            </p:nvSpPr>
            <p:spPr>
              <a:xfrm>
                <a:off x="0" y="0"/>
                <a:ext cx="12543" cy="94557"/>
              </a:xfrm>
              <a:custGeom>
                <a:avLst/>
                <a:gdLst/>
                <a:ahLst/>
                <a:cxnLst/>
                <a:rect l="l" t="t" r="r" b="b"/>
                <a:pathLst>
                  <a:path w="12543" h="94557">
                    <a:moveTo>
                      <a:pt x="0" y="0"/>
                    </a:moveTo>
                    <a:lnTo>
                      <a:pt x="12543" y="0"/>
                    </a:lnTo>
                    <a:lnTo>
                      <a:pt x="12543" y="94557"/>
                    </a:lnTo>
                    <a:lnTo>
                      <a:pt x="0" y="94557"/>
                    </a:lnTo>
                    <a:close/>
                  </a:path>
                </a:pathLst>
              </a:custGeom>
              <a:solidFill>
                <a:srgbClr val="000000"/>
              </a:solidFill>
            </p:spPr>
          </p:sp>
          <p:sp>
            <p:nvSpPr>
              <p:cNvPr id="29" name="TextBox 29"/>
              <p:cNvSpPr txBox="1"/>
              <p:nvPr/>
            </p:nvSpPr>
            <p:spPr>
              <a:xfrm>
                <a:off x="0" y="-38100"/>
                <a:ext cx="12543" cy="132657"/>
              </a:xfrm>
              <a:prstGeom prst="rect">
                <a:avLst/>
              </a:prstGeom>
            </p:spPr>
            <p:txBody>
              <a:bodyPr lIns="50800" tIns="50800" rIns="50800" bIns="50800" rtlCol="0" anchor="ctr"/>
              <a:lstStyle/>
              <a:p>
                <a:pPr algn="ctr">
                  <a:lnSpc>
                    <a:spcPts val="2160"/>
                  </a:lnSpc>
                </a:pPr>
                <a:endParaRPr/>
              </a:p>
            </p:txBody>
          </p:sp>
        </p:grpSp>
        <p:grpSp>
          <p:nvGrpSpPr>
            <p:cNvPr id="30" name="Group 30"/>
            <p:cNvGrpSpPr/>
            <p:nvPr/>
          </p:nvGrpSpPr>
          <p:grpSpPr>
            <a:xfrm>
              <a:off x="7450716" y="0"/>
              <a:ext cx="64456" cy="502881"/>
              <a:chOff x="0" y="0"/>
              <a:chExt cx="12732" cy="99335"/>
            </a:xfrm>
          </p:grpSpPr>
          <p:sp>
            <p:nvSpPr>
              <p:cNvPr id="31" name="Freeform 31"/>
              <p:cNvSpPr/>
              <p:nvPr/>
            </p:nvSpPr>
            <p:spPr>
              <a:xfrm>
                <a:off x="0" y="0"/>
                <a:ext cx="12732" cy="99335"/>
              </a:xfrm>
              <a:custGeom>
                <a:avLst/>
                <a:gdLst/>
                <a:ahLst/>
                <a:cxnLst/>
                <a:rect l="l" t="t" r="r" b="b"/>
                <a:pathLst>
                  <a:path w="12732" h="99335">
                    <a:moveTo>
                      <a:pt x="0" y="0"/>
                    </a:moveTo>
                    <a:lnTo>
                      <a:pt x="12732" y="0"/>
                    </a:lnTo>
                    <a:lnTo>
                      <a:pt x="12732" y="99335"/>
                    </a:lnTo>
                    <a:lnTo>
                      <a:pt x="0" y="99335"/>
                    </a:lnTo>
                    <a:close/>
                  </a:path>
                </a:pathLst>
              </a:custGeom>
              <a:solidFill>
                <a:srgbClr val="000000"/>
              </a:solidFill>
            </p:spPr>
          </p:sp>
          <p:sp>
            <p:nvSpPr>
              <p:cNvPr id="32" name="TextBox 32"/>
              <p:cNvSpPr txBox="1"/>
              <p:nvPr/>
            </p:nvSpPr>
            <p:spPr>
              <a:xfrm>
                <a:off x="0" y="-38100"/>
                <a:ext cx="12732" cy="137435"/>
              </a:xfrm>
              <a:prstGeom prst="rect">
                <a:avLst/>
              </a:prstGeom>
            </p:spPr>
            <p:txBody>
              <a:bodyPr lIns="50800" tIns="50800" rIns="50800" bIns="50800" rtlCol="0" anchor="ctr"/>
              <a:lstStyle/>
              <a:p>
                <a:pPr algn="ctr">
                  <a:lnSpc>
                    <a:spcPts val="2160"/>
                  </a:lnSpc>
                </a:pPr>
                <a:endParaRPr/>
              </a:p>
            </p:txBody>
          </p:sp>
        </p:grpSp>
      </p:grpSp>
      <p:grpSp>
        <p:nvGrpSpPr>
          <p:cNvPr id="33" name="Group 33"/>
          <p:cNvGrpSpPr/>
          <p:nvPr/>
        </p:nvGrpSpPr>
        <p:grpSpPr>
          <a:xfrm>
            <a:off x="1834068" y="2773095"/>
            <a:ext cx="2415495" cy="993129"/>
            <a:chOff x="0" y="0"/>
            <a:chExt cx="745523" cy="306521"/>
          </a:xfrm>
        </p:grpSpPr>
        <p:sp>
          <p:nvSpPr>
            <p:cNvPr id="34" name="Freeform 34"/>
            <p:cNvSpPr/>
            <p:nvPr/>
          </p:nvSpPr>
          <p:spPr>
            <a:xfrm>
              <a:off x="0" y="0"/>
              <a:ext cx="745523" cy="306521"/>
            </a:xfrm>
            <a:custGeom>
              <a:avLst/>
              <a:gdLst/>
              <a:ahLst/>
              <a:cxnLst/>
              <a:rect l="l" t="t" r="r" b="b"/>
              <a:pathLst>
                <a:path w="745523" h="306521">
                  <a:moveTo>
                    <a:pt x="62600" y="0"/>
                  </a:moveTo>
                  <a:lnTo>
                    <a:pt x="682923" y="0"/>
                  </a:lnTo>
                  <a:cubicBezTo>
                    <a:pt x="699526" y="0"/>
                    <a:pt x="715448" y="6595"/>
                    <a:pt x="727188" y="18335"/>
                  </a:cubicBezTo>
                  <a:cubicBezTo>
                    <a:pt x="738928" y="30075"/>
                    <a:pt x="745523" y="45997"/>
                    <a:pt x="745523" y="62600"/>
                  </a:cubicBezTo>
                  <a:lnTo>
                    <a:pt x="745523" y="243922"/>
                  </a:lnTo>
                  <a:cubicBezTo>
                    <a:pt x="745523" y="278495"/>
                    <a:pt x="717496" y="306521"/>
                    <a:pt x="682923" y="306521"/>
                  </a:cubicBezTo>
                  <a:lnTo>
                    <a:pt x="62600" y="306521"/>
                  </a:lnTo>
                  <a:cubicBezTo>
                    <a:pt x="45997" y="306521"/>
                    <a:pt x="30075" y="299926"/>
                    <a:pt x="18335" y="288186"/>
                  </a:cubicBezTo>
                  <a:cubicBezTo>
                    <a:pt x="6595" y="276447"/>
                    <a:pt x="0" y="260524"/>
                    <a:pt x="0" y="243922"/>
                  </a:cubicBezTo>
                  <a:lnTo>
                    <a:pt x="0" y="62600"/>
                  </a:lnTo>
                  <a:cubicBezTo>
                    <a:pt x="0" y="45997"/>
                    <a:pt x="6595" y="30075"/>
                    <a:pt x="18335" y="18335"/>
                  </a:cubicBezTo>
                  <a:cubicBezTo>
                    <a:pt x="30075" y="6595"/>
                    <a:pt x="45997" y="0"/>
                    <a:pt x="62600" y="0"/>
                  </a:cubicBezTo>
                  <a:close/>
                </a:path>
              </a:pathLst>
            </a:custGeom>
            <a:solidFill>
              <a:srgbClr val="000000">
                <a:alpha val="0"/>
              </a:srgbClr>
            </a:solidFill>
            <a:ln w="38100" cap="rnd">
              <a:solidFill>
                <a:srgbClr val="000000"/>
              </a:solidFill>
              <a:prstDash val="solid"/>
              <a:round/>
            </a:ln>
          </p:spPr>
        </p:sp>
        <p:sp>
          <p:nvSpPr>
            <p:cNvPr id="35" name="TextBox 35"/>
            <p:cNvSpPr txBox="1"/>
            <p:nvPr/>
          </p:nvSpPr>
          <p:spPr>
            <a:xfrm>
              <a:off x="0" y="-9525"/>
              <a:ext cx="745523" cy="316046"/>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Collaborative Filtering Training</a:t>
              </a:r>
            </a:p>
          </p:txBody>
        </p:sp>
      </p:grpSp>
      <p:grpSp>
        <p:nvGrpSpPr>
          <p:cNvPr id="36" name="Group 36"/>
          <p:cNvGrpSpPr/>
          <p:nvPr/>
        </p:nvGrpSpPr>
        <p:grpSpPr>
          <a:xfrm>
            <a:off x="4486382" y="2773095"/>
            <a:ext cx="2415495" cy="993129"/>
            <a:chOff x="0" y="0"/>
            <a:chExt cx="745523" cy="306521"/>
          </a:xfrm>
        </p:grpSpPr>
        <p:sp>
          <p:nvSpPr>
            <p:cNvPr id="37" name="Freeform 37"/>
            <p:cNvSpPr/>
            <p:nvPr/>
          </p:nvSpPr>
          <p:spPr>
            <a:xfrm>
              <a:off x="0" y="0"/>
              <a:ext cx="745523" cy="306521"/>
            </a:xfrm>
            <a:custGeom>
              <a:avLst/>
              <a:gdLst/>
              <a:ahLst/>
              <a:cxnLst/>
              <a:rect l="l" t="t" r="r" b="b"/>
              <a:pathLst>
                <a:path w="745523" h="306521">
                  <a:moveTo>
                    <a:pt x="62600" y="0"/>
                  </a:moveTo>
                  <a:lnTo>
                    <a:pt x="682923" y="0"/>
                  </a:lnTo>
                  <a:cubicBezTo>
                    <a:pt x="699526" y="0"/>
                    <a:pt x="715448" y="6595"/>
                    <a:pt x="727188" y="18335"/>
                  </a:cubicBezTo>
                  <a:cubicBezTo>
                    <a:pt x="738928" y="30075"/>
                    <a:pt x="745523" y="45997"/>
                    <a:pt x="745523" y="62600"/>
                  </a:cubicBezTo>
                  <a:lnTo>
                    <a:pt x="745523" y="243922"/>
                  </a:lnTo>
                  <a:cubicBezTo>
                    <a:pt x="745523" y="278495"/>
                    <a:pt x="717496" y="306521"/>
                    <a:pt x="682923" y="306521"/>
                  </a:cubicBezTo>
                  <a:lnTo>
                    <a:pt x="62600" y="306521"/>
                  </a:lnTo>
                  <a:cubicBezTo>
                    <a:pt x="45997" y="306521"/>
                    <a:pt x="30075" y="299926"/>
                    <a:pt x="18335" y="288186"/>
                  </a:cubicBezTo>
                  <a:cubicBezTo>
                    <a:pt x="6595" y="276447"/>
                    <a:pt x="0" y="260524"/>
                    <a:pt x="0" y="243922"/>
                  </a:cubicBezTo>
                  <a:lnTo>
                    <a:pt x="0" y="62600"/>
                  </a:lnTo>
                  <a:cubicBezTo>
                    <a:pt x="0" y="45997"/>
                    <a:pt x="6595" y="30075"/>
                    <a:pt x="18335" y="18335"/>
                  </a:cubicBezTo>
                  <a:cubicBezTo>
                    <a:pt x="30075" y="6595"/>
                    <a:pt x="45997" y="0"/>
                    <a:pt x="62600" y="0"/>
                  </a:cubicBezTo>
                  <a:close/>
                </a:path>
              </a:pathLst>
            </a:custGeom>
            <a:solidFill>
              <a:srgbClr val="000000">
                <a:alpha val="0"/>
              </a:srgbClr>
            </a:solidFill>
            <a:ln w="38100" cap="rnd">
              <a:solidFill>
                <a:srgbClr val="000000"/>
              </a:solidFill>
              <a:prstDash val="solid"/>
              <a:round/>
            </a:ln>
          </p:spPr>
        </p:sp>
        <p:sp>
          <p:nvSpPr>
            <p:cNvPr id="38" name="TextBox 38"/>
            <p:cNvSpPr txBox="1"/>
            <p:nvPr/>
          </p:nvSpPr>
          <p:spPr>
            <a:xfrm>
              <a:off x="0" y="-9525"/>
              <a:ext cx="745523" cy="316046"/>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Generation of Negative Samples</a:t>
              </a:r>
            </a:p>
          </p:txBody>
        </p:sp>
      </p:grpSp>
      <p:grpSp>
        <p:nvGrpSpPr>
          <p:cNvPr id="39" name="Group 39"/>
          <p:cNvGrpSpPr/>
          <p:nvPr/>
        </p:nvGrpSpPr>
        <p:grpSpPr>
          <a:xfrm>
            <a:off x="7140003" y="2773095"/>
            <a:ext cx="2597695" cy="993129"/>
            <a:chOff x="0" y="0"/>
            <a:chExt cx="801758" cy="306521"/>
          </a:xfrm>
        </p:grpSpPr>
        <p:sp>
          <p:nvSpPr>
            <p:cNvPr id="40" name="Freeform 40"/>
            <p:cNvSpPr/>
            <p:nvPr/>
          </p:nvSpPr>
          <p:spPr>
            <a:xfrm>
              <a:off x="0" y="0"/>
              <a:ext cx="801758" cy="306521"/>
            </a:xfrm>
            <a:custGeom>
              <a:avLst/>
              <a:gdLst/>
              <a:ahLst/>
              <a:cxnLst/>
              <a:rect l="l" t="t" r="r" b="b"/>
              <a:pathLst>
                <a:path w="801758" h="306521">
                  <a:moveTo>
                    <a:pt x="58209" y="0"/>
                  </a:moveTo>
                  <a:lnTo>
                    <a:pt x="743549" y="0"/>
                  </a:lnTo>
                  <a:cubicBezTo>
                    <a:pt x="758987" y="0"/>
                    <a:pt x="773792" y="6133"/>
                    <a:pt x="784709" y="17049"/>
                  </a:cubicBezTo>
                  <a:cubicBezTo>
                    <a:pt x="795625" y="27965"/>
                    <a:pt x="801758" y="42771"/>
                    <a:pt x="801758" y="58209"/>
                  </a:cubicBezTo>
                  <a:lnTo>
                    <a:pt x="801758" y="248312"/>
                  </a:lnTo>
                  <a:cubicBezTo>
                    <a:pt x="801758" y="280460"/>
                    <a:pt x="775697" y="306521"/>
                    <a:pt x="743549" y="306521"/>
                  </a:cubicBezTo>
                  <a:lnTo>
                    <a:pt x="58209" y="306521"/>
                  </a:lnTo>
                  <a:cubicBezTo>
                    <a:pt x="42771" y="306521"/>
                    <a:pt x="27965" y="300389"/>
                    <a:pt x="17049" y="289472"/>
                  </a:cubicBezTo>
                  <a:cubicBezTo>
                    <a:pt x="6133" y="278556"/>
                    <a:pt x="0" y="263750"/>
                    <a:pt x="0" y="248312"/>
                  </a:cubicBezTo>
                  <a:lnTo>
                    <a:pt x="0" y="58209"/>
                  </a:lnTo>
                  <a:cubicBezTo>
                    <a:pt x="0" y="26061"/>
                    <a:pt x="26061" y="0"/>
                    <a:pt x="58209" y="0"/>
                  </a:cubicBezTo>
                  <a:close/>
                </a:path>
              </a:pathLst>
            </a:custGeom>
            <a:solidFill>
              <a:srgbClr val="000000">
                <a:alpha val="0"/>
              </a:srgbClr>
            </a:solidFill>
            <a:ln w="38100" cap="rnd">
              <a:solidFill>
                <a:srgbClr val="000000"/>
              </a:solidFill>
              <a:prstDash val="solid"/>
              <a:round/>
            </a:ln>
          </p:spPr>
        </p:sp>
        <p:sp>
          <p:nvSpPr>
            <p:cNvPr id="41" name="TextBox 41"/>
            <p:cNvSpPr txBox="1"/>
            <p:nvPr/>
          </p:nvSpPr>
          <p:spPr>
            <a:xfrm>
              <a:off x="0" y="-9525"/>
              <a:ext cx="801758" cy="316046"/>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Evaluation of Loss function per Epoch</a:t>
              </a:r>
            </a:p>
          </p:txBody>
        </p:sp>
      </p:grpSp>
      <p:sp>
        <p:nvSpPr>
          <p:cNvPr id="42" name="Freeform 42"/>
          <p:cNvSpPr/>
          <p:nvPr/>
        </p:nvSpPr>
        <p:spPr>
          <a:xfrm>
            <a:off x="4117839"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3" name="Group 43"/>
          <p:cNvGrpSpPr/>
          <p:nvPr/>
        </p:nvGrpSpPr>
        <p:grpSpPr>
          <a:xfrm>
            <a:off x="5626479" y="4465960"/>
            <a:ext cx="2083746" cy="1355079"/>
            <a:chOff x="0" y="0"/>
            <a:chExt cx="643131" cy="418234"/>
          </a:xfrm>
        </p:grpSpPr>
        <p:sp>
          <p:nvSpPr>
            <p:cNvPr id="44" name="Freeform 44"/>
            <p:cNvSpPr/>
            <p:nvPr/>
          </p:nvSpPr>
          <p:spPr>
            <a:xfrm>
              <a:off x="0" y="0"/>
              <a:ext cx="643131" cy="418234"/>
            </a:xfrm>
            <a:custGeom>
              <a:avLst/>
              <a:gdLst/>
              <a:ahLst/>
              <a:cxnLst/>
              <a:rect l="l" t="t" r="r" b="b"/>
              <a:pathLst>
                <a:path w="643131" h="418234">
                  <a:moveTo>
                    <a:pt x="72566" y="0"/>
                  </a:moveTo>
                  <a:lnTo>
                    <a:pt x="570565" y="0"/>
                  </a:lnTo>
                  <a:cubicBezTo>
                    <a:pt x="610642" y="0"/>
                    <a:pt x="643131" y="32489"/>
                    <a:pt x="643131" y="72566"/>
                  </a:cubicBezTo>
                  <a:lnTo>
                    <a:pt x="643131" y="345668"/>
                  </a:lnTo>
                  <a:cubicBezTo>
                    <a:pt x="643131" y="364914"/>
                    <a:pt x="635486" y="383371"/>
                    <a:pt x="621877" y="396980"/>
                  </a:cubicBezTo>
                  <a:cubicBezTo>
                    <a:pt x="608268" y="410589"/>
                    <a:pt x="589811" y="418234"/>
                    <a:pt x="570565" y="418234"/>
                  </a:cubicBezTo>
                  <a:lnTo>
                    <a:pt x="72566" y="418234"/>
                  </a:lnTo>
                  <a:cubicBezTo>
                    <a:pt x="53320" y="418234"/>
                    <a:pt x="34863" y="410589"/>
                    <a:pt x="21254" y="396980"/>
                  </a:cubicBezTo>
                  <a:cubicBezTo>
                    <a:pt x="7645" y="383371"/>
                    <a:pt x="0" y="364914"/>
                    <a:pt x="0" y="345668"/>
                  </a:cubicBezTo>
                  <a:lnTo>
                    <a:pt x="0" y="72566"/>
                  </a:lnTo>
                  <a:cubicBezTo>
                    <a:pt x="0" y="53320"/>
                    <a:pt x="7645" y="34863"/>
                    <a:pt x="21254" y="21254"/>
                  </a:cubicBezTo>
                  <a:cubicBezTo>
                    <a:pt x="34863" y="7645"/>
                    <a:pt x="53320" y="0"/>
                    <a:pt x="72566" y="0"/>
                  </a:cubicBezTo>
                  <a:close/>
                </a:path>
              </a:pathLst>
            </a:custGeom>
            <a:solidFill>
              <a:srgbClr val="000000">
                <a:alpha val="0"/>
              </a:srgbClr>
            </a:solidFill>
            <a:ln w="38100" cap="rnd">
              <a:solidFill>
                <a:srgbClr val="000000"/>
              </a:solidFill>
              <a:prstDash val="solid"/>
              <a:round/>
            </a:ln>
          </p:spPr>
        </p:sp>
        <p:sp>
          <p:nvSpPr>
            <p:cNvPr id="45" name="TextBox 45"/>
            <p:cNvSpPr txBox="1"/>
            <p:nvPr/>
          </p:nvSpPr>
          <p:spPr>
            <a:xfrm>
              <a:off x="0" y="-9525"/>
              <a:ext cx="643131"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Sequential Behaviour Modelling</a:t>
              </a:r>
            </a:p>
          </p:txBody>
        </p:sp>
      </p:grpSp>
      <p:grpSp>
        <p:nvGrpSpPr>
          <p:cNvPr id="46" name="Group 46"/>
          <p:cNvGrpSpPr/>
          <p:nvPr/>
        </p:nvGrpSpPr>
        <p:grpSpPr>
          <a:xfrm>
            <a:off x="5422918" y="5821040"/>
            <a:ext cx="2601526" cy="1417738"/>
            <a:chOff x="0" y="0"/>
            <a:chExt cx="3468701" cy="1890317"/>
          </a:xfrm>
        </p:grpSpPr>
        <p:grpSp>
          <p:nvGrpSpPr>
            <p:cNvPr id="47" name="Group 47"/>
            <p:cNvGrpSpPr/>
            <p:nvPr/>
          </p:nvGrpSpPr>
          <p:grpSpPr>
            <a:xfrm>
              <a:off x="3405201" y="1421593"/>
              <a:ext cx="63500" cy="468725"/>
              <a:chOff x="0" y="0"/>
              <a:chExt cx="14208" cy="104879"/>
            </a:xfrm>
          </p:grpSpPr>
          <p:sp>
            <p:nvSpPr>
              <p:cNvPr id="48" name="Freeform 48"/>
              <p:cNvSpPr/>
              <p:nvPr/>
            </p:nvSpPr>
            <p:spPr>
              <a:xfrm>
                <a:off x="0" y="0"/>
                <a:ext cx="14208" cy="104879"/>
              </a:xfrm>
              <a:custGeom>
                <a:avLst/>
                <a:gdLst/>
                <a:ahLst/>
                <a:cxnLst/>
                <a:rect l="l" t="t" r="r" b="b"/>
                <a:pathLst>
                  <a:path w="14208" h="104879">
                    <a:moveTo>
                      <a:pt x="0" y="0"/>
                    </a:moveTo>
                    <a:lnTo>
                      <a:pt x="14208" y="0"/>
                    </a:lnTo>
                    <a:lnTo>
                      <a:pt x="14208" y="104879"/>
                    </a:lnTo>
                    <a:lnTo>
                      <a:pt x="0" y="104879"/>
                    </a:lnTo>
                    <a:close/>
                  </a:path>
                </a:pathLst>
              </a:custGeom>
              <a:solidFill>
                <a:srgbClr val="000000"/>
              </a:solidFill>
            </p:spPr>
          </p:sp>
          <p:sp>
            <p:nvSpPr>
              <p:cNvPr id="49" name="TextBox 49"/>
              <p:cNvSpPr txBox="1"/>
              <p:nvPr/>
            </p:nvSpPr>
            <p:spPr>
              <a:xfrm>
                <a:off x="0" y="-38100"/>
                <a:ext cx="14208" cy="142979"/>
              </a:xfrm>
              <a:prstGeom prst="rect">
                <a:avLst/>
              </a:prstGeom>
            </p:spPr>
            <p:txBody>
              <a:bodyPr lIns="44846" tIns="44846" rIns="44846" bIns="44846" rtlCol="0" anchor="ctr"/>
              <a:lstStyle/>
              <a:p>
                <a:pPr algn="ctr">
                  <a:lnSpc>
                    <a:spcPts val="2160"/>
                  </a:lnSpc>
                </a:pPr>
                <a:endParaRPr/>
              </a:p>
            </p:txBody>
          </p:sp>
        </p:grpSp>
        <p:grpSp>
          <p:nvGrpSpPr>
            <p:cNvPr id="50" name="Group 50"/>
            <p:cNvGrpSpPr/>
            <p:nvPr/>
          </p:nvGrpSpPr>
          <p:grpSpPr>
            <a:xfrm>
              <a:off x="0" y="1407942"/>
              <a:ext cx="3468701" cy="63500"/>
              <a:chOff x="0" y="0"/>
              <a:chExt cx="776139" cy="14208"/>
            </a:xfrm>
          </p:grpSpPr>
          <p:sp>
            <p:nvSpPr>
              <p:cNvPr id="51" name="Freeform 51"/>
              <p:cNvSpPr/>
              <p:nvPr/>
            </p:nvSpPr>
            <p:spPr>
              <a:xfrm>
                <a:off x="0" y="0"/>
                <a:ext cx="776139" cy="14208"/>
              </a:xfrm>
              <a:custGeom>
                <a:avLst/>
                <a:gdLst/>
                <a:ahLst/>
                <a:cxnLst/>
                <a:rect l="l" t="t" r="r" b="b"/>
                <a:pathLst>
                  <a:path w="776139" h="14208">
                    <a:moveTo>
                      <a:pt x="0" y="0"/>
                    </a:moveTo>
                    <a:lnTo>
                      <a:pt x="776139" y="0"/>
                    </a:lnTo>
                    <a:lnTo>
                      <a:pt x="776139" y="14208"/>
                    </a:lnTo>
                    <a:lnTo>
                      <a:pt x="0" y="14208"/>
                    </a:lnTo>
                    <a:close/>
                  </a:path>
                </a:pathLst>
              </a:custGeom>
              <a:solidFill>
                <a:srgbClr val="000000"/>
              </a:solidFill>
            </p:spPr>
          </p:sp>
          <p:sp>
            <p:nvSpPr>
              <p:cNvPr id="52" name="TextBox 52"/>
              <p:cNvSpPr txBox="1"/>
              <p:nvPr/>
            </p:nvSpPr>
            <p:spPr>
              <a:xfrm>
                <a:off x="0" y="-38100"/>
                <a:ext cx="776139" cy="52308"/>
              </a:xfrm>
              <a:prstGeom prst="rect">
                <a:avLst/>
              </a:prstGeom>
            </p:spPr>
            <p:txBody>
              <a:bodyPr lIns="44846" tIns="44846" rIns="44846" bIns="44846" rtlCol="0" anchor="ctr"/>
              <a:lstStyle/>
              <a:p>
                <a:pPr algn="ctr">
                  <a:lnSpc>
                    <a:spcPts val="2160"/>
                  </a:lnSpc>
                </a:pPr>
                <a:endParaRPr/>
              </a:p>
            </p:txBody>
          </p:sp>
        </p:grpSp>
        <p:grpSp>
          <p:nvGrpSpPr>
            <p:cNvPr id="53" name="Group 53"/>
            <p:cNvGrpSpPr/>
            <p:nvPr/>
          </p:nvGrpSpPr>
          <p:grpSpPr>
            <a:xfrm>
              <a:off x="0" y="1421593"/>
              <a:ext cx="63500" cy="468725"/>
              <a:chOff x="0" y="0"/>
              <a:chExt cx="14208" cy="104879"/>
            </a:xfrm>
          </p:grpSpPr>
          <p:sp>
            <p:nvSpPr>
              <p:cNvPr id="54" name="Freeform 54"/>
              <p:cNvSpPr/>
              <p:nvPr/>
            </p:nvSpPr>
            <p:spPr>
              <a:xfrm>
                <a:off x="0" y="0"/>
                <a:ext cx="14208" cy="104879"/>
              </a:xfrm>
              <a:custGeom>
                <a:avLst/>
                <a:gdLst/>
                <a:ahLst/>
                <a:cxnLst/>
                <a:rect l="l" t="t" r="r" b="b"/>
                <a:pathLst>
                  <a:path w="14208" h="104879">
                    <a:moveTo>
                      <a:pt x="0" y="0"/>
                    </a:moveTo>
                    <a:lnTo>
                      <a:pt x="14208" y="0"/>
                    </a:lnTo>
                    <a:lnTo>
                      <a:pt x="14208" y="104879"/>
                    </a:lnTo>
                    <a:lnTo>
                      <a:pt x="0" y="104879"/>
                    </a:lnTo>
                    <a:close/>
                  </a:path>
                </a:pathLst>
              </a:custGeom>
              <a:solidFill>
                <a:srgbClr val="000000"/>
              </a:solidFill>
            </p:spPr>
          </p:sp>
          <p:sp>
            <p:nvSpPr>
              <p:cNvPr id="55" name="TextBox 55"/>
              <p:cNvSpPr txBox="1"/>
              <p:nvPr/>
            </p:nvSpPr>
            <p:spPr>
              <a:xfrm>
                <a:off x="0" y="-38100"/>
                <a:ext cx="14208" cy="142979"/>
              </a:xfrm>
              <a:prstGeom prst="rect">
                <a:avLst/>
              </a:prstGeom>
            </p:spPr>
            <p:txBody>
              <a:bodyPr lIns="44846" tIns="44846" rIns="44846" bIns="44846" rtlCol="0" anchor="ctr"/>
              <a:lstStyle/>
              <a:p>
                <a:pPr algn="ctr">
                  <a:lnSpc>
                    <a:spcPts val="2160"/>
                  </a:lnSpc>
                </a:pPr>
                <a:endParaRPr/>
              </a:p>
            </p:txBody>
          </p:sp>
        </p:grpSp>
        <p:grpSp>
          <p:nvGrpSpPr>
            <p:cNvPr id="56" name="Group 56"/>
            <p:cNvGrpSpPr/>
            <p:nvPr/>
          </p:nvGrpSpPr>
          <p:grpSpPr>
            <a:xfrm>
              <a:off x="1520244" y="0"/>
              <a:ext cx="63500" cy="1471442"/>
              <a:chOff x="0" y="0"/>
              <a:chExt cx="14208" cy="329242"/>
            </a:xfrm>
          </p:grpSpPr>
          <p:sp>
            <p:nvSpPr>
              <p:cNvPr id="57" name="Freeform 57"/>
              <p:cNvSpPr/>
              <p:nvPr/>
            </p:nvSpPr>
            <p:spPr>
              <a:xfrm>
                <a:off x="0" y="0"/>
                <a:ext cx="14208" cy="329242"/>
              </a:xfrm>
              <a:custGeom>
                <a:avLst/>
                <a:gdLst/>
                <a:ahLst/>
                <a:cxnLst/>
                <a:rect l="l" t="t" r="r" b="b"/>
                <a:pathLst>
                  <a:path w="14208" h="329242">
                    <a:moveTo>
                      <a:pt x="0" y="0"/>
                    </a:moveTo>
                    <a:lnTo>
                      <a:pt x="14208" y="0"/>
                    </a:lnTo>
                    <a:lnTo>
                      <a:pt x="14208" y="329242"/>
                    </a:lnTo>
                    <a:lnTo>
                      <a:pt x="0" y="329242"/>
                    </a:lnTo>
                    <a:close/>
                  </a:path>
                </a:pathLst>
              </a:custGeom>
              <a:solidFill>
                <a:srgbClr val="000000"/>
              </a:solidFill>
            </p:spPr>
          </p:sp>
          <p:sp>
            <p:nvSpPr>
              <p:cNvPr id="58" name="TextBox 58"/>
              <p:cNvSpPr txBox="1"/>
              <p:nvPr/>
            </p:nvSpPr>
            <p:spPr>
              <a:xfrm>
                <a:off x="0" y="-38100"/>
                <a:ext cx="14208" cy="367342"/>
              </a:xfrm>
              <a:prstGeom prst="rect">
                <a:avLst/>
              </a:prstGeom>
            </p:spPr>
            <p:txBody>
              <a:bodyPr lIns="44846" tIns="44846" rIns="44846" bIns="44846" rtlCol="0" anchor="ctr"/>
              <a:lstStyle/>
              <a:p>
                <a:pPr algn="ctr">
                  <a:lnSpc>
                    <a:spcPts val="2160"/>
                  </a:lnSpc>
                </a:pPr>
                <a:endParaRPr/>
              </a:p>
            </p:txBody>
          </p:sp>
        </p:grpSp>
      </p:grpSp>
      <p:grpSp>
        <p:nvGrpSpPr>
          <p:cNvPr id="59" name="Group 59"/>
          <p:cNvGrpSpPr/>
          <p:nvPr/>
        </p:nvGrpSpPr>
        <p:grpSpPr>
          <a:xfrm>
            <a:off x="4209565" y="7202165"/>
            <a:ext cx="2426706" cy="1717029"/>
            <a:chOff x="0" y="0"/>
            <a:chExt cx="748983" cy="529947"/>
          </a:xfrm>
        </p:grpSpPr>
        <p:sp>
          <p:nvSpPr>
            <p:cNvPr id="60" name="Freeform 60"/>
            <p:cNvSpPr/>
            <p:nvPr/>
          </p:nvSpPr>
          <p:spPr>
            <a:xfrm>
              <a:off x="0" y="0"/>
              <a:ext cx="748983" cy="529947"/>
            </a:xfrm>
            <a:custGeom>
              <a:avLst/>
              <a:gdLst/>
              <a:ahLst/>
              <a:cxnLst/>
              <a:rect l="l" t="t" r="r" b="b"/>
              <a:pathLst>
                <a:path w="748983" h="529947">
                  <a:moveTo>
                    <a:pt x="62311" y="0"/>
                  </a:moveTo>
                  <a:lnTo>
                    <a:pt x="686673" y="0"/>
                  </a:lnTo>
                  <a:cubicBezTo>
                    <a:pt x="703199" y="0"/>
                    <a:pt x="719047" y="6565"/>
                    <a:pt x="730733" y="18250"/>
                  </a:cubicBezTo>
                  <a:cubicBezTo>
                    <a:pt x="742418" y="29936"/>
                    <a:pt x="748983" y="45785"/>
                    <a:pt x="748983" y="62311"/>
                  </a:cubicBezTo>
                  <a:lnTo>
                    <a:pt x="748983" y="467637"/>
                  </a:lnTo>
                  <a:cubicBezTo>
                    <a:pt x="748983" y="484163"/>
                    <a:pt x="742418" y="500012"/>
                    <a:pt x="730733" y="511697"/>
                  </a:cubicBezTo>
                  <a:cubicBezTo>
                    <a:pt x="719047" y="523382"/>
                    <a:pt x="703199" y="529947"/>
                    <a:pt x="686673" y="529947"/>
                  </a:cubicBezTo>
                  <a:lnTo>
                    <a:pt x="62311" y="529947"/>
                  </a:lnTo>
                  <a:cubicBezTo>
                    <a:pt x="45785" y="529947"/>
                    <a:pt x="29936" y="523382"/>
                    <a:pt x="18250" y="511697"/>
                  </a:cubicBezTo>
                  <a:cubicBezTo>
                    <a:pt x="6565" y="500012"/>
                    <a:pt x="0" y="484163"/>
                    <a:pt x="0" y="467637"/>
                  </a:cubicBezTo>
                  <a:lnTo>
                    <a:pt x="0" y="62311"/>
                  </a:lnTo>
                  <a:cubicBezTo>
                    <a:pt x="0" y="45785"/>
                    <a:pt x="6565" y="29936"/>
                    <a:pt x="18250" y="18250"/>
                  </a:cubicBezTo>
                  <a:cubicBezTo>
                    <a:pt x="29936" y="6565"/>
                    <a:pt x="45785" y="0"/>
                    <a:pt x="62311" y="0"/>
                  </a:cubicBezTo>
                  <a:close/>
                </a:path>
              </a:pathLst>
            </a:custGeom>
            <a:solidFill>
              <a:srgbClr val="000000">
                <a:alpha val="0"/>
              </a:srgbClr>
            </a:solidFill>
            <a:ln w="38100" cap="rnd">
              <a:solidFill>
                <a:srgbClr val="000000"/>
              </a:solidFill>
              <a:prstDash val="solid"/>
              <a:round/>
            </a:ln>
          </p:spPr>
        </p:sp>
        <p:sp>
          <p:nvSpPr>
            <p:cNvPr id="61" name="TextBox 61"/>
            <p:cNvSpPr txBox="1"/>
            <p:nvPr/>
          </p:nvSpPr>
          <p:spPr>
            <a:xfrm>
              <a:off x="0" y="-9525"/>
              <a:ext cx="748983" cy="539472"/>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Generates Embedding Tables for Item, Region and Positions</a:t>
              </a:r>
            </a:p>
          </p:txBody>
        </p:sp>
      </p:grpSp>
      <p:grpSp>
        <p:nvGrpSpPr>
          <p:cNvPr id="62" name="Group 62"/>
          <p:cNvGrpSpPr/>
          <p:nvPr/>
        </p:nvGrpSpPr>
        <p:grpSpPr>
          <a:xfrm>
            <a:off x="6836737" y="7238778"/>
            <a:ext cx="2375414" cy="1717029"/>
            <a:chOff x="0" y="0"/>
            <a:chExt cx="733152" cy="529947"/>
          </a:xfrm>
        </p:grpSpPr>
        <p:sp>
          <p:nvSpPr>
            <p:cNvPr id="63" name="Freeform 63"/>
            <p:cNvSpPr/>
            <p:nvPr/>
          </p:nvSpPr>
          <p:spPr>
            <a:xfrm>
              <a:off x="0" y="0"/>
              <a:ext cx="733152" cy="529947"/>
            </a:xfrm>
            <a:custGeom>
              <a:avLst/>
              <a:gdLst/>
              <a:ahLst/>
              <a:cxnLst/>
              <a:rect l="l" t="t" r="r" b="b"/>
              <a:pathLst>
                <a:path w="733152" h="529947">
                  <a:moveTo>
                    <a:pt x="63656" y="0"/>
                  </a:moveTo>
                  <a:lnTo>
                    <a:pt x="669496" y="0"/>
                  </a:lnTo>
                  <a:cubicBezTo>
                    <a:pt x="686379" y="0"/>
                    <a:pt x="702570" y="6707"/>
                    <a:pt x="714508" y="18644"/>
                  </a:cubicBezTo>
                  <a:cubicBezTo>
                    <a:pt x="726446" y="30582"/>
                    <a:pt x="733152" y="46773"/>
                    <a:pt x="733152" y="63656"/>
                  </a:cubicBezTo>
                  <a:lnTo>
                    <a:pt x="733152" y="466291"/>
                  </a:lnTo>
                  <a:cubicBezTo>
                    <a:pt x="733152" y="501448"/>
                    <a:pt x="704653" y="529947"/>
                    <a:pt x="669496" y="529947"/>
                  </a:cubicBezTo>
                  <a:lnTo>
                    <a:pt x="63656" y="529947"/>
                  </a:lnTo>
                  <a:cubicBezTo>
                    <a:pt x="46773" y="529947"/>
                    <a:pt x="30582" y="523241"/>
                    <a:pt x="18644" y="511303"/>
                  </a:cubicBezTo>
                  <a:cubicBezTo>
                    <a:pt x="6707" y="499365"/>
                    <a:pt x="0" y="483174"/>
                    <a:pt x="0" y="466291"/>
                  </a:cubicBezTo>
                  <a:lnTo>
                    <a:pt x="0" y="63656"/>
                  </a:lnTo>
                  <a:cubicBezTo>
                    <a:pt x="0" y="46773"/>
                    <a:pt x="6707" y="30582"/>
                    <a:pt x="18644" y="18644"/>
                  </a:cubicBezTo>
                  <a:cubicBezTo>
                    <a:pt x="30582" y="6707"/>
                    <a:pt x="46773" y="0"/>
                    <a:pt x="63656" y="0"/>
                  </a:cubicBezTo>
                  <a:close/>
                </a:path>
              </a:pathLst>
            </a:custGeom>
            <a:solidFill>
              <a:srgbClr val="000000">
                <a:alpha val="0"/>
              </a:srgbClr>
            </a:solidFill>
            <a:ln w="38100" cap="rnd">
              <a:solidFill>
                <a:srgbClr val="000000"/>
              </a:solidFill>
              <a:prstDash val="solid"/>
              <a:round/>
            </a:ln>
          </p:spPr>
        </p:sp>
        <p:sp>
          <p:nvSpPr>
            <p:cNvPr id="64" name="TextBox 64"/>
            <p:cNvSpPr txBox="1"/>
            <p:nvPr/>
          </p:nvSpPr>
          <p:spPr>
            <a:xfrm>
              <a:off x="0" y="-9525"/>
              <a:ext cx="733152" cy="539472"/>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Encoding Hidden States using Transformer</a:t>
              </a:r>
            </a:p>
          </p:txBody>
        </p:sp>
      </p:grpSp>
      <p:sp>
        <p:nvSpPr>
          <p:cNvPr id="65" name="Freeform 65"/>
          <p:cNvSpPr/>
          <p:nvPr/>
        </p:nvSpPr>
        <p:spPr>
          <a:xfrm>
            <a:off x="7710225"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6" name="Group 66"/>
          <p:cNvGrpSpPr/>
          <p:nvPr/>
        </p:nvGrpSpPr>
        <p:grpSpPr>
          <a:xfrm>
            <a:off x="9218865" y="4465960"/>
            <a:ext cx="2083746" cy="1355079"/>
            <a:chOff x="0" y="0"/>
            <a:chExt cx="643131" cy="418234"/>
          </a:xfrm>
        </p:grpSpPr>
        <p:sp>
          <p:nvSpPr>
            <p:cNvPr id="67" name="Freeform 67"/>
            <p:cNvSpPr/>
            <p:nvPr/>
          </p:nvSpPr>
          <p:spPr>
            <a:xfrm>
              <a:off x="0" y="0"/>
              <a:ext cx="643131" cy="418234"/>
            </a:xfrm>
            <a:custGeom>
              <a:avLst/>
              <a:gdLst/>
              <a:ahLst/>
              <a:cxnLst/>
              <a:rect l="l" t="t" r="r" b="b"/>
              <a:pathLst>
                <a:path w="643131" h="418234">
                  <a:moveTo>
                    <a:pt x="72566" y="0"/>
                  </a:moveTo>
                  <a:lnTo>
                    <a:pt x="570565" y="0"/>
                  </a:lnTo>
                  <a:cubicBezTo>
                    <a:pt x="610642" y="0"/>
                    <a:pt x="643131" y="32489"/>
                    <a:pt x="643131" y="72566"/>
                  </a:cubicBezTo>
                  <a:lnTo>
                    <a:pt x="643131" y="345668"/>
                  </a:lnTo>
                  <a:cubicBezTo>
                    <a:pt x="643131" y="364914"/>
                    <a:pt x="635486" y="383371"/>
                    <a:pt x="621877" y="396980"/>
                  </a:cubicBezTo>
                  <a:cubicBezTo>
                    <a:pt x="608268" y="410589"/>
                    <a:pt x="589811" y="418234"/>
                    <a:pt x="570565" y="418234"/>
                  </a:cubicBezTo>
                  <a:lnTo>
                    <a:pt x="72566" y="418234"/>
                  </a:lnTo>
                  <a:cubicBezTo>
                    <a:pt x="53320" y="418234"/>
                    <a:pt x="34863" y="410589"/>
                    <a:pt x="21254" y="396980"/>
                  </a:cubicBezTo>
                  <a:cubicBezTo>
                    <a:pt x="7645" y="383371"/>
                    <a:pt x="0" y="364914"/>
                    <a:pt x="0" y="345668"/>
                  </a:cubicBezTo>
                  <a:lnTo>
                    <a:pt x="0" y="72566"/>
                  </a:lnTo>
                  <a:cubicBezTo>
                    <a:pt x="0" y="53320"/>
                    <a:pt x="7645" y="34863"/>
                    <a:pt x="21254" y="21254"/>
                  </a:cubicBezTo>
                  <a:cubicBezTo>
                    <a:pt x="34863" y="7645"/>
                    <a:pt x="53320" y="0"/>
                    <a:pt x="72566" y="0"/>
                  </a:cubicBezTo>
                  <a:close/>
                </a:path>
              </a:pathLst>
            </a:custGeom>
            <a:solidFill>
              <a:srgbClr val="000000">
                <a:alpha val="0"/>
              </a:srgbClr>
            </a:solidFill>
            <a:ln w="38100" cap="rnd">
              <a:solidFill>
                <a:srgbClr val="000000"/>
              </a:solidFill>
              <a:prstDash val="solid"/>
              <a:round/>
            </a:ln>
          </p:spPr>
        </p:sp>
        <p:sp>
          <p:nvSpPr>
            <p:cNvPr id="68" name="TextBox 68"/>
            <p:cNvSpPr txBox="1"/>
            <p:nvPr/>
          </p:nvSpPr>
          <p:spPr>
            <a:xfrm>
              <a:off x="0" y="-9525"/>
              <a:ext cx="643131"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Decision Weighting</a:t>
              </a:r>
            </a:p>
          </p:txBody>
        </p:sp>
      </p:grpSp>
      <p:grpSp>
        <p:nvGrpSpPr>
          <p:cNvPr id="69" name="Group 69"/>
          <p:cNvGrpSpPr/>
          <p:nvPr/>
        </p:nvGrpSpPr>
        <p:grpSpPr>
          <a:xfrm>
            <a:off x="1560873" y="2573775"/>
            <a:ext cx="14510105" cy="6960750"/>
            <a:chOff x="0" y="0"/>
            <a:chExt cx="790984" cy="379449"/>
          </a:xfrm>
        </p:grpSpPr>
        <p:sp>
          <p:nvSpPr>
            <p:cNvPr id="70" name="Freeform 70"/>
            <p:cNvSpPr/>
            <p:nvPr/>
          </p:nvSpPr>
          <p:spPr>
            <a:xfrm>
              <a:off x="0" y="0"/>
              <a:ext cx="790984" cy="379449"/>
            </a:xfrm>
            <a:custGeom>
              <a:avLst/>
              <a:gdLst/>
              <a:ahLst/>
              <a:cxnLst/>
              <a:rect l="l" t="t" r="r" b="b"/>
              <a:pathLst>
                <a:path w="790984" h="379449">
                  <a:moveTo>
                    <a:pt x="10421" y="0"/>
                  </a:moveTo>
                  <a:lnTo>
                    <a:pt x="780563" y="0"/>
                  </a:lnTo>
                  <a:cubicBezTo>
                    <a:pt x="783327" y="0"/>
                    <a:pt x="785978" y="1098"/>
                    <a:pt x="787932" y="3052"/>
                  </a:cubicBezTo>
                  <a:cubicBezTo>
                    <a:pt x="789886" y="5007"/>
                    <a:pt x="790984" y="7657"/>
                    <a:pt x="790984" y="10421"/>
                  </a:cubicBezTo>
                  <a:lnTo>
                    <a:pt x="790984" y="369028"/>
                  </a:lnTo>
                  <a:cubicBezTo>
                    <a:pt x="790984" y="371792"/>
                    <a:pt x="789886" y="374442"/>
                    <a:pt x="787932" y="376397"/>
                  </a:cubicBezTo>
                  <a:cubicBezTo>
                    <a:pt x="785978" y="378351"/>
                    <a:pt x="783327" y="379449"/>
                    <a:pt x="780563" y="379449"/>
                  </a:cubicBezTo>
                  <a:lnTo>
                    <a:pt x="10421" y="379449"/>
                  </a:lnTo>
                  <a:cubicBezTo>
                    <a:pt x="7657" y="379449"/>
                    <a:pt x="5007" y="378351"/>
                    <a:pt x="3052" y="376397"/>
                  </a:cubicBezTo>
                  <a:cubicBezTo>
                    <a:pt x="1098" y="374442"/>
                    <a:pt x="0" y="371792"/>
                    <a:pt x="0" y="369028"/>
                  </a:cubicBezTo>
                  <a:lnTo>
                    <a:pt x="0" y="10421"/>
                  </a:lnTo>
                  <a:cubicBezTo>
                    <a:pt x="0" y="7657"/>
                    <a:pt x="1098" y="5007"/>
                    <a:pt x="3052" y="3052"/>
                  </a:cubicBezTo>
                  <a:cubicBezTo>
                    <a:pt x="5007" y="1098"/>
                    <a:pt x="7657" y="0"/>
                    <a:pt x="10421" y="0"/>
                  </a:cubicBezTo>
                  <a:close/>
                </a:path>
              </a:pathLst>
            </a:custGeom>
            <a:solidFill>
              <a:srgbClr val="000000">
                <a:alpha val="0"/>
              </a:srgbClr>
            </a:solidFill>
            <a:ln w="38100" cap="rnd">
              <a:solidFill>
                <a:srgbClr val="000000"/>
              </a:solidFill>
              <a:prstDash val="solid"/>
              <a:round/>
            </a:ln>
          </p:spPr>
        </p:sp>
        <p:sp>
          <p:nvSpPr>
            <p:cNvPr id="71" name="TextBox 71"/>
            <p:cNvSpPr txBox="1"/>
            <p:nvPr/>
          </p:nvSpPr>
          <p:spPr>
            <a:xfrm>
              <a:off x="0" y="-9525"/>
              <a:ext cx="790984" cy="388974"/>
            </a:xfrm>
            <a:prstGeom prst="rect">
              <a:avLst/>
            </a:prstGeom>
          </p:spPr>
          <p:txBody>
            <a:bodyPr lIns="50800" tIns="50800" rIns="50800" bIns="50800" rtlCol="0" anchor="ctr"/>
            <a:lstStyle/>
            <a:p>
              <a:pPr algn="ctr">
                <a:lnSpc>
                  <a:spcPts val="2879"/>
                </a:lnSpc>
              </a:pPr>
              <a:endParaRPr/>
            </a:p>
          </p:txBody>
        </p:sp>
      </p:grpSp>
      <p:grpSp>
        <p:nvGrpSpPr>
          <p:cNvPr id="72" name="Group 72"/>
          <p:cNvGrpSpPr/>
          <p:nvPr/>
        </p:nvGrpSpPr>
        <p:grpSpPr>
          <a:xfrm rot="-10800000">
            <a:off x="10236925" y="6429119"/>
            <a:ext cx="4652330" cy="47625"/>
            <a:chOff x="0" y="0"/>
            <a:chExt cx="1225305" cy="12543"/>
          </a:xfrm>
        </p:grpSpPr>
        <p:sp>
          <p:nvSpPr>
            <p:cNvPr id="73" name="Freeform 73"/>
            <p:cNvSpPr/>
            <p:nvPr/>
          </p:nvSpPr>
          <p:spPr>
            <a:xfrm>
              <a:off x="0" y="0"/>
              <a:ext cx="1225305" cy="12543"/>
            </a:xfrm>
            <a:custGeom>
              <a:avLst/>
              <a:gdLst/>
              <a:ahLst/>
              <a:cxnLst/>
              <a:rect l="l" t="t" r="r" b="b"/>
              <a:pathLst>
                <a:path w="1225305" h="12543">
                  <a:moveTo>
                    <a:pt x="0" y="0"/>
                  </a:moveTo>
                  <a:lnTo>
                    <a:pt x="1225305" y="0"/>
                  </a:lnTo>
                  <a:lnTo>
                    <a:pt x="1225305" y="12543"/>
                  </a:lnTo>
                  <a:lnTo>
                    <a:pt x="0" y="12543"/>
                  </a:lnTo>
                  <a:close/>
                </a:path>
              </a:pathLst>
            </a:custGeom>
            <a:solidFill>
              <a:srgbClr val="000000"/>
            </a:solidFill>
          </p:spPr>
        </p:sp>
        <p:sp>
          <p:nvSpPr>
            <p:cNvPr id="74" name="TextBox 74"/>
            <p:cNvSpPr txBox="1"/>
            <p:nvPr/>
          </p:nvSpPr>
          <p:spPr>
            <a:xfrm>
              <a:off x="0" y="-38100"/>
              <a:ext cx="1225305" cy="50643"/>
            </a:xfrm>
            <a:prstGeom prst="rect">
              <a:avLst/>
            </a:prstGeom>
          </p:spPr>
          <p:txBody>
            <a:bodyPr lIns="50800" tIns="50800" rIns="50800" bIns="50800" rtlCol="0" anchor="ctr"/>
            <a:lstStyle/>
            <a:p>
              <a:pPr algn="ctr">
                <a:lnSpc>
                  <a:spcPts val="2160"/>
                </a:lnSpc>
              </a:pPr>
              <a:endParaRPr/>
            </a:p>
          </p:txBody>
        </p:sp>
      </p:grpSp>
      <p:grpSp>
        <p:nvGrpSpPr>
          <p:cNvPr id="75" name="Group 75"/>
          <p:cNvGrpSpPr/>
          <p:nvPr/>
        </p:nvGrpSpPr>
        <p:grpSpPr>
          <a:xfrm rot="-10800000">
            <a:off x="10213113" y="5821040"/>
            <a:ext cx="47625" cy="1346307"/>
            <a:chOff x="0" y="0"/>
            <a:chExt cx="12543" cy="354583"/>
          </a:xfrm>
        </p:grpSpPr>
        <p:sp>
          <p:nvSpPr>
            <p:cNvPr id="76" name="Freeform 76"/>
            <p:cNvSpPr/>
            <p:nvPr/>
          </p:nvSpPr>
          <p:spPr>
            <a:xfrm>
              <a:off x="0" y="0"/>
              <a:ext cx="12543" cy="354583"/>
            </a:xfrm>
            <a:custGeom>
              <a:avLst/>
              <a:gdLst/>
              <a:ahLst/>
              <a:cxnLst/>
              <a:rect l="l" t="t" r="r" b="b"/>
              <a:pathLst>
                <a:path w="12543" h="354583">
                  <a:moveTo>
                    <a:pt x="0" y="0"/>
                  </a:moveTo>
                  <a:lnTo>
                    <a:pt x="12543" y="0"/>
                  </a:lnTo>
                  <a:lnTo>
                    <a:pt x="12543" y="354583"/>
                  </a:lnTo>
                  <a:lnTo>
                    <a:pt x="0" y="354583"/>
                  </a:lnTo>
                  <a:close/>
                </a:path>
              </a:pathLst>
            </a:custGeom>
            <a:solidFill>
              <a:srgbClr val="000000"/>
            </a:solidFill>
          </p:spPr>
        </p:sp>
        <p:sp>
          <p:nvSpPr>
            <p:cNvPr id="77" name="TextBox 77"/>
            <p:cNvSpPr txBox="1"/>
            <p:nvPr/>
          </p:nvSpPr>
          <p:spPr>
            <a:xfrm>
              <a:off x="0" y="-38100"/>
              <a:ext cx="12543" cy="392683"/>
            </a:xfrm>
            <a:prstGeom prst="rect">
              <a:avLst/>
            </a:prstGeom>
          </p:spPr>
          <p:txBody>
            <a:bodyPr lIns="50800" tIns="50800" rIns="50800" bIns="50800" rtlCol="0" anchor="ctr"/>
            <a:lstStyle/>
            <a:p>
              <a:pPr algn="ctr">
                <a:lnSpc>
                  <a:spcPts val="2160"/>
                </a:lnSpc>
              </a:pPr>
              <a:endParaRPr/>
            </a:p>
          </p:txBody>
        </p:sp>
      </p:grpSp>
      <p:grpSp>
        <p:nvGrpSpPr>
          <p:cNvPr id="78" name="Group 78"/>
          <p:cNvGrpSpPr/>
          <p:nvPr/>
        </p:nvGrpSpPr>
        <p:grpSpPr>
          <a:xfrm rot="-10800000">
            <a:off x="12559018" y="6452931"/>
            <a:ext cx="47625" cy="749478"/>
            <a:chOff x="0" y="0"/>
            <a:chExt cx="12543" cy="197393"/>
          </a:xfrm>
        </p:grpSpPr>
        <p:sp>
          <p:nvSpPr>
            <p:cNvPr id="79" name="Freeform 79"/>
            <p:cNvSpPr/>
            <p:nvPr/>
          </p:nvSpPr>
          <p:spPr>
            <a:xfrm>
              <a:off x="0" y="0"/>
              <a:ext cx="12543" cy="197393"/>
            </a:xfrm>
            <a:custGeom>
              <a:avLst/>
              <a:gdLst/>
              <a:ahLst/>
              <a:cxnLst/>
              <a:rect l="l" t="t" r="r" b="b"/>
              <a:pathLst>
                <a:path w="12543" h="197393">
                  <a:moveTo>
                    <a:pt x="0" y="0"/>
                  </a:moveTo>
                  <a:lnTo>
                    <a:pt x="12543" y="0"/>
                  </a:lnTo>
                  <a:lnTo>
                    <a:pt x="12543" y="197393"/>
                  </a:lnTo>
                  <a:lnTo>
                    <a:pt x="0" y="197393"/>
                  </a:lnTo>
                  <a:close/>
                </a:path>
              </a:pathLst>
            </a:custGeom>
            <a:solidFill>
              <a:srgbClr val="000000"/>
            </a:solidFill>
          </p:spPr>
        </p:sp>
        <p:sp>
          <p:nvSpPr>
            <p:cNvPr id="80" name="TextBox 80"/>
            <p:cNvSpPr txBox="1"/>
            <p:nvPr/>
          </p:nvSpPr>
          <p:spPr>
            <a:xfrm>
              <a:off x="0" y="-38100"/>
              <a:ext cx="12543" cy="235493"/>
            </a:xfrm>
            <a:prstGeom prst="rect">
              <a:avLst/>
            </a:prstGeom>
          </p:spPr>
          <p:txBody>
            <a:bodyPr lIns="50800" tIns="50800" rIns="50800" bIns="50800" rtlCol="0" anchor="ctr"/>
            <a:lstStyle/>
            <a:p>
              <a:pPr algn="ctr">
                <a:lnSpc>
                  <a:spcPts val="2160"/>
                </a:lnSpc>
              </a:pPr>
              <a:endParaRPr/>
            </a:p>
          </p:txBody>
        </p:sp>
      </p:grpSp>
      <p:grpSp>
        <p:nvGrpSpPr>
          <p:cNvPr id="81" name="Group 81"/>
          <p:cNvGrpSpPr/>
          <p:nvPr/>
        </p:nvGrpSpPr>
        <p:grpSpPr>
          <a:xfrm rot="-10800000">
            <a:off x="14841630" y="6476744"/>
            <a:ext cx="47625" cy="725666"/>
            <a:chOff x="0" y="0"/>
            <a:chExt cx="12543" cy="191122"/>
          </a:xfrm>
        </p:grpSpPr>
        <p:sp>
          <p:nvSpPr>
            <p:cNvPr id="82" name="Freeform 82"/>
            <p:cNvSpPr/>
            <p:nvPr/>
          </p:nvSpPr>
          <p:spPr>
            <a:xfrm>
              <a:off x="0" y="0"/>
              <a:ext cx="12543" cy="191122"/>
            </a:xfrm>
            <a:custGeom>
              <a:avLst/>
              <a:gdLst/>
              <a:ahLst/>
              <a:cxnLst/>
              <a:rect l="l" t="t" r="r" b="b"/>
              <a:pathLst>
                <a:path w="12543" h="191122">
                  <a:moveTo>
                    <a:pt x="0" y="0"/>
                  </a:moveTo>
                  <a:lnTo>
                    <a:pt x="12543" y="0"/>
                  </a:lnTo>
                  <a:lnTo>
                    <a:pt x="12543" y="191122"/>
                  </a:lnTo>
                  <a:lnTo>
                    <a:pt x="0" y="191122"/>
                  </a:lnTo>
                  <a:close/>
                </a:path>
              </a:pathLst>
            </a:custGeom>
            <a:solidFill>
              <a:srgbClr val="000000"/>
            </a:solidFill>
          </p:spPr>
        </p:sp>
        <p:sp>
          <p:nvSpPr>
            <p:cNvPr id="83" name="TextBox 83"/>
            <p:cNvSpPr txBox="1"/>
            <p:nvPr/>
          </p:nvSpPr>
          <p:spPr>
            <a:xfrm>
              <a:off x="0" y="-38100"/>
              <a:ext cx="12543" cy="229222"/>
            </a:xfrm>
            <a:prstGeom prst="rect">
              <a:avLst/>
            </a:prstGeom>
          </p:spPr>
          <p:txBody>
            <a:bodyPr lIns="50800" tIns="50800" rIns="50800" bIns="50800" rtlCol="0" anchor="ctr"/>
            <a:lstStyle/>
            <a:p>
              <a:pPr algn="ctr">
                <a:lnSpc>
                  <a:spcPts val="2160"/>
                </a:lnSpc>
              </a:pPr>
              <a:endParaRPr/>
            </a:p>
          </p:txBody>
        </p:sp>
      </p:grpSp>
      <p:grpSp>
        <p:nvGrpSpPr>
          <p:cNvPr id="84" name="Group 84"/>
          <p:cNvGrpSpPr/>
          <p:nvPr/>
        </p:nvGrpSpPr>
        <p:grpSpPr>
          <a:xfrm>
            <a:off x="9386831" y="7167347"/>
            <a:ext cx="1915779" cy="2114042"/>
            <a:chOff x="0" y="0"/>
            <a:chExt cx="591290" cy="652482"/>
          </a:xfrm>
        </p:grpSpPr>
        <p:sp>
          <p:nvSpPr>
            <p:cNvPr id="85" name="Freeform 85"/>
            <p:cNvSpPr/>
            <p:nvPr/>
          </p:nvSpPr>
          <p:spPr>
            <a:xfrm>
              <a:off x="0" y="0"/>
              <a:ext cx="591290" cy="652482"/>
            </a:xfrm>
            <a:custGeom>
              <a:avLst/>
              <a:gdLst/>
              <a:ahLst/>
              <a:cxnLst/>
              <a:rect l="l" t="t" r="r" b="b"/>
              <a:pathLst>
                <a:path w="591290" h="652482">
                  <a:moveTo>
                    <a:pt x="78928" y="0"/>
                  </a:moveTo>
                  <a:lnTo>
                    <a:pt x="512361" y="0"/>
                  </a:lnTo>
                  <a:cubicBezTo>
                    <a:pt x="555952" y="0"/>
                    <a:pt x="591290" y="35337"/>
                    <a:pt x="591290" y="78928"/>
                  </a:cubicBezTo>
                  <a:lnTo>
                    <a:pt x="591290" y="573554"/>
                  </a:lnTo>
                  <a:cubicBezTo>
                    <a:pt x="591290" y="594487"/>
                    <a:pt x="582974" y="614562"/>
                    <a:pt x="568172" y="629364"/>
                  </a:cubicBezTo>
                  <a:cubicBezTo>
                    <a:pt x="553370" y="644166"/>
                    <a:pt x="533295" y="652482"/>
                    <a:pt x="512361" y="652482"/>
                  </a:cubicBezTo>
                  <a:lnTo>
                    <a:pt x="78928" y="652482"/>
                  </a:lnTo>
                  <a:cubicBezTo>
                    <a:pt x="35337" y="652482"/>
                    <a:pt x="0" y="617145"/>
                    <a:pt x="0" y="573554"/>
                  </a:cubicBezTo>
                  <a:lnTo>
                    <a:pt x="0" y="78928"/>
                  </a:lnTo>
                  <a:cubicBezTo>
                    <a:pt x="0" y="35337"/>
                    <a:pt x="35337" y="0"/>
                    <a:pt x="78928" y="0"/>
                  </a:cubicBezTo>
                  <a:close/>
                </a:path>
              </a:pathLst>
            </a:custGeom>
            <a:solidFill>
              <a:srgbClr val="000000">
                <a:alpha val="0"/>
              </a:srgbClr>
            </a:solidFill>
            <a:ln w="38100" cap="rnd">
              <a:solidFill>
                <a:srgbClr val="000000"/>
              </a:solidFill>
              <a:prstDash val="solid"/>
              <a:round/>
            </a:ln>
          </p:spPr>
        </p:sp>
        <p:sp>
          <p:nvSpPr>
            <p:cNvPr id="86" name="TextBox 86"/>
            <p:cNvSpPr txBox="1"/>
            <p:nvPr/>
          </p:nvSpPr>
          <p:spPr>
            <a:xfrm>
              <a:off x="0" y="-9525"/>
              <a:ext cx="591290" cy="662007"/>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Usage of </a:t>
              </a:r>
            </a:p>
            <a:p>
              <a:pPr algn="ctr">
                <a:lnSpc>
                  <a:spcPts val="2879"/>
                </a:lnSpc>
              </a:pPr>
              <a:r>
                <a:rPr lang="en-US" sz="2399">
                  <a:solidFill>
                    <a:srgbClr val="000000"/>
                  </a:solidFill>
                  <a:latin typeface="Times New Roman"/>
                  <a:ea typeface="Times New Roman"/>
                  <a:cs typeface="Times New Roman"/>
                  <a:sym typeface="Times New Roman"/>
                </a:rPr>
                <a:t>Self-Attention Mechanism</a:t>
              </a:r>
            </a:p>
          </p:txBody>
        </p:sp>
      </p:grpSp>
      <p:grpSp>
        <p:nvGrpSpPr>
          <p:cNvPr id="87" name="Group 87"/>
          <p:cNvGrpSpPr/>
          <p:nvPr/>
        </p:nvGrpSpPr>
        <p:grpSpPr>
          <a:xfrm>
            <a:off x="11502635" y="7202409"/>
            <a:ext cx="2112765" cy="2078979"/>
            <a:chOff x="0" y="0"/>
            <a:chExt cx="652088" cy="641660"/>
          </a:xfrm>
        </p:grpSpPr>
        <p:sp>
          <p:nvSpPr>
            <p:cNvPr id="88" name="Freeform 88"/>
            <p:cNvSpPr/>
            <p:nvPr/>
          </p:nvSpPr>
          <p:spPr>
            <a:xfrm>
              <a:off x="0" y="0"/>
              <a:ext cx="652088" cy="641660"/>
            </a:xfrm>
            <a:custGeom>
              <a:avLst/>
              <a:gdLst/>
              <a:ahLst/>
              <a:cxnLst/>
              <a:rect l="l" t="t" r="r" b="b"/>
              <a:pathLst>
                <a:path w="652088" h="641660">
                  <a:moveTo>
                    <a:pt x="71569" y="0"/>
                  </a:moveTo>
                  <a:lnTo>
                    <a:pt x="580519" y="0"/>
                  </a:lnTo>
                  <a:cubicBezTo>
                    <a:pt x="620045" y="0"/>
                    <a:pt x="652088" y="32043"/>
                    <a:pt x="652088" y="71569"/>
                  </a:cubicBezTo>
                  <a:lnTo>
                    <a:pt x="652088" y="570091"/>
                  </a:lnTo>
                  <a:cubicBezTo>
                    <a:pt x="652088" y="609618"/>
                    <a:pt x="620045" y="641660"/>
                    <a:pt x="580519" y="641660"/>
                  </a:cubicBezTo>
                  <a:lnTo>
                    <a:pt x="71569" y="641660"/>
                  </a:lnTo>
                  <a:cubicBezTo>
                    <a:pt x="32043" y="641660"/>
                    <a:pt x="0" y="609618"/>
                    <a:pt x="0" y="570091"/>
                  </a:cubicBezTo>
                  <a:lnTo>
                    <a:pt x="0" y="71569"/>
                  </a:lnTo>
                  <a:cubicBezTo>
                    <a:pt x="0" y="32043"/>
                    <a:pt x="32043" y="0"/>
                    <a:pt x="71569" y="0"/>
                  </a:cubicBezTo>
                  <a:close/>
                </a:path>
              </a:pathLst>
            </a:custGeom>
            <a:solidFill>
              <a:srgbClr val="000000">
                <a:alpha val="0"/>
              </a:srgbClr>
            </a:solidFill>
            <a:ln w="38100" cap="rnd">
              <a:solidFill>
                <a:srgbClr val="000000"/>
              </a:solidFill>
              <a:prstDash val="solid"/>
              <a:round/>
            </a:ln>
          </p:spPr>
        </p:sp>
        <p:sp>
          <p:nvSpPr>
            <p:cNvPr id="89" name="TextBox 89"/>
            <p:cNvSpPr txBox="1"/>
            <p:nvPr/>
          </p:nvSpPr>
          <p:spPr>
            <a:xfrm>
              <a:off x="0" y="-9525"/>
              <a:ext cx="652088" cy="651185"/>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Dynamic Weight Shifting based on </a:t>
              </a:r>
            </a:p>
            <a:p>
              <a:pPr algn="ctr">
                <a:lnSpc>
                  <a:spcPts val="2879"/>
                </a:lnSpc>
              </a:pPr>
              <a:r>
                <a:rPr lang="en-US" sz="2399">
                  <a:solidFill>
                    <a:srgbClr val="000000"/>
                  </a:solidFill>
                  <a:latin typeface="Times New Roman"/>
                  <a:ea typeface="Times New Roman"/>
                  <a:cs typeface="Times New Roman"/>
                  <a:sym typeface="Times New Roman"/>
                </a:rPr>
                <a:t>Label-Encoded values</a:t>
              </a:r>
            </a:p>
          </p:txBody>
        </p:sp>
      </p:grpSp>
      <p:grpSp>
        <p:nvGrpSpPr>
          <p:cNvPr id="90" name="Group 90"/>
          <p:cNvGrpSpPr/>
          <p:nvPr/>
        </p:nvGrpSpPr>
        <p:grpSpPr>
          <a:xfrm>
            <a:off x="13796191" y="7202409"/>
            <a:ext cx="2090878" cy="2078979"/>
            <a:chOff x="0" y="0"/>
            <a:chExt cx="645333" cy="641660"/>
          </a:xfrm>
        </p:grpSpPr>
        <p:sp>
          <p:nvSpPr>
            <p:cNvPr id="91" name="Freeform 91"/>
            <p:cNvSpPr/>
            <p:nvPr/>
          </p:nvSpPr>
          <p:spPr>
            <a:xfrm>
              <a:off x="0" y="0"/>
              <a:ext cx="645333" cy="641660"/>
            </a:xfrm>
            <a:custGeom>
              <a:avLst/>
              <a:gdLst/>
              <a:ahLst/>
              <a:cxnLst/>
              <a:rect l="l" t="t" r="r" b="b"/>
              <a:pathLst>
                <a:path w="645333" h="641660">
                  <a:moveTo>
                    <a:pt x="72319" y="0"/>
                  </a:moveTo>
                  <a:lnTo>
                    <a:pt x="573014" y="0"/>
                  </a:lnTo>
                  <a:cubicBezTo>
                    <a:pt x="592194" y="0"/>
                    <a:pt x="610589" y="7619"/>
                    <a:pt x="624151" y="21182"/>
                  </a:cubicBezTo>
                  <a:cubicBezTo>
                    <a:pt x="637713" y="34744"/>
                    <a:pt x="645333" y="53139"/>
                    <a:pt x="645333" y="72319"/>
                  </a:cubicBezTo>
                  <a:lnTo>
                    <a:pt x="645333" y="569342"/>
                  </a:lnTo>
                  <a:cubicBezTo>
                    <a:pt x="645333" y="609282"/>
                    <a:pt x="612955" y="641660"/>
                    <a:pt x="573014" y="641660"/>
                  </a:cubicBezTo>
                  <a:lnTo>
                    <a:pt x="72319" y="641660"/>
                  </a:lnTo>
                  <a:cubicBezTo>
                    <a:pt x="32378" y="641660"/>
                    <a:pt x="0" y="609282"/>
                    <a:pt x="0" y="569342"/>
                  </a:cubicBezTo>
                  <a:lnTo>
                    <a:pt x="0" y="72319"/>
                  </a:lnTo>
                  <a:cubicBezTo>
                    <a:pt x="0" y="32378"/>
                    <a:pt x="32378" y="0"/>
                    <a:pt x="72319" y="0"/>
                  </a:cubicBezTo>
                  <a:close/>
                </a:path>
              </a:pathLst>
            </a:custGeom>
            <a:solidFill>
              <a:srgbClr val="000000">
                <a:alpha val="0"/>
              </a:srgbClr>
            </a:solidFill>
            <a:ln w="38100" cap="rnd">
              <a:solidFill>
                <a:srgbClr val="000000"/>
              </a:solidFill>
              <a:prstDash val="solid"/>
              <a:round/>
            </a:ln>
          </p:spPr>
        </p:sp>
        <p:sp>
          <p:nvSpPr>
            <p:cNvPr id="92" name="TextBox 92"/>
            <p:cNvSpPr txBox="1"/>
            <p:nvPr/>
          </p:nvSpPr>
          <p:spPr>
            <a:xfrm>
              <a:off x="0" y="-9525"/>
              <a:ext cx="645333" cy="651185"/>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Evaluation of Loss function per Epoch</a:t>
              </a:r>
            </a:p>
          </p:txBody>
        </p:sp>
      </p:grpSp>
      <p:sp>
        <p:nvSpPr>
          <p:cNvPr id="93" name="TextBox 93"/>
          <p:cNvSpPr txBox="1"/>
          <p:nvPr/>
        </p:nvSpPr>
        <p:spPr>
          <a:xfrm>
            <a:off x="3895765" y="5259065"/>
            <a:ext cx="1702139" cy="1447800"/>
          </a:xfrm>
          <a:prstGeom prst="rect">
            <a:avLst/>
          </a:prstGeom>
        </p:spPr>
        <p:txBody>
          <a:bodyPr lIns="0" tIns="0" rIns="0" bIns="0" rtlCol="0" anchor="t">
            <a:spAutoFit/>
          </a:bodyPr>
          <a:lstStyle/>
          <a:p>
            <a:pPr algn="ctr">
              <a:lnSpc>
                <a:spcPts val="1917"/>
              </a:lnSpc>
            </a:pPr>
            <a:r>
              <a:rPr lang="en-US" sz="1597">
                <a:solidFill>
                  <a:srgbClr val="000000"/>
                </a:solidFill>
                <a:latin typeface="Times New Roman"/>
                <a:ea typeface="Times New Roman"/>
                <a:cs typeface="Times New Roman"/>
                <a:sym typeface="Times New Roman"/>
              </a:rPr>
              <a:t>Latent User and Item Embedding / Vectors</a:t>
            </a:r>
          </a:p>
          <a:p>
            <a:pPr algn="ctr">
              <a:lnSpc>
                <a:spcPts val="1917"/>
              </a:lnSpc>
              <a:spcBef>
                <a:spcPct val="0"/>
              </a:spcBef>
            </a:pPr>
            <a:r>
              <a:rPr lang="en-US" sz="1597">
                <a:solidFill>
                  <a:srgbClr val="000000"/>
                </a:solidFill>
                <a:latin typeface="Times New Roman"/>
                <a:ea typeface="Times New Roman"/>
                <a:cs typeface="Times New Roman"/>
                <a:sym typeface="Times New Roman"/>
              </a:rPr>
              <a:t>(Matrix Factorization Model)</a:t>
            </a:r>
          </a:p>
        </p:txBody>
      </p:sp>
      <p:sp>
        <p:nvSpPr>
          <p:cNvPr id="94" name="TextBox 94"/>
          <p:cNvSpPr txBox="1"/>
          <p:nvPr/>
        </p:nvSpPr>
        <p:spPr>
          <a:xfrm>
            <a:off x="7710225" y="5259065"/>
            <a:ext cx="1476335" cy="733425"/>
          </a:xfrm>
          <a:prstGeom prst="rect">
            <a:avLst/>
          </a:prstGeom>
        </p:spPr>
        <p:txBody>
          <a:bodyPr lIns="0" tIns="0" rIns="0" bIns="0" rtlCol="0" anchor="t">
            <a:spAutoFit/>
          </a:bodyPr>
          <a:lstStyle/>
          <a:p>
            <a:pPr algn="ctr">
              <a:lnSpc>
                <a:spcPts val="1917"/>
              </a:lnSpc>
            </a:pPr>
            <a:r>
              <a:rPr lang="en-US" sz="1597">
                <a:solidFill>
                  <a:srgbClr val="000000"/>
                </a:solidFill>
                <a:latin typeface="Times New Roman"/>
                <a:ea typeface="Times New Roman"/>
                <a:cs typeface="Times New Roman"/>
                <a:sym typeface="Times New Roman"/>
              </a:rPr>
              <a:t>User</a:t>
            </a:r>
          </a:p>
          <a:p>
            <a:pPr algn="ctr">
              <a:lnSpc>
                <a:spcPts val="1917"/>
              </a:lnSpc>
              <a:spcBef>
                <a:spcPct val="0"/>
              </a:spcBef>
            </a:pPr>
            <a:r>
              <a:rPr lang="en-US" sz="1597">
                <a:solidFill>
                  <a:srgbClr val="000000"/>
                </a:solidFill>
                <a:latin typeface="Times New Roman"/>
                <a:ea typeface="Times New Roman"/>
                <a:cs typeface="Times New Roman"/>
                <a:sym typeface="Times New Roman"/>
              </a:rPr>
              <a:t>Preference Embedding</a:t>
            </a:r>
          </a:p>
        </p:txBody>
      </p:sp>
      <p:sp>
        <p:nvSpPr>
          <p:cNvPr id="95" name="Freeform 95"/>
          <p:cNvSpPr/>
          <p:nvPr/>
        </p:nvSpPr>
        <p:spPr>
          <a:xfrm>
            <a:off x="14563490"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6" name="Group 96"/>
          <p:cNvGrpSpPr/>
          <p:nvPr/>
        </p:nvGrpSpPr>
        <p:grpSpPr>
          <a:xfrm>
            <a:off x="3895765" y="5103507"/>
            <a:ext cx="1476335" cy="79230"/>
            <a:chOff x="0" y="0"/>
            <a:chExt cx="388829" cy="20867"/>
          </a:xfrm>
        </p:grpSpPr>
        <p:sp>
          <p:nvSpPr>
            <p:cNvPr id="97" name="Freeform 97"/>
            <p:cNvSpPr/>
            <p:nvPr/>
          </p:nvSpPr>
          <p:spPr>
            <a:xfrm>
              <a:off x="0" y="0"/>
              <a:ext cx="388829" cy="20867"/>
            </a:xfrm>
            <a:custGeom>
              <a:avLst/>
              <a:gdLst/>
              <a:ahLst/>
              <a:cxnLst/>
              <a:rect l="l" t="t" r="r" b="b"/>
              <a:pathLst>
                <a:path w="388829" h="20867">
                  <a:moveTo>
                    <a:pt x="0" y="0"/>
                  </a:moveTo>
                  <a:lnTo>
                    <a:pt x="388829" y="0"/>
                  </a:lnTo>
                  <a:lnTo>
                    <a:pt x="388829" y="20867"/>
                  </a:lnTo>
                  <a:lnTo>
                    <a:pt x="0" y="20867"/>
                  </a:lnTo>
                  <a:close/>
                </a:path>
              </a:pathLst>
            </a:custGeom>
            <a:solidFill>
              <a:srgbClr val="000000"/>
            </a:solidFill>
          </p:spPr>
        </p:sp>
        <p:sp>
          <p:nvSpPr>
            <p:cNvPr id="98" name="TextBox 98"/>
            <p:cNvSpPr txBox="1"/>
            <p:nvPr/>
          </p:nvSpPr>
          <p:spPr>
            <a:xfrm>
              <a:off x="0" y="-19050"/>
              <a:ext cx="388829" cy="39917"/>
            </a:xfrm>
            <a:prstGeom prst="rect">
              <a:avLst/>
            </a:prstGeom>
          </p:spPr>
          <p:txBody>
            <a:bodyPr lIns="50800" tIns="50800" rIns="50800" bIns="50800" rtlCol="0" anchor="ctr"/>
            <a:lstStyle/>
            <a:p>
              <a:pPr algn="ctr">
                <a:lnSpc>
                  <a:spcPts val="2160"/>
                </a:lnSpc>
              </a:pPr>
              <a:endParaRPr/>
            </a:p>
          </p:txBody>
        </p:sp>
      </p:grpSp>
      <p:grpSp>
        <p:nvGrpSpPr>
          <p:cNvPr id="99" name="Group 99"/>
          <p:cNvGrpSpPr/>
          <p:nvPr/>
        </p:nvGrpSpPr>
        <p:grpSpPr>
          <a:xfrm>
            <a:off x="11302610" y="5108108"/>
            <a:ext cx="4317478" cy="74629"/>
            <a:chOff x="0" y="0"/>
            <a:chExt cx="1137114" cy="19655"/>
          </a:xfrm>
        </p:grpSpPr>
        <p:sp>
          <p:nvSpPr>
            <p:cNvPr id="100" name="Freeform 100"/>
            <p:cNvSpPr/>
            <p:nvPr/>
          </p:nvSpPr>
          <p:spPr>
            <a:xfrm>
              <a:off x="0" y="0"/>
              <a:ext cx="1137114" cy="19655"/>
            </a:xfrm>
            <a:custGeom>
              <a:avLst/>
              <a:gdLst/>
              <a:ahLst/>
              <a:cxnLst/>
              <a:rect l="l" t="t" r="r" b="b"/>
              <a:pathLst>
                <a:path w="1137114" h="19655">
                  <a:moveTo>
                    <a:pt x="0" y="0"/>
                  </a:moveTo>
                  <a:lnTo>
                    <a:pt x="1137114" y="0"/>
                  </a:lnTo>
                  <a:lnTo>
                    <a:pt x="1137114" y="19655"/>
                  </a:lnTo>
                  <a:lnTo>
                    <a:pt x="0" y="19655"/>
                  </a:lnTo>
                  <a:close/>
                </a:path>
              </a:pathLst>
            </a:custGeom>
            <a:solidFill>
              <a:srgbClr val="000000"/>
            </a:solidFill>
          </p:spPr>
        </p:sp>
        <p:sp>
          <p:nvSpPr>
            <p:cNvPr id="101" name="TextBox 101"/>
            <p:cNvSpPr txBox="1"/>
            <p:nvPr/>
          </p:nvSpPr>
          <p:spPr>
            <a:xfrm>
              <a:off x="0" y="-19050"/>
              <a:ext cx="1137114" cy="38705"/>
            </a:xfrm>
            <a:prstGeom prst="rect">
              <a:avLst/>
            </a:prstGeom>
          </p:spPr>
          <p:txBody>
            <a:bodyPr lIns="50800" tIns="50800" rIns="50800" bIns="50800" rtlCol="0" anchor="ctr"/>
            <a:lstStyle/>
            <a:p>
              <a:pPr algn="ctr">
                <a:lnSpc>
                  <a:spcPts val="2160"/>
                </a:lnSpc>
              </a:pPr>
              <a:endParaRPr/>
            </a:p>
          </p:txBody>
        </p:sp>
      </p:grpSp>
      <p:sp>
        <p:nvSpPr>
          <p:cNvPr id="102" name="TextBox 102"/>
          <p:cNvSpPr txBox="1"/>
          <p:nvPr/>
        </p:nvSpPr>
        <p:spPr>
          <a:xfrm>
            <a:off x="12493235" y="5259065"/>
            <a:ext cx="1476335" cy="495300"/>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Sequence Model and Mappings</a:t>
            </a:r>
          </a:p>
        </p:txBody>
      </p:sp>
      <p:grpSp>
        <p:nvGrpSpPr>
          <p:cNvPr id="103" name="Group 103"/>
          <p:cNvGrpSpPr/>
          <p:nvPr/>
        </p:nvGrpSpPr>
        <p:grpSpPr>
          <a:xfrm>
            <a:off x="16070978" y="5108108"/>
            <a:ext cx="4251944" cy="78474"/>
            <a:chOff x="0" y="0"/>
            <a:chExt cx="1119854" cy="20668"/>
          </a:xfrm>
        </p:grpSpPr>
        <p:sp>
          <p:nvSpPr>
            <p:cNvPr id="104" name="Freeform 104"/>
            <p:cNvSpPr/>
            <p:nvPr/>
          </p:nvSpPr>
          <p:spPr>
            <a:xfrm>
              <a:off x="0" y="0"/>
              <a:ext cx="1119854" cy="20668"/>
            </a:xfrm>
            <a:custGeom>
              <a:avLst/>
              <a:gdLst/>
              <a:ahLst/>
              <a:cxnLst/>
              <a:rect l="l" t="t" r="r" b="b"/>
              <a:pathLst>
                <a:path w="1119854" h="20668">
                  <a:moveTo>
                    <a:pt x="0" y="0"/>
                  </a:moveTo>
                  <a:lnTo>
                    <a:pt x="1119854" y="0"/>
                  </a:lnTo>
                  <a:lnTo>
                    <a:pt x="1119854" y="20668"/>
                  </a:lnTo>
                  <a:lnTo>
                    <a:pt x="0" y="20668"/>
                  </a:lnTo>
                  <a:close/>
                </a:path>
              </a:pathLst>
            </a:custGeom>
            <a:solidFill>
              <a:srgbClr val="000000"/>
            </a:solidFill>
          </p:spPr>
        </p:sp>
        <p:sp>
          <p:nvSpPr>
            <p:cNvPr id="105" name="TextBox 105"/>
            <p:cNvSpPr txBox="1"/>
            <p:nvPr/>
          </p:nvSpPr>
          <p:spPr>
            <a:xfrm>
              <a:off x="0" y="-19050"/>
              <a:ext cx="1119854" cy="39718"/>
            </a:xfrm>
            <a:prstGeom prst="rect">
              <a:avLst/>
            </a:prstGeom>
          </p:spPr>
          <p:txBody>
            <a:bodyPr lIns="50800" tIns="50800" rIns="50800" bIns="50800" rtlCol="0" anchor="ctr"/>
            <a:lstStyle/>
            <a:p>
              <a:pPr algn="ctr">
                <a:lnSpc>
                  <a:spcPts val="2160"/>
                </a:lnSpc>
              </a:pPr>
              <a:endParaRPr/>
            </a:p>
          </p:txBody>
        </p:sp>
      </p:grpSp>
      <p:sp>
        <p:nvSpPr>
          <p:cNvPr id="106" name="TextBox 106"/>
          <p:cNvSpPr txBox="1"/>
          <p:nvPr/>
        </p:nvSpPr>
        <p:spPr>
          <a:xfrm>
            <a:off x="16101640" y="5259065"/>
            <a:ext cx="1858120" cy="1447800"/>
          </a:xfrm>
          <a:prstGeom prst="rect">
            <a:avLst/>
          </a:prstGeom>
        </p:spPr>
        <p:txBody>
          <a:bodyPr lIns="0" tIns="0" rIns="0" bIns="0" rtlCol="0" anchor="t">
            <a:spAutoFit/>
          </a:bodyPr>
          <a:lstStyle/>
          <a:p>
            <a:pPr algn="ctr">
              <a:lnSpc>
                <a:spcPts val="1917"/>
              </a:lnSpc>
            </a:pPr>
            <a:r>
              <a:rPr lang="en-US" sz="1597">
                <a:solidFill>
                  <a:srgbClr val="000000"/>
                </a:solidFill>
                <a:latin typeface="Times New Roman"/>
                <a:ea typeface="Times New Roman"/>
                <a:cs typeface="Times New Roman"/>
                <a:sym typeface="Times New Roman"/>
              </a:rPr>
              <a:t>Matrix Factorization Model</a:t>
            </a:r>
          </a:p>
          <a:p>
            <a:pPr algn="ctr">
              <a:lnSpc>
                <a:spcPts val="1917"/>
              </a:lnSpc>
            </a:pPr>
            <a:r>
              <a:rPr lang="en-US" sz="1597">
                <a:solidFill>
                  <a:srgbClr val="000000"/>
                </a:solidFill>
                <a:latin typeface="Times New Roman"/>
                <a:ea typeface="Times New Roman"/>
                <a:cs typeface="Times New Roman"/>
                <a:sym typeface="Times New Roman"/>
              </a:rPr>
              <a:t>+</a:t>
            </a:r>
          </a:p>
          <a:p>
            <a:pPr algn="ctr">
              <a:lnSpc>
                <a:spcPts val="1917"/>
              </a:lnSpc>
            </a:pPr>
            <a:r>
              <a:rPr lang="en-US" sz="1597">
                <a:solidFill>
                  <a:srgbClr val="000000"/>
                </a:solidFill>
                <a:latin typeface="Times New Roman"/>
                <a:ea typeface="Times New Roman"/>
                <a:cs typeface="Times New Roman"/>
                <a:sym typeface="Times New Roman"/>
              </a:rPr>
              <a:t>Sequence Model</a:t>
            </a:r>
          </a:p>
          <a:p>
            <a:pPr algn="ctr">
              <a:lnSpc>
                <a:spcPts val="1917"/>
              </a:lnSpc>
            </a:pPr>
            <a:r>
              <a:rPr lang="en-US" sz="1597">
                <a:solidFill>
                  <a:srgbClr val="000000"/>
                </a:solidFill>
                <a:latin typeface="Times New Roman"/>
                <a:ea typeface="Times New Roman"/>
                <a:cs typeface="Times New Roman"/>
                <a:sym typeface="Times New Roman"/>
              </a:rPr>
              <a:t>+</a:t>
            </a:r>
          </a:p>
          <a:p>
            <a:pPr algn="ctr">
              <a:lnSpc>
                <a:spcPts val="1917"/>
              </a:lnSpc>
              <a:spcBef>
                <a:spcPct val="0"/>
              </a:spcBef>
            </a:pPr>
            <a:r>
              <a:rPr lang="en-US" sz="1597">
                <a:solidFill>
                  <a:srgbClr val="000000"/>
                </a:solidFill>
                <a:latin typeface="Times New Roman"/>
                <a:ea typeface="Times New Roman"/>
                <a:cs typeface="Times New Roman"/>
                <a:sym typeface="Times New Roman"/>
              </a:rPr>
              <a:t>Item Embeddings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99488"/>
            <a:ext cx="6172200" cy="1988550"/>
            <a:chOff x="0" y="0"/>
            <a:chExt cx="8229600" cy="2651400"/>
          </a:xfrm>
        </p:grpSpPr>
        <p:sp>
          <p:nvSpPr>
            <p:cNvPr id="3" name="Freeform 3"/>
            <p:cNvSpPr/>
            <p:nvPr/>
          </p:nvSpPr>
          <p:spPr>
            <a:xfrm>
              <a:off x="0" y="0"/>
              <a:ext cx="8229600" cy="2651400"/>
            </a:xfrm>
            <a:custGeom>
              <a:avLst/>
              <a:gdLst/>
              <a:ahLst/>
              <a:cxnLst/>
              <a:rect l="l" t="t" r="r" b="b"/>
              <a:pathLst>
                <a:path w="8229600" h="2651400">
                  <a:moveTo>
                    <a:pt x="0" y="0"/>
                  </a:moveTo>
                  <a:lnTo>
                    <a:pt x="8229600" y="0"/>
                  </a:lnTo>
                  <a:lnTo>
                    <a:pt x="8229600" y="2651400"/>
                  </a:lnTo>
                  <a:lnTo>
                    <a:pt x="0" y="2651400"/>
                  </a:lnTo>
                  <a:close/>
                </a:path>
              </a:pathLst>
            </a:custGeom>
            <a:solidFill>
              <a:srgbClr val="000000">
                <a:alpha val="0"/>
              </a:srgbClr>
            </a:solidFill>
          </p:spPr>
        </p:sp>
        <p:sp>
          <p:nvSpPr>
            <p:cNvPr id="4" name="TextBox 4"/>
            <p:cNvSpPr txBox="1"/>
            <p:nvPr/>
          </p:nvSpPr>
          <p:spPr>
            <a:xfrm>
              <a:off x="0" y="38100"/>
              <a:ext cx="82296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Workflow</a:t>
              </a: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31</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4" name="TextBox 14"/>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15" name="Freeform 15"/>
          <p:cNvSpPr/>
          <p:nvPr/>
        </p:nvSpPr>
        <p:spPr>
          <a:xfrm>
            <a:off x="55083"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6" name="Group 16"/>
          <p:cNvGrpSpPr/>
          <p:nvPr/>
        </p:nvGrpSpPr>
        <p:grpSpPr>
          <a:xfrm>
            <a:off x="1834068" y="4465960"/>
            <a:ext cx="2083746" cy="1355079"/>
            <a:chOff x="0" y="0"/>
            <a:chExt cx="643131" cy="418234"/>
          </a:xfrm>
        </p:grpSpPr>
        <p:sp>
          <p:nvSpPr>
            <p:cNvPr id="17" name="Freeform 17"/>
            <p:cNvSpPr/>
            <p:nvPr/>
          </p:nvSpPr>
          <p:spPr>
            <a:xfrm>
              <a:off x="0" y="0"/>
              <a:ext cx="643131" cy="418234"/>
            </a:xfrm>
            <a:custGeom>
              <a:avLst/>
              <a:gdLst/>
              <a:ahLst/>
              <a:cxnLst/>
              <a:rect l="l" t="t" r="r" b="b"/>
              <a:pathLst>
                <a:path w="643131" h="418234">
                  <a:moveTo>
                    <a:pt x="72566" y="0"/>
                  </a:moveTo>
                  <a:lnTo>
                    <a:pt x="570565" y="0"/>
                  </a:lnTo>
                  <a:cubicBezTo>
                    <a:pt x="610642" y="0"/>
                    <a:pt x="643131" y="32489"/>
                    <a:pt x="643131" y="72566"/>
                  </a:cubicBezTo>
                  <a:lnTo>
                    <a:pt x="643131" y="345668"/>
                  </a:lnTo>
                  <a:cubicBezTo>
                    <a:pt x="643131" y="364914"/>
                    <a:pt x="635486" y="383371"/>
                    <a:pt x="621877" y="396980"/>
                  </a:cubicBezTo>
                  <a:cubicBezTo>
                    <a:pt x="608268" y="410589"/>
                    <a:pt x="589811" y="418234"/>
                    <a:pt x="570565" y="418234"/>
                  </a:cubicBezTo>
                  <a:lnTo>
                    <a:pt x="72566" y="418234"/>
                  </a:lnTo>
                  <a:cubicBezTo>
                    <a:pt x="53320" y="418234"/>
                    <a:pt x="34863" y="410589"/>
                    <a:pt x="21254" y="396980"/>
                  </a:cubicBezTo>
                  <a:cubicBezTo>
                    <a:pt x="7645" y="383371"/>
                    <a:pt x="0" y="364914"/>
                    <a:pt x="0" y="345668"/>
                  </a:cubicBezTo>
                  <a:lnTo>
                    <a:pt x="0" y="72566"/>
                  </a:lnTo>
                  <a:cubicBezTo>
                    <a:pt x="0" y="53320"/>
                    <a:pt x="7645" y="34863"/>
                    <a:pt x="21254" y="21254"/>
                  </a:cubicBezTo>
                  <a:cubicBezTo>
                    <a:pt x="34863" y="7645"/>
                    <a:pt x="53320" y="0"/>
                    <a:pt x="72566" y="0"/>
                  </a:cubicBezTo>
                  <a:close/>
                </a:path>
              </a:pathLst>
            </a:custGeom>
            <a:solidFill>
              <a:srgbClr val="000000">
                <a:alpha val="0"/>
              </a:srgbClr>
            </a:solidFill>
            <a:ln w="38100" cap="rnd">
              <a:solidFill>
                <a:srgbClr val="000000"/>
              </a:solidFill>
              <a:prstDash val="solid"/>
              <a:round/>
            </a:ln>
          </p:spPr>
        </p:sp>
        <p:sp>
          <p:nvSpPr>
            <p:cNvPr id="18" name="TextBox 18"/>
            <p:cNvSpPr txBox="1"/>
            <p:nvPr/>
          </p:nvSpPr>
          <p:spPr>
            <a:xfrm>
              <a:off x="0" y="-9525"/>
              <a:ext cx="643131"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Candidate Generation and Hard Filters</a:t>
              </a:r>
            </a:p>
          </p:txBody>
        </p:sp>
      </p:grpSp>
      <p:sp>
        <p:nvSpPr>
          <p:cNvPr id="19" name="TextBox 19"/>
          <p:cNvSpPr txBox="1"/>
          <p:nvPr/>
        </p:nvSpPr>
        <p:spPr>
          <a:xfrm>
            <a:off x="5747598" y="2192775"/>
            <a:ext cx="3925253" cy="381000"/>
          </a:xfrm>
          <a:prstGeom prst="rect">
            <a:avLst/>
          </a:prstGeom>
        </p:spPr>
        <p:txBody>
          <a:bodyPr lIns="0" tIns="0" rIns="0" bIns="0" rtlCol="0" anchor="t">
            <a:spAutoFit/>
          </a:bodyPr>
          <a:lstStyle/>
          <a:p>
            <a:pPr algn="ctr">
              <a:lnSpc>
                <a:spcPts val="2999"/>
              </a:lnSpc>
              <a:spcBef>
                <a:spcPct val="0"/>
              </a:spcBef>
            </a:pPr>
            <a:r>
              <a:rPr lang="en-US" sz="2499">
                <a:solidFill>
                  <a:srgbClr val="000000"/>
                </a:solidFill>
                <a:latin typeface="Times New Roman"/>
                <a:ea typeface="Times New Roman"/>
                <a:cs typeface="Times New Roman"/>
                <a:sym typeface="Times New Roman"/>
              </a:rPr>
              <a:t>SERVING AND INFERENCE</a:t>
            </a:r>
          </a:p>
        </p:txBody>
      </p:sp>
      <p:grpSp>
        <p:nvGrpSpPr>
          <p:cNvPr id="20" name="Group 20"/>
          <p:cNvGrpSpPr/>
          <p:nvPr/>
        </p:nvGrpSpPr>
        <p:grpSpPr>
          <a:xfrm>
            <a:off x="2875941" y="3766224"/>
            <a:ext cx="5636379" cy="699736"/>
            <a:chOff x="0" y="0"/>
            <a:chExt cx="7515172" cy="932982"/>
          </a:xfrm>
        </p:grpSpPr>
        <p:grpSp>
          <p:nvGrpSpPr>
            <p:cNvPr id="21" name="Group 21"/>
            <p:cNvGrpSpPr/>
            <p:nvPr/>
          </p:nvGrpSpPr>
          <p:grpSpPr>
            <a:xfrm>
              <a:off x="63500" y="478696"/>
              <a:ext cx="7451672" cy="63500"/>
              <a:chOff x="0" y="0"/>
              <a:chExt cx="1471935" cy="12543"/>
            </a:xfrm>
          </p:grpSpPr>
          <p:sp>
            <p:nvSpPr>
              <p:cNvPr id="22" name="Freeform 22"/>
              <p:cNvSpPr/>
              <p:nvPr/>
            </p:nvSpPr>
            <p:spPr>
              <a:xfrm>
                <a:off x="0" y="0"/>
                <a:ext cx="1471935" cy="12543"/>
              </a:xfrm>
              <a:custGeom>
                <a:avLst/>
                <a:gdLst/>
                <a:ahLst/>
                <a:cxnLst/>
                <a:rect l="l" t="t" r="r" b="b"/>
                <a:pathLst>
                  <a:path w="1471935" h="12543">
                    <a:moveTo>
                      <a:pt x="0" y="0"/>
                    </a:moveTo>
                    <a:lnTo>
                      <a:pt x="1471935" y="0"/>
                    </a:lnTo>
                    <a:lnTo>
                      <a:pt x="1471935" y="12543"/>
                    </a:lnTo>
                    <a:lnTo>
                      <a:pt x="0" y="12543"/>
                    </a:lnTo>
                    <a:close/>
                  </a:path>
                </a:pathLst>
              </a:custGeom>
              <a:solidFill>
                <a:srgbClr val="000000"/>
              </a:solidFill>
            </p:spPr>
          </p:sp>
          <p:sp>
            <p:nvSpPr>
              <p:cNvPr id="23" name="TextBox 23"/>
              <p:cNvSpPr txBox="1"/>
              <p:nvPr/>
            </p:nvSpPr>
            <p:spPr>
              <a:xfrm>
                <a:off x="0" y="-38100"/>
                <a:ext cx="1471935" cy="50643"/>
              </a:xfrm>
              <a:prstGeom prst="rect">
                <a:avLst/>
              </a:prstGeom>
            </p:spPr>
            <p:txBody>
              <a:bodyPr lIns="50800" tIns="50800" rIns="50800" bIns="50800" rtlCol="0" anchor="ctr"/>
              <a:lstStyle/>
              <a:p>
                <a:pPr algn="ctr">
                  <a:lnSpc>
                    <a:spcPts val="2160"/>
                  </a:lnSpc>
                </a:pPr>
                <a:endParaRPr/>
              </a:p>
            </p:txBody>
          </p:sp>
        </p:grpSp>
        <p:grpSp>
          <p:nvGrpSpPr>
            <p:cNvPr id="24" name="Group 24"/>
            <p:cNvGrpSpPr/>
            <p:nvPr/>
          </p:nvGrpSpPr>
          <p:grpSpPr>
            <a:xfrm>
              <a:off x="0" y="0"/>
              <a:ext cx="63500" cy="932982"/>
              <a:chOff x="0" y="0"/>
              <a:chExt cx="12543" cy="184293"/>
            </a:xfrm>
          </p:grpSpPr>
          <p:sp>
            <p:nvSpPr>
              <p:cNvPr id="25" name="Freeform 25"/>
              <p:cNvSpPr/>
              <p:nvPr/>
            </p:nvSpPr>
            <p:spPr>
              <a:xfrm>
                <a:off x="0" y="0"/>
                <a:ext cx="12543" cy="184293"/>
              </a:xfrm>
              <a:custGeom>
                <a:avLst/>
                <a:gdLst/>
                <a:ahLst/>
                <a:cxnLst/>
                <a:rect l="l" t="t" r="r" b="b"/>
                <a:pathLst>
                  <a:path w="12543" h="184293">
                    <a:moveTo>
                      <a:pt x="0" y="0"/>
                    </a:moveTo>
                    <a:lnTo>
                      <a:pt x="12543" y="0"/>
                    </a:lnTo>
                    <a:lnTo>
                      <a:pt x="12543" y="184293"/>
                    </a:lnTo>
                    <a:lnTo>
                      <a:pt x="0" y="184293"/>
                    </a:lnTo>
                    <a:close/>
                  </a:path>
                </a:pathLst>
              </a:custGeom>
              <a:solidFill>
                <a:srgbClr val="000000"/>
              </a:solidFill>
            </p:spPr>
          </p:sp>
          <p:sp>
            <p:nvSpPr>
              <p:cNvPr id="26" name="TextBox 26"/>
              <p:cNvSpPr txBox="1"/>
              <p:nvPr/>
            </p:nvSpPr>
            <p:spPr>
              <a:xfrm>
                <a:off x="0" y="-38100"/>
                <a:ext cx="12543" cy="222393"/>
              </a:xfrm>
              <a:prstGeom prst="rect">
                <a:avLst/>
              </a:prstGeom>
            </p:spPr>
            <p:txBody>
              <a:bodyPr lIns="50800" tIns="50800" rIns="50800" bIns="50800" rtlCol="0" anchor="ctr"/>
              <a:lstStyle/>
              <a:p>
                <a:pPr algn="ctr">
                  <a:lnSpc>
                    <a:spcPts val="2160"/>
                  </a:lnSpc>
                </a:pPr>
                <a:endParaRPr/>
              </a:p>
            </p:txBody>
          </p:sp>
        </p:grpSp>
        <p:grpSp>
          <p:nvGrpSpPr>
            <p:cNvPr id="27" name="Group 27"/>
            <p:cNvGrpSpPr/>
            <p:nvPr/>
          </p:nvGrpSpPr>
          <p:grpSpPr>
            <a:xfrm>
              <a:off x="3694086" y="0"/>
              <a:ext cx="63500" cy="478696"/>
              <a:chOff x="0" y="0"/>
              <a:chExt cx="12543" cy="94557"/>
            </a:xfrm>
          </p:grpSpPr>
          <p:sp>
            <p:nvSpPr>
              <p:cNvPr id="28" name="Freeform 28"/>
              <p:cNvSpPr/>
              <p:nvPr/>
            </p:nvSpPr>
            <p:spPr>
              <a:xfrm>
                <a:off x="0" y="0"/>
                <a:ext cx="12543" cy="94557"/>
              </a:xfrm>
              <a:custGeom>
                <a:avLst/>
                <a:gdLst/>
                <a:ahLst/>
                <a:cxnLst/>
                <a:rect l="l" t="t" r="r" b="b"/>
                <a:pathLst>
                  <a:path w="12543" h="94557">
                    <a:moveTo>
                      <a:pt x="0" y="0"/>
                    </a:moveTo>
                    <a:lnTo>
                      <a:pt x="12543" y="0"/>
                    </a:lnTo>
                    <a:lnTo>
                      <a:pt x="12543" y="94557"/>
                    </a:lnTo>
                    <a:lnTo>
                      <a:pt x="0" y="94557"/>
                    </a:lnTo>
                    <a:close/>
                  </a:path>
                </a:pathLst>
              </a:custGeom>
              <a:solidFill>
                <a:srgbClr val="000000"/>
              </a:solidFill>
            </p:spPr>
          </p:sp>
          <p:sp>
            <p:nvSpPr>
              <p:cNvPr id="29" name="TextBox 29"/>
              <p:cNvSpPr txBox="1"/>
              <p:nvPr/>
            </p:nvSpPr>
            <p:spPr>
              <a:xfrm>
                <a:off x="0" y="-38100"/>
                <a:ext cx="12543" cy="132657"/>
              </a:xfrm>
              <a:prstGeom prst="rect">
                <a:avLst/>
              </a:prstGeom>
            </p:spPr>
            <p:txBody>
              <a:bodyPr lIns="50800" tIns="50800" rIns="50800" bIns="50800" rtlCol="0" anchor="ctr"/>
              <a:lstStyle/>
              <a:p>
                <a:pPr algn="ctr">
                  <a:lnSpc>
                    <a:spcPts val="2160"/>
                  </a:lnSpc>
                </a:pPr>
                <a:endParaRPr/>
              </a:p>
            </p:txBody>
          </p:sp>
        </p:grpSp>
        <p:grpSp>
          <p:nvGrpSpPr>
            <p:cNvPr id="30" name="Group 30"/>
            <p:cNvGrpSpPr/>
            <p:nvPr/>
          </p:nvGrpSpPr>
          <p:grpSpPr>
            <a:xfrm>
              <a:off x="7450716" y="0"/>
              <a:ext cx="64456" cy="502881"/>
              <a:chOff x="0" y="0"/>
              <a:chExt cx="12732" cy="99335"/>
            </a:xfrm>
          </p:grpSpPr>
          <p:sp>
            <p:nvSpPr>
              <p:cNvPr id="31" name="Freeform 31"/>
              <p:cNvSpPr/>
              <p:nvPr/>
            </p:nvSpPr>
            <p:spPr>
              <a:xfrm>
                <a:off x="0" y="0"/>
                <a:ext cx="12732" cy="99335"/>
              </a:xfrm>
              <a:custGeom>
                <a:avLst/>
                <a:gdLst/>
                <a:ahLst/>
                <a:cxnLst/>
                <a:rect l="l" t="t" r="r" b="b"/>
                <a:pathLst>
                  <a:path w="12732" h="99335">
                    <a:moveTo>
                      <a:pt x="0" y="0"/>
                    </a:moveTo>
                    <a:lnTo>
                      <a:pt x="12732" y="0"/>
                    </a:lnTo>
                    <a:lnTo>
                      <a:pt x="12732" y="99335"/>
                    </a:lnTo>
                    <a:lnTo>
                      <a:pt x="0" y="99335"/>
                    </a:lnTo>
                    <a:close/>
                  </a:path>
                </a:pathLst>
              </a:custGeom>
              <a:solidFill>
                <a:srgbClr val="000000"/>
              </a:solidFill>
            </p:spPr>
          </p:sp>
          <p:sp>
            <p:nvSpPr>
              <p:cNvPr id="32" name="TextBox 32"/>
              <p:cNvSpPr txBox="1"/>
              <p:nvPr/>
            </p:nvSpPr>
            <p:spPr>
              <a:xfrm>
                <a:off x="0" y="-38100"/>
                <a:ext cx="12732" cy="137435"/>
              </a:xfrm>
              <a:prstGeom prst="rect">
                <a:avLst/>
              </a:prstGeom>
            </p:spPr>
            <p:txBody>
              <a:bodyPr lIns="50800" tIns="50800" rIns="50800" bIns="50800" rtlCol="0" anchor="ctr"/>
              <a:lstStyle/>
              <a:p>
                <a:pPr algn="ctr">
                  <a:lnSpc>
                    <a:spcPts val="2160"/>
                  </a:lnSpc>
                </a:pPr>
                <a:endParaRPr/>
              </a:p>
            </p:txBody>
          </p:sp>
        </p:grpSp>
      </p:grpSp>
      <p:grpSp>
        <p:nvGrpSpPr>
          <p:cNvPr id="33" name="Group 33"/>
          <p:cNvGrpSpPr/>
          <p:nvPr/>
        </p:nvGrpSpPr>
        <p:grpSpPr>
          <a:xfrm>
            <a:off x="1834068" y="2773095"/>
            <a:ext cx="2415495" cy="993129"/>
            <a:chOff x="0" y="0"/>
            <a:chExt cx="745523" cy="306521"/>
          </a:xfrm>
        </p:grpSpPr>
        <p:sp>
          <p:nvSpPr>
            <p:cNvPr id="34" name="Freeform 34"/>
            <p:cNvSpPr/>
            <p:nvPr/>
          </p:nvSpPr>
          <p:spPr>
            <a:xfrm>
              <a:off x="0" y="0"/>
              <a:ext cx="745523" cy="306521"/>
            </a:xfrm>
            <a:custGeom>
              <a:avLst/>
              <a:gdLst/>
              <a:ahLst/>
              <a:cxnLst/>
              <a:rect l="l" t="t" r="r" b="b"/>
              <a:pathLst>
                <a:path w="745523" h="306521">
                  <a:moveTo>
                    <a:pt x="62600" y="0"/>
                  </a:moveTo>
                  <a:lnTo>
                    <a:pt x="682923" y="0"/>
                  </a:lnTo>
                  <a:cubicBezTo>
                    <a:pt x="699526" y="0"/>
                    <a:pt x="715448" y="6595"/>
                    <a:pt x="727188" y="18335"/>
                  </a:cubicBezTo>
                  <a:cubicBezTo>
                    <a:pt x="738928" y="30075"/>
                    <a:pt x="745523" y="45997"/>
                    <a:pt x="745523" y="62600"/>
                  </a:cubicBezTo>
                  <a:lnTo>
                    <a:pt x="745523" y="243922"/>
                  </a:lnTo>
                  <a:cubicBezTo>
                    <a:pt x="745523" y="278495"/>
                    <a:pt x="717496" y="306521"/>
                    <a:pt x="682923" y="306521"/>
                  </a:cubicBezTo>
                  <a:lnTo>
                    <a:pt x="62600" y="306521"/>
                  </a:lnTo>
                  <a:cubicBezTo>
                    <a:pt x="45997" y="306521"/>
                    <a:pt x="30075" y="299926"/>
                    <a:pt x="18335" y="288186"/>
                  </a:cubicBezTo>
                  <a:cubicBezTo>
                    <a:pt x="6595" y="276447"/>
                    <a:pt x="0" y="260524"/>
                    <a:pt x="0" y="243922"/>
                  </a:cubicBezTo>
                  <a:lnTo>
                    <a:pt x="0" y="62600"/>
                  </a:lnTo>
                  <a:cubicBezTo>
                    <a:pt x="0" y="45997"/>
                    <a:pt x="6595" y="30075"/>
                    <a:pt x="18335" y="18335"/>
                  </a:cubicBezTo>
                  <a:cubicBezTo>
                    <a:pt x="30075" y="6595"/>
                    <a:pt x="45997" y="0"/>
                    <a:pt x="62600" y="0"/>
                  </a:cubicBezTo>
                  <a:close/>
                </a:path>
              </a:pathLst>
            </a:custGeom>
            <a:solidFill>
              <a:srgbClr val="000000">
                <a:alpha val="0"/>
              </a:srgbClr>
            </a:solidFill>
            <a:ln w="38100" cap="rnd">
              <a:solidFill>
                <a:srgbClr val="000000"/>
              </a:solidFill>
              <a:prstDash val="solid"/>
              <a:round/>
            </a:ln>
          </p:spPr>
        </p:sp>
        <p:sp>
          <p:nvSpPr>
            <p:cNvPr id="35" name="TextBox 35"/>
            <p:cNvSpPr txBox="1"/>
            <p:nvPr/>
          </p:nvSpPr>
          <p:spPr>
            <a:xfrm>
              <a:off x="0" y="-9525"/>
              <a:ext cx="745523" cy="316046"/>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Region Filtering</a:t>
              </a:r>
            </a:p>
          </p:txBody>
        </p:sp>
      </p:grpSp>
      <p:grpSp>
        <p:nvGrpSpPr>
          <p:cNvPr id="36" name="Group 36"/>
          <p:cNvGrpSpPr/>
          <p:nvPr/>
        </p:nvGrpSpPr>
        <p:grpSpPr>
          <a:xfrm>
            <a:off x="4486382" y="2773095"/>
            <a:ext cx="2415495" cy="993129"/>
            <a:chOff x="0" y="0"/>
            <a:chExt cx="745523" cy="306521"/>
          </a:xfrm>
        </p:grpSpPr>
        <p:sp>
          <p:nvSpPr>
            <p:cNvPr id="37" name="Freeform 37"/>
            <p:cNvSpPr/>
            <p:nvPr/>
          </p:nvSpPr>
          <p:spPr>
            <a:xfrm>
              <a:off x="0" y="0"/>
              <a:ext cx="745523" cy="306521"/>
            </a:xfrm>
            <a:custGeom>
              <a:avLst/>
              <a:gdLst/>
              <a:ahLst/>
              <a:cxnLst/>
              <a:rect l="l" t="t" r="r" b="b"/>
              <a:pathLst>
                <a:path w="745523" h="306521">
                  <a:moveTo>
                    <a:pt x="62600" y="0"/>
                  </a:moveTo>
                  <a:lnTo>
                    <a:pt x="682923" y="0"/>
                  </a:lnTo>
                  <a:cubicBezTo>
                    <a:pt x="699526" y="0"/>
                    <a:pt x="715448" y="6595"/>
                    <a:pt x="727188" y="18335"/>
                  </a:cubicBezTo>
                  <a:cubicBezTo>
                    <a:pt x="738928" y="30075"/>
                    <a:pt x="745523" y="45997"/>
                    <a:pt x="745523" y="62600"/>
                  </a:cubicBezTo>
                  <a:lnTo>
                    <a:pt x="745523" y="243922"/>
                  </a:lnTo>
                  <a:cubicBezTo>
                    <a:pt x="745523" y="278495"/>
                    <a:pt x="717496" y="306521"/>
                    <a:pt x="682923" y="306521"/>
                  </a:cubicBezTo>
                  <a:lnTo>
                    <a:pt x="62600" y="306521"/>
                  </a:lnTo>
                  <a:cubicBezTo>
                    <a:pt x="45997" y="306521"/>
                    <a:pt x="30075" y="299926"/>
                    <a:pt x="18335" y="288186"/>
                  </a:cubicBezTo>
                  <a:cubicBezTo>
                    <a:pt x="6595" y="276447"/>
                    <a:pt x="0" y="260524"/>
                    <a:pt x="0" y="243922"/>
                  </a:cubicBezTo>
                  <a:lnTo>
                    <a:pt x="0" y="62600"/>
                  </a:lnTo>
                  <a:cubicBezTo>
                    <a:pt x="0" y="45997"/>
                    <a:pt x="6595" y="30075"/>
                    <a:pt x="18335" y="18335"/>
                  </a:cubicBezTo>
                  <a:cubicBezTo>
                    <a:pt x="30075" y="6595"/>
                    <a:pt x="45997" y="0"/>
                    <a:pt x="62600" y="0"/>
                  </a:cubicBezTo>
                  <a:close/>
                </a:path>
              </a:pathLst>
            </a:custGeom>
            <a:solidFill>
              <a:srgbClr val="000000">
                <a:alpha val="0"/>
              </a:srgbClr>
            </a:solidFill>
            <a:ln w="38100" cap="rnd">
              <a:solidFill>
                <a:srgbClr val="000000"/>
              </a:solidFill>
              <a:prstDash val="solid"/>
              <a:round/>
            </a:ln>
          </p:spPr>
        </p:sp>
        <p:sp>
          <p:nvSpPr>
            <p:cNvPr id="38" name="TextBox 38"/>
            <p:cNvSpPr txBox="1"/>
            <p:nvPr/>
          </p:nvSpPr>
          <p:spPr>
            <a:xfrm>
              <a:off x="0" y="-9525"/>
              <a:ext cx="745523" cy="316046"/>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Seen-Filter</a:t>
              </a:r>
            </a:p>
          </p:txBody>
        </p:sp>
      </p:grpSp>
      <p:grpSp>
        <p:nvGrpSpPr>
          <p:cNvPr id="39" name="Group 39"/>
          <p:cNvGrpSpPr/>
          <p:nvPr/>
        </p:nvGrpSpPr>
        <p:grpSpPr>
          <a:xfrm>
            <a:off x="7140003" y="2773095"/>
            <a:ext cx="2597695" cy="993129"/>
            <a:chOff x="0" y="0"/>
            <a:chExt cx="801758" cy="306521"/>
          </a:xfrm>
        </p:grpSpPr>
        <p:sp>
          <p:nvSpPr>
            <p:cNvPr id="40" name="Freeform 40"/>
            <p:cNvSpPr/>
            <p:nvPr/>
          </p:nvSpPr>
          <p:spPr>
            <a:xfrm>
              <a:off x="0" y="0"/>
              <a:ext cx="801758" cy="306521"/>
            </a:xfrm>
            <a:custGeom>
              <a:avLst/>
              <a:gdLst/>
              <a:ahLst/>
              <a:cxnLst/>
              <a:rect l="l" t="t" r="r" b="b"/>
              <a:pathLst>
                <a:path w="801758" h="306521">
                  <a:moveTo>
                    <a:pt x="58209" y="0"/>
                  </a:moveTo>
                  <a:lnTo>
                    <a:pt x="743549" y="0"/>
                  </a:lnTo>
                  <a:cubicBezTo>
                    <a:pt x="758987" y="0"/>
                    <a:pt x="773792" y="6133"/>
                    <a:pt x="784709" y="17049"/>
                  </a:cubicBezTo>
                  <a:cubicBezTo>
                    <a:pt x="795625" y="27965"/>
                    <a:pt x="801758" y="42771"/>
                    <a:pt x="801758" y="58209"/>
                  </a:cubicBezTo>
                  <a:lnTo>
                    <a:pt x="801758" y="248312"/>
                  </a:lnTo>
                  <a:cubicBezTo>
                    <a:pt x="801758" y="280460"/>
                    <a:pt x="775697" y="306521"/>
                    <a:pt x="743549" y="306521"/>
                  </a:cubicBezTo>
                  <a:lnTo>
                    <a:pt x="58209" y="306521"/>
                  </a:lnTo>
                  <a:cubicBezTo>
                    <a:pt x="42771" y="306521"/>
                    <a:pt x="27965" y="300389"/>
                    <a:pt x="17049" y="289472"/>
                  </a:cubicBezTo>
                  <a:cubicBezTo>
                    <a:pt x="6133" y="278556"/>
                    <a:pt x="0" y="263750"/>
                    <a:pt x="0" y="248312"/>
                  </a:cubicBezTo>
                  <a:lnTo>
                    <a:pt x="0" y="58209"/>
                  </a:lnTo>
                  <a:cubicBezTo>
                    <a:pt x="0" y="26061"/>
                    <a:pt x="26061" y="0"/>
                    <a:pt x="58209" y="0"/>
                  </a:cubicBezTo>
                  <a:close/>
                </a:path>
              </a:pathLst>
            </a:custGeom>
            <a:solidFill>
              <a:srgbClr val="000000">
                <a:alpha val="0"/>
              </a:srgbClr>
            </a:solidFill>
            <a:ln w="38100" cap="rnd">
              <a:solidFill>
                <a:srgbClr val="000000"/>
              </a:solidFill>
              <a:prstDash val="solid"/>
              <a:round/>
            </a:ln>
          </p:spPr>
        </p:sp>
        <p:sp>
          <p:nvSpPr>
            <p:cNvPr id="41" name="TextBox 41"/>
            <p:cNvSpPr txBox="1"/>
            <p:nvPr/>
          </p:nvSpPr>
          <p:spPr>
            <a:xfrm>
              <a:off x="0" y="-9525"/>
              <a:ext cx="801758" cy="316046"/>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Allergy Hard Filter</a:t>
              </a:r>
            </a:p>
          </p:txBody>
        </p:sp>
      </p:grpSp>
      <p:sp>
        <p:nvSpPr>
          <p:cNvPr id="42" name="Freeform 42"/>
          <p:cNvSpPr/>
          <p:nvPr/>
        </p:nvSpPr>
        <p:spPr>
          <a:xfrm>
            <a:off x="4117839" y="4929194"/>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3" name="Group 43"/>
          <p:cNvGrpSpPr/>
          <p:nvPr/>
        </p:nvGrpSpPr>
        <p:grpSpPr>
          <a:xfrm>
            <a:off x="5626479" y="4465960"/>
            <a:ext cx="2083746" cy="1355079"/>
            <a:chOff x="0" y="0"/>
            <a:chExt cx="643131" cy="418234"/>
          </a:xfrm>
        </p:grpSpPr>
        <p:sp>
          <p:nvSpPr>
            <p:cNvPr id="44" name="Freeform 44"/>
            <p:cNvSpPr/>
            <p:nvPr/>
          </p:nvSpPr>
          <p:spPr>
            <a:xfrm>
              <a:off x="0" y="0"/>
              <a:ext cx="643131" cy="418234"/>
            </a:xfrm>
            <a:custGeom>
              <a:avLst/>
              <a:gdLst/>
              <a:ahLst/>
              <a:cxnLst/>
              <a:rect l="l" t="t" r="r" b="b"/>
              <a:pathLst>
                <a:path w="643131" h="418234">
                  <a:moveTo>
                    <a:pt x="72566" y="0"/>
                  </a:moveTo>
                  <a:lnTo>
                    <a:pt x="570565" y="0"/>
                  </a:lnTo>
                  <a:cubicBezTo>
                    <a:pt x="610642" y="0"/>
                    <a:pt x="643131" y="32489"/>
                    <a:pt x="643131" y="72566"/>
                  </a:cubicBezTo>
                  <a:lnTo>
                    <a:pt x="643131" y="345668"/>
                  </a:lnTo>
                  <a:cubicBezTo>
                    <a:pt x="643131" y="364914"/>
                    <a:pt x="635486" y="383371"/>
                    <a:pt x="621877" y="396980"/>
                  </a:cubicBezTo>
                  <a:cubicBezTo>
                    <a:pt x="608268" y="410589"/>
                    <a:pt x="589811" y="418234"/>
                    <a:pt x="570565" y="418234"/>
                  </a:cubicBezTo>
                  <a:lnTo>
                    <a:pt x="72566" y="418234"/>
                  </a:lnTo>
                  <a:cubicBezTo>
                    <a:pt x="53320" y="418234"/>
                    <a:pt x="34863" y="410589"/>
                    <a:pt x="21254" y="396980"/>
                  </a:cubicBezTo>
                  <a:cubicBezTo>
                    <a:pt x="7645" y="383371"/>
                    <a:pt x="0" y="364914"/>
                    <a:pt x="0" y="345668"/>
                  </a:cubicBezTo>
                  <a:lnTo>
                    <a:pt x="0" y="72566"/>
                  </a:lnTo>
                  <a:cubicBezTo>
                    <a:pt x="0" y="53320"/>
                    <a:pt x="7645" y="34863"/>
                    <a:pt x="21254" y="21254"/>
                  </a:cubicBezTo>
                  <a:cubicBezTo>
                    <a:pt x="34863" y="7645"/>
                    <a:pt x="53320" y="0"/>
                    <a:pt x="72566" y="0"/>
                  </a:cubicBezTo>
                  <a:close/>
                </a:path>
              </a:pathLst>
            </a:custGeom>
            <a:solidFill>
              <a:srgbClr val="000000">
                <a:alpha val="0"/>
              </a:srgbClr>
            </a:solidFill>
            <a:ln w="38100" cap="rnd">
              <a:solidFill>
                <a:srgbClr val="000000"/>
              </a:solidFill>
              <a:prstDash val="solid"/>
              <a:round/>
            </a:ln>
          </p:spPr>
        </p:sp>
        <p:sp>
          <p:nvSpPr>
            <p:cNvPr id="45" name="TextBox 45"/>
            <p:cNvSpPr txBox="1"/>
            <p:nvPr/>
          </p:nvSpPr>
          <p:spPr>
            <a:xfrm>
              <a:off x="0" y="-9525"/>
              <a:ext cx="643131"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Scoring Components</a:t>
              </a:r>
            </a:p>
          </p:txBody>
        </p:sp>
      </p:grpSp>
      <p:sp>
        <p:nvSpPr>
          <p:cNvPr id="46" name="Freeform 46"/>
          <p:cNvSpPr/>
          <p:nvPr/>
        </p:nvSpPr>
        <p:spPr>
          <a:xfrm>
            <a:off x="8342055" y="4968431"/>
            <a:ext cx="1508640" cy="428612"/>
          </a:xfrm>
          <a:custGeom>
            <a:avLst/>
            <a:gdLst/>
            <a:ahLst/>
            <a:cxnLst/>
            <a:rect l="l" t="t" r="r" b="b"/>
            <a:pathLst>
              <a:path w="1508640" h="428612">
                <a:moveTo>
                  <a:pt x="0" y="0"/>
                </a:moveTo>
                <a:lnTo>
                  <a:pt x="1508640" y="0"/>
                </a:lnTo>
                <a:lnTo>
                  <a:pt x="1508640" y="428612"/>
                </a:lnTo>
                <a:lnTo>
                  <a:pt x="0" y="4286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7" name="Group 47"/>
          <p:cNvGrpSpPr/>
          <p:nvPr/>
        </p:nvGrpSpPr>
        <p:grpSpPr>
          <a:xfrm>
            <a:off x="9850695" y="3942085"/>
            <a:ext cx="2083746" cy="1717029"/>
            <a:chOff x="0" y="0"/>
            <a:chExt cx="643131" cy="529947"/>
          </a:xfrm>
        </p:grpSpPr>
        <p:sp>
          <p:nvSpPr>
            <p:cNvPr id="48" name="Freeform 48"/>
            <p:cNvSpPr/>
            <p:nvPr/>
          </p:nvSpPr>
          <p:spPr>
            <a:xfrm>
              <a:off x="0" y="0"/>
              <a:ext cx="643131" cy="529947"/>
            </a:xfrm>
            <a:custGeom>
              <a:avLst/>
              <a:gdLst/>
              <a:ahLst/>
              <a:cxnLst/>
              <a:rect l="l" t="t" r="r" b="b"/>
              <a:pathLst>
                <a:path w="643131" h="529947">
                  <a:moveTo>
                    <a:pt x="72566" y="0"/>
                  </a:moveTo>
                  <a:lnTo>
                    <a:pt x="570565" y="0"/>
                  </a:lnTo>
                  <a:cubicBezTo>
                    <a:pt x="610642" y="0"/>
                    <a:pt x="643131" y="32489"/>
                    <a:pt x="643131" y="72566"/>
                  </a:cubicBezTo>
                  <a:lnTo>
                    <a:pt x="643131" y="457381"/>
                  </a:lnTo>
                  <a:cubicBezTo>
                    <a:pt x="643131" y="476627"/>
                    <a:pt x="635486" y="495084"/>
                    <a:pt x="621877" y="508693"/>
                  </a:cubicBezTo>
                  <a:cubicBezTo>
                    <a:pt x="608268" y="522302"/>
                    <a:pt x="589811" y="529947"/>
                    <a:pt x="570565" y="529947"/>
                  </a:cubicBezTo>
                  <a:lnTo>
                    <a:pt x="72566" y="529947"/>
                  </a:lnTo>
                  <a:cubicBezTo>
                    <a:pt x="53320" y="529947"/>
                    <a:pt x="34863" y="522302"/>
                    <a:pt x="21254" y="508693"/>
                  </a:cubicBezTo>
                  <a:cubicBezTo>
                    <a:pt x="7645" y="495084"/>
                    <a:pt x="0" y="476627"/>
                    <a:pt x="0" y="457381"/>
                  </a:cubicBezTo>
                  <a:lnTo>
                    <a:pt x="0" y="72566"/>
                  </a:lnTo>
                  <a:cubicBezTo>
                    <a:pt x="0" y="53320"/>
                    <a:pt x="7645" y="34863"/>
                    <a:pt x="21254" y="21254"/>
                  </a:cubicBezTo>
                  <a:cubicBezTo>
                    <a:pt x="34863" y="7645"/>
                    <a:pt x="53320" y="0"/>
                    <a:pt x="72566" y="0"/>
                  </a:cubicBezTo>
                  <a:close/>
                </a:path>
              </a:pathLst>
            </a:custGeom>
            <a:solidFill>
              <a:srgbClr val="000000">
                <a:alpha val="0"/>
              </a:srgbClr>
            </a:solidFill>
            <a:ln w="38100" cap="rnd">
              <a:solidFill>
                <a:srgbClr val="000000"/>
              </a:solidFill>
              <a:prstDash val="solid"/>
              <a:round/>
            </a:ln>
          </p:spPr>
        </p:sp>
        <p:sp>
          <p:nvSpPr>
            <p:cNvPr id="49" name="TextBox 49"/>
            <p:cNvSpPr txBox="1"/>
            <p:nvPr/>
          </p:nvSpPr>
          <p:spPr>
            <a:xfrm>
              <a:off x="0" y="-9525"/>
              <a:ext cx="643131" cy="539472"/>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Score Normalization</a:t>
              </a:r>
            </a:p>
            <a:p>
              <a:pPr algn="ctr">
                <a:lnSpc>
                  <a:spcPts val="2879"/>
                </a:lnSpc>
              </a:pPr>
              <a:r>
                <a:rPr lang="en-US" sz="2399">
                  <a:solidFill>
                    <a:srgbClr val="000000"/>
                  </a:solidFill>
                  <a:latin typeface="Times New Roman"/>
                  <a:ea typeface="Times New Roman"/>
                  <a:cs typeface="Times New Roman"/>
                  <a:sym typeface="Times New Roman"/>
                </a:rPr>
                <a:t>and Final Combination</a:t>
              </a:r>
            </a:p>
          </p:txBody>
        </p:sp>
      </p:grpSp>
      <p:grpSp>
        <p:nvGrpSpPr>
          <p:cNvPr id="50" name="Group 50"/>
          <p:cNvGrpSpPr/>
          <p:nvPr/>
        </p:nvGrpSpPr>
        <p:grpSpPr>
          <a:xfrm>
            <a:off x="1591917" y="2573775"/>
            <a:ext cx="12401897" cy="6960750"/>
            <a:chOff x="0" y="0"/>
            <a:chExt cx="676060" cy="379449"/>
          </a:xfrm>
        </p:grpSpPr>
        <p:sp>
          <p:nvSpPr>
            <p:cNvPr id="51" name="Freeform 51"/>
            <p:cNvSpPr/>
            <p:nvPr/>
          </p:nvSpPr>
          <p:spPr>
            <a:xfrm>
              <a:off x="0" y="0"/>
              <a:ext cx="676060" cy="379449"/>
            </a:xfrm>
            <a:custGeom>
              <a:avLst/>
              <a:gdLst/>
              <a:ahLst/>
              <a:cxnLst/>
              <a:rect l="l" t="t" r="r" b="b"/>
              <a:pathLst>
                <a:path w="676060" h="379449">
                  <a:moveTo>
                    <a:pt x="12192" y="0"/>
                  </a:moveTo>
                  <a:lnTo>
                    <a:pt x="663868" y="0"/>
                  </a:lnTo>
                  <a:cubicBezTo>
                    <a:pt x="667101" y="0"/>
                    <a:pt x="670202" y="1285"/>
                    <a:pt x="672489" y="3571"/>
                  </a:cubicBezTo>
                  <a:cubicBezTo>
                    <a:pt x="674775" y="5858"/>
                    <a:pt x="676060" y="8959"/>
                    <a:pt x="676060" y="12192"/>
                  </a:cubicBezTo>
                  <a:lnTo>
                    <a:pt x="676060" y="367256"/>
                  </a:lnTo>
                  <a:cubicBezTo>
                    <a:pt x="676060" y="370490"/>
                    <a:pt x="674775" y="373591"/>
                    <a:pt x="672489" y="375878"/>
                  </a:cubicBezTo>
                  <a:cubicBezTo>
                    <a:pt x="670202" y="378164"/>
                    <a:pt x="667101" y="379449"/>
                    <a:pt x="663868" y="379449"/>
                  </a:cubicBezTo>
                  <a:lnTo>
                    <a:pt x="12192" y="379449"/>
                  </a:lnTo>
                  <a:cubicBezTo>
                    <a:pt x="8959" y="379449"/>
                    <a:pt x="5858" y="378164"/>
                    <a:pt x="3571" y="375878"/>
                  </a:cubicBezTo>
                  <a:cubicBezTo>
                    <a:pt x="1285" y="373591"/>
                    <a:pt x="0" y="370490"/>
                    <a:pt x="0" y="367256"/>
                  </a:cubicBezTo>
                  <a:lnTo>
                    <a:pt x="0" y="12192"/>
                  </a:lnTo>
                  <a:cubicBezTo>
                    <a:pt x="0" y="8959"/>
                    <a:pt x="1285" y="5858"/>
                    <a:pt x="3571" y="3571"/>
                  </a:cubicBezTo>
                  <a:cubicBezTo>
                    <a:pt x="5858" y="1285"/>
                    <a:pt x="8959" y="0"/>
                    <a:pt x="12192" y="0"/>
                  </a:cubicBezTo>
                  <a:close/>
                </a:path>
              </a:pathLst>
            </a:custGeom>
            <a:solidFill>
              <a:srgbClr val="000000">
                <a:alpha val="0"/>
              </a:srgbClr>
            </a:solidFill>
            <a:ln w="38100" cap="rnd">
              <a:solidFill>
                <a:srgbClr val="000000"/>
              </a:solidFill>
              <a:prstDash val="solid"/>
              <a:round/>
            </a:ln>
          </p:spPr>
        </p:sp>
        <p:sp>
          <p:nvSpPr>
            <p:cNvPr id="52" name="TextBox 52"/>
            <p:cNvSpPr txBox="1"/>
            <p:nvPr/>
          </p:nvSpPr>
          <p:spPr>
            <a:xfrm>
              <a:off x="0" y="-9525"/>
              <a:ext cx="676060" cy="388974"/>
            </a:xfrm>
            <a:prstGeom prst="rect">
              <a:avLst/>
            </a:prstGeom>
          </p:spPr>
          <p:txBody>
            <a:bodyPr lIns="50800" tIns="50800" rIns="50800" bIns="50800" rtlCol="0" anchor="ctr"/>
            <a:lstStyle/>
            <a:p>
              <a:pPr algn="ctr">
                <a:lnSpc>
                  <a:spcPts val="2879"/>
                </a:lnSpc>
              </a:pPr>
              <a:endParaRPr/>
            </a:p>
          </p:txBody>
        </p:sp>
      </p:grpSp>
      <p:grpSp>
        <p:nvGrpSpPr>
          <p:cNvPr id="53" name="Group 53"/>
          <p:cNvGrpSpPr/>
          <p:nvPr/>
        </p:nvGrpSpPr>
        <p:grpSpPr>
          <a:xfrm>
            <a:off x="9823423" y="6478509"/>
            <a:ext cx="1959554" cy="2078735"/>
            <a:chOff x="0" y="0"/>
            <a:chExt cx="604801" cy="641585"/>
          </a:xfrm>
        </p:grpSpPr>
        <p:sp>
          <p:nvSpPr>
            <p:cNvPr id="54" name="Freeform 54"/>
            <p:cNvSpPr/>
            <p:nvPr/>
          </p:nvSpPr>
          <p:spPr>
            <a:xfrm>
              <a:off x="0" y="0"/>
              <a:ext cx="604801" cy="641585"/>
            </a:xfrm>
            <a:custGeom>
              <a:avLst/>
              <a:gdLst/>
              <a:ahLst/>
              <a:cxnLst/>
              <a:rect l="l" t="t" r="r" b="b"/>
              <a:pathLst>
                <a:path w="604801" h="641585">
                  <a:moveTo>
                    <a:pt x="77165" y="0"/>
                  </a:moveTo>
                  <a:lnTo>
                    <a:pt x="527635" y="0"/>
                  </a:lnTo>
                  <a:cubicBezTo>
                    <a:pt x="548101" y="0"/>
                    <a:pt x="567728" y="8130"/>
                    <a:pt x="582199" y="22601"/>
                  </a:cubicBezTo>
                  <a:cubicBezTo>
                    <a:pt x="596671" y="37072"/>
                    <a:pt x="604801" y="56700"/>
                    <a:pt x="604801" y="77165"/>
                  </a:cubicBezTo>
                  <a:lnTo>
                    <a:pt x="604801" y="564420"/>
                  </a:lnTo>
                  <a:cubicBezTo>
                    <a:pt x="604801" y="584885"/>
                    <a:pt x="596671" y="604512"/>
                    <a:pt x="582199" y="618984"/>
                  </a:cubicBezTo>
                  <a:cubicBezTo>
                    <a:pt x="567728" y="633455"/>
                    <a:pt x="548101" y="641585"/>
                    <a:pt x="527635" y="641585"/>
                  </a:cubicBezTo>
                  <a:lnTo>
                    <a:pt x="77165" y="641585"/>
                  </a:lnTo>
                  <a:cubicBezTo>
                    <a:pt x="56700" y="641585"/>
                    <a:pt x="37072" y="633455"/>
                    <a:pt x="22601" y="618984"/>
                  </a:cubicBezTo>
                  <a:cubicBezTo>
                    <a:pt x="8130" y="604512"/>
                    <a:pt x="0" y="584885"/>
                    <a:pt x="0" y="564420"/>
                  </a:cubicBezTo>
                  <a:lnTo>
                    <a:pt x="0" y="77165"/>
                  </a:lnTo>
                  <a:cubicBezTo>
                    <a:pt x="0" y="56700"/>
                    <a:pt x="8130" y="37072"/>
                    <a:pt x="22601" y="22601"/>
                  </a:cubicBezTo>
                  <a:cubicBezTo>
                    <a:pt x="37072" y="8130"/>
                    <a:pt x="56700" y="0"/>
                    <a:pt x="77165" y="0"/>
                  </a:cubicBezTo>
                  <a:close/>
                </a:path>
              </a:pathLst>
            </a:custGeom>
            <a:solidFill>
              <a:srgbClr val="000000">
                <a:alpha val="0"/>
              </a:srgbClr>
            </a:solidFill>
            <a:ln w="38100" cap="rnd">
              <a:solidFill>
                <a:srgbClr val="000000"/>
              </a:solidFill>
              <a:prstDash val="solid"/>
              <a:round/>
            </a:ln>
          </p:spPr>
        </p:sp>
        <p:sp>
          <p:nvSpPr>
            <p:cNvPr id="55" name="TextBox 55"/>
            <p:cNvSpPr txBox="1"/>
            <p:nvPr/>
          </p:nvSpPr>
          <p:spPr>
            <a:xfrm>
              <a:off x="0" y="-9525"/>
              <a:ext cx="604801" cy="65111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Weighted Blend</a:t>
              </a:r>
            </a:p>
          </p:txBody>
        </p:sp>
      </p:grpSp>
      <p:grpSp>
        <p:nvGrpSpPr>
          <p:cNvPr id="56" name="Group 56"/>
          <p:cNvGrpSpPr/>
          <p:nvPr/>
        </p:nvGrpSpPr>
        <p:grpSpPr>
          <a:xfrm>
            <a:off x="11926663" y="6478509"/>
            <a:ext cx="1959554" cy="2078979"/>
            <a:chOff x="0" y="0"/>
            <a:chExt cx="604801" cy="641660"/>
          </a:xfrm>
        </p:grpSpPr>
        <p:sp>
          <p:nvSpPr>
            <p:cNvPr id="57" name="Freeform 57"/>
            <p:cNvSpPr/>
            <p:nvPr/>
          </p:nvSpPr>
          <p:spPr>
            <a:xfrm>
              <a:off x="0" y="0"/>
              <a:ext cx="604801" cy="641660"/>
            </a:xfrm>
            <a:custGeom>
              <a:avLst/>
              <a:gdLst/>
              <a:ahLst/>
              <a:cxnLst/>
              <a:rect l="l" t="t" r="r" b="b"/>
              <a:pathLst>
                <a:path w="604801" h="641660">
                  <a:moveTo>
                    <a:pt x="77165" y="0"/>
                  </a:moveTo>
                  <a:lnTo>
                    <a:pt x="527635" y="0"/>
                  </a:lnTo>
                  <a:cubicBezTo>
                    <a:pt x="548101" y="0"/>
                    <a:pt x="567728" y="8130"/>
                    <a:pt x="582199" y="22601"/>
                  </a:cubicBezTo>
                  <a:cubicBezTo>
                    <a:pt x="596671" y="37072"/>
                    <a:pt x="604801" y="56700"/>
                    <a:pt x="604801" y="77165"/>
                  </a:cubicBezTo>
                  <a:lnTo>
                    <a:pt x="604801" y="564495"/>
                  </a:lnTo>
                  <a:cubicBezTo>
                    <a:pt x="604801" y="584961"/>
                    <a:pt x="596671" y="604588"/>
                    <a:pt x="582199" y="619059"/>
                  </a:cubicBezTo>
                  <a:cubicBezTo>
                    <a:pt x="567728" y="633530"/>
                    <a:pt x="548101" y="641660"/>
                    <a:pt x="527635" y="641660"/>
                  </a:cubicBezTo>
                  <a:lnTo>
                    <a:pt x="77165" y="641660"/>
                  </a:lnTo>
                  <a:cubicBezTo>
                    <a:pt x="56700" y="641660"/>
                    <a:pt x="37072" y="633530"/>
                    <a:pt x="22601" y="619059"/>
                  </a:cubicBezTo>
                  <a:cubicBezTo>
                    <a:pt x="8130" y="604588"/>
                    <a:pt x="0" y="584961"/>
                    <a:pt x="0" y="564495"/>
                  </a:cubicBezTo>
                  <a:lnTo>
                    <a:pt x="0" y="77165"/>
                  </a:lnTo>
                  <a:cubicBezTo>
                    <a:pt x="0" y="56700"/>
                    <a:pt x="8130" y="37072"/>
                    <a:pt x="22601" y="22601"/>
                  </a:cubicBezTo>
                  <a:cubicBezTo>
                    <a:pt x="37072" y="8130"/>
                    <a:pt x="56700" y="0"/>
                    <a:pt x="77165" y="0"/>
                  </a:cubicBezTo>
                  <a:close/>
                </a:path>
              </a:pathLst>
            </a:custGeom>
            <a:solidFill>
              <a:srgbClr val="000000">
                <a:alpha val="0"/>
              </a:srgbClr>
            </a:solidFill>
            <a:ln w="38100" cap="rnd">
              <a:solidFill>
                <a:srgbClr val="000000"/>
              </a:solidFill>
              <a:prstDash val="solid"/>
              <a:round/>
            </a:ln>
          </p:spPr>
        </p:sp>
        <p:sp>
          <p:nvSpPr>
            <p:cNvPr id="58" name="TextBox 58"/>
            <p:cNvSpPr txBox="1"/>
            <p:nvPr/>
          </p:nvSpPr>
          <p:spPr>
            <a:xfrm>
              <a:off x="0" y="-9525"/>
              <a:ext cx="604801" cy="651185"/>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Evaluating the final score considering all score values</a:t>
              </a:r>
            </a:p>
          </p:txBody>
        </p:sp>
      </p:grpSp>
      <p:sp>
        <p:nvSpPr>
          <p:cNvPr id="59" name="TextBox 59"/>
          <p:cNvSpPr txBox="1"/>
          <p:nvPr/>
        </p:nvSpPr>
        <p:spPr>
          <a:xfrm>
            <a:off x="3785905" y="5338756"/>
            <a:ext cx="1702139" cy="257175"/>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Candidate Set</a:t>
            </a:r>
          </a:p>
        </p:txBody>
      </p:sp>
      <p:sp>
        <p:nvSpPr>
          <p:cNvPr id="60" name="TextBox 60"/>
          <p:cNvSpPr txBox="1"/>
          <p:nvPr/>
        </p:nvSpPr>
        <p:spPr>
          <a:xfrm>
            <a:off x="7910250" y="5259065"/>
            <a:ext cx="1476335" cy="495300"/>
          </a:xfrm>
          <a:prstGeom prst="rect">
            <a:avLst/>
          </a:prstGeom>
        </p:spPr>
        <p:txBody>
          <a:bodyPr lIns="0" tIns="0" rIns="0" bIns="0" rtlCol="0" anchor="t">
            <a:spAutoFit/>
          </a:bodyPr>
          <a:lstStyle/>
          <a:p>
            <a:pPr algn="ctr">
              <a:lnSpc>
                <a:spcPts val="1917"/>
              </a:lnSpc>
            </a:pPr>
            <a:r>
              <a:rPr lang="en-US" sz="1597">
                <a:solidFill>
                  <a:srgbClr val="000000"/>
                </a:solidFill>
                <a:latin typeface="Times New Roman"/>
                <a:ea typeface="Times New Roman"/>
                <a:cs typeface="Times New Roman"/>
                <a:sym typeface="Times New Roman"/>
              </a:rPr>
              <a:t>Calculated</a:t>
            </a:r>
          </a:p>
          <a:p>
            <a:pPr algn="ctr">
              <a:lnSpc>
                <a:spcPts val="1917"/>
              </a:lnSpc>
              <a:spcBef>
                <a:spcPct val="0"/>
              </a:spcBef>
            </a:pPr>
            <a:r>
              <a:rPr lang="en-US" sz="1597">
                <a:solidFill>
                  <a:srgbClr val="000000"/>
                </a:solidFill>
                <a:latin typeface="Times New Roman"/>
                <a:ea typeface="Times New Roman"/>
                <a:cs typeface="Times New Roman"/>
                <a:sym typeface="Times New Roman"/>
              </a:rPr>
              <a:t>Scores</a:t>
            </a:r>
          </a:p>
        </p:txBody>
      </p:sp>
      <p:sp>
        <p:nvSpPr>
          <p:cNvPr id="61" name="Freeform 61"/>
          <p:cNvSpPr/>
          <p:nvPr/>
        </p:nvSpPr>
        <p:spPr>
          <a:xfrm>
            <a:off x="12484792" y="4931492"/>
            <a:ext cx="1508640" cy="428612"/>
          </a:xfrm>
          <a:custGeom>
            <a:avLst/>
            <a:gdLst/>
            <a:ahLst/>
            <a:cxnLst/>
            <a:rect l="l" t="t" r="r" b="b"/>
            <a:pathLst>
              <a:path w="1508640" h="428612">
                <a:moveTo>
                  <a:pt x="0" y="0"/>
                </a:moveTo>
                <a:lnTo>
                  <a:pt x="1508640" y="0"/>
                </a:lnTo>
                <a:lnTo>
                  <a:pt x="1508640" y="428613"/>
                </a:lnTo>
                <a:lnTo>
                  <a:pt x="0" y="428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2" name="Group 62"/>
          <p:cNvGrpSpPr/>
          <p:nvPr/>
        </p:nvGrpSpPr>
        <p:grpSpPr>
          <a:xfrm>
            <a:off x="3895765" y="5103507"/>
            <a:ext cx="1476335" cy="79230"/>
            <a:chOff x="0" y="0"/>
            <a:chExt cx="388829" cy="20867"/>
          </a:xfrm>
        </p:grpSpPr>
        <p:sp>
          <p:nvSpPr>
            <p:cNvPr id="63" name="Freeform 63"/>
            <p:cNvSpPr/>
            <p:nvPr/>
          </p:nvSpPr>
          <p:spPr>
            <a:xfrm>
              <a:off x="0" y="0"/>
              <a:ext cx="388829" cy="20867"/>
            </a:xfrm>
            <a:custGeom>
              <a:avLst/>
              <a:gdLst/>
              <a:ahLst/>
              <a:cxnLst/>
              <a:rect l="l" t="t" r="r" b="b"/>
              <a:pathLst>
                <a:path w="388829" h="20867">
                  <a:moveTo>
                    <a:pt x="0" y="0"/>
                  </a:moveTo>
                  <a:lnTo>
                    <a:pt x="388829" y="0"/>
                  </a:lnTo>
                  <a:lnTo>
                    <a:pt x="388829" y="20867"/>
                  </a:lnTo>
                  <a:lnTo>
                    <a:pt x="0" y="20867"/>
                  </a:lnTo>
                  <a:close/>
                </a:path>
              </a:pathLst>
            </a:custGeom>
            <a:solidFill>
              <a:srgbClr val="000000"/>
            </a:solidFill>
          </p:spPr>
        </p:sp>
        <p:sp>
          <p:nvSpPr>
            <p:cNvPr id="64" name="TextBox 64"/>
            <p:cNvSpPr txBox="1"/>
            <p:nvPr/>
          </p:nvSpPr>
          <p:spPr>
            <a:xfrm>
              <a:off x="0" y="-19050"/>
              <a:ext cx="388829" cy="39917"/>
            </a:xfrm>
            <a:prstGeom prst="rect">
              <a:avLst/>
            </a:prstGeom>
          </p:spPr>
          <p:txBody>
            <a:bodyPr lIns="50800" tIns="50800" rIns="50800" bIns="50800" rtlCol="0" anchor="ctr"/>
            <a:lstStyle/>
            <a:p>
              <a:pPr algn="ctr">
                <a:lnSpc>
                  <a:spcPts val="2160"/>
                </a:lnSpc>
              </a:pPr>
              <a:endParaRPr/>
            </a:p>
          </p:txBody>
        </p:sp>
      </p:grpSp>
      <p:grpSp>
        <p:nvGrpSpPr>
          <p:cNvPr id="65" name="Group 65"/>
          <p:cNvGrpSpPr/>
          <p:nvPr/>
        </p:nvGrpSpPr>
        <p:grpSpPr>
          <a:xfrm>
            <a:off x="7672860" y="5143122"/>
            <a:ext cx="1531981" cy="73985"/>
            <a:chOff x="0" y="0"/>
            <a:chExt cx="403485" cy="19486"/>
          </a:xfrm>
        </p:grpSpPr>
        <p:sp>
          <p:nvSpPr>
            <p:cNvPr id="66" name="Freeform 66"/>
            <p:cNvSpPr/>
            <p:nvPr/>
          </p:nvSpPr>
          <p:spPr>
            <a:xfrm>
              <a:off x="0" y="0"/>
              <a:ext cx="403485" cy="19486"/>
            </a:xfrm>
            <a:custGeom>
              <a:avLst/>
              <a:gdLst/>
              <a:ahLst/>
              <a:cxnLst/>
              <a:rect l="l" t="t" r="r" b="b"/>
              <a:pathLst>
                <a:path w="403485" h="19486">
                  <a:moveTo>
                    <a:pt x="0" y="0"/>
                  </a:moveTo>
                  <a:lnTo>
                    <a:pt x="403485" y="0"/>
                  </a:lnTo>
                  <a:lnTo>
                    <a:pt x="403485" y="19486"/>
                  </a:lnTo>
                  <a:lnTo>
                    <a:pt x="0" y="19486"/>
                  </a:lnTo>
                  <a:close/>
                </a:path>
              </a:pathLst>
            </a:custGeom>
            <a:solidFill>
              <a:srgbClr val="000000"/>
            </a:solidFill>
          </p:spPr>
        </p:sp>
        <p:sp>
          <p:nvSpPr>
            <p:cNvPr id="67" name="TextBox 67"/>
            <p:cNvSpPr txBox="1"/>
            <p:nvPr/>
          </p:nvSpPr>
          <p:spPr>
            <a:xfrm>
              <a:off x="0" y="-19050"/>
              <a:ext cx="403485" cy="38536"/>
            </a:xfrm>
            <a:prstGeom prst="rect">
              <a:avLst/>
            </a:prstGeom>
          </p:spPr>
          <p:txBody>
            <a:bodyPr lIns="50800" tIns="50800" rIns="50800" bIns="50800" rtlCol="0" anchor="ctr"/>
            <a:lstStyle/>
            <a:p>
              <a:pPr algn="ctr">
                <a:lnSpc>
                  <a:spcPts val="2160"/>
                </a:lnSpc>
              </a:pPr>
              <a:endParaRPr/>
            </a:p>
          </p:txBody>
        </p:sp>
      </p:grpSp>
      <p:grpSp>
        <p:nvGrpSpPr>
          <p:cNvPr id="68" name="Group 68"/>
          <p:cNvGrpSpPr/>
          <p:nvPr/>
        </p:nvGrpSpPr>
        <p:grpSpPr>
          <a:xfrm>
            <a:off x="13993432" y="5103507"/>
            <a:ext cx="1711854" cy="83773"/>
            <a:chOff x="0" y="0"/>
            <a:chExt cx="450859" cy="22064"/>
          </a:xfrm>
        </p:grpSpPr>
        <p:sp>
          <p:nvSpPr>
            <p:cNvPr id="69" name="Freeform 69"/>
            <p:cNvSpPr/>
            <p:nvPr/>
          </p:nvSpPr>
          <p:spPr>
            <a:xfrm>
              <a:off x="0" y="0"/>
              <a:ext cx="450859" cy="22064"/>
            </a:xfrm>
            <a:custGeom>
              <a:avLst/>
              <a:gdLst/>
              <a:ahLst/>
              <a:cxnLst/>
              <a:rect l="l" t="t" r="r" b="b"/>
              <a:pathLst>
                <a:path w="450859" h="22064">
                  <a:moveTo>
                    <a:pt x="0" y="0"/>
                  </a:moveTo>
                  <a:lnTo>
                    <a:pt x="450859" y="0"/>
                  </a:lnTo>
                  <a:lnTo>
                    <a:pt x="450859" y="22064"/>
                  </a:lnTo>
                  <a:lnTo>
                    <a:pt x="0" y="22064"/>
                  </a:lnTo>
                  <a:close/>
                </a:path>
              </a:pathLst>
            </a:custGeom>
            <a:solidFill>
              <a:srgbClr val="000000"/>
            </a:solidFill>
          </p:spPr>
        </p:sp>
        <p:sp>
          <p:nvSpPr>
            <p:cNvPr id="70" name="TextBox 70"/>
            <p:cNvSpPr txBox="1"/>
            <p:nvPr/>
          </p:nvSpPr>
          <p:spPr>
            <a:xfrm>
              <a:off x="0" y="-19050"/>
              <a:ext cx="450859" cy="41114"/>
            </a:xfrm>
            <a:prstGeom prst="rect">
              <a:avLst/>
            </a:prstGeom>
          </p:spPr>
          <p:txBody>
            <a:bodyPr lIns="50800" tIns="50800" rIns="50800" bIns="50800" rtlCol="0" anchor="ctr"/>
            <a:lstStyle/>
            <a:p>
              <a:pPr algn="ctr">
                <a:lnSpc>
                  <a:spcPts val="2160"/>
                </a:lnSpc>
              </a:pPr>
              <a:endParaRPr/>
            </a:p>
          </p:txBody>
        </p:sp>
      </p:grpSp>
      <p:sp>
        <p:nvSpPr>
          <p:cNvPr id="71" name="TextBox 71"/>
          <p:cNvSpPr txBox="1"/>
          <p:nvPr/>
        </p:nvSpPr>
        <p:spPr>
          <a:xfrm>
            <a:off x="14044240" y="4131957"/>
            <a:ext cx="1858120" cy="971550"/>
          </a:xfrm>
          <a:prstGeom prst="rect">
            <a:avLst/>
          </a:prstGeom>
        </p:spPr>
        <p:txBody>
          <a:bodyPr lIns="0" tIns="0" rIns="0" bIns="0" rtlCol="0" anchor="t">
            <a:spAutoFit/>
          </a:bodyPr>
          <a:lstStyle/>
          <a:p>
            <a:pPr algn="ctr">
              <a:lnSpc>
                <a:spcPts val="1917"/>
              </a:lnSpc>
              <a:spcBef>
                <a:spcPct val="0"/>
              </a:spcBef>
            </a:pPr>
            <a:r>
              <a:rPr lang="en-US" sz="1597">
                <a:solidFill>
                  <a:srgbClr val="000000"/>
                </a:solidFill>
                <a:latin typeface="Times New Roman"/>
                <a:ea typeface="Times New Roman"/>
                <a:cs typeface="Times New Roman"/>
                <a:sym typeface="Times New Roman"/>
              </a:rPr>
              <a:t>Finally, Requests can now be sent through the API by JSON format</a:t>
            </a:r>
          </a:p>
        </p:txBody>
      </p:sp>
      <p:grpSp>
        <p:nvGrpSpPr>
          <p:cNvPr id="72" name="Group 72"/>
          <p:cNvGrpSpPr/>
          <p:nvPr/>
        </p:nvGrpSpPr>
        <p:grpSpPr>
          <a:xfrm>
            <a:off x="1834068" y="7202165"/>
            <a:ext cx="1527319" cy="1355079"/>
            <a:chOff x="0" y="0"/>
            <a:chExt cx="471395" cy="418234"/>
          </a:xfrm>
        </p:grpSpPr>
        <p:sp>
          <p:nvSpPr>
            <p:cNvPr id="73" name="Freeform 73"/>
            <p:cNvSpPr/>
            <p:nvPr/>
          </p:nvSpPr>
          <p:spPr>
            <a:xfrm>
              <a:off x="0" y="0"/>
              <a:ext cx="471395" cy="418234"/>
            </a:xfrm>
            <a:custGeom>
              <a:avLst/>
              <a:gdLst/>
              <a:ahLst/>
              <a:cxnLst/>
              <a:rect l="l" t="t" r="r" b="b"/>
              <a:pathLst>
                <a:path w="471395" h="418234">
                  <a:moveTo>
                    <a:pt x="99003" y="0"/>
                  </a:moveTo>
                  <a:lnTo>
                    <a:pt x="372392" y="0"/>
                  </a:lnTo>
                  <a:cubicBezTo>
                    <a:pt x="427070" y="0"/>
                    <a:pt x="471395" y="44325"/>
                    <a:pt x="471395" y="99003"/>
                  </a:cubicBezTo>
                  <a:lnTo>
                    <a:pt x="471395" y="319231"/>
                  </a:lnTo>
                  <a:cubicBezTo>
                    <a:pt x="471395" y="373909"/>
                    <a:pt x="427070" y="418234"/>
                    <a:pt x="372392" y="418234"/>
                  </a:cubicBezTo>
                  <a:lnTo>
                    <a:pt x="99003" y="418234"/>
                  </a:lnTo>
                  <a:cubicBezTo>
                    <a:pt x="44325" y="418234"/>
                    <a:pt x="0" y="373909"/>
                    <a:pt x="0" y="319231"/>
                  </a:cubicBezTo>
                  <a:lnTo>
                    <a:pt x="0" y="99003"/>
                  </a:lnTo>
                  <a:cubicBezTo>
                    <a:pt x="0" y="44325"/>
                    <a:pt x="44325" y="0"/>
                    <a:pt x="99003" y="0"/>
                  </a:cubicBezTo>
                  <a:close/>
                </a:path>
              </a:pathLst>
            </a:custGeom>
            <a:solidFill>
              <a:srgbClr val="000000">
                <a:alpha val="0"/>
              </a:srgbClr>
            </a:solidFill>
            <a:ln w="38100" cap="rnd">
              <a:solidFill>
                <a:srgbClr val="000000"/>
              </a:solidFill>
              <a:prstDash val="solid"/>
              <a:round/>
            </a:ln>
          </p:spPr>
        </p:sp>
        <p:sp>
          <p:nvSpPr>
            <p:cNvPr id="74" name="TextBox 74"/>
            <p:cNvSpPr txBox="1"/>
            <p:nvPr/>
          </p:nvSpPr>
          <p:spPr>
            <a:xfrm>
              <a:off x="0" y="-9525"/>
              <a:ext cx="471395"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MF Score</a:t>
              </a:r>
            </a:p>
          </p:txBody>
        </p:sp>
      </p:grpSp>
      <p:grpSp>
        <p:nvGrpSpPr>
          <p:cNvPr id="75" name="Group 75"/>
          <p:cNvGrpSpPr/>
          <p:nvPr/>
        </p:nvGrpSpPr>
        <p:grpSpPr>
          <a:xfrm>
            <a:off x="3449614" y="7202409"/>
            <a:ext cx="1527319" cy="1355079"/>
            <a:chOff x="0" y="0"/>
            <a:chExt cx="471395" cy="418234"/>
          </a:xfrm>
        </p:grpSpPr>
        <p:sp>
          <p:nvSpPr>
            <p:cNvPr id="76" name="Freeform 76"/>
            <p:cNvSpPr/>
            <p:nvPr/>
          </p:nvSpPr>
          <p:spPr>
            <a:xfrm>
              <a:off x="0" y="0"/>
              <a:ext cx="471395" cy="418234"/>
            </a:xfrm>
            <a:custGeom>
              <a:avLst/>
              <a:gdLst/>
              <a:ahLst/>
              <a:cxnLst/>
              <a:rect l="l" t="t" r="r" b="b"/>
              <a:pathLst>
                <a:path w="471395" h="418234">
                  <a:moveTo>
                    <a:pt x="99003" y="0"/>
                  </a:moveTo>
                  <a:lnTo>
                    <a:pt x="372392" y="0"/>
                  </a:lnTo>
                  <a:cubicBezTo>
                    <a:pt x="427070" y="0"/>
                    <a:pt x="471395" y="44325"/>
                    <a:pt x="471395" y="99003"/>
                  </a:cubicBezTo>
                  <a:lnTo>
                    <a:pt x="471395" y="319231"/>
                  </a:lnTo>
                  <a:cubicBezTo>
                    <a:pt x="471395" y="373909"/>
                    <a:pt x="427070" y="418234"/>
                    <a:pt x="372392" y="418234"/>
                  </a:cubicBezTo>
                  <a:lnTo>
                    <a:pt x="99003" y="418234"/>
                  </a:lnTo>
                  <a:cubicBezTo>
                    <a:pt x="44325" y="418234"/>
                    <a:pt x="0" y="373909"/>
                    <a:pt x="0" y="319231"/>
                  </a:cubicBezTo>
                  <a:lnTo>
                    <a:pt x="0" y="99003"/>
                  </a:lnTo>
                  <a:cubicBezTo>
                    <a:pt x="0" y="44325"/>
                    <a:pt x="44325" y="0"/>
                    <a:pt x="99003" y="0"/>
                  </a:cubicBezTo>
                  <a:close/>
                </a:path>
              </a:pathLst>
            </a:custGeom>
            <a:solidFill>
              <a:srgbClr val="000000">
                <a:alpha val="0"/>
              </a:srgbClr>
            </a:solidFill>
            <a:ln w="38100" cap="rnd">
              <a:solidFill>
                <a:srgbClr val="000000"/>
              </a:solidFill>
              <a:prstDash val="solid"/>
              <a:round/>
            </a:ln>
          </p:spPr>
        </p:sp>
        <p:sp>
          <p:nvSpPr>
            <p:cNvPr id="77" name="TextBox 77"/>
            <p:cNvSpPr txBox="1"/>
            <p:nvPr/>
          </p:nvSpPr>
          <p:spPr>
            <a:xfrm>
              <a:off x="0" y="-9525"/>
              <a:ext cx="471395"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Sequence Score</a:t>
              </a:r>
            </a:p>
          </p:txBody>
        </p:sp>
      </p:grpSp>
      <p:grpSp>
        <p:nvGrpSpPr>
          <p:cNvPr id="78" name="Group 78"/>
          <p:cNvGrpSpPr/>
          <p:nvPr/>
        </p:nvGrpSpPr>
        <p:grpSpPr>
          <a:xfrm>
            <a:off x="5062659" y="7202409"/>
            <a:ext cx="1527319" cy="1355079"/>
            <a:chOff x="0" y="0"/>
            <a:chExt cx="471395" cy="418234"/>
          </a:xfrm>
        </p:grpSpPr>
        <p:sp>
          <p:nvSpPr>
            <p:cNvPr id="79" name="Freeform 79"/>
            <p:cNvSpPr/>
            <p:nvPr/>
          </p:nvSpPr>
          <p:spPr>
            <a:xfrm>
              <a:off x="0" y="0"/>
              <a:ext cx="471395" cy="418234"/>
            </a:xfrm>
            <a:custGeom>
              <a:avLst/>
              <a:gdLst/>
              <a:ahLst/>
              <a:cxnLst/>
              <a:rect l="l" t="t" r="r" b="b"/>
              <a:pathLst>
                <a:path w="471395" h="418234">
                  <a:moveTo>
                    <a:pt x="99003" y="0"/>
                  </a:moveTo>
                  <a:lnTo>
                    <a:pt x="372392" y="0"/>
                  </a:lnTo>
                  <a:cubicBezTo>
                    <a:pt x="427070" y="0"/>
                    <a:pt x="471395" y="44325"/>
                    <a:pt x="471395" y="99003"/>
                  </a:cubicBezTo>
                  <a:lnTo>
                    <a:pt x="471395" y="319231"/>
                  </a:lnTo>
                  <a:cubicBezTo>
                    <a:pt x="471395" y="373909"/>
                    <a:pt x="427070" y="418234"/>
                    <a:pt x="372392" y="418234"/>
                  </a:cubicBezTo>
                  <a:lnTo>
                    <a:pt x="99003" y="418234"/>
                  </a:lnTo>
                  <a:cubicBezTo>
                    <a:pt x="44325" y="418234"/>
                    <a:pt x="0" y="373909"/>
                    <a:pt x="0" y="319231"/>
                  </a:cubicBezTo>
                  <a:lnTo>
                    <a:pt x="0" y="99003"/>
                  </a:lnTo>
                  <a:cubicBezTo>
                    <a:pt x="0" y="44325"/>
                    <a:pt x="44325" y="0"/>
                    <a:pt x="99003" y="0"/>
                  </a:cubicBezTo>
                  <a:close/>
                </a:path>
              </a:pathLst>
            </a:custGeom>
            <a:solidFill>
              <a:srgbClr val="000000">
                <a:alpha val="0"/>
              </a:srgbClr>
            </a:solidFill>
            <a:ln w="38100" cap="rnd">
              <a:solidFill>
                <a:srgbClr val="000000"/>
              </a:solidFill>
              <a:prstDash val="solid"/>
              <a:round/>
            </a:ln>
          </p:spPr>
        </p:sp>
        <p:sp>
          <p:nvSpPr>
            <p:cNvPr id="80" name="TextBox 80"/>
            <p:cNvSpPr txBox="1"/>
            <p:nvPr/>
          </p:nvSpPr>
          <p:spPr>
            <a:xfrm>
              <a:off x="0" y="-9525"/>
              <a:ext cx="471395"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Content Similarity Score</a:t>
              </a:r>
            </a:p>
          </p:txBody>
        </p:sp>
      </p:grpSp>
      <p:grpSp>
        <p:nvGrpSpPr>
          <p:cNvPr id="81" name="Group 81"/>
          <p:cNvGrpSpPr/>
          <p:nvPr/>
        </p:nvGrpSpPr>
        <p:grpSpPr>
          <a:xfrm>
            <a:off x="6668352" y="7202165"/>
            <a:ext cx="1527319" cy="1355079"/>
            <a:chOff x="0" y="0"/>
            <a:chExt cx="471395" cy="418234"/>
          </a:xfrm>
        </p:grpSpPr>
        <p:sp>
          <p:nvSpPr>
            <p:cNvPr id="82" name="Freeform 82"/>
            <p:cNvSpPr/>
            <p:nvPr/>
          </p:nvSpPr>
          <p:spPr>
            <a:xfrm>
              <a:off x="0" y="0"/>
              <a:ext cx="471395" cy="418234"/>
            </a:xfrm>
            <a:custGeom>
              <a:avLst/>
              <a:gdLst/>
              <a:ahLst/>
              <a:cxnLst/>
              <a:rect l="l" t="t" r="r" b="b"/>
              <a:pathLst>
                <a:path w="471395" h="418234">
                  <a:moveTo>
                    <a:pt x="99003" y="0"/>
                  </a:moveTo>
                  <a:lnTo>
                    <a:pt x="372392" y="0"/>
                  </a:lnTo>
                  <a:cubicBezTo>
                    <a:pt x="427070" y="0"/>
                    <a:pt x="471395" y="44325"/>
                    <a:pt x="471395" y="99003"/>
                  </a:cubicBezTo>
                  <a:lnTo>
                    <a:pt x="471395" y="319231"/>
                  </a:lnTo>
                  <a:cubicBezTo>
                    <a:pt x="471395" y="373909"/>
                    <a:pt x="427070" y="418234"/>
                    <a:pt x="372392" y="418234"/>
                  </a:cubicBezTo>
                  <a:lnTo>
                    <a:pt x="99003" y="418234"/>
                  </a:lnTo>
                  <a:cubicBezTo>
                    <a:pt x="44325" y="418234"/>
                    <a:pt x="0" y="373909"/>
                    <a:pt x="0" y="319231"/>
                  </a:cubicBezTo>
                  <a:lnTo>
                    <a:pt x="0" y="99003"/>
                  </a:lnTo>
                  <a:cubicBezTo>
                    <a:pt x="0" y="44325"/>
                    <a:pt x="44325" y="0"/>
                    <a:pt x="99003" y="0"/>
                  </a:cubicBezTo>
                  <a:close/>
                </a:path>
              </a:pathLst>
            </a:custGeom>
            <a:solidFill>
              <a:srgbClr val="000000">
                <a:alpha val="0"/>
              </a:srgbClr>
            </a:solidFill>
            <a:ln w="38100" cap="rnd">
              <a:solidFill>
                <a:srgbClr val="000000"/>
              </a:solidFill>
              <a:prstDash val="solid"/>
              <a:round/>
            </a:ln>
          </p:spPr>
        </p:sp>
        <p:sp>
          <p:nvSpPr>
            <p:cNvPr id="83" name="TextBox 83"/>
            <p:cNvSpPr txBox="1"/>
            <p:nvPr/>
          </p:nvSpPr>
          <p:spPr>
            <a:xfrm>
              <a:off x="0" y="-9525"/>
              <a:ext cx="471395"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Healthy Penalty</a:t>
              </a:r>
            </a:p>
          </p:txBody>
        </p:sp>
      </p:grpSp>
      <p:grpSp>
        <p:nvGrpSpPr>
          <p:cNvPr id="84" name="Group 84"/>
          <p:cNvGrpSpPr/>
          <p:nvPr/>
        </p:nvGrpSpPr>
        <p:grpSpPr>
          <a:xfrm>
            <a:off x="8281554" y="7202409"/>
            <a:ext cx="1456144" cy="1355079"/>
            <a:chOff x="0" y="0"/>
            <a:chExt cx="449427" cy="418234"/>
          </a:xfrm>
        </p:grpSpPr>
        <p:sp>
          <p:nvSpPr>
            <p:cNvPr id="85" name="Freeform 85"/>
            <p:cNvSpPr/>
            <p:nvPr/>
          </p:nvSpPr>
          <p:spPr>
            <a:xfrm>
              <a:off x="0" y="0"/>
              <a:ext cx="449427" cy="418234"/>
            </a:xfrm>
            <a:custGeom>
              <a:avLst/>
              <a:gdLst/>
              <a:ahLst/>
              <a:cxnLst/>
              <a:rect l="l" t="t" r="r" b="b"/>
              <a:pathLst>
                <a:path w="449427" h="418234">
                  <a:moveTo>
                    <a:pt x="103842" y="0"/>
                  </a:moveTo>
                  <a:lnTo>
                    <a:pt x="345585" y="0"/>
                  </a:lnTo>
                  <a:cubicBezTo>
                    <a:pt x="373126" y="0"/>
                    <a:pt x="399538" y="10940"/>
                    <a:pt x="419012" y="30415"/>
                  </a:cubicBezTo>
                  <a:cubicBezTo>
                    <a:pt x="438487" y="49889"/>
                    <a:pt x="449427" y="76302"/>
                    <a:pt x="449427" y="103842"/>
                  </a:cubicBezTo>
                  <a:lnTo>
                    <a:pt x="449427" y="314392"/>
                  </a:lnTo>
                  <a:cubicBezTo>
                    <a:pt x="449427" y="341933"/>
                    <a:pt x="438487" y="368345"/>
                    <a:pt x="419012" y="387820"/>
                  </a:cubicBezTo>
                  <a:cubicBezTo>
                    <a:pt x="399538" y="407294"/>
                    <a:pt x="373126" y="418234"/>
                    <a:pt x="345585" y="418234"/>
                  </a:cubicBezTo>
                  <a:lnTo>
                    <a:pt x="103842" y="418234"/>
                  </a:lnTo>
                  <a:cubicBezTo>
                    <a:pt x="76302" y="418234"/>
                    <a:pt x="49889" y="407294"/>
                    <a:pt x="30415" y="387820"/>
                  </a:cubicBezTo>
                  <a:cubicBezTo>
                    <a:pt x="10940" y="368345"/>
                    <a:pt x="0" y="341933"/>
                    <a:pt x="0" y="314392"/>
                  </a:cubicBezTo>
                  <a:lnTo>
                    <a:pt x="0" y="103842"/>
                  </a:lnTo>
                  <a:cubicBezTo>
                    <a:pt x="0" y="76302"/>
                    <a:pt x="10940" y="49889"/>
                    <a:pt x="30415" y="30415"/>
                  </a:cubicBezTo>
                  <a:cubicBezTo>
                    <a:pt x="49889" y="10940"/>
                    <a:pt x="76302" y="0"/>
                    <a:pt x="103842" y="0"/>
                  </a:cubicBezTo>
                  <a:close/>
                </a:path>
              </a:pathLst>
            </a:custGeom>
            <a:solidFill>
              <a:srgbClr val="000000">
                <a:alpha val="0"/>
              </a:srgbClr>
            </a:solidFill>
            <a:ln w="38100" cap="rnd">
              <a:solidFill>
                <a:srgbClr val="000000"/>
              </a:solidFill>
              <a:prstDash val="solid"/>
              <a:round/>
            </a:ln>
          </p:spPr>
        </p:sp>
        <p:sp>
          <p:nvSpPr>
            <p:cNvPr id="86" name="TextBox 86"/>
            <p:cNvSpPr txBox="1"/>
            <p:nvPr/>
          </p:nvSpPr>
          <p:spPr>
            <a:xfrm>
              <a:off x="0" y="-9525"/>
              <a:ext cx="449427" cy="427759"/>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Safety Score</a:t>
              </a:r>
            </a:p>
          </p:txBody>
        </p:sp>
      </p:grpSp>
      <p:grpSp>
        <p:nvGrpSpPr>
          <p:cNvPr id="87" name="Group 87"/>
          <p:cNvGrpSpPr/>
          <p:nvPr/>
        </p:nvGrpSpPr>
        <p:grpSpPr>
          <a:xfrm>
            <a:off x="7610383" y="6851587"/>
            <a:ext cx="47625" cy="350822"/>
            <a:chOff x="0" y="0"/>
            <a:chExt cx="14208" cy="104664"/>
          </a:xfrm>
        </p:grpSpPr>
        <p:sp>
          <p:nvSpPr>
            <p:cNvPr id="88" name="Freeform 88"/>
            <p:cNvSpPr/>
            <p:nvPr/>
          </p:nvSpPr>
          <p:spPr>
            <a:xfrm>
              <a:off x="0" y="0"/>
              <a:ext cx="14208" cy="104664"/>
            </a:xfrm>
            <a:custGeom>
              <a:avLst/>
              <a:gdLst/>
              <a:ahLst/>
              <a:cxnLst/>
              <a:rect l="l" t="t" r="r" b="b"/>
              <a:pathLst>
                <a:path w="14208" h="104664">
                  <a:moveTo>
                    <a:pt x="0" y="0"/>
                  </a:moveTo>
                  <a:lnTo>
                    <a:pt x="14208" y="0"/>
                  </a:lnTo>
                  <a:lnTo>
                    <a:pt x="14208" y="104664"/>
                  </a:lnTo>
                  <a:lnTo>
                    <a:pt x="0" y="104664"/>
                  </a:lnTo>
                  <a:close/>
                </a:path>
              </a:pathLst>
            </a:custGeom>
            <a:solidFill>
              <a:srgbClr val="000000"/>
            </a:solidFill>
          </p:spPr>
        </p:sp>
        <p:sp>
          <p:nvSpPr>
            <p:cNvPr id="89" name="TextBox 89"/>
            <p:cNvSpPr txBox="1"/>
            <p:nvPr/>
          </p:nvSpPr>
          <p:spPr>
            <a:xfrm>
              <a:off x="0" y="-38100"/>
              <a:ext cx="14208" cy="142764"/>
            </a:xfrm>
            <a:prstGeom prst="rect">
              <a:avLst/>
            </a:prstGeom>
          </p:spPr>
          <p:txBody>
            <a:bodyPr lIns="44846" tIns="44846" rIns="44846" bIns="44846" rtlCol="0" anchor="ctr"/>
            <a:lstStyle/>
            <a:p>
              <a:pPr algn="ctr">
                <a:lnSpc>
                  <a:spcPts val="2160"/>
                </a:lnSpc>
              </a:pPr>
              <a:endParaRPr/>
            </a:p>
          </p:txBody>
        </p:sp>
      </p:grpSp>
      <p:grpSp>
        <p:nvGrpSpPr>
          <p:cNvPr id="90" name="Group 90"/>
          <p:cNvGrpSpPr/>
          <p:nvPr/>
        </p:nvGrpSpPr>
        <p:grpSpPr>
          <a:xfrm>
            <a:off x="2597727" y="6842684"/>
            <a:ext cx="6546273" cy="47625"/>
            <a:chOff x="0" y="0"/>
            <a:chExt cx="1953015" cy="14208"/>
          </a:xfrm>
        </p:grpSpPr>
        <p:sp>
          <p:nvSpPr>
            <p:cNvPr id="91" name="Freeform 91"/>
            <p:cNvSpPr/>
            <p:nvPr/>
          </p:nvSpPr>
          <p:spPr>
            <a:xfrm>
              <a:off x="0" y="0"/>
              <a:ext cx="1953015" cy="14208"/>
            </a:xfrm>
            <a:custGeom>
              <a:avLst/>
              <a:gdLst/>
              <a:ahLst/>
              <a:cxnLst/>
              <a:rect l="l" t="t" r="r" b="b"/>
              <a:pathLst>
                <a:path w="1953015" h="14208">
                  <a:moveTo>
                    <a:pt x="0" y="0"/>
                  </a:moveTo>
                  <a:lnTo>
                    <a:pt x="1953015" y="0"/>
                  </a:lnTo>
                  <a:lnTo>
                    <a:pt x="1953015" y="14208"/>
                  </a:lnTo>
                  <a:lnTo>
                    <a:pt x="0" y="14208"/>
                  </a:lnTo>
                  <a:close/>
                </a:path>
              </a:pathLst>
            </a:custGeom>
            <a:solidFill>
              <a:srgbClr val="000000"/>
            </a:solidFill>
          </p:spPr>
        </p:sp>
        <p:sp>
          <p:nvSpPr>
            <p:cNvPr id="92" name="TextBox 92"/>
            <p:cNvSpPr txBox="1"/>
            <p:nvPr/>
          </p:nvSpPr>
          <p:spPr>
            <a:xfrm>
              <a:off x="0" y="-38100"/>
              <a:ext cx="1953015" cy="52308"/>
            </a:xfrm>
            <a:prstGeom prst="rect">
              <a:avLst/>
            </a:prstGeom>
          </p:spPr>
          <p:txBody>
            <a:bodyPr lIns="44846" tIns="44846" rIns="44846" bIns="44846" rtlCol="0" anchor="ctr"/>
            <a:lstStyle/>
            <a:p>
              <a:pPr algn="ctr">
                <a:lnSpc>
                  <a:spcPts val="2160"/>
                </a:lnSpc>
              </a:pPr>
              <a:endParaRPr/>
            </a:p>
          </p:txBody>
        </p:sp>
      </p:grpSp>
      <p:grpSp>
        <p:nvGrpSpPr>
          <p:cNvPr id="93" name="Group 93"/>
          <p:cNvGrpSpPr/>
          <p:nvPr/>
        </p:nvGrpSpPr>
        <p:grpSpPr>
          <a:xfrm>
            <a:off x="5678695" y="6851587"/>
            <a:ext cx="47625" cy="350822"/>
            <a:chOff x="0" y="0"/>
            <a:chExt cx="14208" cy="104664"/>
          </a:xfrm>
        </p:grpSpPr>
        <p:sp>
          <p:nvSpPr>
            <p:cNvPr id="94" name="Freeform 94"/>
            <p:cNvSpPr/>
            <p:nvPr/>
          </p:nvSpPr>
          <p:spPr>
            <a:xfrm>
              <a:off x="0" y="0"/>
              <a:ext cx="14208" cy="104664"/>
            </a:xfrm>
            <a:custGeom>
              <a:avLst/>
              <a:gdLst/>
              <a:ahLst/>
              <a:cxnLst/>
              <a:rect l="l" t="t" r="r" b="b"/>
              <a:pathLst>
                <a:path w="14208" h="104664">
                  <a:moveTo>
                    <a:pt x="0" y="0"/>
                  </a:moveTo>
                  <a:lnTo>
                    <a:pt x="14208" y="0"/>
                  </a:lnTo>
                  <a:lnTo>
                    <a:pt x="14208" y="104664"/>
                  </a:lnTo>
                  <a:lnTo>
                    <a:pt x="0" y="104664"/>
                  </a:lnTo>
                  <a:close/>
                </a:path>
              </a:pathLst>
            </a:custGeom>
            <a:solidFill>
              <a:srgbClr val="000000"/>
            </a:solidFill>
          </p:spPr>
        </p:sp>
        <p:sp>
          <p:nvSpPr>
            <p:cNvPr id="95" name="TextBox 95"/>
            <p:cNvSpPr txBox="1"/>
            <p:nvPr/>
          </p:nvSpPr>
          <p:spPr>
            <a:xfrm>
              <a:off x="0" y="-38100"/>
              <a:ext cx="14208" cy="142764"/>
            </a:xfrm>
            <a:prstGeom prst="rect">
              <a:avLst/>
            </a:prstGeom>
          </p:spPr>
          <p:txBody>
            <a:bodyPr lIns="44846" tIns="44846" rIns="44846" bIns="44846" rtlCol="0" anchor="ctr"/>
            <a:lstStyle/>
            <a:p>
              <a:pPr algn="ctr">
                <a:lnSpc>
                  <a:spcPts val="2160"/>
                </a:lnSpc>
              </a:pPr>
              <a:endParaRPr/>
            </a:p>
          </p:txBody>
        </p:sp>
      </p:grpSp>
      <p:grpSp>
        <p:nvGrpSpPr>
          <p:cNvPr id="96" name="Group 96"/>
          <p:cNvGrpSpPr/>
          <p:nvPr/>
        </p:nvGrpSpPr>
        <p:grpSpPr>
          <a:xfrm>
            <a:off x="6534787" y="5787580"/>
            <a:ext cx="47625" cy="1101317"/>
            <a:chOff x="0" y="0"/>
            <a:chExt cx="14208" cy="328567"/>
          </a:xfrm>
        </p:grpSpPr>
        <p:sp>
          <p:nvSpPr>
            <p:cNvPr id="97" name="Freeform 97"/>
            <p:cNvSpPr/>
            <p:nvPr/>
          </p:nvSpPr>
          <p:spPr>
            <a:xfrm>
              <a:off x="0" y="0"/>
              <a:ext cx="14208" cy="328567"/>
            </a:xfrm>
            <a:custGeom>
              <a:avLst/>
              <a:gdLst/>
              <a:ahLst/>
              <a:cxnLst/>
              <a:rect l="l" t="t" r="r" b="b"/>
              <a:pathLst>
                <a:path w="14208" h="328567">
                  <a:moveTo>
                    <a:pt x="0" y="0"/>
                  </a:moveTo>
                  <a:lnTo>
                    <a:pt x="14208" y="0"/>
                  </a:lnTo>
                  <a:lnTo>
                    <a:pt x="14208" y="328567"/>
                  </a:lnTo>
                  <a:lnTo>
                    <a:pt x="0" y="328567"/>
                  </a:lnTo>
                  <a:close/>
                </a:path>
              </a:pathLst>
            </a:custGeom>
            <a:solidFill>
              <a:srgbClr val="000000"/>
            </a:solidFill>
          </p:spPr>
        </p:sp>
        <p:sp>
          <p:nvSpPr>
            <p:cNvPr id="98" name="TextBox 98"/>
            <p:cNvSpPr txBox="1"/>
            <p:nvPr/>
          </p:nvSpPr>
          <p:spPr>
            <a:xfrm>
              <a:off x="0" y="-38100"/>
              <a:ext cx="14208" cy="366667"/>
            </a:xfrm>
            <a:prstGeom prst="rect">
              <a:avLst/>
            </a:prstGeom>
          </p:spPr>
          <p:txBody>
            <a:bodyPr lIns="44846" tIns="44846" rIns="44846" bIns="44846" rtlCol="0" anchor="ctr"/>
            <a:lstStyle/>
            <a:p>
              <a:pPr algn="ctr">
                <a:lnSpc>
                  <a:spcPts val="2160"/>
                </a:lnSpc>
              </a:pPr>
              <a:endParaRPr/>
            </a:p>
          </p:txBody>
        </p:sp>
      </p:grpSp>
      <p:grpSp>
        <p:nvGrpSpPr>
          <p:cNvPr id="99" name="Group 99"/>
          <p:cNvGrpSpPr/>
          <p:nvPr/>
        </p:nvGrpSpPr>
        <p:grpSpPr>
          <a:xfrm>
            <a:off x="2597727" y="6851342"/>
            <a:ext cx="47625" cy="350822"/>
            <a:chOff x="0" y="0"/>
            <a:chExt cx="14208" cy="104664"/>
          </a:xfrm>
        </p:grpSpPr>
        <p:sp>
          <p:nvSpPr>
            <p:cNvPr id="100" name="Freeform 100"/>
            <p:cNvSpPr/>
            <p:nvPr/>
          </p:nvSpPr>
          <p:spPr>
            <a:xfrm>
              <a:off x="0" y="0"/>
              <a:ext cx="14208" cy="104664"/>
            </a:xfrm>
            <a:custGeom>
              <a:avLst/>
              <a:gdLst/>
              <a:ahLst/>
              <a:cxnLst/>
              <a:rect l="l" t="t" r="r" b="b"/>
              <a:pathLst>
                <a:path w="14208" h="104664">
                  <a:moveTo>
                    <a:pt x="0" y="0"/>
                  </a:moveTo>
                  <a:lnTo>
                    <a:pt x="14208" y="0"/>
                  </a:lnTo>
                  <a:lnTo>
                    <a:pt x="14208" y="104664"/>
                  </a:lnTo>
                  <a:lnTo>
                    <a:pt x="0" y="104664"/>
                  </a:lnTo>
                  <a:close/>
                </a:path>
              </a:pathLst>
            </a:custGeom>
            <a:solidFill>
              <a:srgbClr val="000000"/>
            </a:solidFill>
          </p:spPr>
        </p:sp>
        <p:sp>
          <p:nvSpPr>
            <p:cNvPr id="101" name="TextBox 101"/>
            <p:cNvSpPr txBox="1"/>
            <p:nvPr/>
          </p:nvSpPr>
          <p:spPr>
            <a:xfrm>
              <a:off x="0" y="-38100"/>
              <a:ext cx="14208" cy="142764"/>
            </a:xfrm>
            <a:prstGeom prst="rect">
              <a:avLst/>
            </a:prstGeom>
          </p:spPr>
          <p:txBody>
            <a:bodyPr lIns="44846" tIns="44846" rIns="44846" bIns="44846" rtlCol="0" anchor="ctr"/>
            <a:lstStyle/>
            <a:p>
              <a:pPr algn="ctr">
                <a:lnSpc>
                  <a:spcPts val="2160"/>
                </a:lnSpc>
              </a:pPr>
              <a:endParaRPr/>
            </a:p>
          </p:txBody>
        </p:sp>
      </p:grpSp>
      <p:grpSp>
        <p:nvGrpSpPr>
          <p:cNvPr id="102" name="Group 102"/>
          <p:cNvGrpSpPr/>
          <p:nvPr/>
        </p:nvGrpSpPr>
        <p:grpSpPr>
          <a:xfrm>
            <a:off x="4213274" y="6851342"/>
            <a:ext cx="47625" cy="350822"/>
            <a:chOff x="0" y="0"/>
            <a:chExt cx="14208" cy="104664"/>
          </a:xfrm>
        </p:grpSpPr>
        <p:sp>
          <p:nvSpPr>
            <p:cNvPr id="103" name="Freeform 103"/>
            <p:cNvSpPr/>
            <p:nvPr/>
          </p:nvSpPr>
          <p:spPr>
            <a:xfrm>
              <a:off x="0" y="0"/>
              <a:ext cx="14208" cy="104664"/>
            </a:xfrm>
            <a:custGeom>
              <a:avLst/>
              <a:gdLst/>
              <a:ahLst/>
              <a:cxnLst/>
              <a:rect l="l" t="t" r="r" b="b"/>
              <a:pathLst>
                <a:path w="14208" h="104664">
                  <a:moveTo>
                    <a:pt x="0" y="0"/>
                  </a:moveTo>
                  <a:lnTo>
                    <a:pt x="14208" y="0"/>
                  </a:lnTo>
                  <a:lnTo>
                    <a:pt x="14208" y="104664"/>
                  </a:lnTo>
                  <a:lnTo>
                    <a:pt x="0" y="104664"/>
                  </a:lnTo>
                  <a:close/>
                </a:path>
              </a:pathLst>
            </a:custGeom>
            <a:solidFill>
              <a:srgbClr val="000000"/>
            </a:solidFill>
          </p:spPr>
        </p:sp>
        <p:sp>
          <p:nvSpPr>
            <p:cNvPr id="104" name="TextBox 104"/>
            <p:cNvSpPr txBox="1"/>
            <p:nvPr/>
          </p:nvSpPr>
          <p:spPr>
            <a:xfrm>
              <a:off x="0" y="-38100"/>
              <a:ext cx="14208" cy="142764"/>
            </a:xfrm>
            <a:prstGeom prst="rect">
              <a:avLst/>
            </a:prstGeom>
          </p:spPr>
          <p:txBody>
            <a:bodyPr lIns="44846" tIns="44846" rIns="44846" bIns="44846" rtlCol="0" anchor="ctr"/>
            <a:lstStyle/>
            <a:p>
              <a:pPr algn="ctr">
                <a:lnSpc>
                  <a:spcPts val="2160"/>
                </a:lnSpc>
              </a:pPr>
              <a:endParaRPr/>
            </a:p>
          </p:txBody>
        </p:sp>
      </p:grpSp>
      <p:grpSp>
        <p:nvGrpSpPr>
          <p:cNvPr id="105" name="Group 105"/>
          <p:cNvGrpSpPr/>
          <p:nvPr/>
        </p:nvGrpSpPr>
        <p:grpSpPr>
          <a:xfrm>
            <a:off x="9096375" y="6866497"/>
            <a:ext cx="47625" cy="350822"/>
            <a:chOff x="0" y="0"/>
            <a:chExt cx="14208" cy="104664"/>
          </a:xfrm>
        </p:grpSpPr>
        <p:sp>
          <p:nvSpPr>
            <p:cNvPr id="106" name="Freeform 106"/>
            <p:cNvSpPr/>
            <p:nvPr/>
          </p:nvSpPr>
          <p:spPr>
            <a:xfrm>
              <a:off x="0" y="0"/>
              <a:ext cx="14208" cy="104664"/>
            </a:xfrm>
            <a:custGeom>
              <a:avLst/>
              <a:gdLst/>
              <a:ahLst/>
              <a:cxnLst/>
              <a:rect l="l" t="t" r="r" b="b"/>
              <a:pathLst>
                <a:path w="14208" h="104664">
                  <a:moveTo>
                    <a:pt x="0" y="0"/>
                  </a:moveTo>
                  <a:lnTo>
                    <a:pt x="14208" y="0"/>
                  </a:lnTo>
                  <a:lnTo>
                    <a:pt x="14208" y="104664"/>
                  </a:lnTo>
                  <a:lnTo>
                    <a:pt x="0" y="104664"/>
                  </a:lnTo>
                  <a:close/>
                </a:path>
              </a:pathLst>
            </a:custGeom>
            <a:solidFill>
              <a:srgbClr val="000000"/>
            </a:solidFill>
          </p:spPr>
        </p:sp>
        <p:sp>
          <p:nvSpPr>
            <p:cNvPr id="107" name="TextBox 107"/>
            <p:cNvSpPr txBox="1"/>
            <p:nvPr/>
          </p:nvSpPr>
          <p:spPr>
            <a:xfrm>
              <a:off x="0" y="-38100"/>
              <a:ext cx="14208" cy="142764"/>
            </a:xfrm>
            <a:prstGeom prst="rect">
              <a:avLst/>
            </a:prstGeom>
          </p:spPr>
          <p:txBody>
            <a:bodyPr lIns="44846" tIns="44846" rIns="44846" bIns="44846" rtlCol="0" anchor="ctr"/>
            <a:lstStyle/>
            <a:p>
              <a:pPr algn="ctr">
                <a:lnSpc>
                  <a:spcPts val="2160"/>
                </a:lnSpc>
              </a:pPr>
              <a:endParaRPr/>
            </a:p>
          </p:txBody>
        </p:sp>
      </p:grpSp>
      <p:grpSp>
        <p:nvGrpSpPr>
          <p:cNvPr id="108" name="Group 108"/>
          <p:cNvGrpSpPr/>
          <p:nvPr/>
        </p:nvGrpSpPr>
        <p:grpSpPr>
          <a:xfrm>
            <a:off x="12858815" y="6178797"/>
            <a:ext cx="47625" cy="308667"/>
            <a:chOff x="0" y="0"/>
            <a:chExt cx="14208" cy="92088"/>
          </a:xfrm>
        </p:grpSpPr>
        <p:sp>
          <p:nvSpPr>
            <p:cNvPr id="109" name="Freeform 109"/>
            <p:cNvSpPr/>
            <p:nvPr/>
          </p:nvSpPr>
          <p:spPr>
            <a:xfrm>
              <a:off x="0" y="0"/>
              <a:ext cx="14208" cy="92088"/>
            </a:xfrm>
            <a:custGeom>
              <a:avLst/>
              <a:gdLst/>
              <a:ahLst/>
              <a:cxnLst/>
              <a:rect l="l" t="t" r="r" b="b"/>
              <a:pathLst>
                <a:path w="14208" h="92088">
                  <a:moveTo>
                    <a:pt x="0" y="0"/>
                  </a:moveTo>
                  <a:lnTo>
                    <a:pt x="14208" y="0"/>
                  </a:lnTo>
                  <a:lnTo>
                    <a:pt x="14208" y="92088"/>
                  </a:lnTo>
                  <a:lnTo>
                    <a:pt x="0" y="92088"/>
                  </a:lnTo>
                  <a:close/>
                </a:path>
              </a:pathLst>
            </a:custGeom>
            <a:solidFill>
              <a:srgbClr val="000000"/>
            </a:solidFill>
          </p:spPr>
        </p:sp>
        <p:sp>
          <p:nvSpPr>
            <p:cNvPr id="110" name="TextBox 110"/>
            <p:cNvSpPr txBox="1"/>
            <p:nvPr/>
          </p:nvSpPr>
          <p:spPr>
            <a:xfrm>
              <a:off x="0" y="-38100"/>
              <a:ext cx="14208" cy="130188"/>
            </a:xfrm>
            <a:prstGeom prst="rect">
              <a:avLst/>
            </a:prstGeom>
          </p:spPr>
          <p:txBody>
            <a:bodyPr lIns="44846" tIns="44846" rIns="44846" bIns="44846" rtlCol="0" anchor="ctr"/>
            <a:lstStyle/>
            <a:p>
              <a:pPr algn="ctr">
                <a:lnSpc>
                  <a:spcPts val="2160"/>
                </a:lnSpc>
              </a:pPr>
              <a:endParaRPr/>
            </a:p>
          </p:txBody>
        </p:sp>
      </p:grpSp>
      <p:grpSp>
        <p:nvGrpSpPr>
          <p:cNvPr id="111" name="Group 111"/>
          <p:cNvGrpSpPr/>
          <p:nvPr/>
        </p:nvGrpSpPr>
        <p:grpSpPr>
          <a:xfrm>
            <a:off x="10553901" y="6163866"/>
            <a:ext cx="2352539" cy="47698"/>
            <a:chOff x="0" y="0"/>
            <a:chExt cx="701856" cy="14230"/>
          </a:xfrm>
        </p:grpSpPr>
        <p:sp>
          <p:nvSpPr>
            <p:cNvPr id="112" name="Freeform 112"/>
            <p:cNvSpPr/>
            <p:nvPr/>
          </p:nvSpPr>
          <p:spPr>
            <a:xfrm>
              <a:off x="0" y="0"/>
              <a:ext cx="701856" cy="14230"/>
            </a:xfrm>
            <a:custGeom>
              <a:avLst/>
              <a:gdLst/>
              <a:ahLst/>
              <a:cxnLst/>
              <a:rect l="l" t="t" r="r" b="b"/>
              <a:pathLst>
                <a:path w="701856" h="14230">
                  <a:moveTo>
                    <a:pt x="0" y="0"/>
                  </a:moveTo>
                  <a:lnTo>
                    <a:pt x="701856" y="0"/>
                  </a:lnTo>
                  <a:lnTo>
                    <a:pt x="701856" y="14230"/>
                  </a:lnTo>
                  <a:lnTo>
                    <a:pt x="0" y="14230"/>
                  </a:lnTo>
                  <a:close/>
                </a:path>
              </a:pathLst>
            </a:custGeom>
            <a:solidFill>
              <a:srgbClr val="000000"/>
            </a:solidFill>
          </p:spPr>
        </p:sp>
        <p:sp>
          <p:nvSpPr>
            <p:cNvPr id="113" name="TextBox 113"/>
            <p:cNvSpPr txBox="1"/>
            <p:nvPr/>
          </p:nvSpPr>
          <p:spPr>
            <a:xfrm>
              <a:off x="0" y="-38100"/>
              <a:ext cx="701856" cy="52330"/>
            </a:xfrm>
            <a:prstGeom prst="rect">
              <a:avLst/>
            </a:prstGeom>
          </p:spPr>
          <p:txBody>
            <a:bodyPr lIns="44846" tIns="44846" rIns="44846" bIns="44846" rtlCol="0" anchor="ctr"/>
            <a:lstStyle/>
            <a:p>
              <a:pPr algn="ctr">
                <a:lnSpc>
                  <a:spcPts val="2160"/>
                </a:lnSpc>
              </a:pPr>
              <a:endParaRPr/>
            </a:p>
          </p:txBody>
        </p:sp>
      </p:grpSp>
      <p:grpSp>
        <p:nvGrpSpPr>
          <p:cNvPr id="114" name="Group 114"/>
          <p:cNvGrpSpPr/>
          <p:nvPr/>
        </p:nvGrpSpPr>
        <p:grpSpPr>
          <a:xfrm>
            <a:off x="10553901" y="6187751"/>
            <a:ext cx="47625" cy="290758"/>
            <a:chOff x="0" y="0"/>
            <a:chExt cx="14208" cy="86745"/>
          </a:xfrm>
        </p:grpSpPr>
        <p:sp>
          <p:nvSpPr>
            <p:cNvPr id="115" name="Freeform 115"/>
            <p:cNvSpPr/>
            <p:nvPr/>
          </p:nvSpPr>
          <p:spPr>
            <a:xfrm>
              <a:off x="0" y="0"/>
              <a:ext cx="14208" cy="86745"/>
            </a:xfrm>
            <a:custGeom>
              <a:avLst/>
              <a:gdLst/>
              <a:ahLst/>
              <a:cxnLst/>
              <a:rect l="l" t="t" r="r" b="b"/>
              <a:pathLst>
                <a:path w="14208" h="86745">
                  <a:moveTo>
                    <a:pt x="0" y="0"/>
                  </a:moveTo>
                  <a:lnTo>
                    <a:pt x="14208" y="0"/>
                  </a:lnTo>
                  <a:lnTo>
                    <a:pt x="14208" y="86745"/>
                  </a:lnTo>
                  <a:lnTo>
                    <a:pt x="0" y="86745"/>
                  </a:lnTo>
                  <a:close/>
                </a:path>
              </a:pathLst>
            </a:custGeom>
            <a:solidFill>
              <a:srgbClr val="000000"/>
            </a:solidFill>
          </p:spPr>
        </p:sp>
        <p:sp>
          <p:nvSpPr>
            <p:cNvPr id="116" name="TextBox 116"/>
            <p:cNvSpPr txBox="1"/>
            <p:nvPr/>
          </p:nvSpPr>
          <p:spPr>
            <a:xfrm>
              <a:off x="0" y="-38100"/>
              <a:ext cx="14208" cy="124845"/>
            </a:xfrm>
            <a:prstGeom prst="rect">
              <a:avLst/>
            </a:prstGeom>
          </p:spPr>
          <p:txBody>
            <a:bodyPr lIns="44846" tIns="44846" rIns="44846" bIns="44846" rtlCol="0" anchor="ctr"/>
            <a:lstStyle/>
            <a:p>
              <a:pPr algn="ctr">
                <a:lnSpc>
                  <a:spcPts val="2160"/>
                </a:lnSpc>
              </a:pPr>
              <a:endParaRPr/>
            </a:p>
          </p:txBody>
        </p:sp>
      </p:grpSp>
      <p:grpSp>
        <p:nvGrpSpPr>
          <p:cNvPr id="117" name="Group 117"/>
          <p:cNvGrpSpPr/>
          <p:nvPr/>
        </p:nvGrpSpPr>
        <p:grpSpPr>
          <a:xfrm>
            <a:off x="10929107" y="5659115"/>
            <a:ext cx="47625" cy="528637"/>
            <a:chOff x="0" y="0"/>
            <a:chExt cx="14208" cy="157713"/>
          </a:xfrm>
        </p:grpSpPr>
        <p:sp>
          <p:nvSpPr>
            <p:cNvPr id="118" name="Freeform 118"/>
            <p:cNvSpPr/>
            <p:nvPr/>
          </p:nvSpPr>
          <p:spPr>
            <a:xfrm>
              <a:off x="0" y="0"/>
              <a:ext cx="14208" cy="157713"/>
            </a:xfrm>
            <a:custGeom>
              <a:avLst/>
              <a:gdLst/>
              <a:ahLst/>
              <a:cxnLst/>
              <a:rect l="l" t="t" r="r" b="b"/>
              <a:pathLst>
                <a:path w="14208" h="157713">
                  <a:moveTo>
                    <a:pt x="0" y="0"/>
                  </a:moveTo>
                  <a:lnTo>
                    <a:pt x="14208" y="0"/>
                  </a:lnTo>
                  <a:lnTo>
                    <a:pt x="14208" y="157713"/>
                  </a:lnTo>
                  <a:lnTo>
                    <a:pt x="0" y="157713"/>
                  </a:lnTo>
                  <a:close/>
                </a:path>
              </a:pathLst>
            </a:custGeom>
            <a:solidFill>
              <a:srgbClr val="000000"/>
            </a:solidFill>
          </p:spPr>
        </p:sp>
        <p:sp>
          <p:nvSpPr>
            <p:cNvPr id="119" name="TextBox 119"/>
            <p:cNvSpPr txBox="1"/>
            <p:nvPr/>
          </p:nvSpPr>
          <p:spPr>
            <a:xfrm>
              <a:off x="0" y="-38100"/>
              <a:ext cx="14208" cy="195813"/>
            </a:xfrm>
            <a:prstGeom prst="rect">
              <a:avLst/>
            </a:prstGeom>
          </p:spPr>
          <p:txBody>
            <a:bodyPr lIns="44846" tIns="44846" rIns="44846" bIns="44846" rtlCol="0" anchor="ctr"/>
            <a:lstStyle/>
            <a:p>
              <a:pPr algn="ctr">
                <a:lnSpc>
                  <a:spcPts val="2160"/>
                </a:lnSpc>
              </a:pPr>
              <a:endParaRPr/>
            </a:p>
          </p:txBody>
        </p:sp>
      </p:grpSp>
      <p:grpSp>
        <p:nvGrpSpPr>
          <p:cNvPr id="120" name="Group 120"/>
          <p:cNvGrpSpPr/>
          <p:nvPr/>
        </p:nvGrpSpPr>
        <p:grpSpPr>
          <a:xfrm>
            <a:off x="11926663" y="5103507"/>
            <a:ext cx="1531981" cy="73985"/>
            <a:chOff x="0" y="0"/>
            <a:chExt cx="403485" cy="19486"/>
          </a:xfrm>
        </p:grpSpPr>
        <p:sp>
          <p:nvSpPr>
            <p:cNvPr id="121" name="Freeform 121"/>
            <p:cNvSpPr/>
            <p:nvPr/>
          </p:nvSpPr>
          <p:spPr>
            <a:xfrm>
              <a:off x="0" y="0"/>
              <a:ext cx="403485" cy="19486"/>
            </a:xfrm>
            <a:custGeom>
              <a:avLst/>
              <a:gdLst/>
              <a:ahLst/>
              <a:cxnLst/>
              <a:rect l="l" t="t" r="r" b="b"/>
              <a:pathLst>
                <a:path w="403485" h="19486">
                  <a:moveTo>
                    <a:pt x="0" y="0"/>
                  </a:moveTo>
                  <a:lnTo>
                    <a:pt x="403485" y="0"/>
                  </a:lnTo>
                  <a:lnTo>
                    <a:pt x="403485" y="19486"/>
                  </a:lnTo>
                  <a:lnTo>
                    <a:pt x="0" y="19486"/>
                  </a:lnTo>
                  <a:close/>
                </a:path>
              </a:pathLst>
            </a:custGeom>
            <a:solidFill>
              <a:srgbClr val="000000"/>
            </a:solidFill>
          </p:spPr>
        </p:sp>
        <p:sp>
          <p:nvSpPr>
            <p:cNvPr id="122" name="TextBox 122"/>
            <p:cNvSpPr txBox="1"/>
            <p:nvPr/>
          </p:nvSpPr>
          <p:spPr>
            <a:xfrm>
              <a:off x="0" y="-19050"/>
              <a:ext cx="403485" cy="38536"/>
            </a:xfrm>
            <a:prstGeom prst="rect">
              <a:avLst/>
            </a:prstGeom>
          </p:spPr>
          <p:txBody>
            <a:bodyPr lIns="50800" tIns="50800" rIns="50800" bIns="50800" rtlCol="0" anchor="ctr"/>
            <a:lstStyle/>
            <a:p>
              <a:pPr algn="ctr">
                <a:lnSpc>
                  <a:spcPts val="2160"/>
                </a:lnSpc>
              </a:pPr>
              <a:endParaRPr/>
            </a:p>
          </p:txBody>
        </p:sp>
      </p:grpSp>
      <p:sp>
        <p:nvSpPr>
          <p:cNvPr id="123" name="TextBox 123"/>
          <p:cNvSpPr txBox="1"/>
          <p:nvPr/>
        </p:nvSpPr>
        <p:spPr>
          <a:xfrm>
            <a:off x="12077316" y="5219694"/>
            <a:ext cx="1476335" cy="495300"/>
          </a:xfrm>
          <a:prstGeom prst="rect">
            <a:avLst/>
          </a:prstGeom>
        </p:spPr>
        <p:txBody>
          <a:bodyPr lIns="0" tIns="0" rIns="0" bIns="0" rtlCol="0" anchor="t">
            <a:spAutoFit/>
          </a:bodyPr>
          <a:lstStyle/>
          <a:p>
            <a:pPr algn="ctr">
              <a:lnSpc>
                <a:spcPts val="1917"/>
              </a:lnSpc>
            </a:pPr>
            <a:r>
              <a:rPr lang="en-US" sz="1597">
                <a:solidFill>
                  <a:srgbClr val="000000"/>
                </a:solidFill>
                <a:latin typeface="Times New Roman"/>
                <a:ea typeface="Times New Roman"/>
                <a:cs typeface="Times New Roman"/>
                <a:sym typeface="Times New Roman"/>
              </a:rPr>
              <a:t>Overall /</a:t>
            </a:r>
          </a:p>
          <a:p>
            <a:pPr algn="ctr">
              <a:lnSpc>
                <a:spcPts val="1917"/>
              </a:lnSpc>
              <a:spcBef>
                <a:spcPct val="0"/>
              </a:spcBef>
            </a:pPr>
            <a:r>
              <a:rPr lang="en-US" sz="1597">
                <a:solidFill>
                  <a:srgbClr val="000000"/>
                </a:solidFill>
                <a:latin typeface="Times New Roman"/>
                <a:ea typeface="Times New Roman"/>
                <a:cs typeface="Times New Roman"/>
                <a:sym typeface="Times New Roman"/>
              </a:rPr>
              <a:t>Final Score</a:t>
            </a:r>
          </a:p>
        </p:txBody>
      </p:sp>
      <p:grpSp>
        <p:nvGrpSpPr>
          <p:cNvPr id="124" name="Group 124"/>
          <p:cNvGrpSpPr/>
          <p:nvPr/>
        </p:nvGrpSpPr>
        <p:grpSpPr>
          <a:xfrm>
            <a:off x="16054904" y="4284607"/>
            <a:ext cx="2112765" cy="1717029"/>
            <a:chOff x="0" y="0"/>
            <a:chExt cx="652088" cy="529947"/>
          </a:xfrm>
        </p:grpSpPr>
        <p:sp>
          <p:nvSpPr>
            <p:cNvPr id="125" name="Freeform 125"/>
            <p:cNvSpPr/>
            <p:nvPr/>
          </p:nvSpPr>
          <p:spPr>
            <a:xfrm>
              <a:off x="0" y="0"/>
              <a:ext cx="652088" cy="529947"/>
            </a:xfrm>
            <a:custGeom>
              <a:avLst/>
              <a:gdLst/>
              <a:ahLst/>
              <a:cxnLst/>
              <a:rect l="l" t="t" r="r" b="b"/>
              <a:pathLst>
                <a:path w="652088" h="529947">
                  <a:moveTo>
                    <a:pt x="71569" y="0"/>
                  </a:moveTo>
                  <a:lnTo>
                    <a:pt x="580519" y="0"/>
                  </a:lnTo>
                  <a:cubicBezTo>
                    <a:pt x="620045" y="0"/>
                    <a:pt x="652088" y="32043"/>
                    <a:pt x="652088" y="71569"/>
                  </a:cubicBezTo>
                  <a:lnTo>
                    <a:pt x="652088" y="458378"/>
                  </a:lnTo>
                  <a:cubicBezTo>
                    <a:pt x="652088" y="497905"/>
                    <a:pt x="620045" y="529947"/>
                    <a:pt x="580519" y="529947"/>
                  </a:cubicBezTo>
                  <a:lnTo>
                    <a:pt x="71569" y="529947"/>
                  </a:lnTo>
                  <a:cubicBezTo>
                    <a:pt x="32043" y="529947"/>
                    <a:pt x="0" y="497905"/>
                    <a:pt x="0" y="458378"/>
                  </a:cubicBezTo>
                  <a:lnTo>
                    <a:pt x="0" y="71569"/>
                  </a:lnTo>
                  <a:cubicBezTo>
                    <a:pt x="0" y="32043"/>
                    <a:pt x="32043" y="0"/>
                    <a:pt x="71569" y="0"/>
                  </a:cubicBezTo>
                  <a:close/>
                </a:path>
              </a:pathLst>
            </a:custGeom>
            <a:solidFill>
              <a:srgbClr val="000000">
                <a:alpha val="0"/>
              </a:srgbClr>
            </a:solidFill>
            <a:ln w="38100" cap="rnd">
              <a:solidFill>
                <a:srgbClr val="000000"/>
              </a:solidFill>
              <a:prstDash val="solid"/>
              <a:round/>
            </a:ln>
          </p:spPr>
        </p:sp>
        <p:sp>
          <p:nvSpPr>
            <p:cNvPr id="126" name="TextBox 126"/>
            <p:cNvSpPr txBox="1"/>
            <p:nvPr/>
          </p:nvSpPr>
          <p:spPr>
            <a:xfrm>
              <a:off x="0" y="-9525"/>
              <a:ext cx="652088" cy="539472"/>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API RESPONSE</a:t>
              </a:r>
            </a:p>
          </p:txBody>
        </p:sp>
      </p:grpSp>
      <p:sp>
        <p:nvSpPr>
          <p:cNvPr id="127" name="Freeform 127"/>
          <p:cNvSpPr/>
          <p:nvPr/>
        </p:nvSpPr>
        <p:spPr>
          <a:xfrm>
            <a:off x="14546263" y="4931492"/>
            <a:ext cx="1508640" cy="428612"/>
          </a:xfrm>
          <a:custGeom>
            <a:avLst/>
            <a:gdLst/>
            <a:ahLst/>
            <a:cxnLst/>
            <a:rect l="l" t="t" r="r" b="b"/>
            <a:pathLst>
              <a:path w="1508640" h="428612">
                <a:moveTo>
                  <a:pt x="0" y="0"/>
                </a:moveTo>
                <a:lnTo>
                  <a:pt x="1508641" y="0"/>
                </a:lnTo>
                <a:lnTo>
                  <a:pt x="1508641" y="428613"/>
                </a:lnTo>
                <a:lnTo>
                  <a:pt x="0" y="428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8" name="Freeform 128"/>
          <p:cNvSpPr/>
          <p:nvPr/>
        </p:nvSpPr>
        <p:spPr>
          <a:xfrm rot="5400000">
            <a:off x="16349400" y="6541650"/>
            <a:ext cx="1508640" cy="428612"/>
          </a:xfrm>
          <a:custGeom>
            <a:avLst/>
            <a:gdLst/>
            <a:ahLst/>
            <a:cxnLst/>
            <a:rect l="l" t="t" r="r" b="b"/>
            <a:pathLst>
              <a:path w="1508640" h="428612">
                <a:moveTo>
                  <a:pt x="0" y="0"/>
                </a:moveTo>
                <a:lnTo>
                  <a:pt x="1508640" y="0"/>
                </a:lnTo>
                <a:lnTo>
                  <a:pt x="1508640" y="428613"/>
                </a:lnTo>
                <a:lnTo>
                  <a:pt x="0" y="42861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9" name="Group 129"/>
          <p:cNvGrpSpPr/>
          <p:nvPr/>
        </p:nvGrpSpPr>
        <p:grpSpPr>
          <a:xfrm>
            <a:off x="16414277" y="7535228"/>
            <a:ext cx="1378884" cy="689442"/>
            <a:chOff x="0" y="0"/>
            <a:chExt cx="812800" cy="406400"/>
          </a:xfrm>
        </p:grpSpPr>
        <p:sp>
          <p:nvSpPr>
            <p:cNvPr id="130" name="Freeform 130"/>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00000"/>
              </a:solidFill>
              <a:prstDash val="solid"/>
              <a:miter/>
            </a:ln>
          </p:spPr>
        </p:sp>
        <p:sp>
          <p:nvSpPr>
            <p:cNvPr id="131" name="TextBox 131"/>
            <p:cNvSpPr txBox="1"/>
            <p:nvPr/>
          </p:nvSpPr>
          <p:spPr>
            <a:xfrm>
              <a:off x="0" y="-9525"/>
              <a:ext cx="812800" cy="415925"/>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STOP</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5650" y="547688"/>
            <a:ext cx="3872250" cy="1988550"/>
            <a:chOff x="0" y="0"/>
            <a:chExt cx="5163000" cy="2651400"/>
          </a:xfrm>
        </p:grpSpPr>
        <p:sp>
          <p:nvSpPr>
            <p:cNvPr id="3" name="Freeform 3"/>
            <p:cNvSpPr/>
            <p:nvPr/>
          </p:nvSpPr>
          <p:spPr>
            <a:xfrm>
              <a:off x="0" y="0"/>
              <a:ext cx="5163000" cy="2651400"/>
            </a:xfrm>
            <a:custGeom>
              <a:avLst/>
              <a:gdLst/>
              <a:ahLst/>
              <a:cxnLst/>
              <a:rect l="l" t="t" r="r" b="b"/>
              <a:pathLst>
                <a:path w="5163000" h="2651400">
                  <a:moveTo>
                    <a:pt x="0" y="0"/>
                  </a:moveTo>
                  <a:lnTo>
                    <a:pt x="5163000" y="0"/>
                  </a:lnTo>
                  <a:lnTo>
                    <a:pt x="5163000" y="2651400"/>
                  </a:lnTo>
                  <a:lnTo>
                    <a:pt x="0" y="2651400"/>
                  </a:lnTo>
                  <a:close/>
                </a:path>
              </a:pathLst>
            </a:custGeom>
            <a:solidFill>
              <a:srgbClr val="000000">
                <a:alpha val="0"/>
              </a:srgbClr>
            </a:solidFill>
          </p:spPr>
        </p:sp>
        <p:sp>
          <p:nvSpPr>
            <p:cNvPr id="4" name="TextBox 4"/>
            <p:cNvSpPr txBox="1"/>
            <p:nvPr/>
          </p:nvSpPr>
          <p:spPr>
            <a:xfrm>
              <a:off x="0" y="38100"/>
              <a:ext cx="51630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Flowchart</a:t>
              </a: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32</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grpSp>
        <p:nvGrpSpPr>
          <p:cNvPr id="14" name="Group 14"/>
          <p:cNvGrpSpPr/>
          <p:nvPr/>
        </p:nvGrpSpPr>
        <p:grpSpPr>
          <a:xfrm>
            <a:off x="2915986" y="2696111"/>
            <a:ext cx="1378884" cy="689442"/>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00000"/>
              </a:solidFill>
              <a:prstDash val="solid"/>
              <a:miter/>
            </a:ln>
          </p:spPr>
        </p:sp>
        <p:sp>
          <p:nvSpPr>
            <p:cNvPr id="16" name="TextBox 16"/>
            <p:cNvSpPr txBox="1"/>
            <p:nvPr/>
          </p:nvSpPr>
          <p:spPr>
            <a:xfrm>
              <a:off x="0" y="-9525"/>
              <a:ext cx="812800" cy="415925"/>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START</a:t>
              </a:r>
            </a:p>
          </p:txBody>
        </p:sp>
      </p:grpSp>
      <p:sp>
        <p:nvSpPr>
          <p:cNvPr id="17" name="Freeform 17"/>
          <p:cNvSpPr/>
          <p:nvPr/>
        </p:nvSpPr>
        <p:spPr>
          <a:xfrm rot="5400000">
            <a:off x="3301983" y="3602788"/>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Freeform 18"/>
          <p:cNvSpPr/>
          <p:nvPr/>
        </p:nvSpPr>
        <p:spPr>
          <a:xfrm rot="5400000">
            <a:off x="7851297" y="2753473"/>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p:cNvSpPr/>
          <p:nvPr/>
        </p:nvSpPr>
        <p:spPr>
          <a:xfrm rot="5400000">
            <a:off x="13325606" y="2753473"/>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rot="5400000">
            <a:off x="3301983" y="5207006"/>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rot="5400000">
            <a:off x="7851297" y="4873704"/>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Freeform 22"/>
          <p:cNvSpPr/>
          <p:nvPr/>
        </p:nvSpPr>
        <p:spPr>
          <a:xfrm rot="5400000">
            <a:off x="13325606" y="5425247"/>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3" name="Freeform 23"/>
          <p:cNvSpPr/>
          <p:nvPr/>
        </p:nvSpPr>
        <p:spPr>
          <a:xfrm rot="5400000">
            <a:off x="7851297" y="6473724"/>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4"/>
          <p:cNvSpPr/>
          <p:nvPr/>
        </p:nvSpPr>
        <p:spPr>
          <a:xfrm rot="5400000">
            <a:off x="13325606" y="7025267"/>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5"/>
          <p:cNvSpPr/>
          <p:nvPr/>
        </p:nvSpPr>
        <p:spPr>
          <a:xfrm>
            <a:off x="9399269" y="3813588"/>
            <a:ext cx="606891" cy="172421"/>
          </a:xfrm>
          <a:custGeom>
            <a:avLst/>
            <a:gdLst/>
            <a:ahLst/>
            <a:cxnLst/>
            <a:rect l="l" t="t" r="r" b="b"/>
            <a:pathLst>
              <a:path w="606891" h="172421">
                <a:moveTo>
                  <a:pt x="0" y="0"/>
                </a:moveTo>
                <a:lnTo>
                  <a:pt x="606892" y="0"/>
                </a:lnTo>
                <a:lnTo>
                  <a:pt x="606892"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6" name="Freeform 26"/>
          <p:cNvSpPr/>
          <p:nvPr/>
        </p:nvSpPr>
        <p:spPr>
          <a:xfrm>
            <a:off x="14874851" y="4092943"/>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7" name="Group 27"/>
          <p:cNvGrpSpPr/>
          <p:nvPr/>
        </p:nvGrpSpPr>
        <p:grpSpPr>
          <a:xfrm>
            <a:off x="1424878" y="3992444"/>
            <a:ext cx="4361101" cy="993129"/>
            <a:chOff x="0" y="0"/>
            <a:chExt cx="1148603" cy="261565"/>
          </a:xfrm>
        </p:grpSpPr>
        <p:sp>
          <p:nvSpPr>
            <p:cNvPr id="28" name="Freeform 28"/>
            <p:cNvSpPr/>
            <p:nvPr/>
          </p:nvSpPr>
          <p:spPr>
            <a:xfrm>
              <a:off x="0" y="0"/>
              <a:ext cx="1148603" cy="261565"/>
            </a:xfrm>
            <a:custGeom>
              <a:avLst/>
              <a:gdLst/>
              <a:ahLst/>
              <a:cxnLst/>
              <a:rect l="l" t="t" r="r" b="b"/>
              <a:pathLst>
                <a:path w="1148603" h="261565">
                  <a:moveTo>
                    <a:pt x="203200" y="0"/>
                  </a:moveTo>
                  <a:lnTo>
                    <a:pt x="1148603" y="0"/>
                  </a:lnTo>
                  <a:lnTo>
                    <a:pt x="945403" y="261565"/>
                  </a:lnTo>
                  <a:lnTo>
                    <a:pt x="0" y="261565"/>
                  </a:lnTo>
                  <a:lnTo>
                    <a:pt x="203200" y="0"/>
                  </a:lnTo>
                  <a:close/>
                </a:path>
              </a:pathLst>
            </a:custGeom>
            <a:solidFill>
              <a:srgbClr val="000000">
                <a:alpha val="0"/>
              </a:srgbClr>
            </a:solidFill>
            <a:ln w="38100" cap="sq">
              <a:solidFill>
                <a:srgbClr val="000000"/>
              </a:solidFill>
              <a:prstDash val="solid"/>
              <a:miter/>
            </a:ln>
          </p:spPr>
        </p:sp>
        <p:sp>
          <p:nvSpPr>
            <p:cNvPr id="29" name="TextBox 29"/>
            <p:cNvSpPr txBox="1"/>
            <p:nvPr/>
          </p:nvSpPr>
          <p:spPr>
            <a:xfrm>
              <a:off x="101600" y="-9525"/>
              <a:ext cx="945403"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User sends </a:t>
              </a:r>
            </a:p>
            <a:p>
              <a:pPr algn="ctr">
                <a:lnSpc>
                  <a:spcPts val="2879"/>
                </a:lnSpc>
              </a:pPr>
              <a:r>
                <a:rPr lang="en-US" sz="2399">
                  <a:solidFill>
                    <a:srgbClr val="000000"/>
                  </a:solidFill>
                  <a:latin typeface="Times New Roman"/>
                  <a:ea typeface="Times New Roman"/>
                  <a:cs typeface="Times New Roman"/>
                  <a:sym typeface="Times New Roman"/>
                </a:rPr>
                <a:t>JSON request</a:t>
              </a:r>
            </a:p>
          </p:txBody>
        </p:sp>
      </p:grpSp>
      <p:grpSp>
        <p:nvGrpSpPr>
          <p:cNvPr id="30" name="Group 30"/>
          <p:cNvGrpSpPr/>
          <p:nvPr/>
        </p:nvGrpSpPr>
        <p:grpSpPr>
          <a:xfrm>
            <a:off x="1555890" y="5596662"/>
            <a:ext cx="4099077" cy="993129"/>
            <a:chOff x="0" y="0"/>
            <a:chExt cx="1079592" cy="261565"/>
          </a:xfrm>
        </p:grpSpPr>
        <p:sp>
          <p:nvSpPr>
            <p:cNvPr id="31" name="Freeform 31"/>
            <p:cNvSpPr/>
            <p:nvPr/>
          </p:nvSpPr>
          <p:spPr>
            <a:xfrm>
              <a:off x="0" y="0"/>
              <a:ext cx="1079592" cy="261565"/>
            </a:xfrm>
            <a:custGeom>
              <a:avLst/>
              <a:gdLst/>
              <a:ahLst/>
              <a:cxnLst/>
              <a:rect l="l" t="t" r="r" b="b"/>
              <a:pathLst>
                <a:path w="1079592" h="261565">
                  <a:moveTo>
                    <a:pt x="0" y="0"/>
                  </a:moveTo>
                  <a:lnTo>
                    <a:pt x="1079592" y="0"/>
                  </a:lnTo>
                  <a:lnTo>
                    <a:pt x="1079592" y="261565"/>
                  </a:lnTo>
                  <a:lnTo>
                    <a:pt x="0" y="261565"/>
                  </a:lnTo>
                  <a:close/>
                </a:path>
              </a:pathLst>
            </a:custGeom>
            <a:solidFill>
              <a:srgbClr val="000000">
                <a:alpha val="0"/>
              </a:srgbClr>
            </a:solidFill>
            <a:ln w="38100" cap="sq">
              <a:solidFill>
                <a:srgbClr val="000000"/>
              </a:solidFill>
              <a:prstDash val="solid"/>
              <a:miter/>
            </a:ln>
          </p:spPr>
        </p:sp>
        <p:sp>
          <p:nvSpPr>
            <p:cNvPr id="32" name="TextBox 32"/>
            <p:cNvSpPr txBox="1"/>
            <p:nvPr/>
          </p:nvSpPr>
          <p:spPr>
            <a:xfrm>
              <a:off x="0" y="-9525"/>
              <a:ext cx="1079592"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FastAPI / recommend Endpoint</a:t>
              </a:r>
            </a:p>
            <a:p>
              <a:pPr algn="ctr">
                <a:lnSpc>
                  <a:spcPts val="2879"/>
                </a:lnSpc>
              </a:pPr>
              <a:r>
                <a:rPr lang="en-US" sz="2399">
                  <a:solidFill>
                    <a:srgbClr val="000000"/>
                  </a:solidFill>
                  <a:latin typeface="Times New Roman"/>
                  <a:ea typeface="Times New Roman"/>
                  <a:cs typeface="Times New Roman"/>
                  <a:sym typeface="Times New Roman"/>
                </a:rPr>
                <a:t>Receives Request</a:t>
              </a:r>
            </a:p>
          </p:txBody>
        </p:sp>
      </p:grpSp>
      <p:grpSp>
        <p:nvGrpSpPr>
          <p:cNvPr id="33" name="Group 33"/>
          <p:cNvGrpSpPr/>
          <p:nvPr/>
        </p:nvGrpSpPr>
        <p:grpSpPr>
          <a:xfrm>
            <a:off x="6394764" y="5263360"/>
            <a:ext cx="3519957" cy="993129"/>
            <a:chOff x="0" y="0"/>
            <a:chExt cx="927067" cy="261565"/>
          </a:xfrm>
        </p:grpSpPr>
        <p:sp>
          <p:nvSpPr>
            <p:cNvPr id="34" name="Freeform 34"/>
            <p:cNvSpPr/>
            <p:nvPr/>
          </p:nvSpPr>
          <p:spPr>
            <a:xfrm>
              <a:off x="0" y="0"/>
              <a:ext cx="927067" cy="261565"/>
            </a:xfrm>
            <a:custGeom>
              <a:avLst/>
              <a:gdLst/>
              <a:ahLst/>
              <a:cxnLst/>
              <a:rect l="l" t="t" r="r" b="b"/>
              <a:pathLst>
                <a:path w="927067" h="261565">
                  <a:moveTo>
                    <a:pt x="0" y="0"/>
                  </a:moveTo>
                  <a:lnTo>
                    <a:pt x="927067" y="0"/>
                  </a:lnTo>
                  <a:lnTo>
                    <a:pt x="927067" y="261565"/>
                  </a:lnTo>
                  <a:lnTo>
                    <a:pt x="0" y="261565"/>
                  </a:lnTo>
                  <a:close/>
                </a:path>
              </a:pathLst>
            </a:custGeom>
            <a:solidFill>
              <a:srgbClr val="000000">
                <a:alpha val="0"/>
              </a:srgbClr>
            </a:solidFill>
            <a:ln w="38100" cap="sq">
              <a:solidFill>
                <a:srgbClr val="000000"/>
              </a:solidFill>
              <a:prstDash val="solid"/>
              <a:miter/>
            </a:ln>
          </p:spPr>
        </p:sp>
        <p:sp>
          <p:nvSpPr>
            <p:cNvPr id="35" name="TextBox 35"/>
            <p:cNvSpPr txBox="1"/>
            <p:nvPr/>
          </p:nvSpPr>
          <p:spPr>
            <a:xfrm>
              <a:off x="0" y="-9525"/>
              <a:ext cx="927067"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Filter foods where</a:t>
              </a:r>
            </a:p>
            <a:p>
              <a:pPr algn="ctr">
                <a:lnSpc>
                  <a:spcPts val="2879"/>
                </a:lnSpc>
              </a:pPr>
              <a:r>
                <a:rPr lang="en-US" sz="2399">
                  <a:solidFill>
                    <a:srgbClr val="000000"/>
                  </a:solidFill>
                  <a:latin typeface="Times New Roman"/>
                  <a:ea typeface="Times New Roman"/>
                  <a:cs typeface="Times New Roman"/>
                  <a:sym typeface="Times New Roman"/>
                </a:rPr>
                <a:t>food.region == user.region</a:t>
              </a:r>
            </a:p>
          </p:txBody>
        </p:sp>
      </p:grpSp>
      <p:grpSp>
        <p:nvGrpSpPr>
          <p:cNvPr id="36" name="Group 36"/>
          <p:cNvGrpSpPr/>
          <p:nvPr/>
        </p:nvGrpSpPr>
        <p:grpSpPr>
          <a:xfrm>
            <a:off x="11869073" y="5814903"/>
            <a:ext cx="3519957" cy="993129"/>
            <a:chOff x="0" y="0"/>
            <a:chExt cx="927067" cy="261565"/>
          </a:xfrm>
        </p:grpSpPr>
        <p:sp>
          <p:nvSpPr>
            <p:cNvPr id="37" name="Freeform 37"/>
            <p:cNvSpPr/>
            <p:nvPr/>
          </p:nvSpPr>
          <p:spPr>
            <a:xfrm>
              <a:off x="0" y="0"/>
              <a:ext cx="927067" cy="261565"/>
            </a:xfrm>
            <a:custGeom>
              <a:avLst/>
              <a:gdLst/>
              <a:ahLst/>
              <a:cxnLst/>
              <a:rect l="l" t="t" r="r" b="b"/>
              <a:pathLst>
                <a:path w="927067" h="261565">
                  <a:moveTo>
                    <a:pt x="0" y="0"/>
                  </a:moveTo>
                  <a:lnTo>
                    <a:pt x="927067" y="0"/>
                  </a:lnTo>
                  <a:lnTo>
                    <a:pt x="927067" y="261565"/>
                  </a:lnTo>
                  <a:lnTo>
                    <a:pt x="0" y="261565"/>
                  </a:lnTo>
                  <a:close/>
                </a:path>
              </a:pathLst>
            </a:custGeom>
            <a:solidFill>
              <a:srgbClr val="000000">
                <a:alpha val="0"/>
              </a:srgbClr>
            </a:solidFill>
            <a:ln w="38100" cap="sq">
              <a:solidFill>
                <a:srgbClr val="000000"/>
              </a:solidFill>
              <a:prstDash val="solid"/>
              <a:miter/>
            </a:ln>
          </p:spPr>
        </p:sp>
        <p:sp>
          <p:nvSpPr>
            <p:cNvPr id="38" name="TextBox 38"/>
            <p:cNvSpPr txBox="1"/>
            <p:nvPr/>
          </p:nvSpPr>
          <p:spPr>
            <a:xfrm>
              <a:off x="0" y="-9525"/>
              <a:ext cx="927067"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Filter foods where</a:t>
              </a:r>
            </a:p>
            <a:p>
              <a:pPr algn="ctr">
                <a:lnSpc>
                  <a:spcPts val="2879"/>
                </a:lnSpc>
              </a:pPr>
              <a:r>
                <a:rPr lang="en-US" sz="2399">
                  <a:solidFill>
                    <a:srgbClr val="000000"/>
                  </a:solidFill>
                  <a:latin typeface="Times New Roman"/>
                  <a:ea typeface="Times New Roman"/>
                  <a:cs typeface="Times New Roman"/>
                  <a:sym typeface="Times New Roman"/>
                </a:rPr>
                <a:t>food.region == user.region</a:t>
              </a:r>
            </a:p>
          </p:txBody>
        </p:sp>
      </p:grpSp>
      <p:grpSp>
        <p:nvGrpSpPr>
          <p:cNvPr id="39" name="Group 39"/>
          <p:cNvGrpSpPr/>
          <p:nvPr/>
        </p:nvGrpSpPr>
        <p:grpSpPr>
          <a:xfrm>
            <a:off x="11869073" y="7444245"/>
            <a:ext cx="3519957" cy="993129"/>
            <a:chOff x="0" y="0"/>
            <a:chExt cx="927067" cy="261565"/>
          </a:xfrm>
        </p:grpSpPr>
        <p:sp>
          <p:nvSpPr>
            <p:cNvPr id="40" name="Freeform 40"/>
            <p:cNvSpPr/>
            <p:nvPr/>
          </p:nvSpPr>
          <p:spPr>
            <a:xfrm>
              <a:off x="0" y="0"/>
              <a:ext cx="927067" cy="261565"/>
            </a:xfrm>
            <a:custGeom>
              <a:avLst/>
              <a:gdLst/>
              <a:ahLst/>
              <a:cxnLst/>
              <a:rect l="l" t="t" r="r" b="b"/>
              <a:pathLst>
                <a:path w="927067" h="261565">
                  <a:moveTo>
                    <a:pt x="0" y="0"/>
                  </a:moveTo>
                  <a:lnTo>
                    <a:pt x="927067" y="0"/>
                  </a:lnTo>
                  <a:lnTo>
                    <a:pt x="927067" y="261565"/>
                  </a:lnTo>
                  <a:lnTo>
                    <a:pt x="0" y="261565"/>
                  </a:lnTo>
                  <a:close/>
                </a:path>
              </a:pathLst>
            </a:custGeom>
            <a:solidFill>
              <a:srgbClr val="000000">
                <a:alpha val="0"/>
              </a:srgbClr>
            </a:solidFill>
            <a:ln w="38100" cap="sq">
              <a:solidFill>
                <a:srgbClr val="000000"/>
              </a:solidFill>
              <a:prstDash val="solid"/>
              <a:miter/>
            </a:ln>
          </p:spPr>
        </p:sp>
        <p:sp>
          <p:nvSpPr>
            <p:cNvPr id="41" name="TextBox 41"/>
            <p:cNvSpPr txBox="1"/>
            <p:nvPr/>
          </p:nvSpPr>
          <p:spPr>
            <a:xfrm>
              <a:off x="0" y="-9525"/>
              <a:ext cx="927067"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Final Candidate Food Set Created</a:t>
              </a:r>
            </a:p>
          </p:txBody>
        </p:sp>
      </p:grpSp>
      <p:grpSp>
        <p:nvGrpSpPr>
          <p:cNvPr id="42" name="Group 42"/>
          <p:cNvGrpSpPr/>
          <p:nvPr/>
        </p:nvGrpSpPr>
        <p:grpSpPr>
          <a:xfrm>
            <a:off x="7038754" y="6843008"/>
            <a:ext cx="2231977" cy="993129"/>
            <a:chOff x="0" y="0"/>
            <a:chExt cx="587846" cy="261565"/>
          </a:xfrm>
        </p:grpSpPr>
        <p:sp>
          <p:nvSpPr>
            <p:cNvPr id="43" name="Freeform 43"/>
            <p:cNvSpPr/>
            <p:nvPr/>
          </p:nvSpPr>
          <p:spPr>
            <a:xfrm>
              <a:off x="0" y="0"/>
              <a:ext cx="587846" cy="261565"/>
            </a:xfrm>
            <a:custGeom>
              <a:avLst/>
              <a:gdLst/>
              <a:ahLst/>
              <a:cxnLst/>
              <a:rect l="l" t="t" r="r" b="b"/>
              <a:pathLst>
                <a:path w="587846" h="261565">
                  <a:moveTo>
                    <a:pt x="0" y="0"/>
                  </a:moveTo>
                  <a:lnTo>
                    <a:pt x="587846" y="0"/>
                  </a:lnTo>
                  <a:lnTo>
                    <a:pt x="587846" y="261565"/>
                  </a:lnTo>
                  <a:lnTo>
                    <a:pt x="0" y="261565"/>
                  </a:lnTo>
                  <a:close/>
                </a:path>
              </a:pathLst>
            </a:custGeom>
            <a:solidFill>
              <a:srgbClr val="000000">
                <a:alpha val="0"/>
              </a:srgbClr>
            </a:solidFill>
            <a:ln w="38100" cap="sq">
              <a:solidFill>
                <a:srgbClr val="000000"/>
              </a:solidFill>
              <a:prstDash val="solid"/>
              <a:miter/>
            </a:ln>
          </p:spPr>
        </p:sp>
        <p:sp>
          <p:nvSpPr>
            <p:cNvPr id="44" name="TextBox 44"/>
            <p:cNvSpPr txBox="1"/>
            <p:nvPr/>
          </p:nvSpPr>
          <p:spPr>
            <a:xfrm>
              <a:off x="0" y="-9525"/>
              <a:ext cx="587846"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Remove already consumed</a:t>
              </a:r>
            </a:p>
          </p:txBody>
        </p:sp>
      </p:grpSp>
      <p:grpSp>
        <p:nvGrpSpPr>
          <p:cNvPr id="45" name="Group 45"/>
          <p:cNvGrpSpPr/>
          <p:nvPr/>
        </p:nvGrpSpPr>
        <p:grpSpPr>
          <a:xfrm>
            <a:off x="10006161" y="3382861"/>
            <a:ext cx="1381380" cy="993129"/>
            <a:chOff x="0" y="0"/>
            <a:chExt cx="363820" cy="261565"/>
          </a:xfrm>
        </p:grpSpPr>
        <p:sp>
          <p:nvSpPr>
            <p:cNvPr id="46" name="Freeform 46"/>
            <p:cNvSpPr/>
            <p:nvPr/>
          </p:nvSpPr>
          <p:spPr>
            <a:xfrm>
              <a:off x="0" y="0"/>
              <a:ext cx="363820" cy="261565"/>
            </a:xfrm>
            <a:custGeom>
              <a:avLst/>
              <a:gdLst/>
              <a:ahLst/>
              <a:cxnLst/>
              <a:rect l="l" t="t" r="r" b="b"/>
              <a:pathLst>
                <a:path w="363820" h="261565">
                  <a:moveTo>
                    <a:pt x="0" y="0"/>
                  </a:moveTo>
                  <a:lnTo>
                    <a:pt x="363820" y="0"/>
                  </a:lnTo>
                  <a:lnTo>
                    <a:pt x="363820" y="261565"/>
                  </a:lnTo>
                  <a:lnTo>
                    <a:pt x="0" y="261565"/>
                  </a:lnTo>
                  <a:close/>
                </a:path>
              </a:pathLst>
            </a:custGeom>
            <a:solidFill>
              <a:srgbClr val="000000">
                <a:alpha val="0"/>
              </a:srgbClr>
            </a:solidFill>
            <a:ln w="38100" cap="sq">
              <a:solidFill>
                <a:srgbClr val="000000"/>
              </a:solidFill>
              <a:prstDash val="solid"/>
              <a:miter/>
            </a:ln>
          </p:spPr>
        </p:sp>
        <p:sp>
          <p:nvSpPr>
            <p:cNvPr id="47" name="TextBox 47"/>
            <p:cNvSpPr txBox="1"/>
            <p:nvPr/>
          </p:nvSpPr>
          <p:spPr>
            <a:xfrm>
              <a:off x="0" y="-9525"/>
              <a:ext cx="363820"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Keep all foods</a:t>
              </a:r>
            </a:p>
          </p:txBody>
        </p:sp>
      </p:grpSp>
      <p:grpSp>
        <p:nvGrpSpPr>
          <p:cNvPr id="48" name="Group 48"/>
          <p:cNvGrpSpPr/>
          <p:nvPr/>
        </p:nvGrpSpPr>
        <p:grpSpPr>
          <a:xfrm>
            <a:off x="15481742" y="3662216"/>
            <a:ext cx="1381380" cy="993129"/>
            <a:chOff x="0" y="0"/>
            <a:chExt cx="363820" cy="261565"/>
          </a:xfrm>
        </p:grpSpPr>
        <p:sp>
          <p:nvSpPr>
            <p:cNvPr id="49" name="Freeform 49"/>
            <p:cNvSpPr/>
            <p:nvPr/>
          </p:nvSpPr>
          <p:spPr>
            <a:xfrm>
              <a:off x="0" y="0"/>
              <a:ext cx="363820" cy="261565"/>
            </a:xfrm>
            <a:custGeom>
              <a:avLst/>
              <a:gdLst/>
              <a:ahLst/>
              <a:cxnLst/>
              <a:rect l="l" t="t" r="r" b="b"/>
              <a:pathLst>
                <a:path w="363820" h="261565">
                  <a:moveTo>
                    <a:pt x="0" y="0"/>
                  </a:moveTo>
                  <a:lnTo>
                    <a:pt x="363820" y="0"/>
                  </a:lnTo>
                  <a:lnTo>
                    <a:pt x="363820" y="261565"/>
                  </a:lnTo>
                  <a:lnTo>
                    <a:pt x="0" y="261565"/>
                  </a:lnTo>
                  <a:close/>
                </a:path>
              </a:pathLst>
            </a:custGeom>
            <a:solidFill>
              <a:srgbClr val="000000">
                <a:alpha val="0"/>
              </a:srgbClr>
            </a:solidFill>
            <a:ln w="38100" cap="sq">
              <a:solidFill>
                <a:srgbClr val="000000"/>
              </a:solidFill>
              <a:prstDash val="solid"/>
              <a:miter/>
            </a:ln>
          </p:spPr>
        </p:sp>
        <p:sp>
          <p:nvSpPr>
            <p:cNvPr id="50" name="TextBox 50"/>
            <p:cNvSpPr txBox="1"/>
            <p:nvPr/>
          </p:nvSpPr>
          <p:spPr>
            <a:xfrm>
              <a:off x="0" y="-9525"/>
              <a:ext cx="363820"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Keep all foods</a:t>
              </a:r>
            </a:p>
          </p:txBody>
        </p:sp>
      </p:grpSp>
      <p:sp>
        <p:nvSpPr>
          <p:cNvPr id="51" name="Freeform 51"/>
          <p:cNvSpPr/>
          <p:nvPr/>
        </p:nvSpPr>
        <p:spPr>
          <a:xfrm rot="5400000">
            <a:off x="3301983" y="6808514"/>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2" name="Group 52"/>
          <p:cNvGrpSpPr/>
          <p:nvPr/>
        </p:nvGrpSpPr>
        <p:grpSpPr>
          <a:xfrm>
            <a:off x="1555890" y="7198171"/>
            <a:ext cx="4099077" cy="993129"/>
            <a:chOff x="0" y="0"/>
            <a:chExt cx="1079592" cy="261565"/>
          </a:xfrm>
        </p:grpSpPr>
        <p:sp>
          <p:nvSpPr>
            <p:cNvPr id="53" name="Freeform 53"/>
            <p:cNvSpPr/>
            <p:nvPr/>
          </p:nvSpPr>
          <p:spPr>
            <a:xfrm>
              <a:off x="0" y="0"/>
              <a:ext cx="1079592" cy="261565"/>
            </a:xfrm>
            <a:custGeom>
              <a:avLst/>
              <a:gdLst/>
              <a:ahLst/>
              <a:cxnLst/>
              <a:rect l="l" t="t" r="r" b="b"/>
              <a:pathLst>
                <a:path w="1079592" h="261565">
                  <a:moveTo>
                    <a:pt x="0" y="0"/>
                  </a:moveTo>
                  <a:lnTo>
                    <a:pt x="1079592" y="0"/>
                  </a:lnTo>
                  <a:lnTo>
                    <a:pt x="1079592" y="261565"/>
                  </a:lnTo>
                  <a:lnTo>
                    <a:pt x="0" y="261565"/>
                  </a:lnTo>
                  <a:close/>
                </a:path>
              </a:pathLst>
            </a:custGeom>
            <a:solidFill>
              <a:srgbClr val="000000">
                <a:alpha val="0"/>
              </a:srgbClr>
            </a:solidFill>
            <a:ln w="38100" cap="sq">
              <a:solidFill>
                <a:srgbClr val="000000"/>
              </a:solidFill>
              <a:prstDash val="solid"/>
              <a:miter/>
            </a:ln>
          </p:spPr>
        </p:sp>
        <p:sp>
          <p:nvSpPr>
            <p:cNvPr id="54" name="TextBox 54"/>
            <p:cNvSpPr txBox="1"/>
            <p:nvPr/>
          </p:nvSpPr>
          <p:spPr>
            <a:xfrm>
              <a:off x="0" y="-9525"/>
              <a:ext cx="1079592"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Load Pretrained Artifacts into Memory</a:t>
              </a:r>
            </a:p>
          </p:txBody>
        </p:sp>
      </p:grpSp>
      <p:grpSp>
        <p:nvGrpSpPr>
          <p:cNvPr id="55" name="Group 55"/>
          <p:cNvGrpSpPr/>
          <p:nvPr/>
        </p:nvGrpSpPr>
        <p:grpSpPr>
          <a:xfrm>
            <a:off x="10674821" y="4375990"/>
            <a:ext cx="47625" cy="2098462"/>
            <a:chOff x="0" y="0"/>
            <a:chExt cx="12543" cy="552681"/>
          </a:xfrm>
        </p:grpSpPr>
        <p:sp>
          <p:nvSpPr>
            <p:cNvPr id="56" name="Freeform 56"/>
            <p:cNvSpPr/>
            <p:nvPr/>
          </p:nvSpPr>
          <p:spPr>
            <a:xfrm>
              <a:off x="0" y="0"/>
              <a:ext cx="12543" cy="552681"/>
            </a:xfrm>
            <a:custGeom>
              <a:avLst/>
              <a:gdLst/>
              <a:ahLst/>
              <a:cxnLst/>
              <a:rect l="l" t="t" r="r" b="b"/>
              <a:pathLst>
                <a:path w="12543" h="552681">
                  <a:moveTo>
                    <a:pt x="0" y="0"/>
                  </a:moveTo>
                  <a:lnTo>
                    <a:pt x="12543" y="0"/>
                  </a:lnTo>
                  <a:lnTo>
                    <a:pt x="12543" y="552681"/>
                  </a:lnTo>
                  <a:lnTo>
                    <a:pt x="0" y="552681"/>
                  </a:lnTo>
                  <a:close/>
                </a:path>
              </a:pathLst>
            </a:custGeom>
            <a:solidFill>
              <a:srgbClr val="000000"/>
            </a:solidFill>
          </p:spPr>
        </p:sp>
        <p:sp>
          <p:nvSpPr>
            <p:cNvPr id="57" name="TextBox 57"/>
            <p:cNvSpPr txBox="1"/>
            <p:nvPr/>
          </p:nvSpPr>
          <p:spPr>
            <a:xfrm>
              <a:off x="0" y="-9525"/>
              <a:ext cx="12543" cy="562206"/>
            </a:xfrm>
            <a:prstGeom prst="rect">
              <a:avLst/>
            </a:prstGeom>
          </p:spPr>
          <p:txBody>
            <a:bodyPr lIns="50800" tIns="50800" rIns="50800" bIns="50800" rtlCol="0" anchor="ctr"/>
            <a:lstStyle/>
            <a:p>
              <a:pPr algn="ctr">
                <a:lnSpc>
                  <a:spcPts val="2879"/>
                </a:lnSpc>
              </a:pPr>
              <a:endParaRPr/>
            </a:p>
          </p:txBody>
        </p:sp>
      </p:grpSp>
      <p:grpSp>
        <p:nvGrpSpPr>
          <p:cNvPr id="58" name="Group 58"/>
          <p:cNvGrpSpPr/>
          <p:nvPr/>
        </p:nvGrpSpPr>
        <p:grpSpPr>
          <a:xfrm>
            <a:off x="16150402" y="4655345"/>
            <a:ext cx="47625" cy="2428195"/>
            <a:chOff x="0" y="0"/>
            <a:chExt cx="12543" cy="639525"/>
          </a:xfrm>
        </p:grpSpPr>
        <p:sp>
          <p:nvSpPr>
            <p:cNvPr id="59" name="Freeform 59"/>
            <p:cNvSpPr/>
            <p:nvPr/>
          </p:nvSpPr>
          <p:spPr>
            <a:xfrm>
              <a:off x="0" y="0"/>
              <a:ext cx="12543" cy="639525"/>
            </a:xfrm>
            <a:custGeom>
              <a:avLst/>
              <a:gdLst/>
              <a:ahLst/>
              <a:cxnLst/>
              <a:rect l="l" t="t" r="r" b="b"/>
              <a:pathLst>
                <a:path w="12543" h="639525">
                  <a:moveTo>
                    <a:pt x="0" y="0"/>
                  </a:moveTo>
                  <a:lnTo>
                    <a:pt x="12543" y="0"/>
                  </a:lnTo>
                  <a:lnTo>
                    <a:pt x="12543" y="639525"/>
                  </a:lnTo>
                  <a:lnTo>
                    <a:pt x="0" y="639525"/>
                  </a:lnTo>
                  <a:close/>
                </a:path>
              </a:pathLst>
            </a:custGeom>
            <a:solidFill>
              <a:srgbClr val="000000"/>
            </a:solidFill>
          </p:spPr>
        </p:sp>
        <p:sp>
          <p:nvSpPr>
            <p:cNvPr id="60" name="TextBox 60"/>
            <p:cNvSpPr txBox="1"/>
            <p:nvPr/>
          </p:nvSpPr>
          <p:spPr>
            <a:xfrm>
              <a:off x="0" y="-9525"/>
              <a:ext cx="12543" cy="649050"/>
            </a:xfrm>
            <a:prstGeom prst="rect">
              <a:avLst/>
            </a:prstGeom>
          </p:spPr>
          <p:txBody>
            <a:bodyPr lIns="50800" tIns="50800" rIns="50800" bIns="50800" rtlCol="0" anchor="ctr"/>
            <a:lstStyle/>
            <a:p>
              <a:pPr algn="ctr">
                <a:lnSpc>
                  <a:spcPts val="2879"/>
                </a:lnSpc>
              </a:pPr>
              <a:endParaRPr/>
            </a:p>
          </p:txBody>
        </p:sp>
      </p:grpSp>
      <p:grpSp>
        <p:nvGrpSpPr>
          <p:cNvPr id="61" name="Group 61"/>
          <p:cNvGrpSpPr/>
          <p:nvPr/>
        </p:nvGrpSpPr>
        <p:grpSpPr>
          <a:xfrm>
            <a:off x="3581616" y="2560050"/>
            <a:ext cx="2611504" cy="6478563"/>
            <a:chOff x="0" y="0"/>
            <a:chExt cx="3482005" cy="8638083"/>
          </a:xfrm>
        </p:grpSpPr>
        <p:grpSp>
          <p:nvGrpSpPr>
            <p:cNvPr id="62" name="Group 62"/>
            <p:cNvGrpSpPr/>
            <p:nvPr/>
          </p:nvGrpSpPr>
          <p:grpSpPr>
            <a:xfrm>
              <a:off x="0" y="7504961"/>
              <a:ext cx="63500" cy="1129750"/>
              <a:chOff x="0" y="0"/>
              <a:chExt cx="12543" cy="223161"/>
            </a:xfrm>
          </p:grpSpPr>
          <p:sp>
            <p:nvSpPr>
              <p:cNvPr id="63" name="Freeform 63"/>
              <p:cNvSpPr/>
              <p:nvPr/>
            </p:nvSpPr>
            <p:spPr>
              <a:xfrm>
                <a:off x="0" y="0"/>
                <a:ext cx="12543" cy="223161"/>
              </a:xfrm>
              <a:custGeom>
                <a:avLst/>
                <a:gdLst/>
                <a:ahLst/>
                <a:cxnLst/>
                <a:rect l="l" t="t" r="r" b="b"/>
                <a:pathLst>
                  <a:path w="12543" h="223161">
                    <a:moveTo>
                      <a:pt x="0" y="0"/>
                    </a:moveTo>
                    <a:lnTo>
                      <a:pt x="12543" y="0"/>
                    </a:lnTo>
                    <a:lnTo>
                      <a:pt x="12543" y="223161"/>
                    </a:lnTo>
                    <a:lnTo>
                      <a:pt x="0" y="223161"/>
                    </a:lnTo>
                    <a:close/>
                  </a:path>
                </a:pathLst>
              </a:custGeom>
              <a:solidFill>
                <a:srgbClr val="000000"/>
              </a:solidFill>
            </p:spPr>
          </p:sp>
          <p:sp>
            <p:nvSpPr>
              <p:cNvPr id="64" name="TextBox 64"/>
              <p:cNvSpPr txBox="1"/>
              <p:nvPr/>
            </p:nvSpPr>
            <p:spPr>
              <a:xfrm>
                <a:off x="0" y="-9525"/>
                <a:ext cx="12543" cy="232686"/>
              </a:xfrm>
              <a:prstGeom prst="rect">
                <a:avLst/>
              </a:prstGeom>
            </p:spPr>
            <p:txBody>
              <a:bodyPr lIns="50800" tIns="50800" rIns="50800" bIns="50800" rtlCol="0" anchor="ctr"/>
              <a:lstStyle/>
              <a:p>
                <a:pPr algn="ctr">
                  <a:lnSpc>
                    <a:spcPts val="2879"/>
                  </a:lnSpc>
                </a:pPr>
                <a:endParaRPr/>
              </a:p>
            </p:txBody>
          </p:sp>
        </p:grpSp>
        <p:grpSp>
          <p:nvGrpSpPr>
            <p:cNvPr id="65" name="Group 65"/>
            <p:cNvGrpSpPr/>
            <p:nvPr/>
          </p:nvGrpSpPr>
          <p:grpSpPr>
            <a:xfrm>
              <a:off x="3417946" y="0"/>
              <a:ext cx="64059" cy="8638083"/>
              <a:chOff x="0" y="0"/>
              <a:chExt cx="12654" cy="1706288"/>
            </a:xfrm>
          </p:grpSpPr>
          <p:sp>
            <p:nvSpPr>
              <p:cNvPr id="66" name="Freeform 66"/>
              <p:cNvSpPr/>
              <p:nvPr/>
            </p:nvSpPr>
            <p:spPr>
              <a:xfrm>
                <a:off x="0" y="0"/>
                <a:ext cx="12654" cy="1706288"/>
              </a:xfrm>
              <a:custGeom>
                <a:avLst/>
                <a:gdLst/>
                <a:ahLst/>
                <a:cxnLst/>
                <a:rect l="l" t="t" r="r" b="b"/>
                <a:pathLst>
                  <a:path w="12654" h="1706288">
                    <a:moveTo>
                      <a:pt x="0" y="0"/>
                    </a:moveTo>
                    <a:lnTo>
                      <a:pt x="12654" y="0"/>
                    </a:lnTo>
                    <a:lnTo>
                      <a:pt x="12654" y="1706288"/>
                    </a:lnTo>
                    <a:lnTo>
                      <a:pt x="0" y="1706288"/>
                    </a:lnTo>
                    <a:close/>
                  </a:path>
                </a:pathLst>
              </a:custGeom>
              <a:solidFill>
                <a:srgbClr val="000000"/>
              </a:solidFill>
            </p:spPr>
          </p:sp>
          <p:sp>
            <p:nvSpPr>
              <p:cNvPr id="67" name="TextBox 67"/>
              <p:cNvSpPr txBox="1"/>
              <p:nvPr/>
            </p:nvSpPr>
            <p:spPr>
              <a:xfrm>
                <a:off x="0" y="-9525"/>
                <a:ext cx="12654" cy="1715813"/>
              </a:xfrm>
              <a:prstGeom prst="rect">
                <a:avLst/>
              </a:prstGeom>
            </p:spPr>
            <p:txBody>
              <a:bodyPr lIns="50800" tIns="50800" rIns="50800" bIns="50800" rtlCol="0" anchor="ctr"/>
              <a:lstStyle/>
              <a:p>
                <a:pPr algn="ctr">
                  <a:lnSpc>
                    <a:spcPts val="2879"/>
                  </a:lnSpc>
                </a:pPr>
                <a:endParaRPr/>
              </a:p>
            </p:txBody>
          </p:sp>
        </p:grpSp>
        <p:grpSp>
          <p:nvGrpSpPr>
            <p:cNvPr id="68" name="Group 68"/>
            <p:cNvGrpSpPr/>
            <p:nvPr/>
          </p:nvGrpSpPr>
          <p:grpSpPr>
            <a:xfrm rot="-5400000">
              <a:off x="1724848" y="6909863"/>
              <a:ext cx="63500" cy="3386196"/>
              <a:chOff x="0" y="0"/>
              <a:chExt cx="12543" cy="668878"/>
            </a:xfrm>
          </p:grpSpPr>
          <p:sp>
            <p:nvSpPr>
              <p:cNvPr id="69" name="Freeform 69"/>
              <p:cNvSpPr/>
              <p:nvPr/>
            </p:nvSpPr>
            <p:spPr>
              <a:xfrm>
                <a:off x="0" y="0"/>
                <a:ext cx="12543" cy="668878"/>
              </a:xfrm>
              <a:custGeom>
                <a:avLst/>
                <a:gdLst/>
                <a:ahLst/>
                <a:cxnLst/>
                <a:rect l="l" t="t" r="r" b="b"/>
                <a:pathLst>
                  <a:path w="12543" h="668878">
                    <a:moveTo>
                      <a:pt x="0" y="0"/>
                    </a:moveTo>
                    <a:lnTo>
                      <a:pt x="12543" y="0"/>
                    </a:lnTo>
                    <a:lnTo>
                      <a:pt x="12543" y="668878"/>
                    </a:lnTo>
                    <a:lnTo>
                      <a:pt x="0" y="668878"/>
                    </a:lnTo>
                    <a:close/>
                  </a:path>
                </a:pathLst>
              </a:custGeom>
              <a:solidFill>
                <a:srgbClr val="000000"/>
              </a:solidFill>
            </p:spPr>
          </p:sp>
          <p:sp>
            <p:nvSpPr>
              <p:cNvPr id="70" name="TextBox 70"/>
              <p:cNvSpPr txBox="1"/>
              <p:nvPr/>
            </p:nvSpPr>
            <p:spPr>
              <a:xfrm>
                <a:off x="0" y="-9525"/>
                <a:ext cx="12543" cy="678403"/>
              </a:xfrm>
              <a:prstGeom prst="rect">
                <a:avLst/>
              </a:prstGeom>
            </p:spPr>
            <p:txBody>
              <a:bodyPr lIns="50800" tIns="50800" rIns="50800" bIns="50800" rtlCol="0" anchor="ctr"/>
              <a:lstStyle/>
              <a:p>
                <a:pPr algn="ctr">
                  <a:lnSpc>
                    <a:spcPts val="2879"/>
                  </a:lnSpc>
                </a:pPr>
                <a:endParaRPr/>
              </a:p>
            </p:txBody>
          </p:sp>
        </p:grpSp>
      </p:grpSp>
      <p:grpSp>
        <p:nvGrpSpPr>
          <p:cNvPr id="71" name="Group 71"/>
          <p:cNvGrpSpPr/>
          <p:nvPr/>
        </p:nvGrpSpPr>
        <p:grpSpPr>
          <a:xfrm>
            <a:off x="13634881" y="8408458"/>
            <a:ext cx="47625" cy="630155"/>
            <a:chOff x="0" y="0"/>
            <a:chExt cx="12543" cy="165967"/>
          </a:xfrm>
        </p:grpSpPr>
        <p:sp>
          <p:nvSpPr>
            <p:cNvPr id="72" name="Freeform 72"/>
            <p:cNvSpPr/>
            <p:nvPr/>
          </p:nvSpPr>
          <p:spPr>
            <a:xfrm>
              <a:off x="0" y="0"/>
              <a:ext cx="12543" cy="165967"/>
            </a:xfrm>
            <a:custGeom>
              <a:avLst/>
              <a:gdLst/>
              <a:ahLst/>
              <a:cxnLst/>
              <a:rect l="l" t="t" r="r" b="b"/>
              <a:pathLst>
                <a:path w="12543" h="165967">
                  <a:moveTo>
                    <a:pt x="0" y="0"/>
                  </a:moveTo>
                  <a:lnTo>
                    <a:pt x="12543" y="0"/>
                  </a:lnTo>
                  <a:lnTo>
                    <a:pt x="12543" y="165967"/>
                  </a:lnTo>
                  <a:lnTo>
                    <a:pt x="0" y="165967"/>
                  </a:lnTo>
                  <a:close/>
                </a:path>
              </a:pathLst>
            </a:custGeom>
            <a:solidFill>
              <a:srgbClr val="000000"/>
            </a:solidFill>
          </p:spPr>
        </p:sp>
        <p:sp>
          <p:nvSpPr>
            <p:cNvPr id="73" name="TextBox 73"/>
            <p:cNvSpPr txBox="1"/>
            <p:nvPr/>
          </p:nvSpPr>
          <p:spPr>
            <a:xfrm>
              <a:off x="0" y="-9525"/>
              <a:ext cx="12543" cy="175492"/>
            </a:xfrm>
            <a:prstGeom prst="rect">
              <a:avLst/>
            </a:prstGeom>
          </p:spPr>
          <p:txBody>
            <a:bodyPr lIns="50800" tIns="50800" rIns="50800" bIns="50800" rtlCol="0" anchor="ctr"/>
            <a:lstStyle/>
            <a:p>
              <a:pPr algn="ctr">
                <a:lnSpc>
                  <a:spcPts val="2879"/>
                </a:lnSpc>
              </a:pPr>
              <a:endParaRPr/>
            </a:p>
          </p:txBody>
        </p:sp>
      </p:grpSp>
      <p:grpSp>
        <p:nvGrpSpPr>
          <p:cNvPr id="74" name="Group 74"/>
          <p:cNvGrpSpPr/>
          <p:nvPr/>
        </p:nvGrpSpPr>
        <p:grpSpPr>
          <a:xfrm>
            <a:off x="17380797" y="2536238"/>
            <a:ext cx="47662" cy="6483600"/>
            <a:chOff x="0" y="0"/>
            <a:chExt cx="12553" cy="1707615"/>
          </a:xfrm>
        </p:grpSpPr>
        <p:sp>
          <p:nvSpPr>
            <p:cNvPr id="75" name="Freeform 75"/>
            <p:cNvSpPr/>
            <p:nvPr/>
          </p:nvSpPr>
          <p:spPr>
            <a:xfrm>
              <a:off x="0" y="0"/>
              <a:ext cx="12553" cy="1707615"/>
            </a:xfrm>
            <a:custGeom>
              <a:avLst/>
              <a:gdLst/>
              <a:ahLst/>
              <a:cxnLst/>
              <a:rect l="l" t="t" r="r" b="b"/>
              <a:pathLst>
                <a:path w="12553" h="1707615">
                  <a:moveTo>
                    <a:pt x="0" y="0"/>
                  </a:moveTo>
                  <a:lnTo>
                    <a:pt x="12553" y="0"/>
                  </a:lnTo>
                  <a:lnTo>
                    <a:pt x="12553" y="1707615"/>
                  </a:lnTo>
                  <a:lnTo>
                    <a:pt x="0" y="1707615"/>
                  </a:lnTo>
                  <a:close/>
                </a:path>
              </a:pathLst>
            </a:custGeom>
            <a:solidFill>
              <a:srgbClr val="000000"/>
            </a:solidFill>
          </p:spPr>
        </p:sp>
        <p:sp>
          <p:nvSpPr>
            <p:cNvPr id="76" name="TextBox 76"/>
            <p:cNvSpPr txBox="1"/>
            <p:nvPr/>
          </p:nvSpPr>
          <p:spPr>
            <a:xfrm>
              <a:off x="0" y="-9525"/>
              <a:ext cx="12553" cy="1717140"/>
            </a:xfrm>
            <a:prstGeom prst="rect">
              <a:avLst/>
            </a:prstGeom>
          </p:spPr>
          <p:txBody>
            <a:bodyPr lIns="50800" tIns="50800" rIns="50800" bIns="50800" rtlCol="0" anchor="ctr"/>
            <a:lstStyle/>
            <a:p>
              <a:pPr algn="ctr">
                <a:lnSpc>
                  <a:spcPts val="2879"/>
                </a:lnSpc>
              </a:pPr>
              <a:endParaRPr/>
            </a:p>
          </p:txBody>
        </p:sp>
      </p:grpSp>
      <p:grpSp>
        <p:nvGrpSpPr>
          <p:cNvPr id="77" name="Group 77"/>
          <p:cNvGrpSpPr/>
          <p:nvPr/>
        </p:nvGrpSpPr>
        <p:grpSpPr>
          <a:xfrm rot="-5400000">
            <a:off x="15507566" y="7122062"/>
            <a:ext cx="47625" cy="3795552"/>
            <a:chOff x="0" y="0"/>
            <a:chExt cx="12543" cy="999652"/>
          </a:xfrm>
        </p:grpSpPr>
        <p:sp>
          <p:nvSpPr>
            <p:cNvPr id="78" name="Freeform 78"/>
            <p:cNvSpPr/>
            <p:nvPr/>
          </p:nvSpPr>
          <p:spPr>
            <a:xfrm>
              <a:off x="0" y="0"/>
              <a:ext cx="12543" cy="999652"/>
            </a:xfrm>
            <a:custGeom>
              <a:avLst/>
              <a:gdLst/>
              <a:ahLst/>
              <a:cxnLst/>
              <a:rect l="l" t="t" r="r" b="b"/>
              <a:pathLst>
                <a:path w="12543" h="999652">
                  <a:moveTo>
                    <a:pt x="0" y="0"/>
                  </a:moveTo>
                  <a:lnTo>
                    <a:pt x="12543" y="0"/>
                  </a:lnTo>
                  <a:lnTo>
                    <a:pt x="12543" y="999652"/>
                  </a:lnTo>
                  <a:lnTo>
                    <a:pt x="0" y="999652"/>
                  </a:lnTo>
                  <a:close/>
                </a:path>
              </a:pathLst>
            </a:custGeom>
            <a:solidFill>
              <a:srgbClr val="000000"/>
            </a:solidFill>
          </p:spPr>
        </p:sp>
        <p:sp>
          <p:nvSpPr>
            <p:cNvPr id="79" name="TextBox 79"/>
            <p:cNvSpPr txBox="1"/>
            <p:nvPr/>
          </p:nvSpPr>
          <p:spPr>
            <a:xfrm>
              <a:off x="0" y="-9525"/>
              <a:ext cx="12543" cy="1009177"/>
            </a:xfrm>
            <a:prstGeom prst="rect">
              <a:avLst/>
            </a:prstGeom>
          </p:spPr>
          <p:txBody>
            <a:bodyPr lIns="50800" tIns="50800" rIns="50800" bIns="50800" rtlCol="0" anchor="ctr"/>
            <a:lstStyle/>
            <a:p>
              <a:pPr algn="ctr">
                <a:lnSpc>
                  <a:spcPts val="2879"/>
                </a:lnSpc>
              </a:pPr>
              <a:endParaRPr/>
            </a:p>
          </p:txBody>
        </p:sp>
      </p:grpSp>
      <p:grpSp>
        <p:nvGrpSpPr>
          <p:cNvPr id="80" name="Group 80"/>
          <p:cNvGrpSpPr/>
          <p:nvPr/>
        </p:nvGrpSpPr>
        <p:grpSpPr>
          <a:xfrm>
            <a:off x="8134690" y="7836137"/>
            <a:ext cx="47625" cy="1202476"/>
            <a:chOff x="0" y="0"/>
            <a:chExt cx="12543" cy="316701"/>
          </a:xfrm>
        </p:grpSpPr>
        <p:sp>
          <p:nvSpPr>
            <p:cNvPr id="81" name="Freeform 81"/>
            <p:cNvSpPr/>
            <p:nvPr/>
          </p:nvSpPr>
          <p:spPr>
            <a:xfrm>
              <a:off x="0" y="0"/>
              <a:ext cx="12543" cy="316701"/>
            </a:xfrm>
            <a:custGeom>
              <a:avLst/>
              <a:gdLst/>
              <a:ahLst/>
              <a:cxnLst/>
              <a:rect l="l" t="t" r="r" b="b"/>
              <a:pathLst>
                <a:path w="12543" h="316701">
                  <a:moveTo>
                    <a:pt x="0" y="0"/>
                  </a:moveTo>
                  <a:lnTo>
                    <a:pt x="12543" y="0"/>
                  </a:lnTo>
                  <a:lnTo>
                    <a:pt x="12543" y="316701"/>
                  </a:lnTo>
                  <a:lnTo>
                    <a:pt x="0" y="316701"/>
                  </a:lnTo>
                  <a:close/>
                </a:path>
              </a:pathLst>
            </a:custGeom>
            <a:solidFill>
              <a:srgbClr val="000000"/>
            </a:solidFill>
          </p:spPr>
        </p:sp>
        <p:sp>
          <p:nvSpPr>
            <p:cNvPr id="82" name="TextBox 82"/>
            <p:cNvSpPr txBox="1"/>
            <p:nvPr/>
          </p:nvSpPr>
          <p:spPr>
            <a:xfrm>
              <a:off x="0" y="-9525"/>
              <a:ext cx="12543" cy="326226"/>
            </a:xfrm>
            <a:prstGeom prst="rect">
              <a:avLst/>
            </a:prstGeom>
          </p:spPr>
          <p:txBody>
            <a:bodyPr lIns="50800" tIns="50800" rIns="50800" bIns="50800" rtlCol="0" anchor="ctr"/>
            <a:lstStyle/>
            <a:p>
              <a:pPr algn="ctr">
                <a:lnSpc>
                  <a:spcPts val="2879"/>
                </a:lnSpc>
              </a:pPr>
              <a:endParaRPr/>
            </a:p>
          </p:txBody>
        </p:sp>
      </p:grpSp>
      <p:grpSp>
        <p:nvGrpSpPr>
          <p:cNvPr id="83" name="Group 83"/>
          <p:cNvGrpSpPr/>
          <p:nvPr/>
        </p:nvGrpSpPr>
        <p:grpSpPr>
          <a:xfrm>
            <a:off x="11595572" y="2536237"/>
            <a:ext cx="47625" cy="6478563"/>
            <a:chOff x="0" y="0"/>
            <a:chExt cx="12543" cy="1706288"/>
          </a:xfrm>
        </p:grpSpPr>
        <p:sp>
          <p:nvSpPr>
            <p:cNvPr id="84" name="Freeform 84"/>
            <p:cNvSpPr/>
            <p:nvPr/>
          </p:nvSpPr>
          <p:spPr>
            <a:xfrm>
              <a:off x="0" y="0"/>
              <a:ext cx="12543" cy="1706288"/>
            </a:xfrm>
            <a:custGeom>
              <a:avLst/>
              <a:gdLst/>
              <a:ahLst/>
              <a:cxnLst/>
              <a:rect l="l" t="t" r="r" b="b"/>
              <a:pathLst>
                <a:path w="12543" h="1706288">
                  <a:moveTo>
                    <a:pt x="0" y="0"/>
                  </a:moveTo>
                  <a:lnTo>
                    <a:pt x="12543" y="0"/>
                  </a:lnTo>
                  <a:lnTo>
                    <a:pt x="12543" y="1706288"/>
                  </a:lnTo>
                  <a:lnTo>
                    <a:pt x="0" y="1706288"/>
                  </a:lnTo>
                  <a:close/>
                </a:path>
              </a:pathLst>
            </a:custGeom>
            <a:solidFill>
              <a:srgbClr val="000000"/>
            </a:solidFill>
          </p:spPr>
        </p:sp>
        <p:sp>
          <p:nvSpPr>
            <p:cNvPr id="85" name="TextBox 85"/>
            <p:cNvSpPr txBox="1"/>
            <p:nvPr/>
          </p:nvSpPr>
          <p:spPr>
            <a:xfrm>
              <a:off x="0" y="-9525"/>
              <a:ext cx="12543" cy="1715813"/>
            </a:xfrm>
            <a:prstGeom prst="rect">
              <a:avLst/>
            </a:prstGeom>
          </p:spPr>
          <p:txBody>
            <a:bodyPr lIns="50800" tIns="50800" rIns="50800" bIns="50800" rtlCol="0" anchor="ctr"/>
            <a:lstStyle/>
            <a:p>
              <a:pPr algn="ctr">
                <a:lnSpc>
                  <a:spcPts val="2879"/>
                </a:lnSpc>
              </a:pPr>
              <a:endParaRPr/>
            </a:p>
          </p:txBody>
        </p:sp>
      </p:grpSp>
      <p:grpSp>
        <p:nvGrpSpPr>
          <p:cNvPr id="86" name="Group 86"/>
          <p:cNvGrpSpPr/>
          <p:nvPr/>
        </p:nvGrpSpPr>
        <p:grpSpPr>
          <a:xfrm rot="-5400000">
            <a:off x="9865131" y="7260547"/>
            <a:ext cx="47625" cy="3508507"/>
            <a:chOff x="0" y="0"/>
            <a:chExt cx="12543" cy="924051"/>
          </a:xfrm>
        </p:grpSpPr>
        <p:sp>
          <p:nvSpPr>
            <p:cNvPr id="87" name="Freeform 87"/>
            <p:cNvSpPr/>
            <p:nvPr/>
          </p:nvSpPr>
          <p:spPr>
            <a:xfrm>
              <a:off x="0" y="0"/>
              <a:ext cx="12543" cy="924051"/>
            </a:xfrm>
            <a:custGeom>
              <a:avLst/>
              <a:gdLst/>
              <a:ahLst/>
              <a:cxnLst/>
              <a:rect l="l" t="t" r="r" b="b"/>
              <a:pathLst>
                <a:path w="12543" h="924051">
                  <a:moveTo>
                    <a:pt x="0" y="0"/>
                  </a:moveTo>
                  <a:lnTo>
                    <a:pt x="12543" y="0"/>
                  </a:lnTo>
                  <a:lnTo>
                    <a:pt x="12543" y="924051"/>
                  </a:lnTo>
                  <a:lnTo>
                    <a:pt x="0" y="924051"/>
                  </a:lnTo>
                  <a:close/>
                </a:path>
              </a:pathLst>
            </a:custGeom>
            <a:solidFill>
              <a:srgbClr val="000000"/>
            </a:solidFill>
          </p:spPr>
        </p:sp>
        <p:sp>
          <p:nvSpPr>
            <p:cNvPr id="88" name="TextBox 88"/>
            <p:cNvSpPr txBox="1"/>
            <p:nvPr/>
          </p:nvSpPr>
          <p:spPr>
            <a:xfrm>
              <a:off x="0" y="-9525"/>
              <a:ext cx="12543" cy="933576"/>
            </a:xfrm>
            <a:prstGeom prst="rect">
              <a:avLst/>
            </a:prstGeom>
          </p:spPr>
          <p:txBody>
            <a:bodyPr lIns="50800" tIns="50800" rIns="50800" bIns="50800" rtlCol="0" anchor="ctr"/>
            <a:lstStyle/>
            <a:p>
              <a:pPr algn="ctr">
                <a:lnSpc>
                  <a:spcPts val="2879"/>
                </a:lnSpc>
              </a:pPr>
              <a:endParaRPr/>
            </a:p>
          </p:txBody>
        </p:sp>
      </p:grpSp>
      <p:grpSp>
        <p:nvGrpSpPr>
          <p:cNvPr id="89" name="Group 89"/>
          <p:cNvGrpSpPr/>
          <p:nvPr/>
        </p:nvGrpSpPr>
        <p:grpSpPr>
          <a:xfrm rot="-5400000">
            <a:off x="7126096" y="1555217"/>
            <a:ext cx="47625" cy="2009667"/>
            <a:chOff x="0" y="0"/>
            <a:chExt cx="12543" cy="529295"/>
          </a:xfrm>
        </p:grpSpPr>
        <p:sp>
          <p:nvSpPr>
            <p:cNvPr id="90" name="Freeform 90"/>
            <p:cNvSpPr/>
            <p:nvPr/>
          </p:nvSpPr>
          <p:spPr>
            <a:xfrm>
              <a:off x="0" y="0"/>
              <a:ext cx="12543" cy="529295"/>
            </a:xfrm>
            <a:custGeom>
              <a:avLst/>
              <a:gdLst/>
              <a:ahLst/>
              <a:cxnLst/>
              <a:rect l="l" t="t" r="r" b="b"/>
              <a:pathLst>
                <a:path w="12543" h="529295">
                  <a:moveTo>
                    <a:pt x="0" y="0"/>
                  </a:moveTo>
                  <a:lnTo>
                    <a:pt x="12543" y="0"/>
                  </a:lnTo>
                  <a:lnTo>
                    <a:pt x="12543" y="529295"/>
                  </a:lnTo>
                  <a:lnTo>
                    <a:pt x="0" y="529295"/>
                  </a:lnTo>
                  <a:close/>
                </a:path>
              </a:pathLst>
            </a:custGeom>
            <a:solidFill>
              <a:srgbClr val="000000"/>
            </a:solidFill>
          </p:spPr>
        </p:sp>
        <p:sp>
          <p:nvSpPr>
            <p:cNvPr id="91" name="TextBox 91"/>
            <p:cNvSpPr txBox="1"/>
            <p:nvPr/>
          </p:nvSpPr>
          <p:spPr>
            <a:xfrm>
              <a:off x="0" y="-9525"/>
              <a:ext cx="12543" cy="538820"/>
            </a:xfrm>
            <a:prstGeom prst="rect">
              <a:avLst/>
            </a:prstGeom>
          </p:spPr>
          <p:txBody>
            <a:bodyPr lIns="50800" tIns="50800" rIns="50800" bIns="50800" rtlCol="0" anchor="ctr"/>
            <a:lstStyle/>
            <a:p>
              <a:pPr algn="ctr">
                <a:lnSpc>
                  <a:spcPts val="2879"/>
                </a:lnSpc>
              </a:pPr>
              <a:endParaRPr/>
            </a:p>
          </p:txBody>
        </p:sp>
      </p:grpSp>
      <p:grpSp>
        <p:nvGrpSpPr>
          <p:cNvPr id="92" name="Group 92"/>
          <p:cNvGrpSpPr/>
          <p:nvPr/>
        </p:nvGrpSpPr>
        <p:grpSpPr>
          <a:xfrm rot="-5400000">
            <a:off x="12600405" y="1555217"/>
            <a:ext cx="47625" cy="2009667"/>
            <a:chOff x="0" y="0"/>
            <a:chExt cx="12543" cy="529295"/>
          </a:xfrm>
        </p:grpSpPr>
        <p:sp>
          <p:nvSpPr>
            <p:cNvPr id="93" name="Freeform 93"/>
            <p:cNvSpPr/>
            <p:nvPr/>
          </p:nvSpPr>
          <p:spPr>
            <a:xfrm>
              <a:off x="0" y="0"/>
              <a:ext cx="12543" cy="529295"/>
            </a:xfrm>
            <a:custGeom>
              <a:avLst/>
              <a:gdLst/>
              <a:ahLst/>
              <a:cxnLst/>
              <a:rect l="l" t="t" r="r" b="b"/>
              <a:pathLst>
                <a:path w="12543" h="529295">
                  <a:moveTo>
                    <a:pt x="0" y="0"/>
                  </a:moveTo>
                  <a:lnTo>
                    <a:pt x="12543" y="0"/>
                  </a:lnTo>
                  <a:lnTo>
                    <a:pt x="12543" y="529295"/>
                  </a:lnTo>
                  <a:lnTo>
                    <a:pt x="0" y="529295"/>
                  </a:lnTo>
                  <a:close/>
                </a:path>
              </a:pathLst>
            </a:custGeom>
            <a:solidFill>
              <a:srgbClr val="000000"/>
            </a:solidFill>
          </p:spPr>
        </p:sp>
        <p:sp>
          <p:nvSpPr>
            <p:cNvPr id="94" name="TextBox 94"/>
            <p:cNvSpPr txBox="1"/>
            <p:nvPr/>
          </p:nvSpPr>
          <p:spPr>
            <a:xfrm>
              <a:off x="0" y="-9525"/>
              <a:ext cx="12543" cy="538820"/>
            </a:xfrm>
            <a:prstGeom prst="rect">
              <a:avLst/>
            </a:prstGeom>
          </p:spPr>
          <p:txBody>
            <a:bodyPr lIns="50800" tIns="50800" rIns="50800" bIns="50800" rtlCol="0" anchor="ctr"/>
            <a:lstStyle/>
            <a:p>
              <a:pPr algn="ctr">
                <a:lnSpc>
                  <a:spcPts val="2879"/>
                </a:lnSpc>
              </a:pPr>
              <a:endParaRPr/>
            </a:p>
          </p:txBody>
        </p:sp>
      </p:grpSp>
      <p:grpSp>
        <p:nvGrpSpPr>
          <p:cNvPr id="95" name="Group 95"/>
          <p:cNvGrpSpPr/>
          <p:nvPr/>
        </p:nvGrpSpPr>
        <p:grpSpPr>
          <a:xfrm rot="-5400000">
            <a:off x="18336834" y="1604032"/>
            <a:ext cx="47625" cy="1912037"/>
            <a:chOff x="0" y="0"/>
            <a:chExt cx="12543" cy="503582"/>
          </a:xfrm>
        </p:grpSpPr>
        <p:sp>
          <p:nvSpPr>
            <p:cNvPr id="96" name="Freeform 96"/>
            <p:cNvSpPr/>
            <p:nvPr/>
          </p:nvSpPr>
          <p:spPr>
            <a:xfrm>
              <a:off x="0" y="0"/>
              <a:ext cx="12543" cy="503582"/>
            </a:xfrm>
            <a:custGeom>
              <a:avLst/>
              <a:gdLst/>
              <a:ahLst/>
              <a:cxnLst/>
              <a:rect l="l" t="t" r="r" b="b"/>
              <a:pathLst>
                <a:path w="12543" h="503582">
                  <a:moveTo>
                    <a:pt x="0" y="0"/>
                  </a:moveTo>
                  <a:lnTo>
                    <a:pt x="12543" y="0"/>
                  </a:lnTo>
                  <a:lnTo>
                    <a:pt x="12543" y="503582"/>
                  </a:lnTo>
                  <a:lnTo>
                    <a:pt x="0" y="503582"/>
                  </a:lnTo>
                  <a:close/>
                </a:path>
              </a:pathLst>
            </a:custGeom>
            <a:solidFill>
              <a:srgbClr val="000000"/>
            </a:solidFill>
          </p:spPr>
        </p:sp>
        <p:sp>
          <p:nvSpPr>
            <p:cNvPr id="97" name="TextBox 97"/>
            <p:cNvSpPr txBox="1"/>
            <p:nvPr/>
          </p:nvSpPr>
          <p:spPr>
            <a:xfrm>
              <a:off x="0" y="-9525"/>
              <a:ext cx="12543" cy="513107"/>
            </a:xfrm>
            <a:prstGeom prst="rect">
              <a:avLst/>
            </a:prstGeom>
          </p:spPr>
          <p:txBody>
            <a:bodyPr lIns="50800" tIns="50800" rIns="50800" bIns="50800" rtlCol="0" anchor="ctr"/>
            <a:lstStyle/>
            <a:p>
              <a:pPr algn="ctr">
                <a:lnSpc>
                  <a:spcPts val="2879"/>
                </a:lnSpc>
              </a:pPr>
              <a:endParaRPr/>
            </a:p>
          </p:txBody>
        </p:sp>
      </p:grpSp>
      <p:grpSp>
        <p:nvGrpSpPr>
          <p:cNvPr id="98" name="Group 98"/>
          <p:cNvGrpSpPr/>
          <p:nvPr/>
        </p:nvGrpSpPr>
        <p:grpSpPr>
          <a:xfrm rot="-5400000">
            <a:off x="9693800" y="5493432"/>
            <a:ext cx="47625" cy="2009667"/>
            <a:chOff x="0" y="0"/>
            <a:chExt cx="12543" cy="529295"/>
          </a:xfrm>
        </p:grpSpPr>
        <p:sp>
          <p:nvSpPr>
            <p:cNvPr id="99" name="Freeform 99"/>
            <p:cNvSpPr/>
            <p:nvPr/>
          </p:nvSpPr>
          <p:spPr>
            <a:xfrm>
              <a:off x="0" y="0"/>
              <a:ext cx="12543" cy="529295"/>
            </a:xfrm>
            <a:custGeom>
              <a:avLst/>
              <a:gdLst/>
              <a:ahLst/>
              <a:cxnLst/>
              <a:rect l="l" t="t" r="r" b="b"/>
              <a:pathLst>
                <a:path w="12543" h="529295">
                  <a:moveTo>
                    <a:pt x="0" y="0"/>
                  </a:moveTo>
                  <a:lnTo>
                    <a:pt x="12543" y="0"/>
                  </a:lnTo>
                  <a:lnTo>
                    <a:pt x="12543" y="529295"/>
                  </a:lnTo>
                  <a:lnTo>
                    <a:pt x="0" y="529295"/>
                  </a:lnTo>
                  <a:close/>
                </a:path>
              </a:pathLst>
            </a:custGeom>
            <a:solidFill>
              <a:srgbClr val="000000"/>
            </a:solidFill>
          </p:spPr>
        </p:sp>
        <p:sp>
          <p:nvSpPr>
            <p:cNvPr id="100" name="TextBox 100"/>
            <p:cNvSpPr txBox="1"/>
            <p:nvPr/>
          </p:nvSpPr>
          <p:spPr>
            <a:xfrm>
              <a:off x="0" y="-9525"/>
              <a:ext cx="12543" cy="538820"/>
            </a:xfrm>
            <a:prstGeom prst="rect">
              <a:avLst/>
            </a:prstGeom>
          </p:spPr>
          <p:txBody>
            <a:bodyPr lIns="50800" tIns="50800" rIns="50800" bIns="50800" rtlCol="0" anchor="ctr"/>
            <a:lstStyle/>
            <a:p>
              <a:pPr algn="ctr">
                <a:lnSpc>
                  <a:spcPts val="2879"/>
                </a:lnSpc>
              </a:pPr>
              <a:endParaRPr/>
            </a:p>
          </p:txBody>
        </p:sp>
      </p:grpSp>
      <p:grpSp>
        <p:nvGrpSpPr>
          <p:cNvPr id="101" name="Group 101"/>
          <p:cNvGrpSpPr/>
          <p:nvPr/>
        </p:nvGrpSpPr>
        <p:grpSpPr>
          <a:xfrm rot="-5400000">
            <a:off x="15167382" y="6054894"/>
            <a:ext cx="47625" cy="2009667"/>
            <a:chOff x="0" y="0"/>
            <a:chExt cx="12543" cy="529295"/>
          </a:xfrm>
        </p:grpSpPr>
        <p:sp>
          <p:nvSpPr>
            <p:cNvPr id="102" name="Freeform 102"/>
            <p:cNvSpPr/>
            <p:nvPr/>
          </p:nvSpPr>
          <p:spPr>
            <a:xfrm>
              <a:off x="0" y="0"/>
              <a:ext cx="12543" cy="529295"/>
            </a:xfrm>
            <a:custGeom>
              <a:avLst/>
              <a:gdLst/>
              <a:ahLst/>
              <a:cxnLst/>
              <a:rect l="l" t="t" r="r" b="b"/>
              <a:pathLst>
                <a:path w="12543" h="529295">
                  <a:moveTo>
                    <a:pt x="0" y="0"/>
                  </a:moveTo>
                  <a:lnTo>
                    <a:pt x="12543" y="0"/>
                  </a:lnTo>
                  <a:lnTo>
                    <a:pt x="12543" y="529295"/>
                  </a:lnTo>
                  <a:lnTo>
                    <a:pt x="0" y="529295"/>
                  </a:lnTo>
                  <a:close/>
                </a:path>
              </a:pathLst>
            </a:custGeom>
            <a:solidFill>
              <a:srgbClr val="000000"/>
            </a:solidFill>
          </p:spPr>
        </p:sp>
        <p:sp>
          <p:nvSpPr>
            <p:cNvPr id="103" name="TextBox 103"/>
            <p:cNvSpPr txBox="1"/>
            <p:nvPr/>
          </p:nvSpPr>
          <p:spPr>
            <a:xfrm>
              <a:off x="0" y="-9525"/>
              <a:ext cx="12543" cy="538820"/>
            </a:xfrm>
            <a:prstGeom prst="rect">
              <a:avLst/>
            </a:prstGeom>
          </p:spPr>
          <p:txBody>
            <a:bodyPr lIns="50800" tIns="50800" rIns="50800" bIns="50800" rtlCol="0" anchor="ctr"/>
            <a:lstStyle/>
            <a:p>
              <a:pPr algn="ctr">
                <a:lnSpc>
                  <a:spcPts val="2879"/>
                </a:lnSpc>
              </a:pPr>
              <a:endParaRPr/>
            </a:p>
          </p:txBody>
        </p:sp>
      </p:grpSp>
      <p:grpSp>
        <p:nvGrpSpPr>
          <p:cNvPr id="104" name="Group 104"/>
          <p:cNvGrpSpPr/>
          <p:nvPr/>
        </p:nvGrpSpPr>
        <p:grpSpPr>
          <a:xfrm>
            <a:off x="6880368" y="3143129"/>
            <a:ext cx="2548749" cy="1513340"/>
            <a:chOff x="0" y="0"/>
            <a:chExt cx="1643069" cy="975585"/>
          </a:xfrm>
        </p:grpSpPr>
        <p:sp>
          <p:nvSpPr>
            <p:cNvPr id="105" name="Freeform 105"/>
            <p:cNvSpPr/>
            <p:nvPr/>
          </p:nvSpPr>
          <p:spPr>
            <a:xfrm>
              <a:off x="0" y="0"/>
              <a:ext cx="1643069" cy="975585"/>
            </a:xfrm>
            <a:custGeom>
              <a:avLst/>
              <a:gdLst/>
              <a:ahLst/>
              <a:cxnLst/>
              <a:rect l="l" t="t" r="r" b="b"/>
              <a:pathLst>
                <a:path w="1643069" h="975585">
                  <a:moveTo>
                    <a:pt x="821534" y="0"/>
                  </a:moveTo>
                  <a:lnTo>
                    <a:pt x="1643069" y="487793"/>
                  </a:lnTo>
                  <a:lnTo>
                    <a:pt x="821534" y="975585"/>
                  </a:lnTo>
                  <a:lnTo>
                    <a:pt x="0" y="487793"/>
                  </a:lnTo>
                  <a:lnTo>
                    <a:pt x="821534" y="0"/>
                  </a:lnTo>
                  <a:close/>
                </a:path>
              </a:pathLst>
            </a:custGeom>
            <a:solidFill>
              <a:srgbClr val="000000">
                <a:alpha val="0"/>
              </a:srgbClr>
            </a:solidFill>
            <a:ln w="38100" cap="sq">
              <a:solidFill>
                <a:srgbClr val="000000"/>
              </a:solidFill>
              <a:prstDash val="solid"/>
              <a:miter/>
            </a:ln>
          </p:spPr>
        </p:sp>
        <p:sp>
          <p:nvSpPr>
            <p:cNvPr id="106" name="TextBox 106"/>
            <p:cNvSpPr txBox="1"/>
            <p:nvPr/>
          </p:nvSpPr>
          <p:spPr>
            <a:xfrm>
              <a:off x="282402" y="158154"/>
              <a:ext cx="1078264" cy="649753"/>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Is Region Provided?</a:t>
              </a:r>
            </a:p>
          </p:txBody>
        </p:sp>
      </p:grpSp>
      <p:grpSp>
        <p:nvGrpSpPr>
          <p:cNvPr id="107" name="Group 107"/>
          <p:cNvGrpSpPr/>
          <p:nvPr/>
        </p:nvGrpSpPr>
        <p:grpSpPr>
          <a:xfrm>
            <a:off x="12354677" y="3143129"/>
            <a:ext cx="2548749" cy="2064883"/>
            <a:chOff x="0" y="0"/>
            <a:chExt cx="1643069" cy="1331141"/>
          </a:xfrm>
        </p:grpSpPr>
        <p:sp>
          <p:nvSpPr>
            <p:cNvPr id="108" name="Freeform 108"/>
            <p:cNvSpPr/>
            <p:nvPr/>
          </p:nvSpPr>
          <p:spPr>
            <a:xfrm>
              <a:off x="0" y="0"/>
              <a:ext cx="1643069" cy="1331141"/>
            </a:xfrm>
            <a:custGeom>
              <a:avLst/>
              <a:gdLst/>
              <a:ahLst/>
              <a:cxnLst/>
              <a:rect l="l" t="t" r="r" b="b"/>
              <a:pathLst>
                <a:path w="1643069" h="1331141">
                  <a:moveTo>
                    <a:pt x="821534" y="0"/>
                  </a:moveTo>
                  <a:lnTo>
                    <a:pt x="1643069" y="665571"/>
                  </a:lnTo>
                  <a:lnTo>
                    <a:pt x="821534" y="1331141"/>
                  </a:lnTo>
                  <a:lnTo>
                    <a:pt x="0" y="665571"/>
                  </a:lnTo>
                  <a:lnTo>
                    <a:pt x="821534" y="0"/>
                  </a:lnTo>
                  <a:close/>
                </a:path>
              </a:pathLst>
            </a:custGeom>
            <a:solidFill>
              <a:srgbClr val="000000">
                <a:alpha val="0"/>
              </a:srgbClr>
            </a:solidFill>
            <a:ln w="38100" cap="sq">
              <a:solidFill>
                <a:srgbClr val="000000"/>
              </a:solidFill>
              <a:prstDash val="solid"/>
              <a:miter/>
            </a:ln>
          </p:spPr>
        </p:sp>
        <p:sp>
          <p:nvSpPr>
            <p:cNvPr id="109" name="TextBox 109"/>
            <p:cNvSpPr txBox="1"/>
            <p:nvPr/>
          </p:nvSpPr>
          <p:spPr>
            <a:xfrm>
              <a:off x="282402" y="219265"/>
              <a:ext cx="1078264" cy="883086"/>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Does food contain user allergy?</a:t>
              </a:r>
            </a:p>
          </p:txBody>
        </p:sp>
      </p:grpSp>
      <p:sp>
        <p:nvSpPr>
          <p:cNvPr id="110" name="TextBox 110"/>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111" name="TextBox 111"/>
          <p:cNvSpPr txBox="1"/>
          <p:nvPr/>
        </p:nvSpPr>
        <p:spPr>
          <a:xfrm>
            <a:off x="7594722" y="4566500"/>
            <a:ext cx="539967" cy="39914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Times New Roman"/>
                <a:ea typeface="Times New Roman"/>
                <a:cs typeface="Times New Roman"/>
                <a:sym typeface="Times New Roman"/>
              </a:rPr>
              <a:t>Yes</a:t>
            </a:r>
          </a:p>
        </p:txBody>
      </p:sp>
      <p:sp>
        <p:nvSpPr>
          <p:cNvPr id="112" name="TextBox 112"/>
          <p:cNvSpPr txBox="1"/>
          <p:nvPr/>
        </p:nvSpPr>
        <p:spPr>
          <a:xfrm>
            <a:off x="13069032" y="5094760"/>
            <a:ext cx="543980" cy="39914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Times New Roman"/>
                <a:ea typeface="Times New Roman"/>
                <a:cs typeface="Times New Roman"/>
                <a:sym typeface="Times New Roman"/>
              </a:rPr>
              <a:t>Yes</a:t>
            </a:r>
          </a:p>
        </p:txBody>
      </p:sp>
      <p:sp>
        <p:nvSpPr>
          <p:cNvPr id="113" name="TextBox 113"/>
          <p:cNvSpPr txBox="1"/>
          <p:nvPr/>
        </p:nvSpPr>
        <p:spPr>
          <a:xfrm>
            <a:off x="9465051" y="3455046"/>
            <a:ext cx="412255" cy="39914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Times New Roman"/>
                <a:ea typeface="Times New Roman"/>
                <a:cs typeface="Times New Roman"/>
                <a:sym typeface="Times New Roman"/>
              </a:rPr>
              <a:t>No</a:t>
            </a:r>
          </a:p>
        </p:txBody>
      </p:sp>
      <p:sp>
        <p:nvSpPr>
          <p:cNvPr id="114" name="TextBox 114"/>
          <p:cNvSpPr txBox="1"/>
          <p:nvPr/>
        </p:nvSpPr>
        <p:spPr>
          <a:xfrm>
            <a:off x="14940633" y="3496037"/>
            <a:ext cx="480468" cy="39914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Times New Roman"/>
                <a:ea typeface="Times New Roman"/>
                <a:cs typeface="Times New Roman"/>
                <a:sym typeface="Times New Roman"/>
              </a:rPr>
              <a:t>No</a:t>
            </a:r>
          </a:p>
        </p:txBody>
      </p:sp>
      <p:sp>
        <p:nvSpPr>
          <p:cNvPr id="115" name="Freeform 115"/>
          <p:cNvSpPr/>
          <p:nvPr/>
        </p:nvSpPr>
        <p:spPr>
          <a:xfrm flipH="1">
            <a:off x="8154742" y="6359822"/>
            <a:ext cx="974591" cy="276886"/>
          </a:xfrm>
          <a:custGeom>
            <a:avLst/>
            <a:gdLst/>
            <a:ahLst/>
            <a:cxnLst/>
            <a:rect l="l" t="t" r="r" b="b"/>
            <a:pathLst>
              <a:path w="974591" h="276886">
                <a:moveTo>
                  <a:pt x="974592" y="0"/>
                </a:moveTo>
                <a:lnTo>
                  <a:pt x="0" y="0"/>
                </a:lnTo>
                <a:lnTo>
                  <a:pt x="0" y="276886"/>
                </a:lnTo>
                <a:lnTo>
                  <a:pt x="974592" y="276886"/>
                </a:lnTo>
                <a:lnTo>
                  <a:pt x="974592"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6" name="Freeform 116"/>
          <p:cNvSpPr/>
          <p:nvPr/>
        </p:nvSpPr>
        <p:spPr>
          <a:xfrm flipH="1">
            <a:off x="13628325" y="6921284"/>
            <a:ext cx="974591" cy="276886"/>
          </a:xfrm>
          <a:custGeom>
            <a:avLst/>
            <a:gdLst/>
            <a:ahLst/>
            <a:cxnLst/>
            <a:rect l="l" t="t" r="r" b="b"/>
            <a:pathLst>
              <a:path w="974591" h="276886">
                <a:moveTo>
                  <a:pt x="974591" y="0"/>
                </a:moveTo>
                <a:lnTo>
                  <a:pt x="0" y="0"/>
                </a:lnTo>
                <a:lnTo>
                  <a:pt x="0" y="276887"/>
                </a:lnTo>
                <a:lnTo>
                  <a:pt x="974591" y="276887"/>
                </a:lnTo>
                <a:lnTo>
                  <a:pt x="974591"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5650" y="547688"/>
            <a:ext cx="3872250" cy="1988550"/>
            <a:chOff x="0" y="0"/>
            <a:chExt cx="5163000" cy="2651400"/>
          </a:xfrm>
        </p:grpSpPr>
        <p:sp>
          <p:nvSpPr>
            <p:cNvPr id="3" name="Freeform 3"/>
            <p:cNvSpPr/>
            <p:nvPr/>
          </p:nvSpPr>
          <p:spPr>
            <a:xfrm>
              <a:off x="0" y="0"/>
              <a:ext cx="5163000" cy="2651400"/>
            </a:xfrm>
            <a:custGeom>
              <a:avLst/>
              <a:gdLst/>
              <a:ahLst/>
              <a:cxnLst/>
              <a:rect l="l" t="t" r="r" b="b"/>
              <a:pathLst>
                <a:path w="5163000" h="2651400">
                  <a:moveTo>
                    <a:pt x="0" y="0"/>
                  </a:moveTo>
                  <a:lnTo>
                    <a:pt x="5163000" y="0"/>
                  </a:lnTo>
                  <a:lnTo>
                    <a:pt x="5163000" y="2651400"/>
                  </a:lnTo>
                  <a:lnTo>
                    <a:pt x="0" y="2651400"/>
                  </a:lnTo>
                  <a:close/>
                </a:path>
              </a:pathLst>
            </a:custGeom>
            <a:solidFill>
              <a:srgbClr val="000000">
                <a:alpha val="0"/>
              </a:srgbClr>
            </a:solidFill>
          </p:spPr>
        </p:sp>
        <p:sp>
          <p:nvSpPr>
            <p:cNvPr id="4" name="TextBox 4"/>
            <p:cNvSpPr txBox="1"/>
            <p:nvPr/>
          </p:nvSpPr>
          <p:spPr>
            <a:xfrm>
              <a:off x="0" y="38100"/>
              <a:ext cx="51630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Flowchart</a:t>
              </a: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33</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grpSp>
        <p:nvGrpSpPr>
          <p:cNvPr id="14" name="Group 14"/>
          <p:cNvGrpSpPr/>
          <p:nvPr/>
        </p:nvGrpSpPr>
        <p:grpSpPr>
          <a:xfrm rot="-5400000">
            <a:off x="127954" y="885847"/>
            <a:ext cx="47625" cy="3253157"/>
            <a:chOff x="0" y="0"/>
            <a:chExt cx="12543" cy="856799"/>
          </a:xfrm>
        </p:grpSpPr>
        <p:sp>
          <p:nvSpPr>
            <p:cNvPr id="15" name="Freeform 15"/>
            <p:cNvSpPr/>
            <p:nvPr/>
          </p:nvSpPr>
          <p:spPr>
            <a:xfrm>
              <a:off x="0" y="0"/>
              <a:ext cx="12543" cy="856798"/>
            </a:xfrm>
            <a:custGeom>
              <a:avLst/>
              <a:gdLst/>
              <a:ahLst/>
              <a:cxnLst/>
              <a:rect l="l" t="t" r="r" b="b"/>
              <a:pathLst>
                <a:path w="12543" h="856798">
                  <a:moveTo>
                    <a:pt x="0" y="0"/>
                  </a:moveTo>
                  <a:lnTo>
                    <a:pt x="12543" y="0"/>
                  </a:lnTo>
                  <a:lnTo>
                    <a:pt x="12543" y="856798"/>
                  </a:lnTo>
                  <a:lnTo>
                    <a:pt x="0" y="856798"/>
                  </a:lnTo>
                  <a:close/>
                </a:path>
              </a:pathLst>
            </a:custGeom>
            <a:solidFill>
              <a:srgbClr val="000000"/>
            </a:solidFill>
          </p:spPr>
        </p:sp>
        <p:sp>
          <p:nvSpPr>
            <p:cNvPr id="16" name="TextBox 16"/>
            <p:cNvSpPr txBox="1"/>
            <p:nvPr/>
          </p:nvSpPr>
          <p:spPr>
            <a:xfrm>
              <a:off x="0" y="-9525"/>
              <a:ext cx="12543" cy="866324"/>
            </a:xfrm>
            <a:prstGeom prst="rect">
              <a:avLst/>
            </a:prstGeom>
          </p:spPr>
          <p:txBody>
            <a:bodyPr lIns="50800" tIns="50800" rIns="50800" bIns="50800" rtlCol="0" anchor="ctr"/>
            <a:lstStyle/>
            <a:p>
              <a:pPr algn="ctr">
                <a:lnSpc>
                  <a:spcPts val="2879"/>
                </a:lnSpc>
              </a:pPr>
              <a:endParaRPr/>
            </a:p>
          </p:txBody>
        </p:sp>
      </p:grpSp>
      <p:grpSp>
        <p:nvGrpSpPr>
          <p:cNvPr id="17" name="Group 17"/>
          <p:cNvGrpSpPr/>
          <p:nvPr/>
        </p:nvGrpSpPr>
        <p:grpSpPr>
          <a:xfrm rot="-5400000">
            <a:off x="18353860" y="4333897"/>
            <a:ext cx="47625" cy="3253157"/>
            <a:chOff x="0" y="0"/>
            <a:chExt cx="12543" cy="856799"/>
          </a:xfrm>
        </p:grpSpPr>
        <p:sp>
          <p:nvSpPr>
            <p:cNvPr id="18" name="Freeform 18"/>
            <p:cNvSpPr/>
            <p:nvPr/>
          </p:nvSpPr>
          <p:spPr>
            <a:xfrm>
              <a:off x="0" y="0"/>
              <a:ext cx="12543" cy="856798"/>
            </a:xfrm>
            <a:custGeom>
              <a:avLst/>
              <a:gdLst/>
              <a:ahLst/>
              <a:cxnLst/>
              <a:rect l="l" t="t" r="r" b="b"/>
              <a:pathLst>
                <a:path w="12543" h="856798">
                  <a:moveTo>
                    <a:pt x="0" y="0"/>
                  </a:moveTo>
                  <a:lnTo>
                    <a:pt x="12543" y="0"/>
                  </a:lnTo>
                  <a:lnTo>
                    <a:pt x="12543" y="856798"/>
                  </a:lnTo>
                  <a:lnTo>
                    <a:pt x="0" y="856798"/>
                  </a:lnTo>
                  <a:close/>
                </a:path>
              </a:pathLst>
            </a:custGeom>
            <a:solidFill>
              <a:srgbClr val="000000"/>
            </a:solidFill>
          </p:spPr>
        </p:sp>
        <p:sp>
          <p:nvSpPr>
            <p:cNvPr id="19" name="TextBox 19"/>
            <p:cNvSpPr txBox="1"/>
            <p:nvPr/>
          </p:nvSpPr>
          <p:spPr>
            <a:xfrm>
              <a:off x="0" y="-9525"/>
              <a:ext cx="12543" cy="866324"/>
            </a:xfrm>
            <a:prstGeom prst="rect">
              <a:avLst/>
            </a:prstGeom>
          </p:spPr>
          <p:txBody>
            <a:bodyPr lIns="50800" tIns="50800" rIns="50800" bIns="50800" rtlCol="0" anchor="ctr"/>
            <a:lstStyle/>
            <a:p>
              <a:pPr algn="ctr">
                <a:lnSpc>
                  <a:spcPts val="2879"/>
                </a:lnSpc>
              </a:pPr>
              <a:endParaRPr/>
            </a:p>
          </p:txBody>
        </p:sp>
      </p:grpSp>
      <p:grpSp>
        <p:nvGrpSpPr>
          <p:cNvPr id="20" name="Group 20"/>
          <p:cNvGrpSpPr/>
          <p:nvPr/>
        </p:nvGrpSpPr>
        <p:grpSpPr>
          <a:xfrm>
            <a:off x="1778345" y="2488612"/>
            <a:ext cx="47625" cy="6400179"/>
            <a:chOff x="0" y="0"/>
            <a:chExt cx="12543" cy="1685644"/>
          </a:xfrm>
        </p:grpSpPr>
        <p:sp>
          <p:nvSpPr>
            <p:cNvPr id="21" name="Freeform 21"/>
            <p:cNvSpPr/>
            <p:nvPr/>
          </p:nvSpPr>
          <p:spPr>
            <a:xfrm>
              <a:off x="0" y="0"/>
              <a:ext cx="12543" cy="1685644"/>
            </a:xfrm>
            <a:custGeom>
              <a:avLst/>
              <a:gdLst/>
              <a:ahLst/>
              <a:cxnLst/>
              <a:rect l="l" t="t" r="r" b="b"/>
              <a:pathLst>
                <a:path w="12543" h="1685644">
                  <a:moveTo>
                    <a:pt x="0" y="0"/>
                  </a:moveTo>
                  <a:lnTo>
                    <a:pt x="12543" y="0"/>
                  </a:lnTo>
                  <a:lnTo>
                    <a:pt x="12543" y="1685644"/>
                  </a:lnTo>
                  <a:lnTo>
                    <a:pt x="0" y="1685644"/>
                  </a:lnTo>
                  <a:close/>
                </a:path>
              </a:pathLst>
            </a:custGeom>
            <a:solidFill>
              <a:srgbClr val="000000"/>
            </a:solidFill>
          </p:spPr>
        </p:sp>
        <p:sp>
          <p:nvSpPr>
            <p:cNvPr id="22" name="TextBox 22"/>
            <p:cNvSpPr txBox="1"/>
            <p:nvPr/>
          </p:nvSpPr>
          <p:spPr>
            <a:xfrm>
              <a:off x="0" y="-9525"/>
              <a:ext cx="12543" cy="1695169"/>
            </a:xfrm>
            <a:prstGeom prst="rect">
              <a:avLst/>
            </a:prstGeom>
          </p:spPr>
          <p:txBody>
            <a:bodyPr lIns="50800" tIns="50800" rIns="50800" bIns="50800" rtlCol="0" anchor="ctr"/>
            <a:lstStyle/>
            <a:p>
              <a:pPr algn="ctr">
                <a:lnSpc>
                  <a:spcPts val="2879"/>
                </a:lnSpc>
              </a:pPr>
              <a:endParaRPr/>
            </a:p>
          </p:txBody>
        </p:sp>
      </p:grpSp>
      <p:sp>
        <p:nvSpPr>
          <p:cNvPr id="23" name="TextBox 23"/>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24" name="Freeform 24"/>
          <p:cNvSpPr/>
          <p:nvPr/>
        </p:nvSpPr>
        <p:spPr>
          <a:xfrm>
            <a:off x="1802157" y="2987731"/>
            <a:ext cx="606891" cy="172421"/>
          </a:xfrm>
          <a:custGeom>
            <a:avLst/>
            <a:gdLst/>
            <a:ahLst/>
            <a:cxnLst/>
            <a:rect l="l" t="t" r="r" b="b"/>
            <a:pathLst>
              <a:path w="606891" h="172421">
                <a:moveTo>
                  <a:pt x="0" y="0"/>
                </a:moveTo>
                <a:lnTo>
                  <a:pt x="606892" y="0"/>
                </a:lnTo>
                <a:lnTo>
                  <a:pt x="606892"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5" name="Group 25"/>
          <p:cNvGrpSpPr/>
          <p:nvPr/>
        </p:nvGrpSpPr>
        <p:grpSpPr>
          <a:xfrm>
            <a:off x="2409049" y="2317271"/>
            <a:ext cx="2796021" cy="1513340"/>
            <a:chOff x="0" y="0"/>
            <a:chExt cx="1802475" cy="975585"/>
          </a:xfrm>
        </p:grpSpPr>
        <p:sp>
          <p:nvSpPr>
            <p:cNvPr id="26" name="Freeform 26"/>
            <p:cNvSpPr/>
            <p:nvPr/>
          </p:nvSpPr>
          <p:spPr>
            <a:xfrm>
              <a:off x="0" y="0"/>
              <a:ext cx="1802475" cy="975585"/>
            </a:xfrm>
            <a:custGeom>
              <a:avLst/>
              <a:gdLst/>
              <a:ahLst/>
              <a:cxnLst/>
              <a:rect l="l" t="t" r="r" b="b"/>
              <a:pathLst>
                <a:path w="1802475" h="975585">
                  <a:moveTo>
                    <a:pt x="901237" y="0"/>
                  </a:moveTo>
                  <a:lnTo>
                    <a:pt x="1802475" y="487793"/>
                  </a:lnTo>
                  <a:lnTo>
                    <a:pt x="901237" y="975585"/>
                  </a:lnTo>
                  <a:lnTo>
                    <a:pt x="0" y="487793"/>
                  </a:lnTo>
                  <a:lnTo>
                    <a:pt x="901237" y="0"/>
                  </a:lnTo>
                  <a:close/>
                </a:path>
              </a:pathLst>
            </a:custGeom>
            <a:solidFill>
              <a:srgbClr val="000000">
                <a:alpha val="0"/>
              </a:srgbClr>
            </a:solidFill>
            <a:ln w="38100" cap="sq">
              <a:solidFill>
                <a:srgbClr val="000000"/>
              </a:solidFill>
              <a:prstDash val="solid"/>
              <a:miter/>
            </a:ln>
          </p:spPr>
        </p:sp>
        <p:sp>
          <p:nvSpPr>
            <p:cNvPr id="27" name="TextBox 27"/>
            <p:cNvSpPr txBox="1"/>
            <p:nvPr/>
          </p:nvSpPr>
          <p:spPr>
            <a:xfrm>
              <a:off x="309800" y="158154"/>
              <a:ext cx="1182874" cy="649753"/>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Does user_id exist?</a:t>
              </a:r>
            </a:p>
          </p:txBody>
        </p:sp>
      </p:grpSp>
      <p:sp>
        <p:nvSpPr>
          <p:cNvPr id="28" name="Freeform 28"/>
          <p:cNvSpPr/>
          <p:nvPr/>
        </p:nvSpPr>
        <p:spPr>
          <a:xfrm>
            <a:off x="1778345" y="8802581"/>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9" name="Freeform 29"/>
          <p:cNvSpPr/>
          <p:nvPr/>
        </p:nvSpPr>
        <p:spPr>
          <a:xfrm>
            <a:off x="1802157" y="6261128"/>
            <a:ext cx="606891" cy="172421"/>
          </a:xfrm>
          <a:custGeom>
            <a:avLst/>
            <a:gdLst/>
            <a:ahLst/>
            <a:cxnLst/>
            <a:rect l="l" t="t" r="r" b="b"/>
            <a:pathLst>
              <a:path w="606891" h="172421">
                <a:moveTo>
                  <a:pt x="0" y="0"/>
                </a:moveTo>
                <a:lnTo>
                  <a:pt x="606892" y="0"/>
                </a:lnTo>
                <a:lnTo>
                  <a:pt x="606892"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0" name="Group 30"/>
          <p:cNvGrpSpPr/>
          <p:nvPr/>
        </p:nvGrpSpPr>
        <p:grpSpPr>
          <a:xfrm>
            <a:off x="2409049" y="5033649"/>
            <a:ext cx="3078988" cy="2616426"/>
            <a:chOff x="0" y="0"/>
            <a:chExt cx="1984891" cy="1686697"/>
          </a:xfrm>
        </p:grpSpPr>
        <p:sp>
          <p:nvSpPr>
            <p:cNvPr id="31" name="Freeform 31"/>
            <p:cNvSpPr/>
            <p:nvPr/>
          </p:nvSpPr>
          <p:spPr>
            <a:xfrm>
              <a:off x="0" y="0"/>
              <a:ext cx="1984891" cy="1686697"/>
            </a:xfrm>
            <a:custGeom>
              <a:avLst/>
              <a:gdLst/>
              <a:ahLst/>
              <a:cxnLst/>
              <a:rect l="l" t="t" r="r" b="b"/>
              <a:pathLst>
                <a:path w="1984891" h="1686697">
                  <a:moveTo>
                    <a:pt x="992446" y="0"/>
                  </a:moveTo>
                  <a:lnTo>
                    <a:pt x="1984891" y="843349"/>
                  </a:lnTo>
                  <a:lnTo>
                    <a:pt x="992446" y="1686697"/>
                  </a:lnTo>
                  <a:lnTo>
                    <a:pt x="0" y="843349"/>
                  </a:lnTo>
                  <a:lnTo>
                    <a:pt x="992446" y="0"/>
                  </a:lnTo>
                  <a:close/>
                </a:path>
              </a:pathLst>
            </a:custGeom>
            <a:solidFill>
              <a:srgbClr val="000000">
                <a:alpha val="0"/>
              </a:srgbClr>
            </a:solidFill>
            <a:ln w="38100" cap="sq">
              <a:solidFill>
                <a:srgbClr val="000000"/>
              </a:solidFill>
              <a:prstDash val="solid"/>
              <a:miter/>
            </a:ln>
          </p:spPr>
        </p:sp>
        <p:sp>
          <p:nvSpPr>
            <p:cNvPr id="32" name="TextBox 32"/>
            <p:cNvSpPr txBox="1"/>
            <p:nvPr/>
          </p:nvSpPr>
          <p:spPr>
            <a:xfrm>
              <a:off x="341153" y="280376"/>
              <a:ext cx="1302585" cy="111642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Does user have </a:t>
              </a:r>
            </a:p>
            <a:p>
              <a:pPr algn="ctr">
                <a:lnSpc>
                  <a:spcPts val="2879"/>
                </a:lnSpc>
              </a:pPr>
              <a:r>
                <a:rPr lang="en-US" sz="2399">
                  <a:solidFill>
                    <a:srgbClr val="000000"/>
                  </a:solidFill>
                  <a:latin typeface="Times New Roman"/>
                  <a:ea typeface="Times New Roman"/>
                  <a:cs typeface="Times New Roman"/>
                  <a:sym typeface="Times New Roman"/>
                </a:rPr>
                <a:t>&gt;=2 past interactions?</a:t>
              </a:r>
            </a:p>
          </p:txBody>
        </p:sp>
      </p:grpSp>
      <p:grpSp>
        <p:nvGrpSpPr>
          <p:cNvPr id="33" name="Group 33"/>
          <p:cNvGrpSpPr/>
          <p:nvPr/>
        </p:nvGrpSpPr>
        <p:grpSpPr>
          <a:xfrm>
            <a:off x="2409049" y="8392227"/>
            <a:ext cx="6811901" cy="993129"/>
            <a:chOff x="0" y="0"/>
            <a:chExt cx="1794081" cy="261565"/>
          </a:xfrm>
        </p:grpSpPr>
        <p:sp>
          <p:nvSpPr>
            <p:cNvPr id="34" name="Freeform 34"/>
            <p:cNvSpPr/>
            <p:nvPr/>
          </p:nvSpPr>
          <p:spPr>
            <a:xfrm>
              <a:off x="0" y="0"/>
              <a:ext cx="1794081" cy="261565"/>
            </a:xfrm>
            <a:custGeom>
              <a:avLst/>
              <a:gdLst/>
              <a:ahLst/>
              <a:cxnLst/>
              <a:rect l="l" t="t" r="r" b="b"/>
              <a:pathLst>
                <a:path w="1794081" h="261565">
                  <a:moveTo>
                    <a:pt x="0" y="0"/>
                  </a:moveTo>
                  <a:lnTo>
                    <a:pt x="1794081" y="0"/>
                  </a:lnTo>
                  <a:lnTo>
                    <a:pt x="1794081" y="261565"/>
                  </a:lnTo>
                  <a:lnTo>
                    <a:pt x="0" y="261565"/>
                  </a:lnTo>
                  <a:close/>
                </a:path>
              </a:pathLst>
            </a:custGeom>
            <a:solidFill>
              <a:srgbClr val="000000">
                <a:alpha val="0"/>
              </a:srgbClr>
            </a:solidFill>
            <a:ln w="38100" cap="sq">
              <a:solidFill>
                <a:srgbClr val="000000"/>
              </a:solidFill>
              <a:prstDash val="solid"/>
              <a:miter/>
            </a:ln>
          </p:spPr>
        </p:sp>
        <p:sp>
          <p:nvSpPr>
            <p:cNvPr id="35" name="TextBox 35"/>
            <p:cNvSpPr txBox="1"/>
            <p:nvPr/>
          </p:nvSpPr>
          <p:spPr>
            <a:xfrm>
              <a:off x="0" y="-9525"/>
              <a:ext cx="1794081"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Mean Embedding of the User History</a:t>
              </a:r>
            </a:p>
            <a:p>
              <a:pPr algn="ctr">
                <a:lnSpc>
                  <a:spcPts val="2879"/>
                </a:lnSpc>
              </a:pPr>
              <a:r>
                <a:rPr lang="en-US" sz="2399">
                  <a:solidFill>
                    <a:srgbClr val="000000"/>
                  </a:solidFill>
                  <a:latin typeface="Times New Roman"/>
                  <a:ea typeface="Times New Roman"/>
                  <a:cs typeface="Times New Roman"/>
                  <a:sym typeface="Times New Roman"/>
                </a:rPr>
                <a:t>Cosine Similarity with Candidate Food Embeddings</a:t>
              </a:r>
            </a:p>
          </p:txBody>
        </p:sp>
      </p:grpSp>
      <p:grpSp>
        <p:nvGrpSpPr>
          <p:cNvPr id="36" name="Group 36"/>
          <p:cNvGrpSpPr/>
          <p:nvPr/>
        </p:nvGrpSpPr>
        <p:grpSpPr>
          <a:xfrm>
            <a:off x="6025241" y="4248762"/>
            <a:ext cx="3301084" cy="993129"/>
            <a:chOff x="0" y="0"/>
            <a:chExt cx="869421" cy="261565"/>
          </a:xfrm>
        </p:grpSpPr>
        <p:sp>
          <p:nvSpPr>
            <p:cNvPr id="37" name="Freeform 37"/>
            <p:cNvSpPr/>
            <p:nvPr/>
          </p:nvSpPr>
          <p:spPr>
            <a:xfrm>
              <a:off x="0" y="0"/>
              <a:ext cx="869421" cy="261565"/>
            </a:xfrm>
            <a:custGeom>
              <a:avLst/>
              <a:gdLst/>
              <a:ahLst/>
              <a:cxnLst/>
              <a:rect l="l" t="t" r="r" b="b"/>
              <a:pathLst>
                <a:path w="869421" h="261565">
                  <a:moveTo>
                    <a:pt x="0" y="0"/>
                  </a:moveTo>
                  <a:lnTo>
                    <a:pt x="869421" y="0"/>
                  </a:lnTo>
                  <a:lnTo>
                    <a:pt x="869421" y="261565"/>
                  </a:lnTo>
                  <a:lnTo>
                    <a:pt x="0" y="261565"/>
                  </a:lnTo>
                  <a:close/>
                </a:path>
              </a:pathLst>
            </a:custGeom>
            <a:solidFill>
              <a:srgbClr val="000000">
                <a:alpha val="0"/>
              </a:srgbClr>
            </a:solidFill>
            <a:ln w="38100" cap="sq">
              <a:solidFill>
                <a:srgbClr val="000000"/>
              </a:solidFill>
              <a:prstDash val="solid"/>
              <a:miter/>
            </a:ln>
          </p:spPr>
        </p:sp>
        <p:sp>
          <p:nvSpPr>
            <p:cNvPr id="38" name="TextBox 38"/>
            <p:cNvSpPr txBox="1"/>
            <p:nvPr/>
          </p:nvSpPr>
          <p:spPr>
            <a:xfrm>
              <a:off x="0" y="-9525"/>
              <a:ext cx="869421"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Use Average User Vector</a:t>
              </a:r>
            </a:p>
            <a:p>
              <a:pPr algn="ctr">
                <a:lnSpc>
                  <a:spcPts val="2879"/>
                </a:lnSpc>
              </a:pPr>
              <a:r>
                <a:rPr lang="en-US" sz="2399">
                  <a:solidFill>
                    <a:srgbClr val="000000"/>
                  </a:solidFill>
                  <a:latin typeface="Times New Roman"/>
                  <a:ea typeface="Times New Roman"/>
                  <a:cs typeface="Times New Roman"/>
                  <a:sym typeface="Times New Roman"/>
                </a:rPr>
                <a:t>(Cold-Start)</a:t>
              </a:r>
            </a:p>
          </p:txBody>
        </p:sp>
      </p:grpSp>
      <p:grpSp>
        <p:nvGrpSpPr>
          <p:cNvPr id="39" name="Group 39"/>
          <p:cNvGrpSpPr/>
          <p:nvPr/>
        </p:nvGrpSpPr>
        <p:grpSpPr>
          <a:xfrm rot="-5400000">
            <a:off x="5486544" y="2679105"/>
            <a:ext cx="47625" cy="789673"/>
            <a:chOff x="0" y="0"/>
            <a:chExt cx="12543" cy="207980"/>
          </a:xfrm>
        </p:grpSpPr>
        <p:sp>
          <p:nvSpPr>
            <p:cNvPr id="40" name="Freeform 40"/>
            <p:cNvSpPr/>
            <p:nvPr/>
          </p:nvSpPr>
          <p:spPr>
            <a:xfrm>
              <a:off x="0" y="0"/>
              <a:ext cx="12543" cy="207980"/>
            </a:xfrm>
            <a:custGeom>
              <a:avLst/>
              <a:gdLst/>
              <a:ahLst/>
              <a:cxnLst/>
              <a:rect l="l" t="t" r="r" b="b"/>
              <a:pathLst>
                <a:path w="12543" h="207980">
                  <a:moveTo>
                    <a:pt x="0" y="0"/>
                  </a:moveTo>
                  <a:lnTo>
                    <a:pt x="12543" y="0"/>
                  </a:lnTo>
                  <a:lnTo>
                    <a:pt x="12543" y="207980"/>
                  </a:lnTo>
                  <a:lnTo>
                    <a:pt x="0" y="207980"/>
                  </a:lnTo>
                  <a:close/>
                </a:path>
              </a:pathLst>
            </a:custGeom>
            <a:solidFill>
              <a:srgbClr val="000000"/>
            </a:solidFill>
          </p:spPr>
        </p:sp>
        <p:sp>
          <p:nvSpPr>
            <p:cNvPr id="41" name="TextBox 41"/>
            <p:cNvSpPr txBox="1"/>
            <p:nvPr/>
          </p:nvSpPr>
          <p:spPr>
            <a:xfrm>
              <a:off x="0" y="-9525"/>
              <a:ext cx="12543" cy="217505"/>
            </a:xfrm>
            <a:prstGeom prst="rect">
              <a:avLst/>
            </a:prstGeom>
          </p:spPr>
          <p:txBody>
            <a:bodyPr lIns="50800" tIns="50800" rIns="50800" bIns="50800" rtlCol="0" anchor="ctr"/>
            <a:lstStyle/>
            <a:p>
              <a:pPr algn="ctr">
                <a:lnSpc>
                  <a:spcPts val="2879"/>
                </a:lnSpc>
              </a:pPr>
              <a:endParaRPr/>
            </a:p>
          </p:txBody>
        </p:sp>
      </p:grpSp>
      <p:sp>
        <p:nvSpPr>
          <p:cNvPr id="42" name="Freeform 42"/>
          <p:cNvSpPr/>
          <p:nvPr/>
        </p:nvSpPr>
        <p:spPr>
          <a:xfrm>
            <a:off x="5293958" y="2970061"/>
            <a:ext cx="731284" cy="207761"/>
          </a:xfrm>
          <a:custGeom>
            <a:avLst/>
            <a:gdLst/>
            <a:ahLst/>
            <a:cxnLst/>
            <a:rect l="l" t="t" r="r" b="b"/>
            <a:pathLst>
              <a:path w="731284" h="207761">
                <a:moveTo>
                  <a:pt x="0" y="0"/>
                </a:moveTo>
                <a:lnTo>
                  <a:pt x="731283" y="0"/>
                </a:lnTo>
                <a:lnTo>
                  <a:pt x="731283" y="207761"/>
                </a:lnTo>
                <a:lnTo>
                  <a:pt x="0" y="2077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3" name="Group 43"/>
          <p:cNvGrpSpPr/>
          <p:nvPr/>
        </p:nvGrpSpPr>
        <p:grpSpPr>
          <a:xfrm>
            <a:off x="6025241" y="2601189"/>
            <a:ext cx="3301084" cy="993129"/>
            <a:chOff x="0" y="0"/>
            <a:chExt cx="869421" cy="261565"/>
          </a:xfrm>
        </p:grpSpPr>
        <p:sp>
          <p:nvSpPr>
            <p:cNvPr id="44" name="Freeform 44"/>
            <p:cNvSpPr/>
            <p:nvPr/>
          </p:nvSpPr>
          <p:spPr>
            <a:xfrm>
              <a:off x="0" y="0"/>
              <a:ext cx="869421" cy="261565"/>
            </a:xfrm>
            <a:custGeom>
              <a:avLst/>
              <a:gdLst/>
              <a:ahLst/>
              <a:cxnLst/>
              <a:rect l="l" t="t" r="r" b="b"/>
              <a:pathLst>
                <a:path w="869421" h="261565">
                  <a:moveTo>
                    <a:pt x="0" y="0"/>
                  </a:moveTo>
                  <a:lnTo>
                    <a:pt x="869421" y="0"/>
                  </a:lnTo>
                  <a:lnTo>
                    <a:pt x="869421" y="261565"/>
                  </a:lnTo>
                  <a:lnTo>
                    <a:pt x="0" y="261565"/>
                  </a:lnTo>
                  <a:close/>
                </a:path>
              </a:pathLst>
            </a:custGeom>
            <a:solidFill>
              <a:srgbClr val="000000">
                <a:alpha val="0"/>
              </a:srgbClr>
            </a:solidFill>
            <a:ln w="38100" cap="sq">
              <a:solidFill>
                <a:srgbClr val="000000"/>
              </a:solidFill>
              <a:prstDash val="solid"/>
              <a:miter/>
            </a:ln>
          </p:spPr>
        </p:sp>
        <p:sp>
          <p:nvSpPr>
            <p:cNvPr id="45" name="TextBox 45"/>
            <p:cNvSpPr txBox="1"/>
            <p:nvPr/>
          </p:nvSpPr>
          <p:spPr>
            <a:xfrm>
              <a:off x="0" y="-9525"/>
              <a:ext cx="869421"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Use Learned User and Item Embeddings</a:t>
              </a:r>
            </a:p>
          </p:txBody>
        </p:sp>
      </p:grpSp>
      <p:sp>
        <p:nvSpPr>
          <p:cNvPr id="46" name="TextBox 46"/>
          <p:cNvSpPr txBox="1"/>
          <p:nvPr/>
        </p:nvSpPr>
        <p:spPr>
          <a:xfrm>
            <a:off x="5293958" y="2555743"/>
            <a:ext cx="587396" cy="39914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Times New Roman"/>
                <a:ea typeface="Times New Roman"/>
                <a:cs typeface="Times New Roman"/>
                <a:sym typeface="Times New Roman"/>
              </a:rPr>
              <a:t>Yes</a:t>
            </a:r>
          </a:p>
        </p:txBody>
      </p:sp>
      <p:grpSp>
        <p:nvGrpSpPr>
          <p:cNvPr id="47" name="Group 47"/>
          <p:cNvGrpSpPr/>
          <p:nvPr/>
        </p:nvGrpSpPr>
        <p:grpSpPr>
          <a:xfrm>
            <a:off x="3783247" y="3806799"/>
            <a:ext cx="2241995" cy="1066221"/>
            <a:chOff x="0" y="0"/>
            <a:chExt cx="2989326" cy="1421628"/>
          </a:xfrm>
        </p:grpSpPr>
        <p:sp>
          <p:nvSpPr>
            <p:cNvPr id="48" name="Freeform 48"/>
            <p:cNvSpPr/>
            <p:nvPr/>
          </p:nvSpPr>
          <p:spPr>
            <a:xfrm>
              <a:off x="2014281" y="1144613"/>
              <a:ext cx="975045" cy="277015"/>
            </a:xfrm>
            <a:custGeom>
              <a:avLst/>
              <a:gdLst/>
              <a:ahLst/>
              <a:cxnLst/>
              <a:rect l="l" t="t" r="r" b="b"/>
              <a:pathLst>
                <a:path w="975045" h="277015">
                  <a:moveTo>
                    <a:pt x="0" y="0"/>
                  </a:moveTo>
                  <a:lnTo>
                    <a:pt x="975045" y="0"/>
                  </a:lnTo>
                  <a:lnTo>
                    <a:pt x="975045" y="277016"/>
                  </a:lnTo>
                  <a:lnTo>
                    <a:pt x="0" y="2770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9" name="Group 49"/>
            <p:cNvGrpSpPr/>
            <p:nvPr/>
          </p:nvGrpSpPr>
          <p:grpSpPr>
            <a:xfrm>
              <a:off x="0" y="0"/>
              <a:ext cx="63500" cy="1314871"/>
              <a:chOff x="0" y="0"/>
              <a:chExt cx="12543" cy="259728"/>
            </a:xfrm>
          </p:grpSpPr>
          <p:sp>
            <p:nvSpPr>
              <p:cNvPr id="50" name="Freeform 50"/>
              <p:cNvSpPr/>
              <p:nvPr/>
            </p:nvSpPr>
            <p:spPr>
              <a:xfrm>
                <a:off x="0" y="0"/>
                <a:ext cx="12543" cy="259728"/>
              </a:xfrm>
              <a:custGeom>
                <a:avLst/>
                <a:gdLst/>
                <a:ahLst/>
                <a:cxnLst/>
                <a:rect l="l" t="t" r="r" b="b"/>
                <a:pathLst>
                  <a:path w="12543" h="259728">
                    <a:moveTo>
                      <a:pt x="0" y="0"/>
                    </a:moveTo>
                    <a:lnTo>
                      <a:pt x="12543" y="0"/>
                    </a:lnTo>
                    <a:lnTo>
                      <a:pt x="12543" y="259728"/>
                    </a:lnTo>
                    <a:lnTo>
                      <a:pt x="0" y="259728"/>
                    </a:lnTo>
                    <a:close/>
                  </a:path>
                </a:pathLst>
              </a:custGeom>
              <a:solidFill>
                <a:srgbClr val="000000"/>
              </a:solidFill>
            </p:spPr>
          </p:sp>
          <p:sp>
            <p:nvSpPr>
              <p:cNvPr id="51" name="TextBox 51"/>
              <p:cNvSpPr txBox="1"/>
              <p:nvPr/>
            </p:nvSpPr>
            <p:spPr>
              <a:xfrm>
                <a:off x="0" y="-9525"/>
                <a:ext cx="12543" cy="269253"/>
              </a:xfrm>
              <a:prstGeom prst="rect">
                <a:avLst/>
              </a:prstGeom>
            </p:spPr>
            <p:txBody>
              <a:bodyPr lIns="50800" tIns="50800" rIns="50800" bIns="50800" rtlCol="0" anchor="ctr"/>
              <a:lstStyle/>
              <a:p>
                <a:pPr algn="ctr">
                  <a:lnSpc>
                    <a:spcPts val="2879"/>
                  </a:lnSpc>
                </a:pPr>
                <a:endParaRPr/>
              </a:p>
            </p:txBody>
          </p:sp>
        </p:grpSp>
        <p:grpSp>
          <p:nvGrpSpPr>
            <p:cNvPr id="52" name="Group 52"/>
            <p:cNvGrpSpPr/>
            <p:nvPr/>
          </p:nvGrpSpPr>
          <p:grpSpPr>
            <a:xfrm rot="-5400000">
              <a:off x="1371528" y="-56657"/>
              <a:ext cx="63500" cy="2679556"/>
              <a:chOff x="0" y="0"/>
              <a:chExt cx="12543" cy="529295"/>
            </a:xfrm>
          </p:grpSpPr>
          <p:sp>
            <p:nvSpPr>
              <p:cNvPr id="53" name="Freeform 53"/>
              <p:cNvSpPr/>
              <p:nvPr/>
            </p:nvSpPr>
            <p:spPr>
              <a:xfrm>
                <a:off x="0" y="0"/>
                <a:ext cx="12543" cy="529295"/>
              </a:xfrm>
              <a:custGeom>
                <a:avLst/>
                <a:gdLst/>
                <a:ahLst/>
                <a:cxnLst/>
                <a:rect l="l" t="t" r="r" b="b"/>
                <a:pathLst>
                  <a:path w="12543" h="529295">
                    <a:moveTo>
                      <a:pt x="0" y="0"/>
                    </a:moveTo>
                    <a:lnTo>
                      <a:pt x="12543" y="0"/>
                    </a:lnTo>
                    <a:lnTo>
                      <a:pt x="12543" y="529295"/>
                    </a:lnTo>
                    <a:lnTo>
                      <a:pt x="0" y="529295"/>
                    </a:lnTo>
                    <a:close/>
                  </a:path>
                </a:pathLst>
              </a:custGeom>
              <a:solidFill>
                <a:srgbClr val="000000"/>
              </a:solidFill>
            </p:spPr>
          </p:sp>
          <p:sp>
            <p:nvSpPr>
              <p:cNvPr id="54" name="TextBox 54"/>
              <p:cNvSpPr txBox="1"/>
              <p:nvPr/>
            </p:nvSpPr>
            <p:spPr>
              <a:xfrm>
                <a:off x="0" y="-9525"/>
                <a:ext cx="12543" cy="538820"/>
              </a:xfrm>
              <a:prstGeom prst="rect">
                <a:avLst/>
              </a:prstGeom>
            </p:spPr>
            <p:txBody>
              <a:bodyPr lIns="50800" tIns="50800" rIns="50800" bIns="50800" rtlCol="0" anchor="ctr"/>
              <a:lstStyle/>
              <a:p>
                <a:pPr algn="ctr">
                  <a:lnSpc>
                    <a:spcPts val="2879"/>
                  </a:lnSpc>
                </a:pPr>
                <a:endParaRPr/>
              </a:p>
            </p:txBody>
          </p:sp>
        </p:grpSp>
        <p:sp>
          <p:nvSpPr>
            <p:cNvPr id="55" name="TextBox 55"/>
            <p:cNvSpPr txBox="1"/>
            <p:nvPr/>
          </p:nvSpPr>
          <p:spPr>
            <a:xfrm>
              <a:off x="110827" y="122767"/>
              <a:ext cx="737644" cy="532197"/>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Times New Roman"/>
                  <a:ea typeface="Times New Roman"/>
                  <a:cs typeface="Times New Roman"/>
                  <a:sym typeface="Times New Roman"/>
                </a:rPr>
                <a:t>No</a:t>
              </a:r>
            </a:p>
          </p:txBody>
        </p:sp>
      </p:grpSp>
      <p:grpSp>
        <p:nvGrpSpPr>
          <p:cNvPr id="56" name="Group 56"/>
          <p:cNvGrpSpPr/>
          <p:nvPr/>
        </p:nvGrpSpPr>
        <p:grpSpPr>
          <a:xfrm rot="5400000">
            <a:off x="9854969" y="4169059"/>
            <a:ext cx="47625" cy="1104912"/>
            <a:chOff x="0" y="0"/>
            <a:chExt cx="12543" cy="291006"/>
          </a:xfrm>
        </p:grpSpPr>
        <p:sp>
          <p:nvSpPr>
            <p:cNvPr id="57" name="Freeform 57"/>
            <p:cNvSpPr/>
            <p:nvPr/>
          </p:nvSpPr>
          <p:spPr>
            <a:xfrm>
              <a:off x="0" y="0"/>
              <a:ext cx="12543" cy="291006"/>
            </a:xfrm>
            <a:custGeom>
              <a:avLst/>
              <a:gdLst/>
              <a:ahLst/>
              <a:cxnLst/>
              <a:rect l="l" t="t" r="r" b="b"/>
              <a:pathLst>
                <a:path w="12543" h="291006">
                  <a:moveTo>
                    <a:pt x="0" y="0"/>
                  </a:moveTo>
                  <a:lnTo>
                    <a:pt x="12543" y="0"/>
                  </a:lnTo>
                  <a:lnTo>
                    <a:pt x="12543" y="291006"/>
                  </a:lnTo>
                  <a:lnTo>
                    <a:pt x="0" y="291006"/>
                  </a:lnTo>
                  <a:close/>
                </a:path>
              </a:pathLst>
            </a:custGeom>
            <a:solidFill>
              <a:srgbClr val="000000"/>
            </a:solidFill>
          </p:spPr>
        </p:sp>
        <p:sp>
          <p:nvSpPr>
            <p:cNvPr id="58" name="TextBox 58"/>
            <p:cNvSpPr txBox="1"/>
            <p:nvPr/>
          </p:nvSpPr>
          <p:spPr>
            <a:xfrm>
              <a:off x="0" y="-9525"/>
              <a:ext cx="12543" cy="300531"/>
            </a:xfrm>
            <a:prstGeom prst="rect">
              <a:avLst/>
            </a:prstGeom>
          </p:spPr>
          <p:txBody>
            <a:bodyPr lIns="50800" tIns="50800" rIns="50800" bIns="50800" rtlCol="0" anchor="ctr"/>
            <a:lstStyle/>
            <a:p>
              <a:pPr algn="ctr">
                <a:lnSpc>
                  <a:spcPts val="2879"/>
                </a:lnSpc>
              </a:pPr>
              <a:endParaRPr/>
            </a:p>
          </p:txBody>
        </p:sp>
      </p:grpSp>
      <p:grpSp>
        <p:nvGrpSpPr>
          <p:cNvPr id="59" name="Group 59"/>
          <p:cNvGrpSpPr/>
          <p:nvPr/>
        </p:nvGrpSpPr>
        <p:grpSpPr>
          <a:xfrm>
            <a:off x="10383600" y="3570506"/>
            <a:ext cx="47637" cy="1151009"/>
            <a:chOff x="0" y="0"/>
            <a:chExt cx="12546" cy="303146"/>
          </a:xfrm>
        </p:grpSpPr>
        <p:sp>
          <p:nvSpPr>
            <p:cNvPr id="60" name="Freeform 60"/>
            <p:cNvSpPr/>
            <p:nvPr/>
          </p:nvSpPr>
          <p:spPr>
            <a:xfrm>
              <a:off x="0" y="0"/>
              <a:ext cx="12546" cy="303146"/>
            </a:xfrm>
            <a:custGeom>
              <a:avLst/>
              <a:gdLst/>
              <a:ahLst/>
              <a:cxnLst/>
              <a:rect l="l" t="t" r="r" b="b"/>
              <a:pathLst>
                <a:path w="12546" h="303146">
                  <a:moveTo>
                    <a:pt x="0" y="0"/>
                  </a:moveTo>
                  <a:lnTo>
                    <a:pt x="12546" y="0"/>
                  </a:lnTo>
                  <a:lnTo>
                    <a:pt x="12546" y="303146"/>
                  </a:lnTo>
                  <a:lnTo>
                    <a:pt x="0" y="303146"/>
                  </a:lnTo>
                  <a:close/>
                </a:path>
              </a:pathLst>
            </a:custGeom>
            <a:solidFill>
              <a:srgbClr val="000000"/>
            </a:solidFill>
          </p:spPr>
        </p:sp>
        <p:sp>
          <p:nvSpPr>
            <p:cNvPr id="61" name="TextBox 61"/>
            <p:cNvSpPr txBox="1"/>
            <p:nvPr/>
          </p:nvSpPr>
          <p:spPr>
            <a:xfrm>
              <a:off x="0" y="-9525"/>
              <a:ext cx="12546" cy="312671"/>
            </a:xfrm>
            <a:prstGeom prst="rect">
              <a:avLst/>
            </a:prstGeom>
          </p:spPr>
          <p:txBody>
            <a:bodyPr lIns="50800" tIns="50800" rIns="50800" bIns="50800" rtlCol="0" anchor="ctr"/>
            <a:lstStyle/>
            <a:p>
              <a:pPr algn="ctr">
                <a:lnSpc>
                  <a:spcPts val="2879"/>
                </a:lnSpc>
              </a:pPr>
              <a:endParaRPr/>
            </a:p>
          </p:txBody>
        </p:sp>
      </p:grpSp>
      <p:sp>
        <p:nvSpPr>
          <p:cNvPr id="62" name="Freeform 62"/>
          <p:cNvSpPr/>
          <p:nvPr/>
        </p:nvSpPr>
        <p:spPr>
          <a:xfrm rot="5400000" flipH="1">
            <a:off x="9920123" y="3388923"/>
            <a:ext cx="974591" cy="276886"/>
          </a:xfrm>
          <a:custGeom>
            <a:avLst/>
            <a:gdLst/>
            <a:ahLst/>
            <a:cxnLst/>
            <a:rect l="l" t="t" r="r" b="b"/>
            <a:pathLst>
              <a:path w="974591" h="276886">
                <a:moveTo>
                  <a:pt x="974592" y="0"/>
                </a:moveTo>
                <a:lnTo>
                  <a:pt x="0" y="0"/>
                </a:lnTo>
                <a:lnTo>
                  <a:pt x="0" y="276886"/>
                </a:lnTo>
                <a:lnTo>
                  <a:pt x="974592" y="276886"/>
                </a:lnTo>
                <a:lnTo>
                  <a:pt x="974592"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3" name="Group 63"/>
          <p:cNvGrpSpPr/>
          <p:nvPr/>
        </p:nvGrpSpPr>
        <p:grpSpPr>
          <a:xfrm rot="5400000">
            <a:off x="11120891" y="1227119"/>
            <a:ext cx="47679" cy="3658250"/>
            <a:chOff x="0" y="0"/>
            <a:chExt cx="12557" cy="963490"/>
          </a:xfrm>
        </p:grpSpPr>
        <p:sp>
          <p:nvSpPr>
            <p:cNvPr id="64" name="Freeform 64"/>
            <p:cNvSpPr/>
            <p:nvPr/>
          </p:nvSpPr>
          <p:spPr>
            <a:xfrm>
              <a:off x="0" y="0"/>
              <a:ext cx="12557" cy="963490"/>
            </a:xfrm>
            <a:custGeom>
              <a:avLst/>
              <a:gdLst/>
              <a:ahLst/>
              <a:cxnLst/>
              <a:rect l="l" t="t" r="r" b="b"/>
              <a:pathLst>
                <a:path w="12557" h="963490">
                  <a:moveTo>
                    <a:pt x="0" y="0"/>
                  </a:moveTo>
                  <a:lnTo>
                    <a:pt x="12557" y="0"/>
                  </a:lnTo>
                  <a:lnTo>
                    <a:pt x="12557" y="963490"/>
                  </a:lnTo>
                  <a:lnTo>
                    <a:pt x="0" y="963490"/>
                  </a:lnTo>
                  <a:close/>
                </a:path>
              </a:pathLst>
            </a:custGeom>
            <a:solidFill>
              <a:srgbClr val="000000"/>
            </a:solidFill>
          </p:spPr>
        </p:sp>
        <p:sp>
          <p:nvSpPr>
            <p:cNvPr id="65" name="TextBox 65"/>
            <p:cNvSpPr txBox="1"/>
            <p:nvPr/>
          </p:nvSpPr>
          <p:spPr>
            <a:xfrm>
              <a:off x="0" y="-9525"/>
              <a:ext cx="12557" cy="973015"/>
            </a:xfrm>
            <a:prstGeom prst="rect">
              <a:avLst/>
            </a:prstGeom>
          </p:spPr>
          <p:txBody>
            <a:bodyPr lIns="50800" tIns="50800" rIns="50800" bIns="50800" rtlCol="0" anchor="ctr"/>
            <a:lstStyle/>
            <a:p>
              <a:pPr algn="ctr">
                <a:lnSpc>
                  <a:spcPts val="2879"/>
                </a:lnSpc>
              </a:pPr>
              <a:endParaRPr/>
            </a:p>
          </p:txBody>
        </p:sp>
      </p:grpSp>
      <p:sp>
        <p:nvSpPr>
          <p:cNvPr id="66" name="Freeform 66"/>
          <p:cNvSpPr/>
          <p:nvPr/>
        </p:nvSpPr>
        <p:spPr>
          <a:xfrm>
            <a:off x="12401570" y="2952390"/>
            <a:ext cx="731284" cy="207761"/>
          </a:xfrm>
          <a:custGeom>
            <a:avLst/>
            <a:gdLst/>
            <a:ahLst/>
            <a:cxnLst/>
            <a:rect l="l" t="t" r="r" b="b"/>
            <a:pathLst>
              <a:path w="731284" h="207761">
                <a:moveTo>
                  <a:pt x="0" y="0"/>
                </a:moveTo>
                <a:lnTo>
                  <a:pt x="731284" y="0"/>
                </a:lnTo>
                <a:lnTo>
                  <a:pt x="731284" y="207762"/>
                </a:lnTo>
                <a:lnTo>
                  <a:pt x="0" y="2077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7" name="Group 67"/>
          <p:cNvGrpSpPr/>
          <p:nvPr/>
        </p:nvGrpSpPr>
        <p:grpSpPr>
          <a:xfrm>
            <a:off x="13132854" y="2601189"/>
            <a:ext cx="1589415" cy="952383"/>
            <a:chOff x="0" y="0"/>
            <a:chExt cx="418611" cy="250833"/>
          </a:xfrm>
        </p:grpSpPr>
        <p:sp>
          <p:nvSpPr>
            <p:cNvPr id="68" name="Freeform 68"/>
            <p:cNvSpPr/>
            <p:nvPr/>
          </p:nvSpPr>
          <p:spPr>
            <a:xfrm>
              <a:off x="0" y="0"/>
              <a:ext cx="418611" cy="250833"/>
            </a:xfrm>
            <a:custGeom>
              <a:avLst/>
              <a:gdLst/>
              <a:ahLst/>
              <a:cxnLst/>
              <a:rect l="l" t="t" r="r" b="b"/>
              <a:pathLst>
                <a:path w="418611" h="250833">
                  <a:moveTo>
                    <a:pt x="0" y="0"/>
                  </a:moveTo>
                  <a:lnTo>
                    <a:pt x="418611" y="0"/>
                  </a:lnTo>
                  <a:lnTo>
                    <a:pt x="418611" y="250833"/>
                  </a:lnTo>
                  <a:lnTo>
                    <a:pt x="0" y="250833"/>
                  </a:lnTo>
                  <a:close/>
                </a:path>
              </a:pathLst>
            </a:custGeom>
            <a:solidFill>
              <a:srgbClr val="000000">
                <a:alpha val="0"/>
              </a:srgbClr>
            </a:solidFill>
            <a:ln w="38100" cap="sq">
              <a:solidFill>
                <a:srgbClr val="000000"/>
              </a:solidFill>
              <a:prstDash val="solid"/>
              <a:miter/>
            </a:ln>
          </p:spPr>
        </p:sp>
        <p:sp>
          <p:nvSpPr>
            <p:cNvPr id="69" name="TextBox 69"/>
            <p:cNvSpPr txBox="1"/>
            <p:nvPr/>
          </p:nvSpPr>
          <p:spPr>
            <a:xfrm>
              <a:off x="0" y="-9525"/>
              <a:ext cx="418611" cy="260358"/>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MF Score</a:t>
              </a:r>
            </a:p>
          </p:txBody>
        </p:sp>
      </p:grpSp>
      <p:grpSp>
        <p:nvGrpSpPr>
          <p:cNvPr id="70" name="Group 70"/>
          <p:cNvGrpSpPr/>
          <p:nvPr/>
        </p:nvGrpSpPr>
        <p:grpSpPr>
          <a:xfrm>
            <a:off x="6025241" y="7162741"/>
            <a:ext cx="5922821" cy="952383"/>
            <a:chOff x="0" y="0"/>
            <a:chExt cx="1559920" cy="250833"/>
          </a:xfrm>
        </p:grpSpPr>
        <p:sp>
          <p:nvSpPr>
            <p:cNvPr id="71" name="Freeform 71"/>
            <p:cNvSpPr/>
            <p:nvPr/>
          </p:nvSpPr>
          <p:spPr>
            <a:xfrm>
              <a:off x="0" y="0"/>
              <a:ext cx="1559920" cy="250833"/>
            </a:xfrm>
            <a:custGeom>
              <a:avLst/>
              <a:gdLst/>
              <a:ahLst/>
              <a:cxnLst/>
              <a:rect l="l" t="t" r="r" b="b"/>
              <a:pathLst>
                <a:path w="1559920" h="250833">
                  <a:moveTo>
                    <a:pt x="0" y="0"/>
                  </a:moveTo>
                  <a:lnTo>
                    <a:pt x="1559920" y="0"/>
                  </a:lnTo>
                  <a:lnTo>
                    <a:pt x="1559920" y="250833"/>
                  </a:lnTo>
                  <a:lnTo>
                    <a:pt x="0" y="250833"/>
                  </a:lnTo>
                  <a:close/>
                </a:path>
              </a:pathLst>
            </a:custGeom>
            <a:solidFill>
              <a:srgbClr val="000000">
                <a:alpha val="0"/>
              </a:srgbClr>
            </a:solidFill>
            <a:ln w="38100" cap="sq">
              <a:solidFill>
                <a:srgbClr val="000000"/>
              </a:solidFill>
              <a:prstDash val="solid"/>
              <a:miter/>
            </a:ln>
          </p:spPr>
        </p:sp>
        <p:sp>
          <p:nvSpPr>
            <p:cNvPr id="72" name="TextBox 72"/>
            <p:cNvSpPr txBox="1"/>
            <p:nvPr/>
          </p:nvSpPr>
          <p:spPr>
            <a:xfrm>
              <a:off x="0" y="-9525"/>
              <a:ext cx="1559920" cy="260358"/>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Sequence Score = 0 </a:t>
              </a:r>
            </a:p>
          </p:txBody>
        </p:sp>
      </p:grpSp>
      <p:sp>
        <p:nvSpPr>
          <p:cNvPr id="73" name="Freeform 73"/>
          <p:cNvSpPr/>
          <p:nvPr/>
        </p:nvSpPr>
        <p:spPr>
          <a:xfrm>
            <a:off x="5437846" y="6252911"/>
            <a:ext cx="587396" cy="166882"/>
          </a:xfrm>
          <a:custGeom>
            <a:avLst/>
            <a:gdLst/>
            <a:ahLst/>
            <a:cxnLst/>
            <a:rect l="l" t="t" r="r" b="b"/>
            <a:pathLst>
              <a:path w="587396" h="166882">
                <a:moveTo>
                  <a:pt x="0" y="0"/>
                </a:moveTo>
                <a:lnTo>
                  <a:pt x="587395" y="0"/>
                </a:lnTo>
                <a:lnTo>
                  <a:pt x="587395" y="166882"/>
                </a:lnTo>
                <a:lnTo>
                  <a:pt x="0" y="1668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4" name="Group 74"/>
          <p:cNvGrpSpPr/>
          <p:nvPr/>
        </p:nvGrpSpPr>
        <p:grpSpPr>
          <a:xfrm>
            <a:off x="6025241" y="5332173"/>
            <a:ext cx="5922821" cy="1717029"/>
            <a:chOff x="0" y="0"/>
            <a:chExt cx="1559920" cy="452222"/>
          </a:xfrm>
        </p:grpSpPr>
        <p:sp>
          <p:nvSpPr>
            <p:cNvPr id="75" name="Freeform 75"/>
            <p:cNvSpPr/>
            <p:nvPr/>
          </p:nvSpPr>
          <p:spPr>
            <a:xfrm>
              <a:off x="0" y="0"/>
              <a:ext cx="1559920" cy="452222"/>
            </a:xfrm>
            <a:custGeom>
              <a:avLst/>
              <a:gdLst/>
              <a:ahLst/>
              <a:cxnLst/>
              <a:rect l="l" t="t" r="r" b="b"/>
              <a:pathLst>
                <a:path w="1559920" h="452222">
                  <a:moveTo>
                    <a:pt x="0" y="0"/>
                  </a:moveTo>
                  <a:lnTo>
                    <a:pt x="1559920" y="0"/>
                  </a:lnTo>
                  <a:lnTo>
                    <a:pt x="1559920" y="452222"/>
                  </a:lnTo>
                  <a:lnTo>
                    <a:pt x="0" y="452222"/>
                  </a:lnTo>
                  <a:close/>
                </a:path>
              </a:pathLst>
            </a:custGeom>
            <a:solidFill>
              <a:srgbClr val="FFFFFF"/>
            </a:solidFill>
            <a:ln w="38100" cap="sq">
              <a:solidFill>
                <a:srgbClr val="000000"/>
              </a:solidFill>
              <a:prstDash val="solid"/>
              <a:miter/>
            </a:ln>
          </p:spPr>
        </p:sp>
        <p:sp>
          <p:nvSpPr>
            <p:cNvPr id="76" name="TextBox 76"/>
            <p:cNvSpPr txBox="1"/>
            <p:nvPr/>
          </p:nvSpPr>
          <p:spPr>
            <a:xfrm>
              <a:off x="0" y="-9525"/>
              <a:ext cx="1559920" cy="461747"/>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Build Food Sequence</a:t>
              </a:r>
            </a:p>
            <a:p>
              <a:pPr algn="ctr">
                <a:lnSpc>
                  <a:spcPts val="2879"/>
                </a:lnSpc>
              </a:pPr>
              <a:r>
                <a:rPr lang="en-US" sz="2399">
                  <a:solidFill>
                    <a:srgbClr val="000000"/>
                  </a:solidFill>
                  <a:latin typeface="Times New Roman"/>
                  <a:ea typeface="Times New Roman"/>
                  <a:cs typeface="Times New Roman"/>
                  <a:sym typeface="Times New Roman"/>
                </a:rPr>
                <a:t>Apply embeddings and Positional Encoding</a:t>
              </a:r>
            </a:p>
            <a:p>
              <a:pPr algn="ctr">
                <a:lnSpc>
                  <a:spcPts val="2879"/>
                </a:lnSpc>
              </a:pPr>
              <a:r>
                <a:rPr lang="en-US" sz="2399">
                  <a:solidFill>
                    <a:srgbClr val="000000"/>
                  </a:solidFill>
                  <a:latin typeface="Times New Roman"/>
                  <a:ea typeface="Times New Roman"/>
                  <a:cs typeface="Times New Roman"/>
                  <a:sym typeface="Times New Roman"/>
                </a:rPr>
                <a:t>Transformer Encoder Applies Self-Attention</a:t>
              </a:r>
            </a:p>
            <a:p>
              <a:pPr algn="ctr">
                <a:lnSpc>
                  <a:spcPts val="2879"/>
                </a:lnSpc>
              </a:pPr>
              <a:r>
                <a:rPr lang="en-US" sz="2399">
                  <a:solidFill>
                    <a:srgbClr val="000000"/>
                  </a:solidFill>
                  <a:latin typeface="Times New Roman"/>
                  <a:ea typeface="Times New Roman"/>
                  <a:cs typeface="Times New Roman"/>
                  <a:sym typeface="Times New Roman"/>
                </a:rPr>
                <a:t>Predict next-food logits</a:t>
              </a:r>
            </a:p>
          </p:txBody>
        </p:sp>
      </p:grpSp>
      <p:sp>
        <p:nvSpPr>
          <p:cNvPr id="77" name="Freeform 77"/>
          <p:cNvSpPr/>
          <p:nvPr/>
        </p:nvSpPr>
        <p:spPr>
          <a:xfrm>
            <a:off x="5293958" y="7683633"/>
            <a:ext cx="731284" cy="207761"/>
          </a:xfrm>
          <a:custGeom>
            <a:avLst/>
            <a:gdLst/>
            <a:ahLst/>
            <a:cxnLst/>
            <a:rect l="l" t="t" r="r" b="b"/>
            <a:pathLst>
              <a:path w="731284" h="207761">
                <a:moveTo>
                  <a:pt x="0" y="0"/>
                </a:moveTo>
                <a:lnTo>
                  <a:pt x="731283" y="0"/>
                </a:lnTo>
                <a:lnTo>
                  <a:pt x="731283" y="207761"/>
                </a:lnTo>
                <a:lnTo>
                  <a:pt x="0" y="2077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8" name="Group 78"/>
          <p:cNvGrpSpPr/>
          <p:nvPr/>
        </p:nvGrpSpPr>
        <p:grpSpPr>
          <a:xfrm>
            <a:off x="3900918" y="7593145"/>
            <a:ext cx="47625" cy="228600"/>
            <a:chOff x="0" y="0"/>
            <a:chExt cx="12543" cy="60207"/>
          </a:xfrm>
        </p:grpSpPr>
        <p:sp>
          <p:nvSpPr>
            <p:cNvPr id="79" name="Freeform 79"/>
            <p:cNvSpPr/>
            <p:nvPr/>
          </p:nvSpPr>
          <p:spPr>
            <a:xfrm>
              <a:off x="0" y="0"/>
              <a:ext cx="12543" cy="60207"/>
            </a:xfrm>
            <a:custGeom>
              <a:avLst/>
              <a:gdLst/>
              <a:ahLst/>
              <a:cxnLst/>
              <a:rect l="l" t="t" r="r" b="b"/>
              <a:pathLst>
                <a:path w="12543" h="60207">
                  <a:moveTo>
                    <a:pt x="0" y="0"/>
                  </a:moveTo>
                  <a:lnTo>
                    <a:pt x="12543" y="0"/>
                  </a:lnTo>
                  <a:lnTo>
                    <a:pt x="12543" y="60207"/>
                  </a:lnTo>
                  <a:lnTo>
                    <a:pt x="0" y="60207"/>
                  </a:lnTo>
                  <a:close/>
                </a:path>
              </a:pathLst>
            </a:custGeom>
            <a:solidFill>
              <a:srgbClr val="000000"/>
            </a:solidFill>
          </p:spPr>
        </p:sp>
        <p:sp>
          <p:nvSpPr>
            <p:cNvPr id="80" name="TextBox 80"/>
            <p:cNvSpPr txBox="1"/>
            <p:nvPr/>
          </p:nvSpPr>
          <p:spPr>
            <a:xfrm>
              <a:off x="0" y="-9525"/>
              <a:ext cx="12543" cy="69732"/>
            </a:xfrm>
            <a:prstGeom prst="rect">
              <a:avLst/>
            </a:prstGeom>
          </p:spPr>
          <p:txBody>
            <a:bodyPr lIns="50800" tIns="50800" rIns="50800" bIns="50800" rtlCol="0" anchor="ctr"/>
            <a:lstStyle/>
            <a:p>
              <a:pPr algn="ctr">
                <a:lnSpc>
                  <a:spcPts val="2879"/>
                </a:lnSpc>
              </a:pPr>
              <a:endParaRPr/>
            </a:p>
          </p:txBody>
        </p:sp>
      </p:grpSp>
      <p:grpSp>
        <p:nvGrpSpPr>
          <p:cNvPr id="81" name="Group 81"/>
          <p:cNvGrpSpPr/>
          <p:nvPr/>
        </p:nvGrpSpPr>
        <p:grpSpPr>
          <a:xfrm rot="-5400000">
            <a:off x="4846872" y="6817659"/>
            <a:ext cx="47713" cy="1939621"/>
            <a:chOff x="0" y="0"/>
            <a:chExt cx="12566" cy="510847"/>
          </a:xfrm>
        </p:grpSpPr>
        <p:sp>
          <p:nvSpPr>
            <p:cNvPr id="82" name="Freeform 82"/>
            <p:cNvSpPr/>
            <p:nvPr/>
          </p:nvSpPr>
          <p:spPr>
            <a:xfrm>
              <a:off x="0" y="0"/>
              <a:ext cx="12566" cy="510847"/>
            </a:xfrm>
            <a:custGeom>
              <a:avLst/>
              <a:gdLst/>
              <a:ahLst/>
              <a:cxnLst/>
              <a:rect l="l" t="t" r="r" b="b"/>
              <a:pathLst>
                <a:path w="12566" h="510847">
                  <a:moveTo>
                    <a:pt x="0" y="0"/>
                  </a:moveTo>
                  <a:lnTo>
                    <a:pt x="12566" y="0"/>
                  </a:lnTo>
                  <a:lnTo>
                    <a:pt x="12566" y="510847"/>
                  </a:lnTo>
                  <a:lnTo>
                    <a:pt x="0" y="510847"/>
                  </a:lnTo>
                  <a:close/>
                </a:path>
              </a:pathLst>
            </a:custGeom>
            <a:solidFill>
              <a:srgbClr val="000000"/>
            </a:solidFill>
          </p:spPr>
        </p:sp>
        <p:sp>
          <p:nvSpPr>
            <p:cNvPr id="83" name="TextBox 83"/>
            <p:cNvSpPr txBox="1"/>
            <p:nvPr/>
          </p:nvSpPr>
          <p:spPr>
            <a:xfrm>
              <a:off x="0" y="-9525"/>
              <a:ext cx="12566" cy="520372"/>
            </a:xfrm>
            <a:prstGeom prst="rect">
              <a:avLst/>
            </a:prstGeom>
          </p:spPr>
          <p:txBody>
            <a:bodyPr lIns="50800" tIns="50800" rIns="50800" bIns="50800" rtlCol="0" anchor="ctr"/>
            <a:lstStyle/>
            <a:p>
              <a:pPr algn="ctr">
                <a:lnSpc>
                  <a:spcPts val="2879"/>
                </a:lnSpc>
              </a:pPr>
              <a:endParaRPr/>
            </a:p>
          </p:txBody>
        </p:sp>
      </p:grpSp>
      <p:sp>
        <p:nvSpPr>
          <p:cNvPr id="84" name="TextBox 84"/>
          <p:cNvSpPr txBox="1"/>
          <p:nvPr/>
        </p:nvSpPr>
        <p:spPr>
          <a:xfrm>
            <a:off x="5119565" y="7334953"/>
            <a:ext cx="447080" cy="39914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Times New Roman"/>
                <a:ea typeface="Times New Roman"/>
                <a:cs typeface="Times New Roman"/>
                <a:sym typeface="Times New Roman"/>
              </a:rPr>
              <a:t>No</a:t>
            </a:r>
          </a:p>
        </p:txBody>
      </p:sp>
      <p:grpSp>
        <p:nvGrpSpPr>
          <p:cNvPr id="85" name="Group 85"/>
          <p:cNvGrpSpPr/>
          <p:nvPr/>
        </p:nvGrpSpPr>
        <p:grpSpPr>
          <a:xfrm rot="5400000">
            <a:off x="12272799" y="7358895"/>
            <a:ext cx="47625" cy="697100"/>
            <a:chOff x="0" y="0"/>
            <a:chExt cx="12543" cy="183598"/>
          </a:xfrm>
        </p:grpSpPr>
        <p:sp>
          <p:nvSpPr>
            <p:cNvPr id="86" name="Freeform 86"/>
            <p:cNvSpPr/>
            <p:nvPr/>
          </p:nvSpPr>
          <p:spPr>
            <a:xfrm>
              <a:off x="0" y="0"/>
              <a:ext cx="12543" cy="183598"/>
            </a:xfrm>
            <a:custGeom>
              <a:avLst/>
              <a:gdLst/>
              <a:ahLst/>
              <a:cxnLst/>
              <a:rect l="l" t="t" r="r" b="b"/>
              <a:pathLst>
                <a:path w="12543" h="183598">
                  <a:moveTo>
                    <a:pt x="0" y="0"/>
                  </a:moveTo>
                  <a:lnTo>
                    <a:pt x="12543" y="0"/>
                  </a:lnTo>
                  <a:lnTo>
                    <a:pt x="12543" y="183598"/>
                  </a:lnTo>
                  <a:lnTo>
                    <a:pt x="0" y="183598"/>
                  </a:lnTo>
                  <a:close/>
                </a:path>
              </a:pathLst>
            </a:custGeom>
            <a:solidFill>
              <a:srgbClr val="000000"/>
            </a:solidFill>
          </p:spPr>
        </p:sp>
        <p:sp>
          <p:nvSpPr>
            <p:cNvPr id="87" name="TextBox 87"/>
            <p:cNvSpPr txBox="1"/>
            <p:nvPr/>
          </p:nvSpPr>
          <p:spPr>
            <a:xfrm>
              <a:off x="0" y="-9525"/>
              <a:ext cx="12543" cy="193123"/>
            </a:xfrm>
            <a:prstGeom prst="rect">
              <a:avLst/>
            </a:prstGeom>
          </p:spPr>
          <p:txBody>
            <a:bodyPr lIns="50800" tIns="50800" rIns="50800" bIns="50800" rtlCol="0" anchor="ctr"/>
            <a:lstStyle/>
            <a:p>
              <a:pPr algn="ctr">
                <a:lnSpc>
                  <a:spcPts val="2879"/>
                </a:lnSpc>
              </a:pPr>
              <a:endParaRPr/>
            </a:p>
          </p:txBody>
        </p:sp>
      </p:grpSp>
      <p:grpSp>
        <p:nvGrpSpPr>
          <p:cNvPr id="88" name="Group 88"/>
          <p:cNvGrpSpPr/>
          <p:nvPr/>
        </p:nvGrpSpPr>
        <p:grpSpPr>
          <a:xfrm>
            <a:off x="12529087" y="6321489"/>
            <a:ext cx="232149" cy="1409769"/>
            <a:chOff x="0" y="0"/>
            <a:chExt cx="309532" cy="1879692"/>
          </a:xfrm>
        </p:grpSpPr>
        <p:grpSp>
          <p:nvGrpSpPr>
            <p:cNvPr id="89" name="Group 89"/>
            <p:cNvGrpSpPr/>
            <p:nvPr/>
          </p:nvGrpSpPr>
          <p:grpSpPr>
            <a:xfrm>
              <a:off x="128139" y="592976"/>
              <a:ext cx="53253" cy="1286716"/>
              <a:chOff x="0" y="0"/>
              <a:chExt cx="12546" cy="303146"/>
            </a:xfrm>
          </p:grpSpPr>
          <p:sp>
            <p:nvSpPr>
              <p:cNvPr id="90" name="Freeform 90"/>
              <p:cNvSpPr/>
              <p:nvPr/>
            </p:nvSpPr>
            <p:spPr>
              <a:xfrm>
                <a:off x="0" y="0"/>
                <a:ext cx="12546" cy="303146"/>
              </a:xfrm>
              <a:custGeom>
                <a:avLst/>
                <a:gdLst/>
                <a:ahLst/>
                <a:cxnLst/>
                <a:rect l="l" t="t" r="r" b="b"/>
                <a:pathLst>
                  <a:path w="12546" h="303146">
                    <a:moveTo>
                      <a:pt x="0" y="0"/>
                    </a:moveTo>
                    <a:lnTo>
                      <a:pt x="12546" y="0"/>
                    </a:lnTo>
                    <a:lnTo>
                      <a:pt x="12546" y="303146"/>
                    </a:lnTo>
                    <a:lnTo>
                      <a:pt x="0" y="303146"/>
                    </a:lnTo>
                    <a:close/>
                  </a:path>
                </a:pathLst>
              </a:custGeom>
              <a:solidFill>
                <a:srgbClr val="000000"/>
              </a:solidFill>
            </p:spPr>
          </p:sp>
          <p:sp>
            <p:nvSpPr>
              <p:cNvPr id="91" name="TextBox 91"/>
              <p:cNvSpPr txBox="1"/>
              <p:nvPr/>
            </p:nvSpPr>
            <p:spPr>
              <a:xfrm>
                <a:off x="0" y="-9525"/>
                <a:ext cx="12546" cy="312671"/>
              </a:xfrm>
              <a:prstGeom prst="rect">
                <a:avLst/>
              </a:prstGeom>
            </p:spPr>
            <p:txBody>
              <a:bodyPr lIns="50800" tIns="50800" rIns="50800" bIns="50800" rtlCol="0" anchor="ctr"/>
              <a:lstStyle/>
              <a:p>
                <a:pPr algn="ctr">
                  <a:lnSpc>
                    <a:spcPts val="2879"/>
                  </a:lnSpc>
                </a:pPr>
                <a:endParaRPr/>
              </a:p>
            </p:txBody>
          </p:sp>
        </p:grpSp>
        <p:sp>
          <p:nvSpPr>
            <p:cNvPr id="92" name="Freeform 92"/>
            <p:cNvSpPr/>
            <p:nvPr/>
          </p:nvSpPr>
          <p:spPr>
            <a:xfrm rot="5400000" flipH="1">
              <a:off x="-389983" y="389983"/>
              <a:ext cx="1089499" cy="309532"/>
            </a:xfrm>
            <a:custGeom>
              <a:avLst/>
              <a:gdLst/>
              <a:ahLst/>
              <a:cxnLst/>
              <a:rect l="l" t="t" r="r" b="b"/>
              <a:pathLst>
                <a:path w="1089499" h="309532">
                  <a:moveTo>
                    <a:pt x="1089499" y="0"/>
                  </a:moveTo>
                  <a:lnTo>
                    <a:pt x="0" y="0"/>
                  </a:lnTo>
                  <a:lnTo>
                    <a:pt x="0" y="309533"/>
                  </a:lnTo>
                  <a:lnTo>
                    <a:pt x="1089499" y="309533"/>
                  </a:lnTo>
                  <a:lnTo>
                    <a:pt x="1089499" y="0"/>
                  </a:lnTo>
                  <a:close/>
                </a:path>
              </a:pathLst>
            </a:custGeom>
            <a:blipFill>
              <a:blip r:embed="rId3">
                <a:extLst>
                  <a:ext uri="{96DAC541-7B7A-43D3-8B79-37D633B846F1}">
                    <asvg:svgBlip xmlns:asvg="http://schemas.microsoft.com/office/drawing/2016/SVG/main" r:embed="rId4"/>
                  </a:ext>
                </a:extLst>
              </a:blip>
              <a:stretch>
                <a:fillRect/>
              </a:stretch>
            </a:blipFill>
          </p:spPr>
        </p:sp>
      </p:grpSp>
      <p:grpSp>
        <p:nvGrpSpPr>
          <p:cNvPr id="93" name="Group 93"/>
          <p:cNvGrpSpPr/>
          <p:nvPr/>
        </p:nvGrpSpPr>
        <p:grpSpPr>
          <a:xfrm rot="5400000">
            <a:off x="12437146" y="5842904"/>
            <a:ext cx="47625" cy="1025793"/>
            <a:chOff x="0" y="0"/>
            <a:chExt cx="12543" cy="270168"/>
          </a:xfrm>
        </p:grpSpPr>
        <p:sp>
          <p:nvSpPr>
            <p:cNvPr id="94" name="Freeform 94"/>
            <p:cNvSpPr/>
            <p:nvPr/>
          </p:nvSpPr>
          <p:spPr>
            <a:xfrm>
              <a:off x="0" y="0"/>
              <a:ext cx="12543" cy="270168"/>
            </a:xfrm>
            <a:custGeom>
              <a:avLst/>
              <a:gdLst/>
              <a:ahLst/>
              <a:cxnLst/>
              <a:rect l="l" t="t" r="r" b="b"/>
              <a:pathLst>
                <a:path w="12543" h="270168">
                  <a:moveTo>
                    <a:pt x="0" y="0"/>
                  </a:moveTo>
                  <a:lnTo>
                    <a:pt x="12543" y="0"/>
                  </a:lnTo>
                  <a:lnTo>
                    <a:pt x="12543" y="270168"/>
                  </a:lnTo>
                  <a:lnTo>
                    <a:pt x="0" y="270168"/>
                  </a:lnTo>
                  <a:close/>
                </a:path>
              </a:pathLst>
            </a:custGeom>
            <a:solidFill>
              <a:srgbClr val="000000"/>
            </a:solidFill>
          </p:spPr>
        </p:sp>
        <p:sp>
          <p:nvSpPr>
            <p:cNvPr id="95" name="TextBox 95"/>
            <p:cNvSpPr txBox="1"/>
            <p:nvPr/>
          </p:nvSpPr>
          <p:spPr>
            <a:xfrm>
              <a:off x="0" y="-9525"/>
              <a:ext cx="12543" cy="279693"/>
            </a:xfrm>
            <a:prstGeom prst="rect">
              <a:avLst/>
            </a:prstGeom>
          </p:spPr>
          <p:txBody>
            <a:bodyPr lIns="50800" tIns="50800" rIns="50800" bIns="50800" rtlCol="0" anchor="ctr"/>
            <a:lstStyle/>
            <a:p>
              <a:pPr algn="ctr">
                <a:lnSpc>
                  <a:spcPts val="2879"/>
                </a:lnSpc>
              </a:pPr>
              <a:endParaRPr/>
            </a:p>
          </p:txBody>
        </p:sp>
      </p:grpSp>
      <p:sp>
        <p:nvSpPr>
          <p:cNvPr id="96" name="Freeform 96"/>
          <p:cNvSpPr/>
          <p:nvPr/>
        </p:nvSpPr>
        <p:spPr>
          <a:xfrm>
            <a:off x="12401570" y="6242853"/>
            <a:ext cx="731284" cy="207761"/>
          </a:xfrm>
          <a:custGeom>
            <a:avLst/>
            <a:gdLst/>
            <a:ahLst/>
            <a:cxnLst/>
            <a:rect l="l" t="t" r="r" b="b"/>
            <a:pathLst>
              <a:path w="731284" h="207761">
                <a:moveTo>
                  <a:pt x="0" y="0"/>
                </a:moveTo>
                <a:lnTo>
                  <a:pt x="731284" y="0"/>
                </a:lnTo>
                <a:lnTo>
                  <a:pt x="731284" y="207761"/>
                </a:lnTo>
                <a:lnTo>
                  <a:pt x="0" y="2077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7" name="Group 97"/>
          <p:cNvGrpSpPr/>
          <p:nvPr/>
        </p:nvGrpSpPr>
        <p:grpSpPr>
          <a:xfrm>
            <a:off x="13132854" y="5845297"/>
            <a:ext cx="1589415" cy="993129"/>
            <a:chOff x="0" y="0"/>
            <a:chExt cx="418611" cy="261565"/>
          </a:xfrm>
        </p:grpSpPr>
        <p:sp>
          <p:nvSpPr>
            <p:cNvPr id="98" name="Freeform 98"/>
            <p:cNvSpPr/>
            <p:nvPr/>
          </p:nvSpPr>
          <p:spPr>
            <a:xfrm>
              <a:off x="0" y="0"/>
              <a:ext cx="418611" cy="261565"/>
            </a:xfrm>
            <a:custGeom>
              <a:avLst/>
              <a:gdLst/>
              <a:ahLst/>
              <a:cxnLst/>
              <a:rect l="l" t="t" r="r" b="b"/>
              <a:pathLst>
                <a:path w="418611" h="261565">
                  <a:moveTo>
                    <a:pt x="0" y="0"/>
                  </a:moveTo>
                  <a:lnTo>
                    <a:pt x="418611" y="0"/>
                  </a:lnTo>
                  <a:lnTo>
                    <a:pt x="418611" y="261565"/>
                  </a:lnTo>
                  <a:lnTo>
                    <a:pt x="0" y="261565"/>
                  </a:lnTo>
                  <a:close/>
                </a:path>
              </a:pathLst>
            </a:custGeom>
            <a:solidFill>
              <a:srgbClr val="000000">
                <a:alpha val="0"/>
              </a:srgbClr>
            </a:solidFill>
            <a:ln w="38100" cap="sq">
              <a:solidFill>
                <a:srgbClr val="000000"/>
              </a:solidFill>
              <a:prstDash val="solid"/>
              <a:miter/>
            </a:ln>
          </p:spPr>
        </p:sp>
        <p:sp>
          <p:nvSpPr>
            <p:cNvPr id="99" name="TextBox 99"/>
            <p:cNvSpPr txBox="1"/>
            <p:nvPr/>
          </p:nvSpPr>
          <p:spPr>
            <a:xfrm>
              <a:off x="0" y="-9525"/>
              <a:ext cx="418611"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Sequence Score</a:t>
              </a:r>
            </a:p>
          </p:txBody>
        </p:sp>
      </p:grpSp>
      <p:grpSp>
        <p:nvGrpSpPr>
          <p:cNvPr id="100" name="Group 100"/>
          <p:cNvGrpSpPr/>
          <p:nvPr/>
        </p:nvGrpSpPr>
        <p:grpSpPr>
          <a:xfrm rot="-5400000">
            <a:off x="5645189" y="6112524"/>
            <a:ext cx="51039" cy="468968"/>
            <a:chOff x="0" y="0"/>
            <a:chExt cx="13442" cy="123514"/>
          </a:xfrm>
        </p:grpSpPr>
        <p:sp>
          <p:nvSpPr>
            <p:cNvPr id="101" name="Freeform 101"/>
            <p:cNvSpPr/>
            <p:nvPr/>
          </p:nvSpPr>
          <p:spPr>
            <a:xfrm>
              <a:off x="0" y="0"/>
              <a:ext cx="13442" cy="123514"/>
            </a:xfrm>
            <a:custGeom>
              <a:avLst/>
              <a:gdLst/>
              <a:ahLst/>
              <a:cxnLst/>
              <a:rect l="l" t="t" r="r" b="b"/>
              <a:pathLst>
                <a:path w="13442" h="123514">
                  <a:moveTo>
                    <a:pt x="0" y="0"/>
                  </a:moveTo>
                  <a:lnTo>
                    <a:pt x="13442" y="0"/>
                  </a:lnTo>
                  <a:lnTo>
                    <a:pt x="13442" y="123514"/>
                  </a:lnTo>
                  <a:lnTo>
                    <a:pt x="0" y="123514"/>
                  </a:lnTo>
                  <a:close/>
                </a:path>
              </a:pathLst>
            </a:custGeom>
            <a:solidFill>
              <a:srgbClr val="000000"/>
            </a:solidFill>
          </p:spPr>
        </p:sp>
        <p:sp>
          <p:nvSpPr>
            <p:cNvPr id="102" name="TextBox 102"/>
            <p:cNvSpPr txBox="1"/>
            <p:nvPr/>
          </p:nvSpPr>
          <p:spPr>
            <a:xfrm>
              <a:off x="0" y="-9525"/>
              <a:ext cx="13442" cy="133039"/>
            </a:xfrm>
            <a:prstGeom prst="rect">
              <a:avLst/>
            </a:prstGeom>
          </p:spPr>
          <p:txBody>
            <a:bodyPr lIns="50800" tIns="50800" rIns="50800" bIns="50800" rtlCol="0" anchor="ctr"/>
            <a:lstStyle/>
            <a:p>
              <a:pPr algn="ctr">
                <a:lnSpc>
                  <a:spcPts val="2879"/>
                </a:lnSpc>
              </a:pPr>
              <a:endParaRPr/>
            </a:p>
          </p:txBody>
        </p:sp>
      </p:grpSp>
      <p:sp>
        <p:nvSpPr>
          <p:cNvPr id="103" name="TextBox 103"/>
          <p:cNvSpPr txBox="1"/>
          <p:nvPr/>
        </p:nvSpPr>
        <p:spPr>
          <a:xfrm>
            <a:off x="5461684" y="5856594"/>
            <a:ext cx="563557" cy="399148"/>
          </a:xfrm>
          <a:prstGeom prst="rect">
            <a:avLst/>
          </a:prstGeom>
        </p:spPr>
        <p:txBody>
          <a:bodyPr wrap="square" lIns="0" tIns="0" rIns="0" bIns="0" rtlCol="0" anchor="t">
            <a:spAutoFit/>
          </a:bodyPr>
          <a:lstStyle/>
          <a:p>
            <a:pPr algn="ctr">
              <a:lnSpc>
                <a:spcPts val="3359"/>
              </a:lnSpc>
            </a:pPr>
            <a:r>
              <a:rPr lang="en-US" sz="2400" dirty="0">
                <a:solidFill>
                  <a:srgbClr val="000000"/>
                </a:solidFill>
                <a:latin typeface="Times New Roman"/>
                <a:ea typeface="Times New Roman"/>
                <a:cs typeface="Times New Roman"/>
                <a:sym typeface="Times New Roman"/>
              </a:rPr>
              <a:t>Yes</a:t>
            </a:r>
          </a:p>
        </p:txBody>
      </p:sp>
      <p:grpSp>
        <p:nvGrpSpPr>
          <p:cNvPr id="104" name="Group 104"/>
          <p:cNvGrpSpPr/>
          <p:nvPr/>
        </p:nvGrpSpPr>
        <p:grpSpPr>
          <a:xfrm rot="5400000">
            <a:off x="9854969" y="8204828"/>
            <a:ext cx="47625" cy="1320302"/>
            <a:chOff x="0" y="0"/>
            <a:chExt cx="12543" cy="347734"/>
          </a:xfrm>
        </p:grpSpPr>
        <p:sp>
          <p:nvSpPr>
            <p:cNvPr id="105" name="Freeform 105"/>
            <p:cNvSpPr/>
            <p:nvPr/>
          </p:nvSpPr>
          <p:spPr>
            <a:xfrm>
              <a:off x="0" y="0"/>
              <a:ext cx="12543" cy="347734"/>
            </a:xfrm>
            <a:custGeom>
              <a:avLst/>
              <a:gdLst/>
              <a:ahLst/>
              <a:cxnLst/>
              <a:rect l="l" t="t" r="r" b="b"/>
              <a:pathLst>
                <a:path w="12543" h="347734">
                  <a:moveTo>
                    <a:pt x="0" y="0"/>
                  </a:moveTo>
                  <a:lnTo>
                    <a:pt x="12543" y="0"/>
                  </a:lnTo>
                  <a:lnTo>
                    <a:pt x="12543" y="347734"/>
                  </a:lnTo>
                  <a:lnTo>
                    <a:pt x="0" y="347734"/>
                  </a:lnTo>
                  <a:close/>
                </a:path>
              </a:pathLst>
            </a:custGeom>
            <a:solidFill>
              <a:srgbClr val="000000"/>
            </a:solidFill>
          </p:spPr>
        </p:sp>
        <p:sp>
          <p:nvSpPr>
            <p:cNvPr id="106" name="TextBox 106"/>
            <p:cNvSpPr txBox="1"/>
            <p:nvPr/>
          </p:nvSpPr>
          <p:spPr>
            <a:xfrm>
              <a:off x="0" y="-9525"/>
              <a:ext cx="12543" cy="357259"/>
            </a:xfrm>
            <a:prstGeom prst="rect">
              <a:avLst/>
            </a:prstGeom>
          </p:spPr>
          <p:txBody>
            <a:bodyPr lIns="50800" tIns="50800" rIns="50800" bIns="50800" rtlCol="0" anchor="ctr"/>
            <a:lstStyle/>
            <a:p>
              <a:pPr algn="ctr">
                <a:lnSpc>
                  <a:spcPts val="2879"/>
                </a:lnSpc>
              </a:pPr>
              <a:endParaRPr/>
            </a:p>
          </p:txBody>
        </p:sp>
      </p:grpSp>
      <p:grpSp>
        <p:nvGrpSpPr>
          <p:cNvPr id="107" name="Group 107"/>
          <p:cNvGrpSpPr/>
          <p:nvPr/>
        </p:nvGrpSpPr>
        <p:grpSpPr>
          <a:xfrm>
            <a:off x="13132854" y="8155633"/>
            <a:ext cx="1589415" cy="1355079"/>
            <a:chOff x="0" y="0"/>
            <a:chExt cx="418611" cy="356893"/>
          </a:xfrm>
        </p:grpSpPr>
        <p:sp>
          <p:nvSpPr>
            <p:cNvPr id="108" name="Freeform 108"/>
            <p:cNvSpPr/>
            <p:nvPr/>
          </p:nvSpPr>
          <p:spPr>
            <a:xfrm>
              <a:off x="0" y="0"/>
              <a:ext cx="418611" cy="356893"/>
            </a:xfrm>
            <a:custGeom>
              <a:avLst/>
              <a:gdLst/>
              <a:ahLst/>
              <a:cxnLst/>
              <a:rect l="l" t="t" r="r" b="b"/>
              <a:pathLst>
                <a:path w="418611" h="356893">
                  <a:moveTo>
                    <a:pt x="0" y="0"/>
                  </a:moveTo>
                  <a:lnTo>
                    <a:pt x="418611" y="0"/>
                  </a:lnTo>
                  <a:lnTo>
                    <a:pt x="418611" y="356893"/>
                  </a:lnTo>
                  <a:lnTo>
                    <a:pt x="0" y="356893"/>
                  </a:lnTo>
                  <a:close/>
                </a:path>
              </a:pathLst>
            </a:custGeom>
            <a:solidFill>
              <a:srgbClr val="000000">
                <a:alpha val="0"/>
              </a:srgbClr>
            </a:solidFill>
            <a:ln w="38100" cap="sq">
              <a:solidFill>
                <a:srgbClr val="000000"/>
              </a:solidFill>
              <a:prstDash val="solid"/>
              <a:miter/>
            </a:ln>
          </p:spPr>
        </p:sp>
        <p:sp>
          <p:nvSpPr>
            <p:cNvPr id="109" name="TextBox 109"/>
            <p:cNvSpPr txBox="1"/>
            <p:nvPr/>
          </p:nvSpPr>
          <p:spPr>
            <a:xfrm>
              <a:off x="0" y="-9525"/>
              <a:ext cx="418611" cy="366418"/>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Content Similarity Score</a:t>
              </a:r>
            </a:p>
          </p:txBody>
        </p:sp>
      </p:grpSp>
      <p:grpSp>
        <p:nvGrpSpPr>
          <p:cNvPr id="110" name="Group 110"/>
          <p:cNvGrpSpPr/>
          <p:nvPr/>
        </p:nvGrpSpPr>
        <p:grpSpPr>
          <a:xfrm>
            <a:off x="10383600" y="8767241"/>
            <a:ext cx="2749253" cy="207761"/>
            <a:chOff x="0" y="0"/>
            <a:chExt cx="3665671" cy="277015"/>
          </a:xfrm>
        </p:grpSpPr>
        <p:grpSp>
          <p:nvGrpSpPr>
            <p:cNvPr id="111" name="Group 111"/>
            <p:cNvGrpSpPr/>
            <p:nvPr/>
          </p:nvGrpSpPr>
          <p:grpSpPr>
            <a:xfrm rot="5400000">
              <a:off x="1726864" y="-1620106"/>
              <a:ext cx="63500" cy="3517227"/>
              <a:chOff x="0" y="0"/>
              <a:chExt cx="12543" cy="694761"/>
            </a:xfrm>
          </p:grpSpPr>
          <p:sp>
            <p:nvSpPr>
              <p:cNvPr id="112" name="Freeform 112"/>
              <p:cNvSpPr/>
              <p:nvPr/>
            </p:nvSpPr>
            <p:spPr>
              <a:xfrm>
                <a:off x="0" y="0"/>
                <a:ext cx="12543" cy="694761"/>
              </a:xfrm>
              <a:custGeom>
                <a:avLst/>
                <a:gdLst/>
                <a:ahLst/>
                <a:cxnLst/>
                <a:rect l="l" t="t" r="r" b="b"/>
                <a:pathLst>
                  <a:path w="12543" h="694761">
                    <a:moveTo>
                      <a:pt x="0" y="0"/>
                    </a:moveTo>
                    <a:lnTo>
                      <a:pt x="12543" y="0"/>
                    </a:lnTo>
                    <a:lnTo>
                      <a:pt x="12543" y="694761"/>
                    </a:lnTo>
                    <a:lnTo>
                      <a:pt x="0" y="694761"/>
                    </a:lnTo>
                    <a:close/>
                  </a:path>
                </a:pathLst>
              </a:custGeom>
              <a:solidFill>
                <a:srgbClr val="000000"/>
              </a:solidFill>
            </p:spPr>
          </p:sp>
          <p:sp>
            <p:nvSpPr>
              <p:cNvPr id="113" name="TextBox 113"/>
              <p:cNvSpPr txBox="1"/>
              <p:nvPr/>
            </p:nvSpPr>
            <p:spPr>
              <a:xfrm>
                <a:off x="0" y="-9525"/>
                <a:ext cx="12543" cy="704286"/>
              </a:xfrm>
              <a:prstGeom prst="rect">
                <a:avLst/>
              </a:prstGeom>
            </p:spPr>
            <p:txBody>
              <a:bodyPr lIns="50800" tIns="50800" rIns="50800" bIns="50800" rtlCol="0" anchor="ctr"/>
              <a:lstStyle/>
              <a:p>
                <a:pPr algn="ctr">
                  <a:lnSpc>
                    <a:spcPts val="2879"/>
                  </a:lnSpc>
                </a:pPr>
                <a:endParaRPr/>
              </a:p>
            </p:txBody>
          </p:sp>
        </p:grpSp>
        <p:sp>
          <p:nvSpPr>
            <p:cNvPr id="114" name="Freeform 114"/>
            <p:cNvSpPr/>
            <p:nvPr/>
          </p:nvSpPr>
          <p:spPr>
            <a:xfrm>
              <a:off x="2690627" y="0"/>
              <a:ext cx="975045" cy="277015"/>
            </a:xfrm>
            <a:custGeom>
              <a:avLst/>
              <a:gdLst/>
              <a:ahLst/>
              <a:cxnLst/>
              <a:rect l="l" t="t" r="r" b="b"/>
              <a:pathLst>
                <a:path w="975045" h="277015">
                  <a:moveTo>
                    <a:pt x="0" y="0"/>
                  </a:moveTo>
                  <a:lnTo>
                    <a:pt x="975044" y="0"/>
                  </a:lnTo>
                  <a:lnTo>
                    <a:pt x="975044" y="277015"/>
                  </a:lnTo>
                  <a:lnTo>
                    <a:pt x="0" y="2770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grpSp>
        <p:nvGrpSpPr>
          <p:cNvPr id="115" name="Group 115"/>
          <p:cNvGrpSpPr/>
          <p:nvPr/>
        </p:nvGrpSpPr>
        <p:grpSpPr>
          <a:xfrm>
            <a:off x="16122444" y="3061038"/>
            <a:ext cx="47625" cy="5827753"/>
            <a:chOff x="0" y="0"/>
            <a:chExt cx="12543" cy="1534882"/>
          </a:xfrm>
        </p:grpSpPr>
        <p:sp>
          <p:nvSpPr>
            <p:cNvPr id="116" name="Freeform 116"/>
            <p:cNvSpPr/>
            <p:nvPr/>
          </p:nvSpPr>
          <p:spPr>
            <a:xfrm>
              <a:off x="0" y="0"/>
              <a:ext cx="12543" cy="1534882"/>
            </a:xfrm>
            <a:custGeom>
              <a:avLst/>
              <a:gdLst/>
              <a:ahLst/>
              <a:cxnLst/>
              <a:rect l="l" t="t" r="r" b="b"/>
              <a:pathLst>
                <a:path w="12543" h="1534882">
                  <a:moveTo>
                    <a:pt x="0" y="0"/>
                  </a:moveTo>
                  <a:lnTo>
                    <a:pt x="12543" y="0"/>
                  </a:lnTo>
                  <a:lnTo>
                    <a:pt x="12543" y="1534882"/>
                  </a:lnTo>
                  <a:lnTo>
                    <a:pt x="0" y="1534882"/>
                  </a:lnTo>
                  <a:close/>
                </a:path>
              </a:pathLst>
            </a:custGeom>
            <a:solidFill>
              <a:srgbClr val="000000"/>
            </a:solidFill>
          </p:spPr>
        </p:sp>
        <p:sp>
          <p:nvSpPr>
            <p:cNvPr id="117" name="TextBox 117"/>
            <p:cNvSpPr txBox="1"/>
            <p:nvPr/>
          </p:nvSpPr>
          <p:spPr>
            <a:xfrm>
              <a:off x="0" y="-9525"/>
              <a:ext cx="12543" cy="1544407"/>
            </a:xfrm>
            <a:prstGeom prst="rect">
              <a:avLst/>
            </a:prstGeom>
          </p:spPr>
          <p:txBody>
            <a:bodyPr lIns="50800" tIns="50800" rIns="50800" bIns="50800" rtlCol="0" anchor="ctr"/>
            <a:lstStyle/>
            <a:p>
              <a:pPr algn="ctr">
                <a:lnSpc>
                  <a:spcPts val="2879"/>
                </a:lnSpc>
              </a:pPr>
              <a:endParaRPr/>
            </a:p>
          </p:txBody>
        </p:sp>
      </p:grpSp>
      <p:grpSp>
        <p:nvGrpSpPr>
          <p:cNvPr id="118" name="Group 118"/>
          <p:cNvGrpSpPr/>
          <p:nvPr/>
        </p:nvGrpSpPr>
        <p:grpSpPr>
          <a:xfrm rot="5400000">
            <a:off x="15422356" y="2356157"/>
            <a:ext cx="47625" cy="1447800"/>
            <a:chOff x="0" y="0"/>
            <a:chExt cx="12543" cy="381314"/>
          </a:xfrm>
        </p:grpSpPr>
        <p:sp>
          <p:nvSpPr>
            <p:cNvPr id="119" name="Freeform 119"/>
            <p:cNvSpPr/>
            <p:nvPr/>
          </p:nvSpPr>
          <p:spPr>
            <a:xfrm>
              <a:off x="0" y="0"/>
              <a:ext cx="12543" cy="381314"/>
            </a:xfrm>
            <a:custGeom>
              <a:avLst/>
              <a:gdLst/>
              <a:ahLst/>
              <a:cxnLst/>
              <a:rect l="l" t="t" r="r" b="b"/>
              <a:pathLst>
                <a:path w="12543" h="381314">
                  <a:moveTo>
                    <a:pt x="0" y="0"/>
                  </a:moveTo>
                  <a:lnTo>
                    <a:pt x="12543" y="0"/>
                  </a:lnTo>
                  <a:lnTo>
                    <a:pt x="12543" y="381314"/>
                  </a:lnTo>
                  <a:lnTo>
                    <a:pt x="0" y="381314"/>
                  </a:lnTo>
                  <a:close/>
                </a:path>
              </a:pathLst>
            </a:custGeom>
            <a:solidFill>
              <a:srgbClr val="000000"/>
            </a:solidFill>
          </p:spPr>
        </p:sp>
        <p:sp>
          <p:nvSpPr>
            <p:cNvPr id="120" name="TextBox 120"/>
            <p:cNvSpPr txBox="1"/>
            <p:nvPr/>
          </p:nvSpPr>
          <p:spPr>
            <a:xfrm>
              <a:off x="0" y="-9525"/>
              <a:ext cx="12543" cy="390839"/>
            </a:xfrm>
            <a:prstGeom prst="rect">
              <a:avLst/>
            </a:prstGeom>
          </p:spPr>
          <p:txBody>
            <a:bodyPr lIns="50800" tIns="50800" rIns="50800" bIns="50800" rtlCol="0" anchor="ctr"/>
            <a:lstStyle/>
            <a:p>
              <a:pPr algn="ctr">
                <a:lnSpc>
                  <a:spcPts val="2879"/>
                </a:lnSpc>
              </a:pPr>
              <a:endParaRPr/>
            </a:p>
          </p:txBody>
        </p:sp>
      </p:grpSp>
      <p:grpSp>
        <p:nvGrpSpPr>
          <p:cNvPr id="121" name="Group 121"/>
          <p:cNvGrpSpPr/>
          <p:nvPr/>
        </p:nvGrpSpPr>
        <p:grpSpPr>
          <a:xfrm rot="5400000">
            <a:off x="15422356" y="5584276"/>
            <a:ext cx="47625" cy="1447800"/>
            <a:chOff x="0" y="0"/>
            <a:chExt cx="12543" cy="381314"/>
          </a:xfrm>
        </p:grpSpPr>
        <p:sp>
          <p:nvSpPr>
            <p:cNvPr id="122" name="Freeform 122"/>
            <p:cNvSpPr/>
            <p:nvPr/>
          </p:nvSpPr>
          <p:spPr>
            <a:xfrm>
              <a:off x="0" y="0"/>
              <a:ext cx="12543" cy="381314"/>
            </a:xfrm>
            <a:custGeom>
              <a:avLst/>
              <a:gdLst/>
              <a:ahLst/>
              <a:cxnLst/>
              <a:rect l="l" t="t" r="r" b="b"/>
              <a:pathLst>
                <a:path w="12543" h="381314">
                  <a:moveTo>
                    <a:pt x="0" y="0"/>
                  </a:moveTo>
                  <a:lnTo>
                    <a:pt x="12543" y="0"/>
                  </a:lnTo>
                  <a:lnTo>
                    <a:pt x="12543" y="381314"/>
                  </a:lnTo>
                  <a:lnTo>
                    <a:pt x="0" y="381314"/>
                  </a:lnTo>
                  <a:close/>
                </a:path>
              </a:pathLst>
            </a:custGeom>
            <a:solidFill>
              <a:srgbClr val="000000"/>
            </a:solidFill>
          </p:spPr>
        </p:sp>
        <p:sp>
          <p:nvSpPr>
            <p:cNvPr id="123" name="TextBox 123"/>
            <p:cNvSpPr txBox="1"/>
            <p:nvPr/>
          </p:nvSpPr>
          <p:spPr>
            <a:xfrm>
              <a:off x="0" y="-9525"/>
              <a:ext cx="12543" cy="390839"/>
            </a:xfrm>
            <a:prstGeom prst="rect">
              <a:avLst/>
            </a:prstGeom>
          </p:spPr>
          <p:txBody>
            <a:bodyPr lIns="50800" tIns="50800" rIns="50800" bIns="50800" rtlCol="0" anchor="ctr"/>
            <a:lstStyle/>
            <a:p>
              <a:pPr algn="ctr">
                <a:lnSpc>
                  <a:spcPts val="2879"/>
                </a:lnSpc>
              </a:pPr>
              <a:endParaRPr/>
            </a:p>
          </p:txBody>
        </p:sp>
      </p:grpSp>
      <p:grpSp>
        <p:nvGrpSpPr>
          <p:cNvPr id="124" name="Group 124"/>
          <p:cNvGrpSpPr/>
          <p:nvPr/>
        </p:nvGrpSpPr>
        <p:grpSpPr>
          <a:xfrm rot="5400000">
            <a:off x="15422356" y="8123409"/>
            <a:ext cx="47625" cy="1447800"/>
            <a:chOff x="0" y="0"/>
            <a:chExt cx="12543" cy="381314"/>
          </a:xfrm>
        </p:grpSpPr>
        <p:sp>
          <p:nvSpPr>
            <p:cNvPr id="125" name="Freeform 125"/>
            <p:cNvSpPr/>
            <p:nvPr/>
          </p:nvSpPr>
          <p:spPr>
            <a:xfrm>
              <a:off x="0" y="0"/>
              <a:ext cx="12543" cy="381314"/>
            </a:xfrm>
            <a:custGeom>
              <a:avLst/>
              <a:gdLst/>
              <a:ahLst/>
              <a:cxnLst/>
              <a:rect l="l" t="t" r="r" b="b"/>
              <a:pathLst>
                <a:path w="12543" h="381314">
                  <a:moveTo>
                    <a:pt x="0" y="0"/>
                  </a:moveTo>
                  <a:lnTo>
                    <a:pt x="12543" y="0"/>
                  </a:lnTo>
                  <a:lnTo>
                    <a:pt x="12543" y="381314"/>
                  </a:lnTo>
                  <a:lnTo>
                    <a:pt x="0" y="381314"/>
                  </a:lnTo>
                  <a:close/>
                </a:path>
              </a:pathLst>
            </a:custGeom>
            <a:solidFill>
              <a:srgbClr val="000000"/>
            </a:solidFill>
          </p:spPr>
        </p:sp>
        <p:sp>
          <p:nvSpPr>
            <p:cNvPr id="126" name="TextBox 126"/>
            <p:cNvSpPr txBox="1"/>
            <p:nvPr/>
          </p:nvSpPr>
          <p:spPr>
            <a:xfrm>
              <a:off x="0" y="-9525"/>
              <a:ext cx="12543" cy="390839"/>
            </a:xfrm>
            <a:prstGeom prst="rect">
              <a:avLst/>
            </a:prstGeom>
          </p:spPr>
          <p:txBody>
            <a:bodyPr lIns="50800" tIns="50800" rIns="50800" bIns="50800" rtlCol="0" anchor="ctr"/>
            <a:lstStyle/>
            <a:p>
              <a:pPr algn="ctr">
                <a:lnSpc>
                  <a:spcPts val="2879"/>
                </a:lnSpc>
              </a:pPr>
              <a:endParaRPr/>
            </a:p>
          </p:txBody>
        </p:sp>
      </p:grpSp>
      <p:sp>
        <p:nvSpPr>
          <p:cNvPr id="127" name="Freeform 127"/>
          <p:cNvSpPr/>
          <p:nvPr/>
        </p:nvSpPr>
        <p:spPr>
          <a:xfrm>
            <a:off x="16170069" y="5856594"/>
            <a:ext cx="731284" cy="207761"/>
          </a:xfrm>
          <a:custGeom>
            <a:avLst/>
            <a:gdLst/>
            <a:ahLst/>
            <a:cxnLst/>
            <a:rect l="l" t="t" r="r" b="b"/>
            <a:pathLst>
              <a:path w="731284" h="207761">
                <a:moveTo>
                  <a:pt x="0" y="0"/>
                </a:moveTo>
                <a:lnTo>
                  <a:pt x="731283" y="0"/>
                </a:lnTo>
                <a:lnTo>
                  <a:pt x="731283" y="207762"/>
                </a:lnTo>
                <a:lnTo>
                  <a:pt x="0" y="20776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85650" y="547688"/>
            <a:ext cx="3872250" cy="1988550"/>
            <a:chOff x="0" y="0"/>
            <a:chExt cx="5163000" cy="2651400"/>
          </a:xfrm>
        </p:grpSpPr>
        <p:sp>
          <p:nvSpPr>
            <p:cNvPr id="3" name="Freeform 3"/>
            <p:cNvSpPr/>
            <p:nvPr/>
          </p:nvSpPr>
          <p:spPr>
            <a:xfrm>
              <a:off x="0" y="0"/>
              <a:ext cx="5163000" cy="2651400"/>
            </a:xfrm>
            <a:custGeom>
              <a:avLst/>
              <a:gdLst/>
              <a:ahLst/>
              <a:cxnLst/>
              <a:rect l="l" t="t" r="r" b="b"/>
              <a:pathLst>
                <a:path w="5163000" h="2651400">
                  <a:moveTo>
                    <a:pt x="0" y="0"/>
                  </a:moveTo>
                  <a:lnTo>
                    <a:pt x="5163000" y="0"/>
                  </a:lnTo>
                  <a:lnTo>
                    <a:pt x="5163000" y="2651400"/>
                  </a:lnTo>
                  <a:lnTo>
                    <a:pt x="0" y="2651400"/>
                  </a:lnTo>
                  <a:close/>
                </a:path>
              </a:pathLst>
            </a:custGeom>
            <a:solidFill>
              <a:srgbClr val="000000">
                <a:alpha val="0"/>
              </a:srgbClr>
            </a:solidFill>
          </p:spPr>
        </p:sp>
        <p:sp>
          <p:nvSpPr>
            <p:cNvPr id="4" name="TextBox 4"/>
            <p:cNvSpPr txBox="1"/>
            <p:nvPr/>
          </p:nvSpPr>
          <p:spPr>
            <a:xfrm>
              <a:off x="0" y="38100"/>
              <a:ext cx="51630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Flowchart</a:t>
              </a: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34</a:t>
              </a:r>
            </a:p>
          </p:txBody>
        </p:sp>
      </p:grpSp>
      <p:grpSp>
        <p:nvGrpSpPr>
          <p:cNvPr id="11" name="Group 11"/>
          <p:cNvGrpSpPr/>
          <p:nvPr/>
        </p:nvGrpSpPr>
        <p:grpSpPr>
          <a:xfrm>
            <a:off x="12573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grpSp>
        <p:nvGrpSpPr>
          <p:cNvPr id="14" name="Group 14"/>
          <p:cNvGrpSpPr/>
          <p:nvPr/>
        </p:nvGrpSpPr>
        <p:grpSpPr>
          <a:xfrm rot="-5400000">
            <a:off x="850081" y="3959494"/>
            <a:ext cx="47625" cy="2988537"/>
            <a:chOff x="0" y="0"/>
            <a:chExt cx="12543" cy="787104"/>
          </a:xfrm>
        </p:grpSpPr>
        <p:sp>
          <p:nvSpPr>
            <p:cNvPr id="15" name="Freeform 15"/>
            <p:cNvSpPr/>
            <p:nvPr/>
          </p:nvSpPr>
          <p:spPr>
            <a:xfrm>
              <a:off x="0" y="0"/>
              <a:ext cx="12543" cy="787104"/>
            </a:xfrm>
            <a:custGeom>
              <a:avLst/>
              <a:gdLst/>
              <a:ahLst/>
              <a:cxnLst/>
              <a:rect l="l" t="t" r="r" b="b"/>
              <a:pathLst>
                <a:path w="12543" h="787104">
                  <a:moveTo>
                    <a:pt x="0" y="0"/>
                  </a:moveTo>
                  <a:lnTo>
                    <a:pt x="12543" y="0"/>
                  </a:lnTo>
                  <a:lnTo>
                    <a:pt x="12543" y="787104"/>
                  </a:lnTo>
                  <a:lnTo>
                    <a:pt x="0" y="787104"/>
                  </a:lnTo>
                  <a:close/>
                </a:path>
              </a:pathLst>
            </a:custGeom>
            <a:solidFill>
              <a:srgbClr val="000000"/>
            </a:solidFill>
          </p:spPr>
        </p:sp>
        <p:sp>
          <p:nvSpPr>
            <p:cNvPr id="16" name="TextBox 16"/>
            <p:cNvSpPr txBox="1"/>
            <p:nvPr/>
          </p:nvSpPr>
          <p:spPr>
            <a:xfrm>
              <a:off x="0" y="-9525"/>
              <a:ext cx="12543" cy="796629"/>
            </a:xfrm>
            <a:prstGeom prst="rect">
              <a:avLst/>
            </a:prstGeom>
          </p:spPr>
          <p:txBody>
            <a:bodyPr lIns="50800" tIns="50800" rIns="50800" bIns="50800" rtlCol="0" anchor="ctr"/>
            <a:lstStyle/>
            <a:p>
              <a:pPr algn="ctr">
                <a:lnSpc>
                  <a:spcPts val="2879"/>
                </a:lnSpc>
              </a:pPr>
              <a:endParaRPr/>
            </a:p>
          </p:txBody>
        </p:sp>
      </p:gr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grpSp>
        <p:nvGrpSpPr>
          <p:cNvPr id="18" name="Group 18"/>
          <p:cNvGrpSpPr/>
          <p:nvPr/>
        </p:nvGrpSpPr>
        <p:grpSpPr>
          <a:xfrm>
            <a:off x="15651816" y="6852620"/>
            <a:ext cx="1378884" cy="689442"/>
            <a:chOff x="0" y="0"/>
            <a:chExt cx="812800" cy="406400"/>
          </a:xfrm>
        </p:grpSpPr>
        <p:sp>
          <p:nvSpPr>
            <p:cNvPr id="19" name="Freeform 1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00000"/>
              </a:solidFill>
              <a:prstDash val="solid"/>
              <a:miter/>
            </a:ln>
          </p:spPr>
        </p:sp>
        <p:sp>
          <p:nvSpPr>
            <p:cNvPr id="20" name="TextBox 20"/>
            <p:cNvSpPr txBox="1"/>
            <p:nvPr/>
          </p:nvSpPr>
          <p:spPr>
            <a:xfrm>
              <a:off x="0" y="-9525"/>
              <a:ext cx="812800" cy="415925"/>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END</a:t>
              </a:r>
            </a:p>
          </p:txBody>
        </p:sp>
      </p:grpSp>
      <p:sp>
        <p:nvSpPr>
          <p:cNvPr id="21" name="Freeform 21"/>
          <p:cNvSpPr/>
          <p:nvPr/>
        </p:nvSpPr>
        <p:spPr>
          <a:xfrm rot="5400000">
            <a:off x="12584288" y="6348537"/>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Freeform 22"/>
          <p:cNvSpPr/>
          <p:nvPr/>
        </p:nvSpPr>
        <p:spPr>
          <a:xfrm>
            <a:off x="4405974" y="5367552"/>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3" name="Freeform 23"/>
          <p:cNvSpPr/>
          <p:nvPr/>
        </p:nvSpPr>
        <p:spPr>
          <a:xfrm>
            <a:off x="10956245" y="5391365"/>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4"/>
          <p:cNvSpPr/>
          <p:nvPr/>
        </p:nvSpPr>
        <p:spPr>
          <a:xfrm>
            <a:off x="14484752" y="7031557"/>
            <a:ext cx="1167064" cy="331569"/>
          </a:xfrm>
          <a:custGeom>
            <a:avLst/>
            <a:gdLst/>
            <a:ahLst/>
            <a:cxnLst/>
            <a:rect l="l" t="t" r="r" b="b"/>
            <a:pathLst>
              <a:path w="1167064" h="331569">
                <a:moveTo>
                  <a:pt x="0" y="0"/>
                </a:moveTo>
                <a:lnTo>
                  <a:pt x="1167064" y="0"/>
                </a:lnTo>
                <a:lnTo>
                  <a:pt x="1167064" y="331569"/>
                </a:lnTo>
                <a:lnTo>
                  <a:pt x="0" y="3315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5"/>
          <p:cNvSpPr/>
          <p:nvPr/>
        </p:nvSpPr>
        <p:spPr>
          <a:xfrm>
            <a:off x="7700159" y="5367552"/>
            <a:ext cx="606891" cy="172421"/>
          </a:xfrm>
          <a:custGeom>
            <a:avLst/>
            <a:gdLst/>
            <a:ahLst/>
            <a:cxnLst/>
            <a:rect l="l" t="t" r="r" b="b"/>
            <a:pathLst>
              <a:path w="606891" h="172421">
                <a:moveTo>
                  <a:pt x="0" y="0"/>
                </a:moveTo>
                <a:lnTo>
                  <a:pt x="606891" y="0"/>
                </a:lnTo>
                <a:lnTo>
                  <a:pt x="606891" y="172421"/>
                </a:lnTo>
                <a:lnTo>
                  <a:pt x="0" y="172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6" name="Group 26"/>
          <p:cNvGrpSpPr/>
          <p:nvPr/>
        </p:nvGrpSpPr>
        <p:grpSpPr>
          <a:xfrm>
            <a:off x="2368162" y="4913012"/>
            <a:ext cx="2014871" cy="993129"/>
            <a:chOff x="0" y="0"/>
            <a:chExt cx="530666" cy="261565"/>
          </a:xfrm>
        </p:grpSpPr>
        <p:sp>
          <p:nvSpPr>
            <p:cNvPr id="27" name="Freeform 27"/>
            <p:cNvSpPr/>
            <p:nvPr/>
          </p:nvSpPr>
          <p:spPr>
            <a:xfrm>
              <a:off x="0" y="0"/>
              <a:ext cx="530666" cy="261565"/>
            </a:xfrm>
            <a:custGeom>
              <a:avLst/>
              <a:gdLst/>
              <a:ahLst/>
              <a:cxnLst/>
              <a:rect l="l" t="t" r="r" b="b"/>
              <a:pathLst>
                <a:path w="530666" h="261565">
                  <a:moveTo>
                    <a:pt x="0" y="0"/>
                  </a:moveTo>
                  <a:lnTo>
                    <a:pt x="530666" y="0"/>
                  </a:lnTo>
                  <a:lnTo>
                    <a:pt x="530666" y="261565"/>
                  </a:lnTo>
                  <a:lnTo>
                    <a:pt x="0" y="261565"/>
                  </a:lnTo>
                  <a:close/>
                </a:path>
              </a:pathLst>
            </a:custGeom>
            <a:solidFill>
              <a:srgbClr val="000000">
                <a:alpha val="0"/>
              </a:srgbClr>
            </a:solidFill>
            <a:ln w="38100" cap="sq">
              <a:solidFill>
                <a:srgbClr val="000000"/>
              </a:solidFill>
              <a:prstDash val="solid"/>
              <a:miter/>
            </a:ln>
          </p:spPr>
        </p:sp>
        <p:sp>
          <p:nvSpPr>
            <p:cNvPr id="28" name="TextBox 28"/>
            <p:cNvSpPr txBox="1"/>
            <p:nvPr/>
          </p:nvSpPr>
          <p:spPr>
            <a:xfrm>
              <a:off x="0" y="-9525"/>
              <a:ext cx="530666" cy="271090"/>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Apply Health-Aware Penalty</a:t>
              </a:r>
            </a:p>
          </p:txBody>
        </p:sp>
      </p:grpSp>
      <p:grpSp>
        <p:nvGrpSpPr>
          <p:cNvPr id="29" name="Group 29"/>
          <p:cNvGrpSpPr/>
          <p:nvPr/>
        </p:nvGrpSpPr>
        <p:grpSpPr>
          <a:xfrm>
            <a:off x="5031915" y="4776223"/>
            <a:ext cx="2649194" cy="1355079"/>
            <a:chOff x="0" y="0"/>
            <a:chExt cx="697730" cy="356893"/>
          </a:xfrm>
        </p:grpSpPr>
        <p:sp>
          <p:nvSpPr>
            <p:cNvPr id="30" name="Freeform 30"/>
            <p:cNvSpPr/>
            <p:nvPr/>
          </p:nvSpPr>
          <p:spPr>
            <a:xfrm>
              <a:off x="0" y="0"/>
              <a:ext cx="697730" cy="356893"/>
            </a:xfrm>
            <a:custGeom>
              <a:avLst/>
              <a:gdLst/>
              <a:ahLst/>
              <a:cxnLst/>
              <a:rect l="l" t="t" r="r" b="b"/>
              <a:pathLst>
                <a:path w="697730" h="356893">
                  <a:moveTo>
                    <a:pt x="0" y="0"/>
                  </a:moveTo>
                  <a:lnTo>
                    <a:pt x="697730" y="0"/>
                  </a:lnTo>
                  <a:lnTo>
                    <a:pt x="697730" y="356893"/>
                  </a:lnTo>
                  <a:lnTo>
                    <a:pt x="0" y="356893"/>
                  </a:lnTo>
                  <a:close/>
                </a:path>
              </a:pathLst>
            </a:custGeom>
            <a:solidFill>
              <a:srgbClr val="000000">
                <a:alpha val="0"/>
              </a:srgbClr>
            </a:solidFill>
            <a:ln w="38100" cap="sq">
              <a:solidFill>
                <a:srgbClr val="000000"/>
              </a:solidFill>
              <a:prstDash val="solid"/>
              <a:miter/>
            </a:ln>
          </p:spPr>
        </p:sp>
        <p:sp>
          <p:nvSpPr>
            <p:cNvPr id="31" name="TextBox 31"/>
            <p:cNvSpPr txBox="1"/>
            <p:nvPr/>
          </p:nvSpPr>
          <p:spPr>
            <a:xfrm>
              <a:off x="0" y="-9525"/>
              <a:ext cx="697730" cy="366418"/>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Apply Safety Score for Food</a:t>
              </a:r>
            </a:p>
            <a:p>
              <a:pPr algn="ctr">
                <a:lnSpc>
                  <a:spcPts val="2879"/>
                </a:lnSpc>
              </a:pPr>
              <a:r>
                <a:rPr lang="en-US" sz="2399">
                  <a:solidFill>
                    <a:srgbClr val="000000"/>
                  </a:solidFill>
                  <a:latin typeface="Times New Roman"/>
                  <a:ea typeface="Times New Roman"/>
                  <a:cs typeface="Times New Roman"/>
                  <a:sym typeface="Times New Roman"/>
                </a:rPr>
                <a:t>(RASFF based)</a:t>
              </a:r>
            </a:p>
          </p:txBody>
        </p:sp>
      </p:grpSp>
      <p:grpSp>
        <p:nvGrpSpPr>
          <p:cNvPr id="32" name="Group 32"/>
          <p:cNvGrpSpPr/>
          <p:nvPr/>
        </p:nvGrpSpPr>
        <p:grpSpPr>
          <a:xfrm>
            <a:off x="11563136" y="4800035"/>
            <a:ext cx="2649194" cy="1355079"/>
            <a:chOff x="0" y="0"/>
            <a:chExt cx="697730" cy="356893"/>
          </a:xfrm>
        </p:grpSpPr>
        <p:sp>
          <p:nvSpPr>
            <p:cNvPr id="33" name="Freeform 33"/>
            <p:cNvSpPr/>
            <p:nvPr/>
          </p:nvSpPr>
          <p:spPr>
            <a:xfrm>
              <a:off x="0" y="0"/>
              <a:ext cx="697730" cy="356893"/>
            </a:xfrm>
            <a:custGeom>
              <a:avLst/>
              <a:gdLst/>
              <a:ahLst/>
              <a:cxnLst/>
              <a:rect l="l" t="t" r="r" b="b"/>
              <a:pathLst>
                <a:path w="697730" h="356893">
                  <a:moveTo>
                    <a:pt x="0" y="0"/>
                  </a:moveTo>
                  <a:lnTo>
                    <a:pt x="697730" y="0"/>
                  </a:lnTo>
                  <a:lnTo>
                    <a:pt x="697730" y="356893"/>
                  </a:lnTo>
                  <a:lnTo>
                    <a:pt x="0" y="356893"/>
                  </a:lnTo>
                  <a:close/>
                </a:path>
              </a:pathLst>
            </a:custGeom>
            <a:solidFill>
              <a:srgbClr val="000000">
                <a:alpha val="0"/>
              </a:srgbClr>
            </a:solidFill>
            <a:ln w="38100" cap="sq">
              <a:solidFill>
                <a:srgbClr val="000000"/>
              </a:solidFill>
              <a:prstDash val="solid"/>
              <a:miter/>
            </a:ln>
          </p:spPr>
        </p:sp>
        <p:sp>
          <p:nvSpPr>
            <p:cNvPr id="34" name="TextBox 34"/>
            <p:cNvSpPr txBox="1"/>
            <p:nvPr/>
          </p:nvSpPr>
          <p:spPr>
            <a:xfrm>
              <a:off x="0" y="-9525"/>
              <a:ext cx="697730" cy="366418"/>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TOP-K Selection</a:t>
              </a:r>
            </a:p>
            <a:p>
              <a:pPr algn="ctr">
                <a:lnSpc>
                  <a:spcPts val="2879"/>
                </a:lnSpc>
              </a:pPr>
              <a:r>
                <a:rPr lang="en-US" sz="2399">
                  <a:solidFill>
                    <a:srgbClr val="000000"/>
                  </a:solidFill>
                  <a:latin typeface="Times New Roman"/>
                  <a:ea typeface="Times New Roman"/>
                  <a:cs typeface="Times New Roman"/>
                  <a:sym typeface="Times New Roman"/>
                </a:rPr>
                <a:t>(Sorts Foods by Final Score)</a:t>
              </a:r>
            </a:p>
          </p:txBody>
        </p:sp>
      </p:grpSp>
      <p:grpSp>
        <p:nvGrpSpPr>
          <p:cNvPr id="35" name="Group 35"/>
          <p:cNvGrpSpPr/>
          <p:nvPr/>
        </p:nvGrpSpPr>
        <p:grpSpPr>
          <a:xfrm>
            <a:off x="8307050" y="4414273"/>
            <a:ext cx="2649194" cy="2078979"/>
            <a:chOff x="0" y="0"/>
            <a:chExt cx="697730" cy="547550"/>
          </a:xfrm>
        </p:grpSpPr>
        <p:sp>
          <p:nvSpPr>
            <p:cNvPr id="36" name="Freeform 36"/>
            <p:cNvSpPr/>
            <p:nvPr/>
          </p:nvSpPr>
          <p:spPr>
            <a:xfrm>
              <a:off x="0" y="0"/>
              <a:ext cx="697730" cy="547550"/>
            </a:xfrm>
            <a:custGeom>
              <a:avLst/>
              <a:gdLst/>
              <a:ahLst/>
              <a:cxnLst/>
              <a:rect l="l" t="t" r="r" b="b"/>
              <a:pathLst>
                <a:path w="697730" h="547550">
                  <a:moveTo>
                    <a:pt x="0" y="0"/>
                  </a:moveTo>
                  <a:lnTo>
                    <a:pt x="697730" y="0"/>
                  </a:lnTo>
                  <a:lnTo>
                    <a:pt x="697730" y="547550"/>
                  </a:lnTo>
                  <a:lnTo>
                    <a:pt x="0" y="547550"/>
                  </a:lnTo>
                  <a:close/>
                </a:path>
              </a:pathLst>
            </a:custGeom>
            <a:solidFill>
              <a:srgbClr val="000000">
                <a:alpha val="0"/>
              </a:srgbClr>
            </a:solidFill>
            <a:ln w="38100" cap="sq">
              <a:solidFill>
                <a:srgbClr val="000000"/>
              </a:solidFill>
              <a:prstDash val="solid"/>
              <a:miter/>
            </a:ln>
          </p:spPr>
        </p:sp>
        <p:sp>
          <p:nvSpPr>
            <p:cNvPr id="37" name="TextBox 37"/>
            <p:cNvSpPr txBox="1"/>
            <p:nvPr/>
          </p:nvSpPr>
          <p:spPr>
            <a:xfrm>
              <a:off x="0" y="-9525"/>
              <a:ext cx="697730" cy="557075"/>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Computation of Final Score using Normalization &amp; Weighted Combination</a:t>
              </a:r>
            </a:p>
          </p:txBody>
        </p:sp>
      </p:grpSp>
      <p:grpSp>
        <p:nvGrpSpPr>
          <p:cNvPr id="38" name="Group 38"/>
          <p:cNvGrpSpPr/>
          <p:nvPr/>
        </p:nvGrpSpPr>
        <p:grpSpPr>
          <a:xfrm>
            <a:off x="10707183" y="6738194"/>
            <a:ext cx="4361101" cy="918296"/>
            <a:chOff x="0" y="0"/>
            <a:chExt cx="1148603" cy="241856"/>
          </a:xfrm>
        </p:grpSpPr>
        <p:sp>
          <p:nvSpPr>
            <p:cNvPr id="39" name="Freeform 39"/>
            <p:cNvSpPr/>
            <p:nvPr/>
          </p:nvSpPr>
          <p:spPr>
            <a:xfrm>
              <a:off x="0" y="0"/>
              <a:ext cx="1148603" cy="241856"/>
            </a:xfrm>
            <a:custGeom>
              <a:avLst/>
              <a:gdLst/>
              <a:ahLst/>
              <a:cxnLst/>
              <a:rect l="l" t="t" r="r" b="b"/>
              <a:pathLst>
                <a:path w="1148603" h="241856">
                  <a:moveTo>
                    <a:pt x="203200" y="0"/>
                  </a:moveTo>
                  <a:lnTo>
                    <a:pt x="1148603" y="0"/>
                  </a:lnTo>
                  <a:lnTo>
                    <a:pt x="945403" y="241856"/>
                  </a:lnTo>
                  <a:lnTo>
                    <a:pt x="0" y="241856"/>
                  </a:lnTo>
                  <a:lnTo>
                    <a:pt x="203200" y="0"/>
                  </a:lnTo>
                  <a:close/>
                </a:path>
              </a:pathLst>
            </a:custGeom>
            <a:solidFill>
              <a:srgbClr val="FFFFFF"/>
            </a:solidFill>
            <a:ln w="38100" cap="sq">
              <a:solidFill>
                <a:srgbClr val="000000"/>
              </a:solidFill>
              <a:prstDash val="solid"/>
              <a:miter/>
            </a:ln>
          </p:spPr>
        </p:sp>
        <p:sp>
          <p:nvSpPr>
            <p:cNvPr id="40" name="TextBox 40"/>
            <p:cNvSpPr txBox="1"/>
            <p:nvPr/>
          </p:nvSpPr>
          <p:spPr>
            <a:xfrm>
              <a:off x="101600" y="-9525"/>
              <a:ext cx="945403" cy="251381"/>
            </a:xfrm>
            <a:prstGeom prst="rect">
              <a:avLst/>
            </a:prstGeom>
          </p:spPr>
          <p:txBody>
            <a:bodyPr lIns="50800" tIns="50800" rIns="50800" bIns="50800" rtlCol="0" anchor="ctr"/>
            <a:lstStyle/>
            <a:p>
              <a:pPr algn="ctr">
                <a:lnSpc>
                  <a:spcPts val="2879"/>
                </a:lnSpc>
              </a:pPr>
              <a:r>
                <a:rPr lang="en-US" sz="2399">
                  <a:solidFill>
                    <a:srgbClr val="000000"/>
                  </a:solidFill>
                  <a:latin typeface="Times New Roman"/>
                  <a:ea typeface="Times New Roman"/>
                  <a:cs typeface="Times New Roman"/>
                  <a:sym typeface="Times New Roman"/>
                </a:rPr>
                <a:t>Send JSON Response</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Results and Performance Metrics</a:t>
              </a:r>
            </a:p>
          </p:txBody>
        </p:sp>
      </p:grpSp>
      <p:sp>
        <p:nvSpPr>
          <p:cNvPr id="5" name="TextBox 5"/>
          <p:cNvSpPr txBox="1"/>
          <p:nvPr/>
        </p:nvSpPr>
        <p:spPr>
          <a:xfrm>
            <a:off x="1028700" y="2707482"/>
            <a:ext cx="15590550" cy="5976366"/>
          </a:xfrm>
          <a:prstGeom prst="rect">
            <a:avLst/>
          </a:prstGeom>
        </p:spPr>
        <p:txBody>
          <a:bodyPr lIns="0" tIns="0" rIns="0" bIns="0" rtlCol="0" anchor="t">
            <a:spAutoFit/>
          </a:bodyPr>
          <a:lstStyle/>
          <a:p>
            <a:pPr algn="l">
              <a:lnSpc>
                <a:spcPts val="3672"/>
              </a:lnSpc>
            </a:pPr>
            <a:r>
              <a:rPr lang="en-US" sz="3400">
                <a:solidFill>
                  <a:srgbClr val="000000"/>
                </a:solidFill>
                <a:latin typeface="Times New Roman"/>
                <a:ea typeface="Times New Roman"/>
                <a:cs typeface="Times New Roman"/>
                <a:sym typeface="Times New Roman"/>
              </a:rPr>
              <a:t>1. Performance Evaluation Criteria</a:t>
            </a:r>
          </a:p>
          <a:p>
            <a:pPr algn="l">
              <a:lnSpc>
                <a:spcPts val="3672"/>
              </a:lnSpc>
            </a:pPr>
            <a:endParaRPr lang="en-US" sz="3400">
              <a:solidFill>
                <a:srgbClr val="000000"/>
              </a:solidFill>
              <a:latin typeface="Times New Roman"/>
              <a:ea typeface="Times New Roman"/>
              <a:cs typeface="Times New Roman"/>
              <a:sym typeface="Times New Roman"/>
            </a:endParaRPr>
          </a:p>
          <a:p>
            <a:pPr marL="1468129" lvl="2" indent="-489376" algn="l">
              <a:lnSpc>
                <a:spcPts val="3672"/>
              </a:lnSpc>
              <a:buFont typeface="Arial"/>
              <a:buChar char="⚬"/>
            </a:pPr>
            <a:r>
              <a:rPr lang="en-US" sz="3400">
                <a:solidFill>
                  <a:srgbClr val="000000"/>
                </a:solidFill>
                <a:latin typeface="Times New Roman"/>
                <a:ea typeface="Times New Roman"/>
                <a:cs typeface="Times New Roman"/>
                <a:sym typeface="Times New Roman"/>
              </a:rPr>
              <a:t>Model performance is evaluated using training loss convergence across epochs.</a:t>
            </a:r>
          </a:p>
          <a:p>
            <a:pPr marL="1468129" lvl="2" indent="-489376" algn="l">
              <a:lnSpc>
                <a:spcPts val="3672"/>
              </a:lnSpc>
              <a:buFont typeface="Arial"/>
              <a:buChar char="⚬"/>
            </a:pPr>
            <a:r>
              <a:rPr lang="en-US" sz="3400">
                <a:solidFill>
                  <a:srgbClr val="000000"/>
                </a:solidFill>
                <a:latin typeface="Times New Roman"/>
                <a:ea typeface="Times New Roman"/>
                <a:cs typeface="Times New Roman"/>
                <a:sym typeface="Times New Roman"/>
              </a:rPr>
              <a:t>Loss measures the error between:</a:t>
            </a:r>
          </a:p>
          <a:p>
            <a:pPr marL="2202193" lvl="3" indent="-550548" algn="l">
              <a:lnSpc>
                <a:spcPts val="3672"/>
              </a:lnSpc>
              <a:buFont typeface="Arial"/>
              <a:buChar char="￭"/>
            </a:pPr>
            <a:r>
              <a:rPr lang="en-US" sz="3400">
                <a:solidFill>
                  <a:srgbClr val="000000"/>
                </a:solidFill>
                <a:latin typeface="Times New Roman"/>
                <a:ea typeface="Times New Roman"/>
                <a:cs typeface="Times New Roman"/>
                <a:sym typeface="Times New Roman"/>
              </a:rPr>
              <a:t>Predicted user–food interaction scores</a:t>
            </a:r>
          </a:p>
          <a:p>
            <a:pPr marL="2202193" lvl="3" indent="-550548" algn="l">
              <a:lnSpc>
                <a:spcPts val="3672"/>
              </a:lnSpc>
              <a:buFont typeface="Arial"/>
              <a:buChar char="￭"/>
            </a:pPr>
            <a:r>
              <a:rPr lang="en-US" sz="3400">
                <a:solidFill>
                  <a:srgbClr val="000000"/>
                </a:solidFill>
                <a:latin typeface="Times New Roman"/>
                <a:ea typeface="Times New Roman"/>
                <a:cs typeface="Times New Roman"/>
                <a:sym typeface="Times New Roman"/>
              </a:rPr>
              <a:t>Actual interaction signals</a:t>
            </a:r>
          </a:p>
          <a:p>
            <a:pPr marL="1468129" lvl="2" indent="-489376" algn="l">
              <a:lnSpc>
                <a:spcPts val="3672"/>
              </a:lnSpc>
              <a:buFont typeface="Arial"/>
              <a:buChar char="⚬"/>
            </a:pPr>
            <a:r>
              <a:rPr lang="en-US" sz="3400">
                <a:solidFill>
                  <a:srgbClr val="000000"/>
                </a:solidFill>
                <a:latin typeface="Times New Roman"/>
                <a:ea typeface="Times New Roman"/>
                <a:cs typeface="Times New Roman"/>
                <a:sym typeface="Times New Roman"/>
              </a:rPr>
              <a:t>Decreasing loss indicates:</a:t>
            </a:r>
          </a:p>
          <a:p>
            <a:pPr marL="2202193" lvl="3" indent="-550548" algn="l">
              <a:lnSpc>
                <a:spcPts val="3672"/>
              </a:lnSpc>
              <a:buFont typeface="Arial"/>
              <a:buChar char="￭"/>
            </a:pPr>
            <a:r>
              <a:rPr lang="en-US" sz="3400">
                <a:solidFill>
                  <a:srgbClr val="000000"/>
                </a:solidFill>
                <a:latin typeface="Times New Roman"/>
                <a:ea typeface="Times New Roman"/>
                <a:cs typeface="Times New Roman"/>
                <a:sym typeface="Times New Roman"/>
              </a:rPr>
              <a:t>Effective preference learning</a:t>
            </a:r>
          </a:p>
          <a:p>
            <a:pPr marL="2202193" lvl="3" indent="-550548" algn="l">
              <a:lnSpc>
                <a:spcPts val="3672"/>
              </a:lnSpc>
              <a:buFont typeface="Arial"/>
              <a:buChar char="￭"/>
            </a:pPr>
            <a:r>
              <a:rPr lang="en-US" sz="3400">
                <a:solidFill>
                  <a:srgbClr val="000000"/>
                </a:solidFill>
                <a:latin typeface="Times New Roman"/>
                <a:ea typeface="Times New Roman"/>
                <a:cs typeface="Times New Roman"/>
                <a:sym typeface="Times New Roman"/>
              </a:rPr>
              <a:t>Stable optimization</a:t>
            </a:r>
          </a:p>
          <a:p>
            <a:pPr marL="1468129" lvl="2" indent="-489376" algn="l">
              <a:lnSpc>
                <a:spcPts val="3672"/>
              </a:lnSpc>
              <a:buFont typeface="Arial"/>
              <a:buChar char="⚬"/>
            </a:pPr>
            <a:r>
              <a:rPr lang="en-US" sz="3400">
                <a:solidFill>
                  <a:srgbClr val="000000"/>
                </a:solidFill>
                <a:latin typeface="Times New Roman"/>
                <a:ea typeface="Times New Roman"/>
                <a:cs typeface="Times New Roman"/>
                <a:sym typeface="Times New Roman"/>
              </a:rPr>
              <a:t>Performance comparison is done across:</a:t>
            </a:r>
          </a:p>
          <a:p>
            <a:pPr marL="2202193" lvl="3" indent="-550548" algn="l">
              <a:lnSpc>
                <a:spcPts val="3672"/>
              </a:lnSpc>
              <a:buFont typeface="Arial"/>
              <a:buChar char="￭"/>
            </a:pPr>
            <a:r>
              <a:rPr lang="en-US" sz="3400">
                <a:solidFill>
                  <a:srgbClr val="000000"/>
                </a:solidFill>
                <a:latin typeface="Times New Roman"/>
                <a:ea typeface="Times New Roman"/>
                <a:cs typeface="Times New Roman"/>
                <a:sym typeface="Times New Roman"/>
              </a:rPr>
              <a:t>Matrix Factorization</a:t>
            </a:r>
          </a:p>
          <a:p>
            <a:pPr marL="2202193" lvl="3" indent="-550548" algn="l">
              <a:lnSpc>
                <a:spcPts val="3672"/>
              </a:lnSpc>
              <a:buFont typeface="Arial"/>
              <a:buChar char="￭"/>
            </a:pPr>
            <a:r>
              <a:rPr lang="en-US" sz="3400">
                <a:solidFill>
                  <a:srgbClr val="000000"/>
                </a:solidFill>
                <a:latin typeface="Times New Roman"/>
                <a:ea typeface="Times New Roman"/>
                <a:cs typeface="Times New Roman"/>
                <a:sym typeface="Times New Roman"/>
              </a:rPr>
              <a:t>Transformer Sequence Model</a:t>
            </a:r>
          </a:p>
          <a:p>
            <a:pPr marL="2202193" lvl="3" indent="-550548" algn="l">
              <a:lnSpc>
                <a:spcPts val="3672"/>
              </a:lnSpc>
              <a:buFont typeface="Arial"/>
              <a:buChar char="￭"/>
            </a:pPr>
            <a:r>
              <a:rPr lang="en-US" sz="3400">
                <a:solidFill>
                  <a:srgbClr val="000000"/>
                </a:solidFill>
                <a:latin typeface="Times New Roman"/>
                <a:ea typeface="Times New Roman"/>
                <a:cs typeface="Times New Roman"/>
                <a:sym typeface="Times New Roman"/>
              </a:rPr>
              <a:t>Hybrid Recommendation Model</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35</a:t>
              </a:r>
            </a:p>
          </p:txBody>
        </p:sp>
      </p:grpSp>
      <p:sp>
        <p:nvSpPr>
          <p:cNvPr id="12" name="Freeform 12"/>
          <p:cNvSpPr/>
          <p:nvPr/>
        </p:nvSpPr>
        <p:spPr>
          <a:xfrm>
            <a:off x="10368997" y="4564281"/>
            <a:ext cx="6890303" cy="4694019"/>
          </a:xfrm>
          <a:custGeom>
            <a:avLst/>
            <a:gdLst/>
            <a:ahLst/>
            <a:cxnLst/>
            <a:rect l="l" t="t" r="r" b="b"/>
            <a:pathLst>
              <a:path w="6890303" h="4694019">
                <a:moveTo>
                  <a:pt x="0" y="0"/>
                </a:moveTo>
                <a:lnTo>
                  <a:pt x="6890303" y="0"/>
                </a:lnTo>
                <a:lnTo>
                  <a:pt x="6890303" y="4694019"/>
                </a:lnTo>
                <a:lnTo>
                  <a:pt x="0" y="4694019"/>
                </a:lnTo>
                <a:lnTo>
                  <a:pt x="0" y="0"/>
                </a:lnTo>
                <a:close/>
              </a:path>
            </a:pathLst>
          </a:custGeom>
          <a:blipFill>
            <a:blip r:embed="rId3"/>
            <a:stretch>
              <a:fillRect/>
            </a:stretch>
          </a:blipFill>
        </p:spPr>
      </p:sp>
      <p:grpSp>
        <p:nvGrpSpPr>
          <p:cNvPr id="13" name="Group 13"/>
          <p:cNvGrpSpPr/>
          <p:nvPr/>
        </p:nvGrpSpPr>
        <p:grpSpPr>
          <a:xfrm>
            <a:off x="1257300" y="9534525"/>
            <a:ext cx="4114800" cy="547688"/>
            <a:chOff x="0" y="0"/>
            <a:chExt cx="5486400" cy="730250"/>
          </a:xfrm>
        </p:grpSpPr>
        <p:sp>
          <p:nvSpPr>
            <p:cNvPr id="14" name="Freeform 14"/>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5" name="TextBox 15"/>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6" name="TextBox 16"/>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36</a:t>
              </a:r>
            </a:p>
          </p:txBody>
        </p:sp>
      </p:grpSp>
      <p:sp>
        <p:nvSpPr>
          <p:cNvPr id="11" name="Freeform 11"/>
          <p:cNvSpPr/>
          <p:nvPr/>
        </p:nvSpPr>
        <p:spPr>
          <a:xfrm>
            <a:off x="10779566" y="5971379"/>
            <a:ext cx="6251134" cy="3563146"/>
          </a:xfrm>
          <a:custGeom>
            <a:avLst/>
            <a:gdLst/>
            <a:ahLst/>
            <a:cxnLst/>
            <a:rect l="l" t="t" r="r" b="b"/>
            <a:pathLst>
              <a:path w="6251134" h="3563146">
                <a:moveTo>
                  <a:pt x="0" y="0"/>
                </a:moveTo>
                <a:lnTo>
                  <a:pt x="6251134" y="0"/>
                </a:lnTo>
                <a:lnTo>
                  <a:pt x="6251134" y="3563146"/>
                </a:lnTo>
                <a:lnTo>
                  <a:pt x="0" y="3563146"/>
                </a:lnTo>
                <a:lnTo>
                  <a:pt x="0" y="0"/>
                </a:lnTo>
                <a:close/>
              </a:path>
            </a:pathLst>
          </a:custGeom>
          <a:blipFill>
            <a:blip r:embed="rId3"/>
            <a:stretch>
              <a:fillRect/>
            </a:stretch>
          </a:blipFill>
        </p:spPr>
      </p:sp>
      <p:sp>
        <p:nvSpPr>
          <p:cNvPr id="12" name="Freeform 12"/>
          <p:cNvSpPr/>
          <p:nvPr/>
        </p:nvSpPr>
        <p:spPr>
          <a:xfrm>
            <a:off x="2552902" y="4801070"/>
            <a:ext cx="6591098" cy="4457230"/>
          </a:xfrm>
          <a:custGeom>
            <a:avLst/>
            <a:gdLst/>
            <a:ahLst/>
            <a:cxnLst/>
            <a:rect l="l" t="t" r="r" b="b"/>
            <a:pathLst>
              <a:path w="6591098" h="4457230">
                <a:moveTo>
                  <a:pt x="0" y="0"/>
                </a:moveTo>
                <a:lnTo>
                  <a:pt x="6591098" y="0"/>
                </a:lnTo>
                <a:lnTo>
                  <a:pt x="6591098" y="4457230"/>
                </a:lnTo>
                <a:lnTo>
                  <a:pt x="0" y="4457230"/>
                </a:lnTo>
                <a:lnTo>
                  <a:pt x="0" y="0"/>
                </a:lnTo>
                <a:close/>
              </a:path>
            </a:pathLst>
          </a:custGeom>
          <a:blipFill>
            <a:blip r:embed="rId4"/>
            <a:stretch>
              <a:fillRect/>
            </a:stretch>
          </a:blipFill>
        </p:spPr>
      </p:sp>
      <p:sp>
        <p:nvSpPr>
          <p:cNvPr id="13" name="Freeform 13"/>
          <p:cNvSpPr/>
          <p:nvPr/>
        </p:nvSpPr>
        <p:spPr>
          <a:xfrm>
            <a:off x="10967229" y="2515200"/>
            <a:ext cx="6063471" cy="3456179"/>
          </a:xfrm>
          <a:custGeom>
            <a:avLst/>
            <a:gdLst/>
            <a:ahLst/>
            <a:cxnLst/>
            <a:rect l="l" t="t" r="r" b="b"/>
            <a:pathLst>
              <a:path w="6063471" h="3456179">
                <a:moveTo>
                  <a:pt x="0" y="0"/>
                </a:moveTo>
                <a:lnTo>
                  <a:pt x="6063471" y="0"/>
                </a:lnTo>
                <a:lnTo>
                  <a:pt x="6063471" y="3456179"/>
                </a:lnTo>
                <a:lnTo>
                  <a:pt x="0" y="3456179"/>
                </a:lnTo>
                <a:lnTo>
                  <a:pt x="0" y="0"/>
                </a:lnTo>
                <a:close/>
              </a:path>
            </a:pathLst>
          </a:custGeom>
          <a:blipFill>
            <a:blip r:embed="rId5"/>
            <a:stretch>
              <a:fillRect/>
            </a:stretch>
          </a:blipFill>
        </p:spPr>
      </p:sp>
      <p:sp>
        <p:nvSpPr>
          <p:cNvPr id="14" name="TextBox 14"/>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Matrix Factorization – Training Performance</a:t>
            </a:r>
          </a:p>
        </p:txBody>
      </p:sp>
      <p:sp>
        <p:nvSpPr>
          <p:cNvPr id="15" name="TextBox 15"/>
          <p:cNvSpPr txBox="1"/>
          <p:nvPr/>
        </p:nvSpPr>
        <p:spPr>
          <a:xfrm>
            <a:off x="1257300" y="2936050"/>
            <a:ext cx="10142666" cy="2061665"/>
          </a:xfrm>
          <a:prstGeom prst="rect">
            <a:avLst/>
          </a:prstGeom>
        </p:spPr>
        <p:txBody>
          <a:bodyPr lIns="0" tIns="0" rIns="0" bIns="0" rtlCol="0" anchor="t">
            <a:spAutoFit/>
          </a:bodyPr>
          <a:lstStyle/>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MF trained using Binary Cross-Entropy Loss</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Shows fast and stable convergence</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Learns long-term user–food preferences</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Embedding norms indicate stable latent representations</a:t>
            </a:r>
          </a:p>
          <a:p>
            <a:pPr algn="l">
              <a:lnSpc>
                <a:spcPts val="3229"/>
              </a:lnSpc>
            </a:pPr>
            <a:endParaRPr lang="en-US" sz="2691">
              <a:solidFill>
                <a:srgbClr val="000000"/>
              </a:solidFill>
              <a:latin typeface="Times New Roman"/>
              <a:ea typeface="Times New Roman"/>
              <a:cs typeface="Times New Roman"/>
              <a:sym typeface="Times New Roman"/>
            </a:endParaRPr>
          </a:p>
        </p:txBody>
      </p:sp>
      <p:grpSp>
        <p:nvGrpSpPr>
          <p:cNvPr id="16" name="Group 16"/>
          <p:cNvGrpSpPr/>
          <p:nvPr/>
        </p:nvGrpSpPr>
        <p:grpSpPr>
          <a:xfrm>
            <a:off x="1257300" y="9534525"/>
            <a:ext cx="4114800" cy="547688"/>
            <a:chOff x="0" y="0"/>
            <a:chExt cx="5486400" cy="730250"/>
          </a:xfrm>
        </p:grpSpPr>
        <p:sp>
          <p:nvSpPr>
            <p:cNvPr id="17" name="Freeform 1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8" name="TextBox 18"/>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9" name="TextBox 19"/>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sp>
        <p:nvSpPr>
          <p:cNvPr id="5" name="Freeform 5"/>
          <p:cNvSpPr/>
          <p:nvPr/>
        </p:nvSpPr>
        <p:spPr>
          <a:xfrm>
            <a:off x="9391269" y="3818812"/>
            <a:ext cx="7508326" cy="5715713"/>
          </a:xfrm>
          <a:custGeom>
            <a:avLst/>
            <a:gdLst/>
            <a:ahLst/>
            <a:cxnLst/>
            <a:rect l="l" t="t" r="r" b="b"/>
            <a:pathLst>
              <a:path w="7508326" h="5715713">
                <a:moveTo>
                  <a:pt x="0" y="0"/>
                </a:moveTo>
                <a:lnTo>
                  <a:pt x="7508327" y="0"/>
                </a:lnTo>
                <a:lnTo>
                  <a:pt x="7508327" y="5715713"/>
                </a:lnTo>
                <a:lnTo>
                  <a:pt x="0" y="5715713"/>
                </a:lnTo>
                <a:lnTo>
                  <a:pt x="0" y="0"/>
                </a:lnTo>
                <a:close/>
              </a:path>
            </a:pathLst>
          </a:custGeom>
          <a:blipFill>
            <a:blip r:embed="rId3"/>
            <a:stretch>
              <a:fillRect/>
            </a:stretch>
          </a:blipFill>
        </p:spPr>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37</a:t>
              </a:r>
            </a:p>
          </p:txBody>
        </p:sp>
      </p:grpSp>
      <p:sp>
        <p:nvSpPr>
          <p:cNvPr id="12" name="Freeform 12"/>
          <p:cNvSpPr/>
          <p:nvPr/>
        </p:nvSpPr>
        <p:spPr>
          <a:xfrm>
            <a:off x="2039592" y="4997715"/>
            <a:ext cx="6665017" cy="4457230"/>
          </a:xfrm>
          <a:custGeom>
            <a:avLst/>
            <a:gdLst/>
            <a:ahLst/>
            <a:cxnLst/>
            <a:rect l="l" t="t" r="r" b="b"/>
            <a:pathLst>
              <a:path w="6665017" h="4457230">
                <a:moveTo>
                  <a:pt x="0" y="0"/>
                </a:moveTo>
                <a:lnTo>
                  <a:pt x="6665016" y="0"/>
                </a:lnTo>
                <a:lnTo>
                  <a:pt x="6665016" y="4457230"/>
                </a:lnTo>
                <a:lnTo>
                  <a:pt x="0" y="4457230"/>
                </a:lnTo>
                <a:lnTo>
                  <a:pt x="0" y="0"/>
                </a:lnTo>
                <a:close/>
              </a:path>
            </a:pathLst>
          </a:custGeom>
          <a:blipFill>
            <a:blip r:embed="rId4"/>
            <a:stretch>
              <a:fillRect/>
            </a:stretch>
          </a:blipFill>
        </p:spPr>
      </p:sp>
      <p:sp>
        <p:nvSpPr>
          <p:cNvPr id="13" name="TextBox 13"/>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Transformer Sequence Model – Training Performance</a:t>
            </a:r>
          </a:p>
        </p:txBody>
      </p:sp>
      <p:sp>
        <p:nvSpPr>
          <p:cNvPr id="14" name="TextBox 14"/>
          <p:cNvSpPr txBox="1"/>
          <p:nvPr/>
        </p:nvSpPr>
        <p:spPr>
          <a:xfrm>
            <a:off x="1257300" y="2936050"/>
            <a:ext cx="10142666" cy="2061665"/>
          </a:xfrm>
          <a:prstGeom prst="rect">
            <a:avLst/>
          </a:prstGeom>
        </p:spPr>
        <p:txBody>
          <a:bodyPr lIns="0" tIns="0" rIns="0" bIns="0" rtlCol="0" anchor="t">
            <a:spAutoFit/>
          </a:bodyPr>
          <a:lstStyle/>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Trained using Cross-Entropy Loss</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Higher initial loss due to sequential prediction complexity</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Learns short-term eating behavior</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PCA shows structured food embedding space</a:t>
            </a:r>
          </a:p>
          <a:p>
            <a:pPr algn="l">
              <a:lnSpc>
                <a:spcPts val="3229"/>
              </a:lnSpc>
            </a:pPr>
            <a:endParaRPr lang="en-US" sz="2691">
              <a:solidFill>
                <a:srgbClr val="000000"/>
              </a:solidFill>
              <a:latin typeface="Times New Roman"/>
              <a:ea typeface="Times New Roman"/>
              <a:cs typeface="Times New Roman"/>
              <a:sym typeface="Times New Roman"/>
            </a:endParaRPr>
          </a:p>
        </p:txBody>
      </p:sp>
      <p:grpSp>
        <p:nvGrpSpPr>
          <p:cNvPr id="15" name="Group 15"/>
          <p:cNvGrpSpPr/>
          <p:nvPr/>
        </p:nvGrpSpPr>
        <p:grpSpPr>
          <a:xfrm>
            <a:off x="1257300" y="9534525"/>
            <a:ext cx="4114800" cy="547688"/>
            <a:chOff x="0" y="0"/>
            <a:chExt cx="5486400" cy="730250"/>
          </a:xfrm>
        </p:grpSpPr>
        <p:sp>
          <p:nvSpPr>
            <p:cNvPr id="16" name="Freeform 16"/>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7" name="TextBox 17"/>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8" name="TextBox 18"/>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38</a:t>
              </a:r>
            </a:p>
          </p:txBody>
        </p:sp>
      </p:grpSp>
      <p:sp>
        <p:nvSpPr>
          <p:cNvPr id="11" name="Freeform 11"/>
          <p:cNvSpPr/>
          <p:nvPr/>
        </p:nvSpPr>
        <p:spPr>
          <a:xfrm>
            <a:off x="8677123" y="3622162"/>
            <a:ext cx="8353577" cy="5649107"/>
          </a:xfrm>
          <a:custGeom>
            <a:avLst/>
            <a:gdLst/>
            <a:ahLst/>
            <a:cxnLst/>
            <a:rect l="l" t="t" r="r" b="b"/>
            <a:pathLst>
              <a:path w="8353577" h="5649107">
                <a:moveTo>
                  <a:pt x="0" y="0"/>
                </a:moveTo>
                <a:lnTo>
                  <a:pt x="8353577" y="0"/>
                </a:lnTo>
                <a:lnTo>
                  <a:pt x="8353577" y="5649106"/>
                </a:lnTo>
                <a:lnTo>
                  <a:pt x="0" y="5649106"/>
                </a:lnTo>
                <a:lnTo>
                  <a:pt x="0" y="0"/>
                </a:lnTo>
                <a:close/>
              </a:path>
            </a:pathLst>
          </a:custGeom>
          <a:blipFill>
            <a:blip r:embed="rId3"/>
            <a:stretch>
              <a:fillRect/>
            </a:stretch>
          </a:blipFill>
        </p:spPr>
      </p:sp>
      <p:sp>
        <p:nvSpPr>
          <p:cNvPr id="12" name="TextBox 12"/>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Hybrid Recommendation Model – Performance</a:t>
            </a:r>
          </a:p>
        </p:txBody>
      </p:sp>
      <p:sp>
        <p:nvSpPr>
          <p:cNvPr id="13" name="TextBox 13"/>
          <p:cNvSpPr txBox="1"/>
          <p:nvPr/>
        </p:nvSpPr>
        <p:spPr>
          <a:xfrm>
            <a:off x="1257300" y="2936050"/>
            <a:ext cx="10142666" cy="2061665"/>
          </a:xfrm>
          <a:prstGeom prst="rect">
            <a:avLst/>
          </a:prstGeom>
        </p:spPr>
        <p:txBody>
          <a:bodyPr lIns="0" tIns="0" rIns="0" bIns="0" rtlCol="0" anchor="t">
            <a:spAutoFit/>
          </a:bodyPr>
          <a:lstStyle/>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Hybrid model combines MF + Sequence + Content scores</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Not trained directly</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Pseudo-loss used for evaluation</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Shows smoother and more stable convergence</a:t>
            </a:r>
          </a:p>
          <a:p>
            <a:pPr algn="l">
              <a:lnSpc>
                <a:spcPts val="3229"/>
              </a:lnSpc>
            </a:pPr>
            <a:endParaRPr lang="en-US" sz="2691">
              <a:solidFill>
                <a:srgbClr val="000000"/>
              </a:solidFill>
              <a:latin typeface="Times New Roman"/>
              <a:ea typeface="Times New Roman"/>
              <a:cs typeface="Times New Roman"/>
              <a:sym typeface="Times New Roman"/>
            </a:endParaRPr>
          </a:p>
        </p:txBody>
      </p:sp>
      <p:grpSp>
        <p:nvGrpSpPr>
          <p:cNvPr id="14" name="Group 14"/>
          <p:cNvGrpSpPr/>
          <p:nvPr/>
        </p:nvGrpSpPr>
        <p:grpSpPr>
          <a:xfrm>
            <a:off x="1257300" y="9534525"/>
            <a:ext cx="4114800" cy="547688"/>
            <a:chOff x="0" y="0"/>
            <a:chExt cx="5486400" cy="730250"/>
          </a:xfrm>
        </p:grpSpPr>
        <p:sp>
          <p:nvSpPr>
            <p:cNvPr id="15" name="Freeform 1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6" name="TextBox 16"/>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39</a:t>
              </a:r>
            </a:p>
          </p:txBody>
        </p:sp>
      </p:grpSp>
      <p:sp>
        <p:nvSpPr>
          <p:cNvPr id="11" name="TextBox 11"/>
          <p:cNvSpPr txBox="1"/>
          <p:nvPr/>
        </p:nvSpPr>
        <p:spPr>
          <a:xfrm>
            <a:off x="1257300" y="2936050"/>
            <a:ext cx="10142666" cy="2895600"/>
          </a:xfrm>
          <a:prstGeom prst="rect">
            <a:avLst/>
          </a:prstGeom>
        </p:spPr>
        <p:txBody>
          <a:bodyPr lIns="0" tIns="0" rIns="0" bIns="0" rtlCol="0" anchor="t">
            <a:spAutoFit/>
          </a:bodyPr>
          <a:lstStyle/>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MF Loss: Binary Cross-Entropy</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Sequence Loss: Cross-Entropy</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Hybrid Loss:</a:t>
            </a:r>
          </a:p>
          <a:p>
            <a:pPr algn="l">
              <a:lnSpc>
                <a:spcPts val="3229"/>
              </a:lnSpc>
            </a:pPr>
            <a:endParaRPr lang="en-US" sz="2691">
              <a:solidFill>
                <a:srgbClr val="000000"/>
              </a:solidFill>
              <a:latin typeface="Times New Roman"/>
              <a:ea typeface="Times New Roman"/>
              <a:cs typeface="Times New Roman"/>
              <a:sym typeface="Times New Roman"/>
            </a:endParaRPr>
          </a:p>
          <a:p>
            <a:pPr algn="l">
              <a:lnSpc>
                <a:spcPts val="3229"/>
              </a:lnSpc>
            </a:pPr>
            <a:endParaRPr lang="en-US" sz="2691">
              <a:solidFill>
                <a:srgbClr val="000000"/>
              </a:solidFill>
              <a:latin typeface="Times New Roman"/>
              <a:ea typeface="Times New Roman"/>
              <a:cs typeface="Times New Roman"/>
              <a:sym typeface="Times New Roman"/>
            </a:endParaRP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Hybrid loss used only for visualization</a:t>
            </a:r>
          </a:p>
          <a:p>
            <a:pPr algn="l">
              <a:lnSpc>
                <a:spcPts val="3229"/>
              </a:lnSpc>
            </a:pPr>
            <a:endParaRPr lang="en-US" sz="2691">
              <a:solidFill>
                <a:srgbClr val="000000"/>
              </a:solidFill>
              <a:latin typeface="Times New Roman"/>
              <a:ea typeface="Times New Roman"/>
              <a:cs typeface="Times New Roman"/>
              <a:sym typeface="Times New Roman"/>
            </a:endParaRPr>
          </a:p>
        </p:txBody>
      </p:sp>
      <p:sp>
        <p:nvSpPr>
          <p:cNvPr id="12" name="Freeform 12"/>
          <p:cNvSpPr/>
          <p:nvPr/>
        </p:nvSpPr>
        <p:spPr>
          <a:xfrm>
            <a:off x="3777859" y="4022456"/>
            <a:ext cx="4166651" cy="751363"/>
          </a:xfrm>
          <a:custGeom>
            <a:avLst/>
            <a:gdLst/>
            <a:ahLst/>
            <a:cxnLst/>
            <a:rect l="l" t="t" r="r" b="b"/>
            <a:pathLst>
              <a:path w="4166651" h="751363">
                <a:moveTo>
                  <a:pt x="0" y="0"/>
                </a:moveTo>
                <a:lnTo>
                  <a:pt x="4166651" y="0"/>
                </a:lnTo>
                <a:lnTo>
                  <a:pt x="4166651" y="751364"/>
                </a:lnTo>
                <a:lnTo>
                  <a:pt x="0" y="751364"/>
                </a:lnTo>
                <a:lnTo>
                  <a:pt x="0" y="0"/>
                </a:lnTo>
                <a:close/>
              </a:path>
            </a:pathLst>
          </a:custGeom>
          <a:blipFill>
            <a:blip r:embed="rId3"/>
            <a:stretch>
              <a:fillRect/>
            </a:stretch>
          </a:blipFill>
        </p:spPr>
      </p:sp>
      <p:sp>
        <p:nvSpPr>
          <p:cNvPr id="13" name="Freeform 13"/>
          <p:cNvSpPr/>
          <p:nvPr/>
        </p:nvSpPr>
        <p:spPr>
          <a:xfrm>
            <a:off x="4442480" y="5669700"/>
            <a:ext cx="5715083" cy="3864825"/>
          </a:xfrm>
          <a:custGeom>
            <a:avLst/>
            <a:gdLst/>
            <a:ahLst/>
            <a:cxnLst/>
            <a:rect l="l" t="t" r="r" b="b"/>
            <a:pathLst>
              <a:path w="5715083" h="3864825">
                <a:moveTo>
                  <a:pt x="0" y="0"/>
                </a:moveTo>
                <a:lnTo>
                  <a:pt x="5715083" y="0"/>
                </a:lnTo>
                <a:lnTo>
                  <a:pt x="5715083" y="3864825"/>
                </a:lnTo>
                <a:lnTo>
                  <a:pt x="0" y="3864825"/>
                </a:lnTo>
                <a:lnTo>
                  <a:pt x="0" y="0"/>
                </a:lnTo>
                <a:close/>
              </a:path>
            </a:pathLst>
          </a:custGeom>
          <a:blipFill>
            <a:blip r:embed="rId4"/>
            <a:stretch>
              <a:fillRect/>
            </a:stretch>
          </a:blipFill>
        </p:spPr>
      </p:sp>
      <p:sp>
        <p:nvSpPr>
          <p:cNvPr id="14" name="Freeform 14"/>
          <p:cNvSpPr/>
          <p:nvPr/>
        </p:nvSpPr>
        <p:spPr>
          <a:xfrm>
            <a:off x="10877468" y="2888077"/>
            <a:ext cx="6381832" cy="4267850"/>
          </a:xfrm>
          <a:custGeom>
            <a:avLst/>
            <a:gdLst/>
            <a:ahLst/>
            <a:cxnLst/>
            <a:rect l="l" t="t" r="r" b="b"/>
            <a:pathLst>
              <a:path w="6381832" h="4267850">
                <a:moveTo>
                  <a:pt x="0" y="0"/>
                </a:moveTo>
                <a:lnTo>
                  <a:pt x="6381832" y="0"/>
                </a:lnTo>
                <a:lnTo>
                  <a:pt x="6381832" y="4267851"/>
                </a:lnTo>
                <a:lnTo>
                  <a:pt x="0" y="4267851"/>
                </a:lnTo>
                <a:lnTo>
                  <a:pt x="0" y="0"/>
                </a:lnTo>
                <a:close/>
              </a:path>
            </a:pathLst>
          </a:custGeom>
          <a:blipFill>
            <a:blip r:embed="rId5"/>
            <a:stretch>
              <a:fillRect/>
            </a:stretch>
          </a:blipFill>
        </p:spPr>
      </p:sp>
      <p:sp>
        <p:nvSpPr>
          <p:cNvPr id="15" name="TextBox 15"/>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Loss Function Summary</a:t>
            </a:r>
          </a:p>
        </p:txBody>
      </p:sp>
      <p:grpSp>
        <p:nvGrpSpPr>
          <p:cNvPr id="16" name="Group 16"/>
          <p:cNvGrpSpPr/>
          <p:nvPr/>
        </p:nvGrpSpPr>
        <p:grpSpPr>
          <a:xfrm>
            <a:off x="1257300" y="9534525"/>
            <a:ext cx="4114800" cy="547688"/>
            <a:chOff x="0" y="0"/>
            <a:chExt cx="5486400" cy="730250"/>
          </a:xfrm>
        </p:grpSpPr>
        <p:sp>
          <p:nvSpPr>
            <p:cNvPr id="17" name="Freeform 1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8" name="TextBox 18"/>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9" name="TextBox 19"/>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40</a:t>
              </a:r>
            </a:p>
          </p:txBody>
        </p:sp>
      </p:grpSp>
      <p:sp>
        <p:nvSpPr>
          <p:cNvPr id="11" name="Freeform 11"/>
          <p:cNvSpPr/>
          <p:nvPr/>
        </p:nvSpPr>
        <p:spPr>
          <a:xfrm>
            <a:off x="12230100" y="2588382"/>
            <a:ext cx="5029200" cy="3465476"/>
          </a:xfrm>
          <a:custGeom>
            <a:avLst/>
            <a:gdLst/>
            <a:ahLst/>
            <a:cxnLst/>
            <a:rect l="l" t="t" r="r" b="b"/>
            <a:pathLst>
              <a:path w="5029200" h="3465476">
                <a:moveTo>
                  <a:pt x="0" y="0"/>
                </a:moveTo>
                <a:lnTo>
                  <a:pt x="5029200" y="0"/>
                </a:lnTo>
                <a:lnTo>
                  <a:pt x="5029200" y="3465476"/>
                </a:lnTo>
                <a:lnTo>
                  <a:pt x="0" y="3465476"/>
                </a:lnTo>
                <a:lnTo>
                  <a:pt x="0" y="0"/>
                </a:lnTo>
                <a:close/>
              </a:path>
            </a:pathLst>
          </a:custGeom>
          <a:blipFill>
            <a:blip r:embed="rId3"/>
            <a:stretch>
              <a:fillRect/>
            </a:stretch>
          </a:blipFill>
        </p:spPr>
      </p:sp>
      <p:sp>
        <p:nvSpPr>
          <p:cNvPr id="12" name="Freeform 12"/>
          <p:cNvSpPr/>
          <p:nvPr/>
        </p:nvSpPr>
        <p:spPr>
          <a:xfrm>
            <a:off x="12230100" y="5934669"/>
            <a:ext cx="5029200" cy="3465476"/>
          </a:xfrm>
          <a:custGeom>
            <a:avLst/>
            <a:gdLst/>
            <a:ahLst/>
            <a:cxnLst/>
            <a:rect l="l" t="t" r="r" b="b"/>
            <a:pathLst>
              <a:path w="5029200" h="3465476">
                <a:moveTo>
                  <a:pt x="0" y="0"/>
                </a:moveTo>
                <a:lnTo>
                  <a:pt x="5029200" y="0"/>
                </a:lnTo>
                <a:lnTo>
                  <a:pt x="5029200" y="3465476"/>
                </a:lnTo>
                <a:lnTo>
                  <a:pt x="0" y="3465476"/>
                </a:lnTo>
                <a:lnTo>
                  <a:pt x="0" y="0"/>
                </a:lnTo>
                <a:close/>
              </a:path>
            </a:pathLst>
          </a:custGeom>
          <a:blipFill>
            <a:blip r:embed="rId4"/>
            <a:stretch>
              <a:fillRect/>
            </a:stretch>
          </a:blipFill>
        </p:spPr>
      </p:sp>
      <p:sp>
        <p:nvSpPr>
          <p:cNvPr id="13" name="Freeform 13"/>
          <p:cNvSpPr/>
          <p:nvPr/>
        </p:nvSpPr>
        <p:spPr>
          <a:xfrm>
            <a:off x="943612" y="6053858"/>
            <a:ext cx="5590940" cy="3123938"/>
          </a:xfrm>
          <a:custGeom>
            <a:avLst/>
            <a:gdLst/>
            <a:ahLst/>
            <a:cxnLst/>
            <a:rect l="l" t="t" r="r" b="b"/>
            <a:pathLst>
              <a:path w="5590940" h="3123938">
                <a:moveTo>
                  <a:pt x="0" y="0"/>
                </a:moveTo>
                <a:lnTo>
                  <a:pt x="5590940" y="0"/>
                </a:lnTo>
                <a:lnTo>
                  <a:pt x="5590940" y="3123938"/>
                </a:lnTo>
                <a:lnTo>
                  <a:pt x="0" y="3123938"/>
                </a:lnTo>
                <a:lnTo>
                  <a:pt x="0" y="0"/>
                </a:lnTo>
                <a:close/>
              </a:path>
            </a:pathLst>
          </a:custGeom>
          <a:blipFill>
            <a:blip r:embed="rId5"/>
            <a:stretch>
              <a:fillRect/>
            </a:stretch>
          </a:blipFill>
        </p:spPr>
      </p:sp>
      <p:sp>
        <p:nvSpPr>
          <p:cNvPr id="14" name="Freeform 14"/>
          <p:cNvSpPr/>
          <p:nvPr/>
        </p:nvSpPr>
        <p:spPr>
          <a:xfrm>
            <a:off x="6887521" y="6053858"/>
            <a:ext cx="5553667" cy="3123938"/>
          </a:xfrm>
          <a:custGeom>
            <a:avLst/>
            <a:gdLst/>
            <a:ahLst/>
            <a:cxnLst/>
            <a:rect l="l" t="t" r="r" b="b"/>
            <a:pathLst>
              <a:path w="5553667" h="3123938">
                <a:moveTo>
                  <a:pt x="0" y="0"/>
                </a:moveTo>
                <a:lnTo>
                  <a:pt x="5553666" y="0"/>
                </a:lnTo>
                <a:lnTo>
                  <a:pt x="5553666" y="3123938"/>
                </a:lnTo>
                <a:lnTo>
                  <a:pt x="0" y="3123938"/>
                </a:lnTo>
                <a:lnTo>
                  <a:pt x="0" y="0"/>
                </a:lnTo>
                <a:close/>
              </a:path>
            </a:pathLst>
          </a:custGeom>
          <a:blipFill>
            <a:blip r:embed="rId6"/>
            <a:stretch>
              <a:fillRect/>
            </a:stretch>
          </a:blipFill>
        </p:spPr>
      </p:sp>
      <p:sp>
        <p:nvSpPr>
          <p:cNvPr id="15" name="TextBox 15"/>
          <p:cNvSpPr txBox="1"/>
          <p:nvPr/>
        </p:nvSpPr>
        <p:spPr>
          <a:xfrm>
            <a:off x="1257300" y="3236779"/>
            <a:ext cx="10142666" cy="2076450"/>
          </a:xfrm>
          <a:prstGeom prst="rect">
            <a:avLst/>
          </a:prstGeom>
        </p:spPr>
        <p:txBody>
          <a:bodyPr lIns="0" tIns="0" rIns="0" bIns="0" rtlCol="0" anchor="t">
            <a:spAutoFit/>
          </a:bodyPr>
          <a:lstStyle/>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User–food interactions modeled as bipartite graph</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Shows food popularity skew</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Shows variation in user activity</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Justifies collaborative filtering</a:t>
            </a:r>
          </a:p>
        </p:txBody>
      </p:sp>
      <p:sp>
        <p:nvSpPr>
          <p:cNvPr id="16" name="TextBox 16"/>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User–Food Interaction Analysis</a:t>
            </a:r>
          </a:p>
        </p:txBody>
      </p:sp>
      <p:grpSp>
        <p:nvGrpSpPr>
          <p:cNvPr id="17" name="Group 17"/>
          <p:cNvGrpSpPr/>
          <p:nvPr/>
        </p:nvGrpSpPr>
        <p:grpSpPr>
          <a:xfrm>
            <a:off x="1257300" y="9534525"/>
            <a:ext cx="4114800" cy="547688"/>
            <a:chOff x="0" y="0"/>
            <a:chExt cx="5486400" cy="730250"/>
          </a:xfrm>
        </p:grpSpPr>
        <p:sp>
          <p:nvSpPr>
            <p:cNvPr id="18" name="Freeform 18"/>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9" name="TextBox 19"/>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20" name="TextBox 20"/>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41</a:t>
              </a:r>
            </a:p>
          </p:txBody>
        </p:sp>
      </p:grpSp>
      <p:sp>
        <p:nvSpPr>
          <p:cNvPr id="11" name="Freeform 11"/>
          <p:cNvSpPr/>
          <p:nvPr/>
        </p:nvSpPr>
        <p:spPr>
          <a:xfrm>
            <a:off x="1099653" y="5009685"/>
            <a:ext cx="7938315" cy="4524840"/>
          </a:xfrm>
          <a:custGeom>
            <a:avLst/>
            <a:gdLst/>
            <a:ahLst/>
            <a:cxnLst/>
            <a:rect l="l" t="t" r="r" b="b"/>
            <a:pathLst>
              <a:path w="7938315" h="4524840">
                <a:moveTo>
                  <a:pt x="0" y="0"/>
                </a:moveTo>
                <a:lnTo>
                  <a:pt x="7938315" y="0"/>
                </a:lnTo>
                <a:lnTo>
                  <a:pt x="7938315" y="4524840"/>
                </a:lnTo>
                <a:lnTo>
                  <a:pt x="0" y="4524840"/>
                </a:lnTo>
                <a:lnTo>
                  <a:pt x="0" y="0"/>
                </a:lnTo>
                <a:close/>
              </a:path>
            </a:pathLst>
          </a:custGeom>
          <a:blipFill>
            <a:blip r:embed="rId3"/>
            <a:stretch>
              <a:fillRect/>
            </a:stretch>
          </a:blipFill>
        </p:spPr>
      </p:sp>
      <p:sp>
        <p:nvSpPr>
          <p:cNvPr id="12" name="Freeform 12"/>
          <p:cNvSpPr/>
          <p:nvPr/>
        </p:nvSpPr>
        <p:spPr>
          <a:xfrm>
            <a:off x="9108276" y="5009685"/>
            <a:ext cx="8080071" cy="4524840"/>
          </a:xfrm>
          <a:custGeom>
            <a:avLst/>
            <a:gdLst/>
            <a:ahLst/>
            <a:cxnLst/>
            <a:rect l="l" t="t" r="r" b="b"/>
            <a:pathLst>
              <a:path w="8080071" h="4524840">
                <a:moveTo>
                  <a:pt x="0" y="0"/>
                </a:moveTo>
                <a:lnTo>
                  <a:pt x="8080071" y="0"/>
                </a:lnTo>
                <a:lnTo>
                  <a:pt x="8080071" y="4524840"/>
                </a:lnTo>
                <a:lnTo>
                  <a:pt x="0" y="4524840"/>
                </a:lnTo>
                <a:lnTo>
                  <a:pt x="0" y="0"/>
                </a:lnTo>
                <a:close/>
              </a:path>
            </a:pathLst>
          </a:custGeom>
          <a:blipFill>
            <a:blip r:embed="rId4"/>
            <a:stretch>
              <a:fillRect/>
            </a:stretch>
          </a:blipFill>
        </p:spPr>
      </p:sp>
      <p:sp>
        <p:nvSpPr>
          <p:cNvPr id="13" name="TextBox 13"/>
          <p:cNvSpPr txBox="1"/>
          <p:nvPr/>
        </p:nvSpPr>
        <p:spPr>
          <a:xfrm>
            <a:off x="1257300" y="3236779"/>
            <a:ext cx="10142666" cy="1562100"/>
          </a:xfrm>
          <a:prstGeom prst="rect">
            <a:avLst/>
          </a:prstGeom>
        </p:spPr>
        <p:txBody>
          <a:bodyPr lIns="0" tIns="0" rIns="0" bIns="0" rtlCol="0" anchor="t">
            <a:spAutoFit/>
          </a:bodyPr>
          <a:lstStyle/>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Centrality distribution highlights popular food items</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Dot-product distribution shows MF scoring behavior</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Confirms effective interaction modeling</a:t>
            </a:r>
          </a:p>
        </p:txBody>
      </p:sp>
      <p:sp>
        <p:nvSpPr>
          <p:cNvPr id="14" name="TextBox 14"/>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Item Centrality &amp; Popularity Analysis</a:t>
            </a:r>
          </a:p>
        </p:txBody>
      </p:sp>
      <p:grpSp>
        <p:nvGrpSpPr>
          <p:cNvPr id="15" name="Group 15"/>
          <p:cNvGrpSpPr/>
          <p:nvPr/>
        </p:nvGrpSpPr>
        <p:grpSpPr>
          <a:xfrm>
            <a:off x="1257300" y="9534525"/>
            <a:ext cx="4114800" cy="547688"/>
            <a:chOff x="0" y="0"/>
            <a:chExt cx="5486400" cy="730250"/>
          </a:xfrm>
        </p:grpSpPr>
        <p:sp>
          <p:nvSpPr>
            <p:cNvPr id="16" name="Freeform 16"/>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7" name="TextBox 17"/>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8" name="TextBox 18"/>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sp>
        <p:nvSpPr>
          <p:cNvPr id="5" name="Freeform 5"/>
          <p:cNvSpPr/>
          <p:nvPr/>
        </p:nvSpPr>
        <p:spPr>
          <a:xfrm>
            <a:off x="10592405" y="6200615"/>
            <a:ext cx="6438295" cy="3533015"/>
          </a:xfrm>
          <a:custGeom>
            <a:avLst/>
            <a:gdLst/>
            <a:ahLst/>
            <a:cxnLst/>
            <a:rect l="l" t="t" r="r" b="b"/>
            <a:pathLst>
              <a:path w="6438295" h="3533015">
                <a:moveTo>
                  <a:pt x="0" y="0"/>
                </a:moveTo>
                <a:lnTo>
                  <a:pt x="6438295" y="0"/>
                </a:lnTo>
                <a:lnTo>
                  <a:pt x="6438295" y="3533014"/>
                </a:lnTo>
                <a:lnTo>
                  <a:pt x="0" y="3533014"/>
                </a:lnTo>
                <a:lnTo>
                  <a:pt x="0" y="0"/>
                </a:lnTo>
                <a:close/>
              </a:path>
            </a:pathLst>
          </a:custGeom>
          <a:blipFill>
            <a:blip r:embed="rId3"/>
            <a:stretch>
              <a:fillRect/>
            </a:stretch>
          </a:blipFill>
        </p:spPr>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42</a:t>
              </a:r>
            </a:p>
          </p:txBody>
        </p:sp>
      </p:grpSp>
      <p:sp>
        <p:nvSpPr>
          <p:cNvPr id="12" name="Freeform 12"/>
          <p:cNvSpPr/>
          <p:nvPr/>
        </p:nvSpPr>
        <p:spPr>
          <a:xfrm>
            <a:off x="2037235" y="4885809"/>
            <a:ext cx="7648040" cy="4196862"/>
          </a:xfrm>
          <a:custGeom>
            <a:avLst/>
            <a:gdLst/>
            <a:ahLst/>
            <a:cxnLst/>
            <a:rect l="l" t="t" r="r" b="b"/>
            <a:pathLst>
              <a:path w="7648040" h="4196862">
                <a:moveTo>
                  <a:pt x="0" y="0"/>
                </a:moveTo>
                <a:lnTo>
                  <a:pt x="7648040" y="0"/>
                </a:lnTo>
                <a:lnTo>
                  <a:pt x="7648040" y="4196862"/>
                </a:lnTo>
                <a:lnTo>
                  <a:pt x="0" y="4196862"/>
                </a:lnTo>
                <a:lnTo>
                  <a:pt x="0" y="0"/>
                </a:lnTo>
                <a:close/>
              </a:path>
            </a:pathLst>
          </a:custGeom>
          <a:blipFill>
            <a:blip r:embed="rId4"/>
            <a:stretch>
              <a:fillRect/>
            </a:stretch>
          </a:blipFill>
        </p:spPr>
      </p:sp>
      <p:sp>
        <p:nvSpPr>
          <p:cNvPr id="13" name="TextBox 13"/>
          <p:cNvSpPr txBox="1"/>
          <p:nvPr/>
        </p:nvSpPr>
        <p:spPr>
          <a:xfrm>
            <a:off x="1257300" y="3071880"/>
            <a:ext cx="10142666" cy="1362075"/>
          </a:xfrm>
          <a:prstGeom prst="rect">
            <a:avLst/>
          </a:prstGeom>
        </p:spPr>
        <p:txBody>
          <a:bodyPr lIns="0" tIns="0" rIns="0" bIns="0" rtlCol="0" anchor="t">
            <a:spAutoFit/>
          </a:bodyPr>
          <a:lstStyle/>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Nutrient values show realistic distributions</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Supports health-aware filtering</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Prevents extreme bias in recommendations</a:t>
            </a:r>
          </a:p>
        </p:txBody>
      </p:sp>
      <p:sp>
        <p:nvSpPr>
          <p:cNvPr id="14" name="TextBox 14"/>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Nutrition Feature Distribution</a:t>
            </a:r>
          </a:p>
        </p:txBody>
      </p:sp>
      <p:sp>
        <p:nvSpPr>
          <p:cNvPr id="15" name="Freeform 15"/>
          <p:cNvSpPr/>
          <p:nvPr/>
        </p:nvSpPr>
        <p:spPr>
          <a:xfrm>
            <a:off x="10592405" y="2515200"/>
            <a:ext cx="6438295" cy="3533015"/>
          </a:xfrm>
          <a:custGeom>
            <a:avLst/>
            <a:gdLst/>
            <a:ahLst/>
            <a:cxnLst/>
            <a:rect l="l" t="t" r="r" b="b"/>
            <a:pathLst>
              <a:path w="6438295" h="3533015">
                <a:moveTo>
                  <a:pt x="0" y="0"/>
                </a:moveTo>
                <a:lnTo>
                  <a:pt x="6438295" y="0"/>
                </a:lnTo>
                <a:lnTo>
                  <a:pt x="6438295" y="3533015"/>
                </a:lnTo>
                <a:lnTo>
                  <a:pt x="0" y="3533015"/>
                </a:lnTo>
                <a:lnTo>
                  <a:pt x="0" y="0"/>
                </a:lnTo>
                <a:close/>
              </a:path>
            </a:pathLst>
          </a:custGeom>
          <a:blipFill>
            <a:blip r:embed="rId5"/>
            <a:stretch>
              <a:fillRect/>
            </a:stretch>
          </a:blipFill>
        </p:spPr>
      </p:sp>
      <p:grpSp>
        <p:nvGrpSpPr>
          <p:cNvPr id="16" name="Group 16"/>
          <p:cNvGrpSpPr/>
          <p:nvPr/>
        </p:nvGrpSpPr>
        <p:grpSpPr>
          <a:xfrm>
            <a:off x="1257300" y="9534525"/>
            <a:ext cx="4114800" cy="547688"/>
            <a:chOff x="0" y="0"/>
            <a:chExt cx="5486400" cy="730250"/>
          </a:xfrm>
        </p:grpSpPr>
        <p:sp>
          <p:nvSpPr>
            <p:cNvPr id="17" name="Freeform 1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8" name="TextBox 18"/>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9" name="TextBox 19"/>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43</a:t>
              </a:r>
            </a:p>
          </p:txBody>
        </p:sp>
      </p:grpSp>
      <p:sp>
        <p:nvSpPr>
          <p:cNvPr id="11" name="Freeform 11"/>
          <p:cNvSpPr/>
          <p:nvPr/>
        </p:nvSpPr>
        <p:spPr>
          <a:xfrm>
            <a:off x="10991888" y="3090930"/>
            <a:ext cx="6349012" cy="6356958"/>
          </a:xfrm>
          <a:custGeom>
            <a:avLst/>
            <a:gdLst/>
            <a:ahLst/>
            <a:cxnLst/>
            <a:rect l="l" t="t" r="r" b="b"/>
            <a:pathLst>
              <a:path w="6349012" h="6356958">
                <a:moveTo>
                  <a:pt x="0" y="0"/>
                </a:moveTo>
                <a:lnTo>
                  <a:pt x="6349012" y="0"/>
                </a:lnTo>
                <a:lnTo>
                  <a:pt x="6349012" y="6356958"/>
                </a:lnTo>
                <a:lnTo>
                  <a:pt x="0" y="6356958"/>
                </a:lnTo>
                <a:lnTo>
                  <a:pt x="0" y="0"/>
                </a:lnTo>
                <a:close/>
              </a:path>
            </a:pathLst>
          </a:custGeom>
          <a:blipFill>
            <a:blip r:embed="rId3"/>
            <a:stretch>
              <a:fillRect/>
            </a:stretch>
          </a:blipFill>
        </p:spPr>
      </p:sp>
      <p:sp>
        <p:nvSpPr>
          <p:cNvPr id="12" name="TextBox 12"/>
          <p:cNvSpPr txBox="1"/>
          <p:nvPr/>
        </p:nvSpPr>
        <p:spPr>
          <a:xfrm>
            <a:off x="1257300" y="3071880"/>
            <a:ext cx="10142666" cy="1362075"/>
          </a:xfrm>
          <a:prstGeom prst="rect">
            <a:avLst/>
          </a:prstGeom>
        </p:spPr>
        <p:txBody>
          <a:bodyPr lIns="0" tIns="0" rIns="0" bIns="0" rtlCol="0" anchor="t">
            <a:spAutoFit/>
          </a:bodyPr>
          <a:lstStyle/>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Correlation heatmap reveals relationships between nutrients</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PCA shows reduced dimensional representation</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Confirms non-redundant nutritional features</a:t>
            </a:r>
          </a:p>
        </p:txBody>
      </p:sp>
      <p:sp>
        <p:nvSpPr>
          <p:cNvPr id="13" name="Freeform 13"/>
          <p:cNvSpPr/>
          <p:nvPr/>
        </p:nvSpPr>
        <p:spPr>
          <a:xfrm>
            <a:off x="3314700" y="4710180"/>
            <a:ext cx="5829300" cy="4495848"/>
          </a:xfrm>
          <a:custGeom>
            <a:avLst/>
            <a:gdLst/>
            <a:ahLst/>
            <a:cxnLst/>
            <a:rect l="l" t="t" r="r" b="b"/>
            <a:pathLst>
              <a:path w="5829300" h="4495848">
                <a:moveTo>
                  <a:pt x="0" y="0"/>
                </a:moveTo>
                <a:lnTo>
                  <a:pt x="5829300" y="0"/>
                </a:lnTo>
                <a:lnTo>
                  <a:pt x="5829300" y="4495848"/>
                </a:lnTo>
                <a:lnTo>
                  <a:pt x="0" y="4495848"/>
                </a:lnTo>
                <a:lnTo>
                  <a:pt x="0" y="0"/>
                </a:lnTo>
                <a:close/>
              </a:path>
            </a:pathLst>
          </a:custGeom>
          <a:blipFill>
            <a:blip r:embed="rId4"/>
            <a:stretch>
              <a:fillRect/>
            </a:stretch>
          </a:blipFill>
        </p:spPr>
      </p:sp>
      <p:sp>
        <p:nvSpPr>
          <p:cNvPr id="14" name="TextBox 14"/>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Nutrition Feature Correlation</a:t>
            </a:r>
          </a:p>
        </p:txBody>
      </p:sp>
      <p:grpSp>
        <p:nvGrpSpPr>
          <p:cNvPr id="15" name="Group 15"/>
          <p:cNvGrpSpPr/>
          <p:nvPr/>
        </p:nvGrpSpPr>
        <p:grpSpPr>
          <a:xfrm>
            <a:off x="1257300" y="9534525"/>
            <a:ext cx="4114800" cy="547688"/>
            <a:chOff x="0" y="0"/>
            <a:chExt cx="5486400" cy="730250"/>
          </a:xfrm>
        </p:grpSpPr>
        <p:sp>
          <p:nvSpPr>
            <p:cNvPr id="16" name="Freeform 16"/>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7" name="TextBox 17"/>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8" name="TextBox 18"/>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44</a:t>
              </a:r>
            </a:p>
          </p:txBody>
        </p:sp>
      </p:grpSp>
      <p:sp>
        <p:nvSpPr>
          <p:cNvPr id="11" name="Freeform 11"/>
          <p:cNvSpPr/>
          <p:nvPr/>
        </p:nvSpPr>
        <p:spPr>
          <a:xfrm>
            <a:off x="8065618" y="3519219"/>
            <a:ext cx="9275282" cy="5739081"/>
          </a:xfrm>
          <a:custGeom>
            <a:avLst/>
            <a:gdLst/>
            <a:ahLst/>
            <a:cxnLst/>
            <a:rect l="l" t="t" r="r" b="b"/>
            <a:pathLst>
              <a:path w="9275282" h="5739081">
                <a:moveTo>
                  <a:pt x="0" y="0"/>
                </a:moveTo>
                <a:lnTo>
                  <a:pt x="9275282" y="0"/>
                </a:lnTo>
                <a:lnTo>
                  <a:pt x="9275282" y="5739081"/>
                </a:lnTo>
                <a:lnTo>
                  <a:pt x="0" y="5739081"/>
                </a:lnTo>
                <a:lnTo>
                  <a:pt x="0" y="0"/>
                </a:lnTo>
                <a:close/>
              </a:path>
            </a:pathLst>
          </a:custGeom>
          <a:blipFill>
            <a:blip r:embed="rId3"/>
            <a:stretch>
              <a:fillRect/>
            </a:stretch>
          </a:blipFill>
        </p:spPr>
      </p:sp>
      <p:sp>
        <p:nvSpPr>
          <p:cNvPr id="12" name="TextBox 12"/>
          <p:cNvSpPr txBox="1"/>
          <p:nvPr/>
        </p:nvSpPr>
        <p:spPr>
          <a:xfrm>
            <a:off x="1257300" y="3071880"/>
            <a:ext cx="10142666" cy="1362075"/>
          </a:xfrm>
          <a:prstGeom prst="rect">
            <a:avLst/>
          </a:prstGeom>
        </p:spPr>
        <p:txBody>
          <a:bodyPr lIns="0" tIns="0" rIns="0" bIns="0" rtlCol="0" anchor="t">
            <a:spAutoFit/>
          </a:bodyPr>
          <a:lstStyle/>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Food items distributed across regions</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Enables region-aware recommendations</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Prevents cultural bias</a:t>
            </a:r>
          </a:p>
        </p:txBody>
      </p:sp>
      <p:sp>
        <p:nvSpPr>
          <p:cNvPr id="13" name="TextBox 13"/>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Regional Distribution Analysis</a:t>
            </a:r>
          </a:p>
        </p:txBody>
      </p:sp>
      <p:grpSp>
        <p:nvGrpSpPr>
          <p:cNvPr id="14" name="Group 14"/>
          <p:cNvGrpSpPr/>
          <p:nvPr/>
        </p:nvGrpSpPr>
        <p:grpSpPr>
          <a:xfrm>
            <a:off x="1257300" y="9534525"/>
            <a:ext cx="4114800" cy="547688"/>
            <a:chOff x="0" y="0"/>
            <a:chExt cx="5486400" cy="730250"/>
          </a:xfrm>
        </p:grpSpPr>
        <p:sp>
          <p:nvSpPr>
            <p:cNvPr id="15" name="Freeform 1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6" name="TextBox 16"/>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45</a:t>
              </a:r>
            </a:p>
          </p:txBody>
        </p:sp>
      </p:grpSp>
      <p:sp>
        <p:nvSpPr>
          <p:cNvPr id="11" name="TextBox 11"/>
          <p:cNvSpPr txBox="1"/>
          <p:nvPr/>
        </p:nvSpPr>
        <p:spPr>
          <a:xfrm>
            <a:off x="1257300" y="3071880"/>
            <a:ext cx="10142666" cy="1809750"/>
          </a:xfrm>
          <a:prstGeom prst="rect">
            <a:avLst/>
          </a:prstGeom>
        </p:spPr>
        <p:txBody>
          <a:bodyPr lIns="0" tIns="0" rIns="0" bIns="0" rtlCol="0" anchor="t">
            <a:spAutoFit/>
          </a:bodyPr>
          <a:lstStyle/>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MF: Fast convergence</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Transformer: Captures temporal behavior</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Hybrid: Best stability and balance</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Ensures personalization, health, and safety</a:t>
            </a:r>
          </a:p>
        </p:txBody>
      </p:sp>
      <p:sp>
        <p:nvSpPr>
          <p:cNvPr id="12" name="TextBox 12"/>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Final Results Summary</a:t>
            </a:r>
          </a:p>
        </p:txBody>
      </p:sp>
      <p:sp>
        <p:nvSpPr>
          <p:cNvPr id="13" name="Freeform 13"/>
          <p:cNvSpPr/>
          <p:nvPr/>
        </p:nvSpPr>
        <p:spPr>
          <a:xfrm>
            <a:off x="8369334" y="3202011"/>
            <a:ext cx="8889966" cy="6056289"/>
          </a:xfrm>
          <a:custGeom>
            <a:avLst/>
            <a:gdLst/>
            <a:ahLst/>
            <a:cxnLst/>
            <a:rect l="l" t="t" r="r" b="b"/>
            <a:pathLst>
              <a:path w="8889966" h="6056289">
                <a:moveTo>
                  <a:pt x="0" y="0"/>
                </a:moveTo>
                <a:lnTo>
                  <a:pt x="8889966" y="0"/>
                </a:lnTo>
                <a:lnTo>
                  <a:pt x="8889966" y="6056289"/>
                </a:lnTo>
                <a:lnTo>
                  <a:pt x="0" y="6056289"/>
                </a:lnTo>
                <a:lnTo>
                  <a:pt x="0" y="0"/>
                </a:lnTo>
                <a:close/>
              </a:path>
            </a:pathLst>
          </a:custGeom>
          <a:blipFill>
            <a:blip r:embed="rId3"/>
            <a:stretch>
              <a:fillRect/>
            </a:stretch>
          </a:blipFill>
        </p:spPr>
      </p:sp>
      <p:grpSp>
        <p:nvGrpSpPr>
          <p:cNvPr id="14" name="Group 14"/>
          <p:cNvGrpSpPr/>
          <p:nvPr/>
        </p:nvGrpSpPr>
        <p:grpSpPr>
          <a:xfrm>
            <a:off x="1257300" y="9534525"/>
            <a:ext cx="4114800" cy="547688"/>
            <a:chOff x="0" y="0"/>
            <a:chExt cx="5486400" cy="730250"/>
          </a:xfrm>
        </p:grpSpPr>
        <p:sp>
          <p:nvSpPr>
            <p:cNvPr id="15" name="Freeform 1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6" name="TextBox 16"/>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80300"/>
            <a:chOff x="0" y="0"/>
            <a:chExt cx="21031200" cy="2240400"/>
          </a:xfrm>
        </p:grpSpPr>
        <p:sp>
          <p:nvSpPr>
            <p:cNvPr id="3" name="Freeform 3"/>
            <p:cNvSpPr/>
            <p:nvPr/>
          </p:nvSpPr>
          <p:spPr>
            <a:xfrm>
              <a:off x="0" y="0"/>
              <a:ext cx="21031200" cy="2240400"/>
            </a:xfrm>
            <a:custGeom>
              <a:avLst/>
              <a:gdLst/>
              <a:ahLst/>
              <a:cxnLst/>
              <a:rect l="l" t="t" r="r" b="b"/>
              <a:pathLst>
                <a:path w="21031200" h="2240400">
                  <a:moveTo>
                    <a:pt x="0" y="0"/>
                  </a:moveTo>
                  <a:lnTo>
                    <a:pt x="21031200" y="0"/>
                  </a:lnTo>
                  <a:lnTo>
                    <a:pt x="21031200" y="2240400"/>
                  </a:lnTo>
                  <a:lnTo>
                    <a:pt x="0" y="2240400"/>
                  </a:lnTo>
                  <a:close/>
                </a:path>
              </a:pathLst>
            </a:custGeom>
            <a:solidFill>
              <a:srgbClr val="000000">
                <a:alpha val="0"/>
              </a:srgbClr>
            </a:solidFill>
          </p:spPr>
        </p:sp>
        <p:sp>
          <p:nvSpPr>
            <p:cNvPr id="4" name="TextBox 4"/>
            <p:cNvSpPr txBox="1"/>
            <p:nvPr/>
          </p:nvSpPr>
          <p:spPr>
            <a:xfrm>
              <a:off x="0" y="38100"/>
              <a:ext cx="21031200" cy="2202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Future Scope</a:t>
              </a:r>
            </a:p>
          </p:txBody>
        </p:sp>
      </p:grpSp>
      <p:sp>
        <p:nvSpPr>
          <p:cNvPr id="5" name="TextBox 5"/>
          <p:cNvSpPr txBox="1"/>
          <p:nvPr/>
        </p:nvSpPr>
        <p:spPr>
          <a:xfrm>
            <a:off x="1348725" y="2434639"/>
            <a:ext cx="15590550" cy="6456401"/>
          </a:xfrm>
          <a:prstGeom prst="rect">
            <a:avLst/>
          </a:prstGeom>
        </p:spPr>
        <p:txBody>
          <a:bodyPr lIns="0" tIns="0" rIns="0" bIns="0" rtlCol="0" anchor="t">
            <a:spAutoFit/>
          </a:bodyPr>
          <a:lstStyle/>
          <a:p>
            <a:pPr marL="709228" lvl="1" indent="-354614" algn="l">
              <a:lnSpc>
                <a:spcPts val="3435"/>
              </a:lnSpc>
              <a:buAutoNum type="arabicPeriod"/>
            </a:pPr>
            <a:r>
              <a:rPr lang="en-US" sz="3039" u="sng">
                <a:solidFill>
                  <a:srgbClr val="000000"/>
                </a:solidFill>
                <a:latin typeface="Times New Roman"/>
                <a:ea typeface="Times New Roman"/>
                <a:cs typeface="Times New Roman"/>
                <a:sym typeface="Times New Roman"/>
              </a:rPr>
              <a:t>Family-Centric Meal Planning:</a:t>
            </a:r>
            <a:r>
              <a:rPr lang="en-US" sz="3039">
                <a:solidFill>
                  <a:srgbClr val="000000"/>
                </a:solidFill>
                <a:latin typeface="Times New Roman"/>
                <a:ea typeface="Times New Roman"/>
                <a:cs typeface="Times New Roman"/>
                <a:sym typeface="Times New Roman"/>
              </a:rPr>
              <a:t> The system can be extended to support family-level recommendations by aggregating nutritional needs across different age groups, health conditions, and dietary preferences, enabling balanced meal planning for households.</a:t>
            </a:r>
          </a:p>
          <a:p>
            <a:pPr marL="709228" lvl="1" indent="-354614" algn="l">
              <a:lnSpc>
                <a:spcPts val="3435"/>
              </a:lnSpc>
              <a:buAutoNum type="arabicPeriod"/>
            </a:pPr>
            <a:r>
              <a:rPr lang="en-US" sz="3039" u="sng">
                <a:solidFill>
                  <a:srgbClr val="000000"/>
                </a:solidFill>
                <a:latin typeface="Times New Roman"/>
                <a:ea typeface="Times New Roman"/>
                <a:cs typeface="Times New Roman"/>
                <a:sym typeface="Times New Roman"/>
              </a:rPr>
              <a:t>Complete Meal Scheduling:</a:t>
            </a:r>
            <a:r>
              <a:rPr lang="en-US" sz="3039">
                <a:solidFill>
                  <a:srgbClr val="000000"/>
                </a:solidFill>
                <a:latin typeface="Times New Roman"/>
                <a:ea typeface="Times New Roman"/>
                <a:cs typeface="Times New Roman"/>
                <a:sym typeface="Times New Roman"/>
              </a:rPr>
              <a:t> Future versions can generate structured daily and weekly meal plans (breakfast, lunch, dinner) with calorie and macro-nutrient balancing based on health goals and activity levels.</a:t>
            </a:r>
          </a:p>
          <a:p>
            <a:pPr marL="709228" lvl="1" indent="-354614" algn="l">
              <a:lnSpc>
                <a:spcPts val="3435"/>
              </a:lnSpc>
              <a:buAutoNum type="arabicPeriod"/>
            </a:pPr>
            <a:r>
              <a:rPr lang="en-US" sz="3039" u="sng">
                <a:solidFill>
                  <a:srgbClr val="000000"/>
                </a:solidFill>
                <a:latin typeface="Times New Roman"/>
                <a:ea typeface="Times New Roman"/>
                <a:cs typeface="Times New Roman"/>
                <a:sym typeface="Times New Roman"/>
              </a:rPr>
              <a:t>Integration of Demographic and Lifestyle Data:</a:t>
            </a:r>
            <a:r>
              <a:rPr lang="en-US" sz="3039">
                <a:solidFill>
                  <a:srgbClr val="000000"/>
                </a:solidFill>
                <a:latin typeface="Times New Roman"/>
                <a:ea typeface="Times New Roman"/>
                <a:cs typeface="Times New Roman"/>
                <a:sym typeface="Times New Roman"/>
              </a:rPr>
              <a:t> Incorporating demographic attributes such as age, gender, occupation, and lifestyle patterns can improve personalization and allow more precise nutritional recommendations.</a:t>
            </a:r>
          </a:p>
          <a:p>
            <a:pPr marL="709228" lvl="1" indent="-354614" algn="l">
              <a:lnSpc>
                <a:spcPts val="3435"/>
              </a:lnSpc>
              <a:buAutoNum type="arabicPeriod"/>
            </a:pPr>
            <a:r>
              <a:rPr lang="en-US" sz="3039" u="sng">
                <a:solidFill>
                  <a:srgbClr val="000000"/>
                </a:solidFill>
                <a:latin typeface="Times New Roman"/>
                <a:ea typeface="Times New Roman"/>
                <a:cs typeface="Times New Roman"/>
                <a:sym typeface="Times New Roman"/>
              </a:rPr>
              <a:t>Real-Time Health &amp; Wearable Integration:</a:t>
            </a:r>
            <a:r>
              <a:rPr lang="en-US" sz="3039">
                <a:solidFill>
                  <a:srgbClr val="000000"/>
                </a:solidFill>
                <a:latin typeface="Times New Roman"/>
                <a:ea typeface="Times New Roman"/>
                <a:cs typeface="Times New Roman"/>
                <a:sym typeface="Times New Roman"/>
              </a:rPr>
              <a:t> Integration with wearable devices and health apps can enable dynamic adjustment of meal recommendations based on real-time activity, calorie expenditure, and health metrics.</a:t>
            </a:r>
          </a:p>
          <a:p>
            <a:pPr marL="709228" lvl="1" indent="-354614" algn="l">
              <a:lnSpc>
                <a:spcPts val="3435"/>
              </a:lnSpc>
              <a:buAutoNum type="arabicPeriod"/>
            </a:pPr>
            <a:r>
              <a:rPr lang="en-US" sz="3039" u="sng">
                <a:solidFill>
                  <a:srgbClr val="000000"/>
                </a:solidFill>
                <a:latin typeface="Times New Roman"/>
                <a:ea typeface="Times New Roman"/>
                <a:cs typeface="Times New Roman"/>
                <a:sym typeface="Times New Roman"/>
              </a:rPr>
              <a:t>Explainable and Adaptive Recommendation System:</a:t>
            </a:r>
            <a:r>
              <a:rPr lang="en-US" sz="3039">
                <a:solidFill>
                  <a:srgbClr val="000000"/>
                </a:solidFill>
                <a:latin typeface="Times New Roman"/>
                <a:ea typeface="Times New Roman"/>
                <a:cs typeface="Times New Roman"/>
                <a:sym typeface="Times New Roman"/>
              </a:rPr>
              <a:t> Future improvements can include explainable AI components to justify food recommendations and reinforcement learning mechanisms to adapt recommendations based on user feedback over time.</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46</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Conclusion</a:t>
              </a:r>
            </a:p>
          </p:txBody>
        </p:sp>
      </p:grpSp>
      <p:sp>
        <p:nvSpPr>
          <p:cNvPr id="5" name="TextBox 5"/>
          <p:cNvSpPr txBox="1"/>
          <p:nvPr/>
        </p:nvSpPr>
        <p:spPr>
          <a:xfrm>
            <a:off x="1348725" y="2803188"/>
            <a:ext cx="15590550" cy="6490716"/>
          </a:xfrm>
          <a:prstGeom prst="rect">
            <a:avLst/>
          </a:prstGeom>
        </p:spPr>
        <p:txBody>
          <a:bodyPr lIns="0" tIns="0" rIns="0" bIns="0" rtlCol="0" anchor="t">
            <a:spAutoFit/>
          </a:bodyPr>
          <a:lstStyle/>
          <a:p>
            <a:pPr marL="669610" lvl="1" indent="-334805" algn="l">
              <a:lnSpc>
                <a:spcPts val="3996"/>
              </a:lnSpc>
              <a:buFont typeface="Arial"/>
              <a:buChar char="•"/>
            </a:pPr>
            <a:r>
              <a:rPr lang="en-US" sz="3700">
                <a:solidFill>
                  <a:srgbClr val="000000"/>
                </a:solidFill>
                <a:latin typeface="Times New Roman"/>
                <a:ea typeface="Times New Roman"/>
                <a:cs typeface="Times New Roman"/>
                <a:sym typeface="Times New Roman"/>
              </a:rPr>
              <a:t>Key Findings:</a:t>
            </a:r>
          </a:p>
          <a:p>
            <a:pPr marL="1151183" lvl="2" indent="-383728" algn="l">
              <a:lnSpc>
                <a:spcPts val="3348"/>
              </a:lnSpc>
              <a:buFont typeface="Arial"/>
              <a:buChar char="⚬"/>
            </a:pPr>
            <a:r>
              <a:rPr lang="en-US" sz="3100">
                <a:solidFill>
                  <a:srgbClr val="000000"/>
                </a:solidFill>
                <a:latin typeface="Times New Roman"/>
                <a:ea typeface="Times New Roman"/>
                <a:cs typeface="Times New Roman"/>
                <a:sym typeface="Times New Roman"/>
              </a:rPr>
              <a:t>Successfully developed a region-aware and health-constrained food recommendation prototype.</a:t>
            </a:r>
          </a:p>
          <a:p>
            <a:pPr marL="1151183" lvl="2" indent="-383728" algn="l">
              <a:lnSpc>
                <a:spcPts val="3348"/>
              </a:lnSpc>
              <a:buFont typeface="Arial"/>
              <a:buChar char="⚬"/>
            </a:pPr>
            <a:r>
              <a:rPr lang="en-US" sz="3100">
                <a:solidFill>
                  <a:srgbClr val="000000"/>
                </a:solidFill>
                <a:latin typeface="Times New Roman"/>
                <a:ea typeface="Times New Roman"/>
                <a:cs typeface="Times New Roman"/>
                <a:sym typeface="Times New Roman"/>
              </a:rPr>
              <a:t>Effective integration of nutritional data, user health conditions, allergies, activity level, and health goals into the recommendation process.</a:t>
            </a:r>
          </a:p>
          <a:p>
            <a:pPr marL="1151183" lvl="2" indent="-383728" algn="l">
              <a:lnSpc>
                <a:spcPts val="3348"/>
              </a:lnSpc>
              <a:buFont typeface="Arial"/>
              <a:buChar char="⚬"/>
            </a:pPr>
            <a:r>
              <a:rPr lang="en-US" sz="3100">
                <a:solidFill>
                  <a:srgbClr val="000000"/>
                </a:solidFill>
                <a:latin typeface="Times New Roman"/>
                <a:ea typeface="Times New Roman"/>
                <a:cs typeface="Times New Roman"/>
                <a:sym typeface="Times New Roman"/>
              </a:rPr>
              <a:t>Hybrid recommendation logic enables personalized yet safe and culturally relevant food suggestions.</a:t>
            </a:r>
          </a:p>
          <a:p>
            <a:pPr marL="1151183" lvl="2" indent="-383728" algn="l">
              <a:lnSpc>
                <a:spcPts val="3348"/>
              </a:lnSpc>
              <a:buFont typeface="Arial"/>
              <a:buChar char="⚬"/>
            </a:pPr>
            <a:r>
              <a:rPr lang="en-US" sz="3100">
                <a:solidFill>
                  <a:srgbClr val="000000"/>
                </a:solidFill>
                <a:latin typeface="Times New Roman"/>
                <a:ea typeface="Times New Roman"/>
                <a:cs typeface="Times New Roman"/>
                <a:sym typeface="Times New Roman"/>
              </a:rPr>
              <a:t>The prototype demonstrates strong potential for scalable and extensible meal recommendation systems.</a:t>
            </a:r>
          </a:p>
          <a:p>
            <a:pPr marL="669610" lvl="1" indent="-334805" algn="l">
              <a:lnSpc>
                <a:spcPts val="3996"/>
              </a:lnSpc>
              <a:buFont typeface="Arial"/>
              <a:buChar char="•"/>
            </a:pPr>
            <a:r>
              <a:rPr lang="en-US" sz="3700">
                <a:solidFill>
                  <a:srgbClr val="000000"/>
                </a:solidFill>
                <a:latin typeface="Times New Roman"/>
                <a:ea typeface="Times New Roman"/>
                <a:cs typeface="Times New Roman"/>
                <a:sym typeface="Times New Roman"/>
              </a:rPr>
              <a:t>Impact:</a:t>
            </a:r>
          </a:p>
          <a:p>
            <a:pPr marL="1151183" lvl="2" indent="-383728" algn="l">
              <a:lnSpc>
                <a:spcPts val="3348"/>
              </a:lnSpc>
              <a:buFont typeface="Arial"/>
              <a:buChar char="⚬"/>
            </a:pPr>
            <a:r>
              <a:rPr lang="en-US" sz="3100">
                <a:solidFill>
                  <a:srgbClr val="000000"/>
                </a:solidFill>
                <a:latin typeface="Times New Roman"/>
                <a:ea typeface="Times New Roman"/>
                <a:cs typeface="Times New Roman"/>
                <a:sym typeface="Times New Roman"/>
              </a:rPr>
              <a:t>Promotes health-conscious and informed dietary decision-making.</a:t>
            </a:r>
          </a:p>
          <a:p>
            <a:pPr marL="1151183" lvl="2" indent="-383728" algn="l">
              <a:lnSpc>
                <a:spcPts val="3348"/>
              </a:lnSpc>
              <a:buFont typeface="Arial"/>
              <a:buChar char="⚬"/>
            </a:pPr>
            <a:r>
              <a:rPr lang="en-US" sz="3100">
                <a:solidFill>
                  <a:srgbClr val="000000"/>
                </a:solidFill>
                <a:latin typeface="Times New Roman"/>
                <a:ea typeface="Times New Roman"/>
                <a:cs typeface="Times New Roman"/>
                <a:sym typeface="Times New Roman"/>
              </a:rPr>
              <a:t>Reduces the risk of unsuitable food choices for users with specific health constraints.</a:t>
            </a:r>
          </a:p>
          <a:p>
            <a:pPr marL="1151577" lvl="2" indent="-383859" algn="l">
              <a:lnSpc>
                <a:spcPts val="3348"/>
              </a:lnSpc>
              <a:buFont typeface="Arial"/>
              <a:buChar char="⚬"/>
            </a:pPr>
            <a:r>
              <a:rPr lang="en-US" sz="3100">
                <a:solidFill>
                  <a:srgbClr val="000000"/>
                </a:solidFill>
                <a:latin typeface="Times New Roman"/>
                <a:ea typeface="Times New Roman"/>
                <a:cs typeface="Times New Roman"/>
                <a:sym typeface="Times New Roman"/>
              </a:rPr>
              <a:t>Establishes a solid foundation for future family-centric and community-level meal planning systems.</a:t>
            </a:r>
          </a:p>
          <a:p>
            <a:pPr marL="1151183" lvl="2" indent="-383728" algn="l">
              <a:lnSpc>
                <a:spcPts val="3348"/>
              </a:lnSpc>
              <a:buFont typeface="Arial"/>
              <a:buChar char="⚬"/>
            </a:pPr>
            <a:r>
              <a:rPr lang="en-US" sz="3100">
                <a:solidFill>
                  <a:srgbClr val="000000"/>
                </a:solidFill>
                <a:latin typeface="Times New Roman"/>
                <a:ea typeface="Times New Roman"/>
                <a:cs typeface="Times New Roman"/>
                <a:sym typeface="Times New Roman"/>
              </a:rPr>
              <a:t>Can be extended to real-world healthcare, wellness, and smart nutrition platforms.</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47</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References</a:t>
              </a:r>
            </a:p>
          </p:txBody>
        </p:sp>
      </p:grpSp>
      <p:sp>
        <p:nvSpPr>
          <p:cNvPr id="5" name="TextBox 5"/>
          <p:cNvSpPr txBox="1"/>
          <p:nvPr/>
        </p:nvSpPr>
        <p:spPr>
          <a:xfrm>
            <a:off x="1028700" y="2286000"/>
            <a:ext cx="16230600" cy="7248525"/>
          </a:xfrm>
          <a:prstGeom prst="rect">
            <a:avLst/>
          </a:prstGeom>
        </p:spPr>
        <p:txBody>
          <a:bodyPr lIns="0" tIns="0" rIns="0" bIns="0" rtlCol="0" anchor="t">
            <a:spAutoFit/>
          </a:bodyPr>
          <a:lstStyle/>
          <a:p>
            <a:pPr algn="l">
              <a:lnSpc>
                <a:spcPts val="2523"/>
              </a:lnSpc>
            </a:pPr>
            <a:r>
              <a:rPr lang="en-US" sz="2102">
                <a:solidFill>
                  <a:srgbClr val="000000"/>
                </a:solidFill>
                <a:latin typeface="Times New Roman"/>
                <a:ea typeface="Times New Roman"/>
                <a:cs typeface="Times New Roman"/>
                <a:sym typeface="Times New Roman"/>
              </a:rPr>
              <a:t>[1] M. Rostami, M. Oussalah, and V. Farrahi, “A Novel Time-Aware Food Recommender-System Based on Deep Learning and Graph Clustering,” IEEE Ac-cess, vol. 10, 2022, doi: 10.1109/ACCESS.2022.3175317. [Online]. Available: </a:t>
            </a:r>
            <a:r>
              <a:rPr lang="en-US" sz="2102" u="none">
                <a:solidFill>
                  <a:srgbClr val="000000"/>
                </a:solidFill>
                <a:latin typeface="Times New Roman"/>
                <a:ea typeface="Times New Roman"/>
                <a:cs typeface="Times New Roman"/>
                <a:sym typeface="Times New Roman"/>
              </a:rPr>
              <a:t>https://</a:t>
            </a:r>
            <a:r>
              <a:rPr lang="en-US" sz="2102">
                <a:solidFill>
                  <a:srgbClr val="000000"/>
                </a:solidFill>
                <a:latin typeface="Times New Roman"/>
                <a:ea typeface="Times New Roman"/>
                <a:cs typeface="Times New Roman"/>
                <a:sym typeface="Times New Roman"/>
              </a:rPr>
              <a:t>ieeexplore</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i</a:t>
            </a:r>
            <a:r>
              <a:rPr lang="en-US" sz="2102" u="none">
                <a:solidFill>
                  <a:srgbClr val="000000"/>
                </a:solidFill>
                <a:latin typeface="Times New Roman"/>
                <a:ea typeface="Times New Roman"/>
                <a:cs typeface="Times New Roman"/>
                <a:sym typeface="Times New Roman"/>
              </a:rPr>
              <a:t>eee.o</a:t>
            </a:r>
            <a:r>
              <a:rPr lang="en-US" sz="2102">
                <a:solidFill>
                  <a:srgbClr val="000000"/>
                </a:solidFill>
                <a:latin typeface="Times New Roman"/>
                <a:ea typeface="Times New Roman"/>
                <a:cs typeface="Times New Roman"/>
                <a:sym typeface="Times New Roman"/>
              </a:rPr>
              <a:t>rg</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do</a:t>
            </a:r>
            <a:r>
              <a:rPr lang="en-US" sz="2102" u="none">
                <a:solidFill>
                  <a:srgbClr val="000000"/>
                </a:solidFill>
                <a:latin typeface="Times New Roman"/>
                <a:ea typeface="Times New Roman"/>
                <a:cs typeface="Times New Roman"/>
                <a:sym typeface="Times New Roman"/>
              </a:rPr>
              <a:t>c</a:t>
            </a:r>
            <a:r>
              <a:rPr lang="en-US" sz="2102">
                <a:solidFill>
                  <a:srgbClr val="000000"/>
                </a:solidFill>
                <a:latin typeface="Times New Roman"/>
                <a:ea typeface="Times New Roman"/>
                <a:cs typeface="Times New Roman"/>
                <a:sym typeface="Times New Roman"/>
              </a:rPr>
              <a:t>ume</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t</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977508</a:t>
            </a:r>
            <a:r>
              <a:rPr lang="en-US" sz="2102" u="none">
                <a:solidFill>
                  <a:srgbClr val="000000"/>
                </a:solidFill>
                <a:latin typeface="Times New Roman"/>
                <a:ea typeface="Times New Roman"/>
                <a:cs typeface="Times New Roman"/>
                <a:sym typeface="Times New Roman"/>
              </a:rPr>
              <a:t>1</a:t>
            </a:r>
          </a:p>
          <a:p>
            <a:pPr algn="l">
              <a:lnSpc>
                <a:spcPts val="2523"/>
              </a:lnSpc>
            </a:pPr>
            <a:r>
              <a:rPr lang="en-US" sz="2102">
                <a:solidFill>
                  <a:srgbClr val="000000"/>
                </a:solidFill>
                <a:latin typeface="Times New Roman"/>
                <a:ea typeface="Times New Roman"/>
                <a:cs typeface="Times New Roman"/>
                <a:sym typeface="Times New Roman"/>
              </a:rPr>
              <a:t>[2] Y. Chen, Y. Guo, Q. Fan, Q. Zhang, and Y. Dong, “Health-Aware Food Recom-mendation Based on Knowledge Graph and Multi-Task Learning,” Foods, vol. 12, no. 10, art. no. 2079, 2023, do</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 10</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3390</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f</a:t>
            </a:r>
            <a:r>
              <a:rPr lang="en-US" sz="2102" u="none">
                <a:solidFill>
                  <a:srgbClr val="000000"/>
                </a:solidFill>
                <a:latin typeface="Times New Roman"/>
                <a:ea typeface="Times New Roman"/>
                <a:cs typeface="Times New Roman"/>
                <a:sym typeface="Times New Roman"/>
              </a:rPr>
              <a:t>oods1</a:t>
            </a:r>
            <a:r>
              <a:rPr lang="en-US" sz="2102">
                <a:solidFill>
                  <a:srgbClr val="000000"/>
                </a:solidFill>
                <a:latin typeface="Times New Roman"/>
                <a:ea typeface="Times New Roman"/>
                <a:cs typeface="Times New Roman"/>
                <a:sym typeface="Times New Roman"/>
              </a:rPr>
              <a:t>2102079.</a:t>
            </a:r>
          </a:p>
          <a:p>
            <a:pPr algn="l">
              <a:lnSpc>
                <a:spcPts val="2523"/>
              </a:lnSpc>
            </a:pPr>
            <a:r>
              <a:rPr lang="en-US" sz="2102">
                <a:solidFill>
                  <a:srgbClr val="000000"/>
                </a:solidFill>
                <a:latin typeface="Times New Roman"/>
                <a:ea typeface="Times New Roman"/>
                <a:cs typeface="Times New Roman"/>
                <a:sym typeface="Times New Roman"/>
              </a:rPr>
              <a:t>[</a:t>
            </a:r>
            <a:r>
              <a:rPr lang="en-US" sz="2102" u="none">
                <a:solidFill>
                  <a:srgbClr val="000000"/>
                </a:solidFill>
                <a:latin typeface="Times New Roman"/>
                <a:ea typeface="Times New Roman"/>
                <a:cs typeface="Times New Roman"/>
                <a:sym typeface="Times New Roman"/>
              </a:rPr>
              <a:t>3</a:t>
            </a:r>
            <a:r>
              <a:rPr lang="en-US" sz="2102">
                <a:solidFill>
                  <a:srgbClr val="000000"/>
                </a:solidFill>
                <a:latin typeface="Times New Roman"/>
                <a:ea typeface="Times New Roman"/>
                <a:cs typeface="Times New Roman"/>
                <a:sym typeface="Times New Roman"/>
              </a:rPr>
              <a:t>] S. F</a:t>
            </a:r>
            <a:r>
              <a:rPr lang="en-US" sz="2102" u="none">
                <a:solidFill>
                  <a:srgbClr val="000000"/>
                </a:solidFill>
                <a:latin typeface="Times New Roman"/>
                <a:ea typeface="Times New Roman"/>
                <a:cs typeface="Times New Roman"/>
                <a:sym typeface="Times New Roman"/>
              </a:rPr>
              <a:t>o</a:t>
            </a:r>
            <a:r>
              <a:rPr lang="en-US" sz="2102">
                <a:solidFill>
                  <a:srgbClr val="000000"/>
                </a:solidFill>
                <a:latin typeface="Times New Roman"/>
                <a:ea typeface="Times New Roman"/>
                <a:cs typeface="Times New Roman"/>
                <a:sym typeface="Times New Roman"/>
              </a:rPr>
              <a:t>rouz</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nd</a:t>
            </a:r>
            <a:r>
              <a:rPr lang="en-US" sz="2102" u="none">
                <a:solidFill>
                  <a:srgbClr val="000000"/>
                </a:solidFill>
                <a:latin typeface="Times New Roman"/>
                <a:ea typeface="Times New Roman"/>
                <a:cs typeface="Times New Roman"/>
                <a:sym typeface="Times New Roman"/>
              </a:rPr>
              <a:t>e</a:t>
            </a:r>
            <a:r>
              <a:rPr lang="en-US" sz="2102">
                <a:solidFill>
                  <a:srgbClr val="000000"/>
                </a:solidFill>
                <a:latin typeface="Times New Roman"/>
                <a:ea typeface="Times New Roman"/>
                <a:cs typeface="Times New Roman"/>
                <a:sym typeface="Times New Roman"/>
              </a:rPr>
              <a:t>h, M. R</a:t>
            </a:r>
            <a:r>
              <a:rPr lang="en-US" sz="2102" u="none">
                <a:solidFill>
                  <a:srgbClr val="000000"/>
                </a:solidFill>
                <a:latin typeface="Times New Roman"/>
                <a:ea typeface="Times New Roman"/>
                <a:cs typeface="Times New Roman"/>
                <a:sym typeface="Times New Roman"/>
              </a:rPr>
              <a:t>o</a:t>
            </a:r>
            <a:r>
              <a:rPr lang="en-US" sz="2102">
                <a:solidFill>
                  <a:srgbClr val="000000"/>
                </a:solidFill>
                <a:latin typeface="Times New Roman"/>
                <a:ea typeface="Times New Roman"/>
                <a:cs typeface="Times New Roman"/>
                <a:sym typeface="Times New Roman"/>
              </a:rPr>
              <a:t>s</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am</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 K. Berahm</a:t>
            </a:r>
            <a:r>
              <a:rPr lang="en-US" sz="2102" u="none">
                <a:solidFill>
                  <a:srgbClr val="000000"/>
                </a:solidFill>
                <a:latin typeface="Times New Roman"/>
                <a:ea typeface="Times New Roman"/>
                <a:cs typeface="Times New Roman"/>
                <a:sym typeface="Times New Roman"/>
              </a:rPr>
              <a:t>an</a:t>
            </a:r>
            <a:r>
              <a:rPr lang="en-US" sz="2102">
                <a:solidFill>
                  <a:srgbClr val="000000"/>
                </a:solidFill>
                <a:latin typeface="Times New Roman"/>
                <a:ea typeface="Times New Roman"/>
                <a:cs typeface="Times New Roman"/>
                <a:sym typeface="Times New Roman"/>
              </a:rPr>
              <a:t>d, </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a:t>
            </a:r>
            <a:r>
              <a:rPr lang="en-US" sz="2102" u="none">
                <a:solidFill>
                  <a:srgbClr val="000000"/>
                </a:solidFill>
                <a:latin typeface="Times New Roman"/>
                <a:ea typeface="Times New Roman"/>
                <a:cs typeface="Times New Roman"/>
                <a:sym typeface="Times New Roman"/>
              </a:rPr>
              <a:t>d</a:t>
            </a:r>
            <a:r>
              <a:rPr lang="en-US" sz="2102">
                <a:solidFill>
                  <a:srgbClr val="000000"/>
                </a:solidFill>
                <a:latin typeface="Times New Roman"/>
                <a:ea typeface="Times New Roman"/>
                <a:cs typeface="Times New Roman"/>
                <a:sym typeface="Times New Roman"/>
              </a:rPr>
              <a:t> R. Sh</a:t>
            </a:r>
            <a:r>
              <a:rPr lang="en-US" sz="2102" u="none">
                <a:solidFill>
                  <a:srgbClr val="000000"/>
                </a:solidFill>
                <a:latin typeface="Times New Roman"/>
                <a:ea typeface="Times New Roman"/>
                <a:cs typeface="Times New Roman"/>
                <a:sym typeface="Times New Roman"/>
              </a:rPr>
              <a:t>e</a:t>
            </a:r>
            <a:r>
              <a:rPr lang="en-US" sz="2102">
                <a:solidFill>
                  <a:srgbClr val="000000"/>
                </a:solidFill>
                <a:latin typeface="Times New Roman"/>
                <a:ea typeface="Times New Roman"/>
                <a:cs typeface="Times New Roman"/>
                <a:sym typeface="Times New Roman"/>
              </a:rPr>
              <a:t>ikh</a:t>
            </a:r>
            <a:r>
              <a:rPr lang="en-US" sz="2102" u="none">
                <a:solidFill>
                  <a:srgbClr val="000000"/>
                </a:solidFill>
                <a:latin typeface="Times New Roman"/>
                <a:ea typeface="Times New Roman"/>
                <a:cs typeface="Times New Roman"/>
                <a:sym typeface="Times New Roman"/>
              </a:rPr>
              <a:t>p</a:t>
            </a:r>
            <a:r>
              <a:rPr lang="en-US" sz="2102">
                <a:solidFill>
                  <a:srgbClr val="000000"/>
                </a:solidFill>
                <a:latin typeface="Times New Roman"/>
                <a:ea typeface="Times New Roman"/>
                <a:cs typeface="Times New Roman"/>
                <a:sym typeface="Times New Roman"/>
              </a:rPr>
              <a:t>our, “H</a:t>
            </a:r>
            <a:r>
              <a:rPr lang="en-US" sz="2102" u="none">
                <a:solidFill>
                  <a:srgbClr val="000000"/>
                </a:solidFill>
                <a:latin typeface="Times New Roman"/>
                <a:ea typeface="Times New Roman"/>
                <a:cs typeface="Times New Roman"/>
                <a:sym typeface="Times New Roman"/>
              </a:rPr>
              <a:t>ea</a:t>
            </a:r>
            <a:r>
              <a:rPr lang="en-US" sz="2102">
                <a:solidFill>
                  <a:srgbClr val="000000"/>
                </a:solidFill>
                <a:latin typeface="Times New Roman"/>
                <a:ea typeface="Times New Roman"/>
                <a:cs typeface="Times New Roman"/>
                <a:sym typeface="Times New Roman"/>
              </a:rPr>
              <a:t>lth-awa</a:t>
            </a:r>
            <a:r>
              <a:rPr lang="en-US" sz="2102" u="none">
                <a:solidFill>
                  <a:srgbClr val="000000"/>
                </a:solidFill>
                <a:latin typeface="Times New Roman"/>
                <a:ea typeface="Times New Roman"/>
                <a:cs typeface="Times New Roman"/>
                <a:sym typeface="Times New Roman"/>
              </a:rPr>
              <a:t>re fo</a:t>
            </a:r>
            <a:r>
              <a:rPr lang="en-US" sz="2102">
                <a:solidFill>
                  <a:srgbClr val="000000"/>
                </a:solidFill>
                <a:latin typeface="Times New Roman"/>
                <a:ea typeface="Times New Roman"/>
                <a:cs typeface="Times New Roman"/>
                <a:sym typeface="Times New Roman"/>
              </a:rPr>
              <a:t>od </a:t>
            </a:r>
            <a:r>
              <a:rPr lang="en-US" sz="2102" u="none">
                <a:solidFill>
                  <a:srgbClr val="000000"/>
                </a:solidFill>
                <a:latin typeface="Times New Roman"/>
                <a:ea typeface="Times New Roman"/>
                <a:cs typeface="Times New Roman"/>
                <a:sym typeface="Times New Roman"/>
              </a:rPr>
              <a:t>rec</a:t>
            </a:r>
            <a:r>
              <a:rPr lang="en-US" sz="2102">
                <a:solidFill>
                  <a:srgbClr val="000000"/>
                </a:solidFill>
                <a:latin typeface="Times New Roman"/>
                <a:ea typeface="Times New Roman"/>
                <a:cs typeface="Times New Roman"/>
                <a:sym typeface="Times New Roman"/>
              </a:rPr>
              <a:t>ommenda</a:t>
            </a:r>
            <a:r>
              <a:rPr lang="en-US" sz="2102" u="none">
                <a:solidFill>
                  <a:srgbClr val="000000"/>
                </a:solidFill>
                <a:latin typeface="Times New Roman"/>
                <a:ea typeface="Times New Roman"/>
                <a:cs typeface="Times New Roman"/>
                <a:sym typeface="Times New Roman"/>
              </a:rPr>
              <a:t>ti</a:t>
            </a:r>
            <a:r>
              <a:rPr lang="en-US" sz="2102">
                <a:solidFill>
                  <a:srgbClr val="000000"/>
                </a:solidFill>
                <a:latin typeface="Times New Roman"/>
                <a:ea typeface="Times New Roman"/>
                <a:cs typeface="Times New Roman"/>
                <a:sym typeface="Times New Roman"/>
              </a:rPr>
              <a:t>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 sy</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tem with dual attention in heterogeneous graphs,” Com-puters in Biology and Medicine, vol. 169, art. no. 107882, Feb. 2024, doi</a:t>
            </a:r>
            <a:r>
              <a:rPr lang="en-US" sz="2102" u="none">
                <a:solidFill>
                  <a:srgbClr val="000000"/>
                </a:solidFill>
                <a:latin typeface="Times New Roman"/>
                <a:ea typeface="Times New Roman"/>
                <a:cs typeface="Times New Roman"/>
                <a:sym typeface="Times New Roman"/>
              </a:rPr>
              <a:t>: </a:t>
            </a:r>
            <a:r>
              <a:rPr lang="en-US" sz="2102">
                <a:solidFill>
                  <a:srgbClr val="000000"/>
                </a:solidFill>
                <a:latin typeface="Times New Roman"/>
                <a:ea typeface="Times New Roman"/>
                <a:cs typeface="Times New Roman"/>
                <a:sym typeface="Times New Roman"/>
              </a:rPr>
              <a:t>10.1016</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j.</a:t>
            </a:r>
            <a:r>
              <a:rPr lang="en-US" sz="2102" u="none">
                <a:solidFill>
                  <a:srgbClr val="000000"/>
                </a:solidFill>
                <a:latin typeface="Times New Roman"/>
                <a:ea typeface="Times New Roman"/>
                <a:cs typeface="Times New Roman"/>
                <a:sym typeface="Times New Roman"/>
              </a:rPr>
              <a:t>co</a:t>
            </a:r>
            <a:r>
              <a:rPr lang="en-US" sz="2102">
                <a:solidFill>
                  <a:srgbClr val="000000"/>
                </a:solidFill>
                <a:latin typeface="Times New Roman"/>
                <a:ea typeface="Times New Roman"/>
                <a:cs typeface="Times New Roman"/>
                <a:sym typeface="Times New Roman"/>
              </a:rPr>
              <a:t>m</a:t>
            </a:r>
            <a:r>
              <a:rPr lang="en-US" sz="2102" u="none">
                <a:solidFill>
                  <a:srgbClr val="000000"/>
                </a:solidFill>
                <a:latin typeface="Times New Roman"/>
                <a:ea typeface="Times New Roman"/>
                <a:cs typeface="Times New Roman"/>
                <a:sym typeface="Times New Roman"/>
              </a:rPr>
              <a:t>p</a:t>
            </a:r>
            <a:r>
              <a:rPr lang="en-US" sz="2102">
                <a:solidFill>
                  <a:srgbClr val="000000"/>
                </a:solidFill>
                <a:latin typeface="Times New Roman"/>
                <a:ea typeface="Times New Roman"/>
                <a:cs typeface="Times New Roman"/>
                <a:sym typeface="Times New Roman"/>
              </a:rPr>
              <a:t>b</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om</a:t>
            </a:r>
            <a:r>
              <a:rPr lang="en-US" sz="2102" u="none">
                <a:solidFill>
                  <a:srgbClr val="000000"/>
                </a:solidFill>
                <a:latin typeface="Times New Roman"/>
                <a:ea typeface="Times New Roman"/>
                <a:cs typeface="Times New Roman"/>
                <a:sym typeface="Times New Roman"/>
              </a:rPr>
              <a:t>e</a:t>
            </a:r>
            <a:r>
              <a:rPr lang="en-US" sz="2102">
                <a:solidFill>
                  <a:srgbClr val="000000"/>
                </a:solidFill>
                <a:latin typeface="Times New Roman"/>
                <a:ea typeface="Times New Roman"/>
                <a:cs typeface="Times New Roman"/>
                <a:sym typeface="Times New Roman"/>
              </a:rPr>
              <a:t>d</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2023.107882.</a:t>
            </a:r>
          </a:p>
          <a:p>
            <a:pPr algn="l">
              <a:lnSpc>
                <a:spcPts val="2523"/>
              </a:lnSpc>
            </a:pPr>
            <a:r>
              <a:rPr lang="en-US" sz="2102">
                <a:solidFill>
                  <a:srgbClr val="000000"/>
                </a:solidFill>
                <a:latin typeface="Times New Roman"/>
                <a:ea typeface="Times New Roman"/>
                <a:cs typeface="Times New Roman"/>
                <a:sym typeface="Times New Roman"/>
              </a:rPr>
              <a:t>[4] Y. Tian, C. Zhang, Z. Guo, C. Huang, R. Metoyer, and N. V. Chawla, “RecipeRec: A Heterogeneous Graph Learning Model for Recipe Recommendation,” </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n P</a:t>
            </a:r>
            <a:r>
              <a:rPr lang="en-US" sz="2102" u="none">
                <a:solidFill>
                  <a:srgbClr val="000000"/>
                </a:solidFill>
                <a:latin typeface="Times New Roman"/>
                <a:ea typeface="Times New Roman"/>
                <a:cs typeface="Times New Roman"/>
                <a:sym typeface="Times New Roman"/>
              </a:rPr>
              <a:t>roc</a:t>
            </a:r>
            <a:r>
              <a:rPr lang="en-US" sz="2102">
                <a:solidFill>
                  <a:srgbClr val="000000"/>
                </a:solidFill>
                <a:latin typeface="Times New Roman"/>
                <a:ea typeface="Times New Roman"/>
                <a:cs typeface="Times New Roman"/>
                <a:sym typeface="Times New Roman"/>
              </a:rPr>
              <a:t>. I</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t. Joint Conf. on Artificial Intelligence (IJCAI), 2022. [Online]. Available: </a:t>
            </a:r>
            <a:r>
              <a:rPr lang="en-US" sz="2102" u="none">
                <a:solidFill>
                  <a:srgbClr val="000000"/>
                </a:solidFill>
                <a:latin typeface="Times New Roman"/>
                <a:ea typeface="Times New Roman"/>
                <a:cs typeface="Times New Roman"/>
                <a:sym typeface="Times New Roman"/>
              </a:rPr>
              <a:t>https: </a:t>
            </a:r>
            <a:r>
              <a:rPr lang="en-US" sz="2102" u="sng">
                <a:solidFill>
                  <a:srgbClr val="000000"/>
                </a:solidFill>
                <a:latin typeface="Times New Roman"/>
                <a:ea typeface="Times New Roman"/>
                <a:cs typeface="Times New Roman"/>
                <a:sym typeface="Times New Roman"/>
              </a:rPr>
              <a:t>/</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rxiv</a:t>
            </a:r>
            <a:r>
              <a:rPr lang="en-US" sz="2102" u="none">
                <a:solidFill>
                  <a:srgbClr val="000000"/>
                </a:solidFill>
                <a:latin typeface="Times New Roman"/>
                <a:ea typeface="Times New Roman"/>
                <a:cs typeface="Times New Roman"/>
                <a:sym typeface="Times New Roman"/>
              </a:rPr>
              <a:t>.org/</a:t>
            </a:r>
            <a:r>
              <a:rPr lang="en-US" sz="2102">
                <a:solidFill>
                  <a:srgbClr val="000000"/>
                </a:solidFill>
                <a:latin typeface="Times New Roman"/>
                <a:ea typeface="Times New Roman"/>
                <a:cs typeface="Times New Roman"/>
                <a:sym typeface="Times New Roman"/>
              </a:rPr>
              <a:t>abs/2205.</a:t>
            </a:r>
            <a:r>
              <a:rPr lang="en-US" sz="2102" u="none">
                <a:solidFill>
                  <a:srgbClr val="000000"/>
                </a:solidFill>
                <a:latin typeface="Times New Roman"/>
                <a:ea typeface="Times New Roman"/>
                <a:cs typeface="Times New Roman"/>
                <a:sym typeface="Times New Roman"/>
              </a:rPr>
              <a:t>14</a:t>
            </a:r>
            <a:r>
              <a:rPr lang="en-US" sz="2102">
                <a:solidFill>
                  <a:srgbClr val="000000"/>
                </a:solidFill>
                <a:latin typeface="Times New Roman"/>
                <a:ea typeface="Times New Roman"/>
                <a:cs typeface="Times New Roman"/>
                <a:sym typeface="Times New Roman"/>
              </a:rPr>
              <a:t>0</a:t>
            </a:r>
            <a:r>
              <a:rPr lang="en-US" sz="2102" u="none">
                <a:solidFill>
                  <a:srgbClr val="000000"/>
                </a:solidFill>
                <a:latin typeface="Times New Roman"/>
                <a:ea typeface="Times New Roman"/>
                <a:cs typeface="Times New Roman"/>
                <a:sym typeface="Times New Roman"/>
              </a:rPr>
              <a:t>05</a:t>
            </a:r>
          </a:p>
          <a:p>
            <a:pPr algn="l">
              <a:lnSpc>
                <a:spcPts val="2523"/>
              </a:lnSpc>
            </a:pPr>
            <a:r>
              <a:rPr lang="en-US" sz="2102">
                <a:solidFill>
                  <a:srgbClr val="000000"/>
                </a:solidFill>
                <a:latin typeface="Times New Roman"/>
                <a:ea typeface="Times New Roman"/>
                <a:cs typeface="Times New Roman"/>
                <a:sym typeface="Times New Roman"/>
              </a:rPr>
              <a:t>[5] X. Ju, F. P</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W. Lo, J. Qiu, P. Shi, J. Peng, and B. Lo, “MenuAI: Restaurant Food Recommendation System via a Transformer-based Deep Learning Model,” arXiv preprint arXiv:2210.08266, 2022. [Online]. Available: </a:t>
            </a:r>
            <a:r>
              <a:rPr lang="en-US" sz="2102" u="none">
                <a:solidFill>
                  <a:srgbClr val="000000"/>
                </a:solidFill>
                <a:latin typeface="Times New Roman"/>
                <a:ea typeface="Times New Roman"/>
                <a:cs typeface="Times New Roman"/>
                <a:sym typeface="Times New Roman"/>
              </a:rPr>
              <a:t>https://a</a:t>
            </a:r>
            <a:r>
              <a:rPr lang="en-US" sz="2102">
                <a:solidFill>
                  <a:srgbClr val="000000"/>
                </a:solidFill>
                <a:latin typeface="Times New Roman"/>
                <a:ea typeface="Times New Roman"/>
                <a:cs typeface="Times New Roman"/>
                <a:sym typeface="Times New Roman"/>
              </a:rPr>
              <a:t>rxiv</a:t>
            </a:r>
            <a:r>
              <a:rPr lang="en-US" sz="2102" u="none">
                <a:solidFill>
                  <a:srgbClr val="000000"/>
                </a:solidFill>
                <a:latin typeface="Times New Roman"/>
                <a:ea typeface="Times New Roman"/>
                <a:cs typeface="Times New Roman"/>
                <a:sym typeface="Times New Roman"/>
              </a:rPr>
              <a:t>.org/</a:t>
            </a:r>
            <a:r>
              <a:rPr lang="en-US" sz="2102">
                <a:solidFill>
                  <a:srgbClr val="000000"/>
                </a:solidFill>
                <a:latin typeface="Times New Roman"/>
                <a:ea typeface="Times New Roman"/>
                <a:cs typeface="Times New Roman"/>
                <a:sym typeface="Times New Roman"/>
              </a:rPr>
              <a:t>abs/22</a:t>
            </a:r>
            <a:r>
              <a:rPr lang="en-US" sz="2102" u="none">
                <a:solidFill>
                  <a:srgbClr val="000000"/>
                </a:solidFill>
                <a:latin typeface="Times New Roman"/>
                <a:ea typeface="Times New Roman"/>
                <a:cs typeface="Times New Roman"/>
                <a:sym typeface="Times New Roman"/>
              </a:rPr>
              <a:t>1</a:t>
            </a:r>
            <a:r>
              <a:rPr lang="en-US" sz="2102">
                <a:solidFill>
                  <a:srgbClr val="000000"/>
                </a:solidFill>
                <a:latin typeface="Times New Roman"/>
                <a:ea typeface="Times New Roman"/>
                <a:cs typeface="Times New Roman"/>
                <a:sym typeface="Times New Roman"/>
              </a:rPr>
              <a:t>0.0</a:t>
            </a:r>
            <a:r>
              <a:rPr lang="en-US" sz="2102" u="none">
                <a:solidFill>
                  <a:srgbClr val="000000"/>
                </a:solidFill>
                <a:latin typeface="Times New Roman"/>
                <a:ea typeface="Times New Roman"/>
                <a:cs typeface="Times New Roman"/>
                <a:sym typeface="Times New Roman"/>
              </a:rPr>
              <a:t>8</a:t>
            </a:r>
            <a:r>
              <a:rPr lang="en-US" sz="2102">
                <a:solidFill>
                  <a:srgbClr val="000000"/>
                </a:solidFill>
                <a:latin typeface="Times New Roman"/>
                <a:ea typeface="Times New Roman"/>
                <a:cs typeface="Times New Roman"/>
                <a:sym typeface="Times New Roman"/>
              </a:rPr>
              <a:t>266</a:t>
            </a:r>
          </a:p>
          <a:p>
            <a:pPr algn="l">
              <a:lnSpc>
                <a:spcPts val="2523"/>
              </a:lnSpc>
            </a:pPr>
            <a:r>
              <a:rPr lang="en-US" sz="2102">
                <a:solidFill>
                  <a:srgbClr val="000000"/>
                </a:solidFill>
                <a:latin typeface="Times New Roman"/>
                <a:ea typeface="Times New Roman"/>
                <a:cs typeface="Times New Roman"/>
                <a:sym typeface="Times New Roman"/>
              </a:rPr>
              <a:t>[6] M. Rostami, V. Farrahi, K. Berahmand, S. Forouzandeh, S. Ahmadian, and M. Oussalah, “A Novel Explainable and Health-aware Food Recommender System,” in Proc. Int. Conf. on Health Informatics (HEALTHINF), 2022. [Online]. Available: </a:t>
            </a:r>
            <a:r>
              <a:rPr lang="en-US" sz="2102" u="none">
                <a:solidFill>
                  <a:srgbClr val="000000"/>
                </a:solidFill>
                <a:latin typeface="Times New Roman"/>
                <a:ea typeface="Times New Roman"/>
                <a:cs typeface="Times New Roman"/>
                <a:sym typeface="Times New Roman"/>
              </a:rPr>
              <a:t>https://</a:t>
            </a:r>
            <a:r>
              <a:rPr lang="en-US" sz="2102">
                <a:solidFill>
                  <a:srgbClr val="000000"/>
                </a:solidFill>
                <a:latin typeface="Times New Roman"/>
                <a:ea typeface="Times New Roman"/>
                <a:cs typeface="Times New Roman"/>
                <a:sym typeface="Times New Roman"/>
              </a:rPr>
              <a:t>www.s</a:t>
            </a:r>
            <a:r>
              <a:rPr lang="en-US" sz="2102" u="none">
                <a:solidFill>
                  <a:srgbClr val="000000"/>
                </a:solidFill>
                <a:latin typeface="Times New Roman"/>
                <a:ea typeface="Times New Roman"/>
                <a:cs typeface="Times New Roman"/>
                <a:sym typeface="Times New Roman"/>
              </a:rPr>
              <a:t>c</a:t>
            </a:r>
            <a:r>
              <a:rPr lang="en-US" sz="2102">
                <a:solidFill>
                  <a:srgbClr val="000000"/>
                </a:solidFill>
                <a:latin typeface="Times New Roman"/>
                <a:ea typeface="Times New Roman"/>
                <a:cs typeface="Times New Roman"/>
                <a:sym typeface="Times New Roman"/>
              </a:rPr>
              <a:t>i</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epress</a:t>
            </a:r>
            <a:r>
              <a:rPr lang="en-US" sz="2102" u="none">
                <a:solidFill>
                  <a:srgbClr val="000000"/>
                </a:solidFill>
                <a:latin typeface="Times New Roman"/>
                <a:ea typeface="Times New Roman"/>
                <a:cs typeface="Times New Roman"/>
                <a:sym typeface="Times New Roman"/>
              </a:rPr>
              <a:t>.org/P</a:t>
            </a:r>
            <a:r>
              <a:rPr lang="en-US" sz="2102">
                <a:solidFill>
                  <a:srgbClr val="000000"/>
                </a:solidFill>
                <a:latin typeface="Times New Roman"/>
                <a:ea typeface="Times New Roman"/>
                <a:cs typeface="Times New Roman"/>
                <a:sym typeface="Times New Roman"/>
              </a:rPr>
              <a:t>apers/2022/1156</a:t>
            </a:r>
            <a:r>
              <a:rPr lang="en-US" sz="2102" u="none">
                <a:solidFill>
                  <a:srgbClr val="000000"/>
                </a:solidFill>
                <a:latin typeface="Times New Roman"/>
                <a:ea typeface="Times New Roman"/>
                <a:cs typeface="Times New Roman"/>
                <a:sym typeface="Times New Roman"/>
              </a:rPr>
              <a:t>17</a:t>
            </a:r>
            <a:r>
              <a:rPr lang="en-US" sz="2102">
                <a:solidFill>
                  <a:srgbClr val="000000"/>
                </a:solidFill>
                <a:latin typeface="Times New Roman"/>
                <a:ea typeface="Times New Roman"/>
                <a:cs typeface="Times New Roman"/>
                <a:sym typeface="Times New Roman"/>
              </a:rPr>
              <a:t>/</a:t>
            </a:r>
            <a:r>
              <a:rPr lang="en-US" sz="2102" u="none">
                <a:solidFill>
                  <a:srgbClr val="000000"/>
                </a:solidFill>
                <a:latin typeface="Times New Roman"/>
                <a:ea typeface="Times New Roman"/>
                <a:cs typeface="Times New Roman"/>
                <a:sym typeface="Times New Roman"/>
              </a:rPr>
              <a:t>1</a:t>
            </a:r>
            <a:r>
              <a:rPr lang="en-US" sz="2102">
                <a:solidFill>
                  <a:srgbClr val="000000"/>
                </a:solidFill>
                <a:latin typeface="Times New Roman"/>
                <a:ea typeface="Times New Roman"/>
                <a:cs typeface="Times New Roman"/>
                <a:sym typeface="Times New Roman"/>
              </a:rPr>
              <a:t>15</a:t>
            </a:r>
            <a:r>
              <a:rPr lang="en-US" sz="2102" u="none">
                <a:solidFill>
                  <a:srgbClr val="000000"/>
                </a:solidFill>
                <a:latin typeface="Times New Roman"/>
                <a:ea typeface="Times New Roman"/>
                <a:cs typeface="Times New Roman"/>
                <a:sym typeface="Times New Roman"/>
              </a:rPr>
              <a:t>6</a:t>
            </a:r>
            <a:r>
              <a:rPr lang="en-US" sz="2102">
                <a:solidFill>
                  <a:srgbClr val="000000"/>
                </a:solidFill>
                <a:latin typeface="Times New Roman"/>
                <a:ea typeface="Times New Roman"/>
                <a:cs typeface="Times New Roman"/>
                <a:sym typeface="Times New Roman"/>
              </a:rPr>
              <a:t>17</a:t>
            </a:r>
            <a:r>
              <a:rPr lang="en-US" sz="2102" u="none">
                <a:solidFill>
                  <a:srgbClr val="000000"/>
                </a:solidFill>
                <a:latin typeface="Times New Roman"/>
                <a:ea typeface="Times New Roman"/>
                <a:cs typeface="Times New Roman"/>
                <a:sym typeface="Times New Roman"/>
              </a:rPr>
              <a:t>.pdf</a:t>
            </a:r>
          </a:p>
          <a:p>
            <a:pPr algn="l">
              <a:lnSpc>
                <a:spcPts val="2523"/>
              </a:lnSpc>
            </a:pPr>
            <a:r>
              <a:rPr lang="en-US" sz="2102">
                <a:solidFill>
                  <a:srgbClr val="000000"/>
                </a:solidFill>
                <a:latin typeface="Times New Roman"/>
                <a:ea typeface="Times New Roman"/>
                <a:cs typeface="Times New Roman"/>
                <a:sym typeface="Times New Roman"/>
              </a:rPr>
              <a:t>[7] S. Ahmadian, M. Rostami, S. M. J. Jalali, M. Oussalah, and V. Farrahi, “Healt</a:t>
            </a:r>
            <a:r>
              <a:rPr lang="en-US" sz="2102" u="none">
                <a:solidFill>
                  <a:srgbClr val="000000"/>
                </a:solidFill>
                <a:latin typeface="Times New Roman"/>
                <a:ea typeface="Times New Roman"/>
                <a:cs typeface="Times New Roman"/>
                <a:sym typeface="Times New Roman"/>
              </a:rPr>
              <a:t>h</a:t>
            </a:r>
            <a:r>
              <a:rPr lang="en-US" sz="2102">
                <a:solidFill>
                  <a:srgbClr val="000000"/>
                </a:solidFill>
                <a:latin typeface="Times New Roman"/>
                <a:ea typeface="Times New Roman"/>
                <a:cs typeface="Times New Roman"/>
                <a:sym typeface="Times New Roman"/>
              </a:rPr>
              <a:t>yFood R</a:t>
            </a:r>
            <a:r>
              <a:rPr lang="en-US" sz="2102" u="none">
                <a:solidFill>
                  <a:srgbClr val="000000"/>
                </a:solidFill>
                <a:latin typeface="Times New Roman"/>
                <a:ea typeface="Times New Roman"/>
                <a:cs typeface="Times New Roman"/>
                <a:sym typeface="Times New Roman"/>
              </a:rPr>
              <a:t>ec</a:t>
            </a:r>
            <a:r>
              <a:rPr lang="en-US" sz="2102">
                <a:solidFill>
                  <a:srgbClr val="000000"/>
                </a:solidFill>
                <a:latin typeface="Times New Roman"/>
                <a:ea typeface="Times New Roman"/>
                <a:cs typeface="Times New Roman"/>
                <a:sym typeface="Times New Roman"/>
              </a:rPr>
              <a:t>omm</a:t>
            </a:r>
            <a:r>
              <a:rPr lang="en-US" sz="2102" u="none">
                <a:solidFill>
                  <a:srgbClr val="000000"/>
                </a:solidFill>
                <a:latin typeface="Times New Roman"/>
                <a:ea typeface="Times New Roman"/>
                <a:cs typeface="Times New Roman"/>
                <a:sym typeface="Times New Roman"/>
              </a:rPr>
              <a:t>en</a:t>
            </a:r>
            <a:r>
              <a:rPr lang="en-US" sz="2102">
                <a:solidFill>
                  <a:srgbClr val="000000"/>
                </a:solidFill>
                <a:latin typeface="Times New Roman"/>
                <a:ea typeface="Times New Roman"/>
                <a:cs typeface="Times New Roman"/>
                <a:sym typeface="Times New Roman"/>
              </a:rPr>
              <a:t>da</a:t>
            </a:r>
            <a:r>
              <a:rPr lang="en-US" sz="2102" u="none">
                <a:solidFill>
                  <a:srgbClr val="000000"/>
                </a:solidFill>
                <a:latin typeface="Times New Roman"/>
                <a:ea typeface="Times New Roman"/>
                <a:cs typeface="Times New Roman"/>
                <a:sym typeface="Times New Roman"/>
              </a:rPr>
              <a:t>ti</a:t>
            </a:r>
            <a:r>
              <a:rPr lang="en-US" sz="2102">
                <a:solidFill>
                  <a:srgbClr val="000000"/>
                </a:solidFill>
                <a:latin typeface="Times New Roman"/>
                <a:ea typeface="Times New Roman"/>
                <a:cs typeface="Times New Roman"/>
                <a:sym typeface="Times New Roman"/>
              </a:rPr>
              <a:t>on Us</a:t>
            </a:r>
            <a:r>
              <a:rPr lang="en-US" sz="2102" u="none">
                <a:solidFill>
                  <a:srgbClr val="000000"/>
                </a:solidFill>
                <a:latin typeface="Times New Roman"/>
                <a:ea typeface="Times New Roman"/>
                <a:cs typeface="Times New Roman"/>
                <a:sym typeface="Times New Roman"/>
              </a:rPr>
              <a:t>in</a:t>
            </a:r>
            <a:r>
              <a:rPr lang="en-US" sz="2102">
                <a:solidFill>
                  <a:srgbClr val="000000"/>
                </a:solidFill>
                <a:latin typeface="Times New Roman"/>
                <a:ea typeface="Times New Roman"/>
                <a:cs typeface="Times New Roman"/>
                <a:sym typeface="Times New Roman"/>
              </a:rPr>
              <a:t>g </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 Time</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A</a:t>
            </a:r>
            <a:r>
              <a:rPr lang="en-US" sz="2102" u="none">
                <a:solidFill>
                  <a:srgbClr val="000000"/>
                </a:solidFill>
                <a:latin typeface="Times New Roman"/>
                <a:ea typeface="Times New Roman"/>
                <a:cs typeface="Times New Roman"/>
                <a:sym typeface="Times New Roman"/>
              </a:rPr>
              <a:t>war</a:t>
            </a:r>
            <a:r>
              <a:rPr lang="en-US" sz="2102">
                <a:solidFill>
                  <a:srgbClr val="000000"/>
                </a:solidFill>
                <a:latin typeface="Times New Roman"/>
                <a:ea typeface="Times New Roman"/>
                <a:cs typeface="Times New Roman"/>
                <a:sym typeface="Times New Roman"/>
              </a:rPr>
              <a:t>e Comm</a:t>
            </a:r>
            <a:r>
              <a:rPr lang="en-US" sz="2102" u="none">
                <a:solidFill>
                  <a:srgbClr val="000000"/>
                </a:solidFill>
                <a:latin typeface="Times New Roman"/>
                <a:ea typeface="Times New Roman"/>
                <a:cs typeface="Times New Roman"/>
                <a:sym typeface="Times New Roman"/>
              </a:rPr>
              <a:t>u</a:t>
            </a:r>
            <a:r>
              <a:rPr lang="en-US" sz="2102">
                <a:solidFill>
                  <a:srgbClr val="000000"/>
                </a:solidFill>
                <a:latin typeface="Times New Roman"/>
                <a:ea typeface="Times New Roman"/>
                <a:cs typeface="Times New Roman"/>
                <a:sym typeface="Times New Roman"/>
              </a:rPr>
              <a:t>n</a:t>
            </a:r>
            <a:r>
              <a:rPr lang="en-US" sz="2102" u="none">
                <a:solidFill>
                  <a:srgbClr val="000000"/>
                </a:solidFill>
                <a:latin typeface="Times New Roman"/>
                <a:ea typeface="Times New Roman"/>
                <a:cs typeface="Times New Roman"/>
                <a:sym typeface="Times New Roman"/>
              </a:rPr>
              <a:t>it</a:t>
            </a:r>
            <a:r>
              <a:rPr lang="en-US" sz="2102">
                <a:solidFill>
                  <a:srgbClr val="000000"/>
                </a:solidFill>
                <a:latin typeface="Times New Roman"/>
                <a:ea typeface="Times New Roman"/>
                <a:cs typeface="Times New Roman"/>
                <a:sym typeface="Times New Roman"/>
              </a:rPr>
              <a:t>y </a:t>
            </a:r>
            <a:r>
              <a:rPr lang="en-US" sz="2102" u="none">
                <a:solidFill>
                  <a:srgbClr val="000000"/>
                </a:solidFill>
                <a:latin typeface="Times New Roman"/>
                <a:ea typeface="Times New Roman"/>
                <a:cs typeface="Times New Roman"/>
                <a:sym typeface="Times New Roman"/>
              </a:rPr>
              <a:t>Detecti</a:t>
            </a:r>
            <a:r>
              <a:rPr lang="en-US" sz="2102">
                <a:solidFill>
                  <a:srgbClr val="000000"/>
                </a:solidFill>
                <a:latin typeface="Times New Roman"/>
                <a:ea typeface="Times New Roman"/>
                <a:cs typeface="Times New Roman"/>
                <a:sym typeface="Times New Roman"/>
              </a:rPr>
              <a:t>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 Appr</a:t>
            </a:r>
            <a:r>
              <a:rPr lang="en-US" sz="2102" u="none">
                <a:solidFill>
                  <a:srgbClr val="000000"/>
                </a:solidFill>
                <a:latin typeface="Times New Roman"/>
                <a:ea typeface="Times New Roman"/>
                <a:cs typeface="Times New Roman"/>
                <a:sym typeface="Times New Roman"/>
              </a:rPr>
              <a:t>o</a:t>
            </a:r>
            <a:r>
              <a:rPr lang="en-US" sz="2102">
                <a:solidFill>
                  <a:srgbClr val="000000"/>
                </a:solidFill>
                <a:latin typeface="Times New Roman"/>
                <a:ea typeface="Times New Roman"/>
                <a:cs typeface="Times New Roman"/>
                <a:sym typeface="Times New Roman"/>
              </a:rPr>
              <a:t>a</a:t>
            </a:r>
            <a:r>
              <a:rPr lang="en-US" sz="2102" u="none">
                <a:solidFill>
                  <a:srgbClr val="000000"/>
                </a:solidFill>
                <a:latin typeface="Times New Roman"/>
                <a:ea typeface="Times New Roman"/>
                <a:cs typeface="Times New Roman"/>
                <a:sym typeface="Times New Roman"/>
              </a:rPr>
              <a:t>c</a:t>
            </a:r>
            <a:r>
              <a:rPr lang="en-US" sz="2102">
                <a:solidFill>
                  <a:srgbClr val="000000"/>
                </a:solidFill>
                <a:latin typeface="Times New Roman"/>
                <a:ea typeface="Times New Roman"/>
                <a:cs typeface="Times New Roman"/>
                <a:sym typeface="Times New Roman"/>
              </a:rPr>
              <a:t>h </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a:t>
            </a:r>
            <a:r>
              <a:rPr lang="en-US" sz="2102" u="none">
                <a:solidFill>
                  <a:srgbClr val="000000"/>
                </a:solidFill>
                <a:latin typeface="Times New Roman"/>
                <a:ea typeface="Times New Roman"/>
                <a:cs typeface="Times New Roman"/>
                <a:sym typeface="Times New Roman"/>
              </a:rPr>
              <a:t>d </a:t>
            </a:r>
            <a:r>
              <a:rPr lang="en-US" sz="2102">
                <a:solidFill>
                  <a:srgbClr val="000000"/>
                </a:solidFill>
                <a:latin typeface="Times New Roman"/>
                <a:ea typeface="Times New Roman"/>
                <a:cs typeface="Times New Roman"/>
                <a:sym typeface="Times New Roman"/>
              </a:rPr>
              <a:t>R</a:t>
            </a:r>
            <a:r>
              <a:rPr lang="en-US" sz="2102" u="none">
                <a:solidFill>
                  <a:srgbClr val="000000"/>
                </a:solidFill>
                <a:latin typeface="Times New Roman"/>
                <a:ea typeface="Times New Roman"/>
                <a:cs typeface="Times New Roman"/>
                <a:sym typeface="Times New Roman"/>
              </a:rPr>
              <a:t>eli</a:t>
            </a:r>
            <a:r>
              <a:rPr lang="en-US" sz="2102">
                <a:solidFill>
                  <a:srgbClr val="000000"/>
                </a:solidFill>
                <a:latin typeface="Times New Roman"/>
                <a:ea typeface="Times New Roman"/>
                <a:cs typeface="Times New Roman"/>
                <a:sym typeface="Times New Roman"/>
              </a:rPr>
              <a:t>abili</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y Meas</a:t>
            </a:r>
            <a:r>
              <a:rPr lang="en-US" sz="2102" u="none">
                <a:solidFill>
                  <a:srgbClr val="000000"/>
                </a:solidFill>
                <a:latin typeface="Times New Roman"/>
                <a:ea typeface="Times New Roman"/>
                <a:cs typeface="Times New Roman"/>
                <a:sym typeface="Times New Roman"/>
              </a:rPr>
              <a:t>u</a:t>
            </a:r>
            <a:r>
              <a:rPr lang="en-US" sz="2102">
                <a:solidFill>
                  <a:srgbClr val="000000"/>
                </a:solidFill>
                <a:latin typeface="Times New Roman"/>
                <a:ea typeface="Times New Roman"/>
                <a:cs typeface="Times New Roman"/>
                <a:sym typeface="Times New Roman"/>
              </a:rPr>
              <a:t>r</a:t>
            </a:r>
            <a:r>
              <a:rPr lang="en-US" sz="2102" u="none">
                <a:solidFill>
                  <a:srgbClr val="000000"/>
                </a:solidFill>
                <a:latin typeface="Times New Roman"/>
                <a:ea typeface="Times New Roman"/>
                <a:cs typeface="Times New Roman"/>
                <a:sym typeface="Times New Roman"/>
              </a:rPr>
              <a:t>ement</a:t>
            </a:r>
            <a:r>
              <a:rPr lang="en-US" sz="2102">
                <a:solidFill>
                  <a:srgbClr val="000000"/>
                </a:solidFill>
                <a:latin typeface="Times New Roman"/>
                <a:ea typeface="Times New Roman"/>
                <a:cs typeface="Times New Roman"/>
                <a:sym typeface="Times New Roman"/>
              </a:rPr>
              <a:t>,” I</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t</a:t>
            </a:r>
            <a:r>
              <a:rPr lang="en-US" sz="2102" u="none">
                <a:solidFill>
                  <a:srgbClr val="000000"/>
                </a:solidFill>
                <a:latin typeface="Times New Roman"/>
                <a:ea typeface="Times New Roman"/>
                <a:cs typeface="Times New Roman"/>
                <a:sym typeface="Times New Roman"/>
              </a:rPr>
              <a:t>ern</a:t>
            </a:r>
            <a:r>
              <a:rPr lang="en-US" sz="2102">
                <a:solidFill>
                  <a:srgbClr val="000000"/>
                </a:solidFill>
                <a:latin typeface="Times New Roman"/>
                <a:ea typeface="Times New Roman"/>
                <a:cs typeface="Times New Roman"/>
                <a:sym typeface="Times New Roman"/>
              </a:rPr>
              <a:t>at</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a</a:t>
            </a:r>
            <a:r>
              <a:rPr lang="en-US" sz="2102" u="none">
                <a:solidFill>
                  <a:srgbClr val="000000"/>
                </a:solidFill>
                <a:latin typeface="Times New Roman"/>
                <a:ea typeface="Times New Roman"/>
                <a:cs typeface="Times New Roman"/>
                <a:sym typeface="Times New Roman"/>
              </a:rPr>
              <a:t>l</a:t>
            </a:r>
            <a:r>
              <a:rPr lang="en-US" sz="2102">
                <a:solidFill>
                  <a:srgbClr val="000000"/>
                </a:solidFill>
                <a:latin typeface="Times New Roman"/>
                <a:ea typeface="Times New Roman"/>
                <a:cs typeface="Times New Roman"/>
                <a:sym typeface="Times New Roman"/>
              </a:rPr>
              <a:t> Jour</a:t>
            </a:r>
            <a:r>
              <a:rPr lang="en-US" sz="2102" u="none">
                <a:solidFill>
                  <a:srgbClr val="000000"/>
                </a:solidFill>
                <a:latin typeface="Times New Roman"/>
                <a:ea typeface="Times New Roman"/>
                <a:cs typeface="Times New Roman"/>
                <a:sym typeface="Times New Roman"/>
              </a:rPr>
              <a:t>na</a:t>
            </a:r>
            <a:r>
              <a:rPr lang="en-US" sz="2102">
                <a:solidFill>
                  <a:srgbClr val="000000"/>
                </a:solidFill>
                <a:latin typeface="Times New Roman"/>
                <a:ea typeface="Times New Roman"/>
                <a:cs typeface="Times New Roman"/>
                <a:sym typeface="Times New Roman"/>
              </a:rPr>
              <a:t>l of Compu</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a</a:t>
            </a:r>
            <a:r>
              <a:rPr lang="en-US" sz="2102" u="none">
                <a:solidFill>
                  <a:srgbClr val="000000"/>
                </a:solidFill>
                <a:latin typeface="Times New Roman"/>
                <a:ea typeface="Times New Roman"/>
                <a:cs typeface="Times New Roman"/>
                <a:sym typeface="Times New Roman"/>
              </a:rPr>
              <a:t>tio</a:t>
            </a:r>
            <a:r>
              <a:rPr lang="en-US" sz="2102">
                <a:solidFill>
                  <a:srgbClr val="000000"/>
                </a:solidFill>
                <a:latin typeface="Times New Roman"/>
                <a:ea typeface="Times New Roman"/>
                <a:cs typeface="Times New Roman"/>
                <a:sym typeface="Times New Roman"/>
              </a:rPr>
              <a:t>n</a:t>
            </a:r>
            <a:r>
              <a:rPr lang="en-US" sz="2102" u="none">
                <a:solidFill>
                  <a:srgbClr val="000000"/>
                </a:solidFill>
                <a:latin typeface="Times New Roman"/>
                <a:ea typeface="Times New Roman"/>
                <a:cs typeface="Times New Roman"/>
                <a:sym typeface="Times New Roman"/>
              </a:rPr>
              <a:t>al</a:t>
            </a:r>
            <a:r>
              <a:rPr lang="en-US" sz="2102">
                <a:solidFill>
                  <a:srgbClr val="000000"/>
                </a:solidFill>
                <a:latin typeface="Times New Roman"/>
                <a:ea typeface="Times New Roman"/>
                <a:cs typeface="Times New Roman"/>
                <a:sym typeface="Times New Roman"/>
              </a:rPr>
              <a:t> </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nt</a:t>
            </a:r>
            <a:r>
              <a:rPr lang="en-US" sz="2102" u="none">
                <a:solidFill>
                  <a:srgbClr val="000000"/>
                </a:solidFill>
                <a:latin typeface="Times New Roman"/>
                <a:ea typeface="Times New Roman"/>
                <a:cs typeface="Times New Roman"/>
                <a:sym typeface="Times New Roman"/>
              </a:rPr>
              <a:t>el</a:t>
            </a:r>
            <a:r>
              <a:rPr lang="en-US" sz="2102">
                <a:solidFill>
                  <a:srgbClr val="000000"/>
                </a:solidFill>
                <a:latin typeface="Times New Roman"/>
                <a:ea typeface="Times New Roman"/>
                <a:cs typeface="Times New Roman"/>
                <a:sym typeface="Times New Roman"/>
              </a:rPr>
              <a:t>l</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ge</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ce Sys</a:t>
            </a:r>
            <a:r>
              <a:rPr lang="en-US" sz="2102" u="none">
                <a:solidFill>
                  <a:srgbClr val="000000"/>
                </a:solidFill>
                <a:latin typeface="Times New Roman"/>
                <a:ea typeface="Times New Roman"/>
                <a:cs typeface="Times New Roman"/>
                <a:sym typeface="Times New Roman"/>
              </a:rPr>
              <a:t>-tem</a:t>
            </a:r>
            <a:r>
              <a:rPr lang="en-US" sz="2102">
                <a:solidFill>
                  <a:srgbClr val="000000"/>
                </a:solidFill>
                <a:latin typeface="Times New Roman"/>
                <a:ea typeface="Times New Roman"/>
                <a:cs typeface="Times New Roman"/>
                <a:sym typeface="Times New Roman"/>
              </a:rPr>
              <a:t>s, vol. 15, art. </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o. 105, 2022, doi:10.1007/</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44196</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022-00168-4.</a:t>
            </a:r>
          </a:p>
          <a:p>
            <a:pPr algn="l">
              <a:lnSpc>
                <a:spcPts val="2523"/>
              </a:lnSpc>
            </a:pPr>
            <a:r>
              <a:rPr lang="en-US" sz="2102">
                <a:solidFill>
                  <a:srgbClr val="000000"/>
                </a:solidFill>
                <a:latin typeface="Times New Roman"/>
                <a:ea typeface="Times New Roman"/>
                <a:cs typeface="Times New Roman"/>
                <a:sym typeface="Times New Roman"/>
              </a:rPr>
              <a:t>[8] I. Papa</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tr</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t</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s, D. Ko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st</a:t>
            </a:r>
            <a:r>
              <a:rPr lang="en-US" sz="2102" u="none">
                <a:solidFill>
                  <a:srgbClr val="000000"/>
                </a:solidFill>
                <a:latin typeface="Times New Roman"/>
                <a:ea typeface="Times New Roman"/>
                <a:cs typeface="Times New Roman"/>
                <a:sym typeface="Times New Roman"/>
              </a:rPr>
              <a:t>an</a:t>
            </a:r>
            <a:r>
              <a:rPr lang="en-US" sz="2102">
                <a:solidFill>
                  <a:srgbClr val="000000"/>
                </a:solidFill>
                <a:latin typeface="Times New Roman"/>
                <a:ea typeface="Times New Roman"/>
                <a:cs typeface="Times New Roman"/>
                <a:sym typeface="Times New Roman"/>
              </a:rPr>
              <a:t>t</a:t>
            </a:r>
            <a:r>
              <a:rPr lang="en-US" sz="2102" u="none">
                <a:solidFill>
                  <a:srgbClr val="000000"/>
                </a:solidFill>
                <a:latin typeface="Times New Roman"/>
                <a:ea typeface="Times New Roman"/>
                <a:cs typeface="Times New Roman"/>
                <a:sym typeface="Times New Roman"/>
              </a:rPr>
              <a:t>in</a:t>
            </a:r>
            <a:r>
              <a:rPr lang="en-US" sz="2102">
                <a:solidFill>
                  <a:srgbClr val="000000"/>
                </a:solidFill>
                <a:latin typeface="Times New Roman"/>
                <a:ea typeface="Times New Roman"/>
                <a:cs typeface="Times New Roman"/>
                <a:sym typeface="Times New Roman"/>
              </a:rPr>
              <a:t>i</a:t>
            </a:r>
            <a:r>
              <a:rPr lang="en-US" sz="2102" u="none">
                <a:solidFill>
                  <a:srgbClr val="000000"/>
                </a:solidFill>
                <a:latin typeface="Times New Roman"/>
                <a:ea typeface="Times New Roman"/>
                <a:cs typeface="Times New Roman"/>
                <a:sym typeface="Times New Roman"/>
              </a:rPr>
              <a:t>d</a:t>
            </a:r>
            <a:r>
              <a:rPr lang="en-US" sz="2102">
                <a:solidFill>
                  <a:srgbClr val="000000"/>
                </a:solidFill>
                <a:latin typeface="Times New Roman"/>
                <a:ea typeface="Times New Roman"/>
                <a:cs typeface="Times New Roman"/>
                <a:sym typeface="Times New Roman"/>
              </a:rPr>
              <a:t>is, P. Daras, and K. Dimitropoulos, “AI nutrition recommendation using a deep generative model and ChatGPT,” Scientific Reports, vol. 14, art. no. 14620, 2024, doi</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10</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1038/</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41598-024-65438-x</a:t>
            </a:r>
            <a:r>
              <a:rPr lang="en-US" sz="2102" u="none">
                <a:solidFill>
                  <a:srgbClr val="000000"/>
                </a:solidFill>
                <a:latin typeface="Times New Roman"/>
                <a:ea typeface="Times New Roman"/>
                <a:cs typeface="Times New Roman"/>
                <a:sym typeface="Times New Roman"/>
              </a:rPr>
              <a:t>.</a:t>
            </a:r>
          </a:p>
          <a:p>
            <a:pPr algn="l">
              <a:lnSpc>
                <a:spcPts val="2523"/>
              </a:lnSpc>
            </a:pPr>
            <a:r>
              <a:rPr lang="en-US" sz="2102">
                <a:solidFill>
                  <a:srgbClr val="000000"/>
                </a:solidFill>
                <a:latin typeface="Times New Roman"/>
                <a:ea typeface="Times New Roman"/>
                <a:cs typeface="Times New Roman"/>
                <a:sym typeface="Times New Roman"/>
              </a:rPr>
              <a:t>[9] Z</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Kw</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 W</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Z</a:t>
            </a:r>
            <a:r>
              <a:rPr lang="en-US" sz="2102" u="none">
                <a:solidFill>
                  <a:srgbClr val="000000"/>
                </a:solidFill>
                <a:latin typeface="Times New Roman"/>
                <a:ea typeface="Times New Roman"/>
                <a:cs typeface="Times New Roman"/>
                <a:sym typeface="Times New Roman"/>
              </a:rPr>
              <a:t>han</a:t>
            </a:r>
            <a:r>
              <a:rPr lang="en-US" sz="2102">
                <a:solidFill>
                  <a:srgbClr val="000000"/>
                </a:solidFill>
                <a:latin typeface="Times New Roman"/>
                <a:ea typeface="Times New Roman"/>
                <a:cs typeface="Times New Roman"/>
                <a:sym typeface="Times New Roman"/>
              </a:rPr>
              <a:t>g, Z. W</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ng, A</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B. Ng, and S. See, “Nutrition Estimation for Dietary Management: A Transformer Approach with Depth Sensing,” arXiv preprintarXiv:2406.01938, 2024. [Online]. Available: https://arxiv.org/abs/2406.01938</a:t>
            </a:r>
          </a:p>
          <a:p>
            <a:pPr algn="l">
              <a:lnSpc>
                <a:spcPts val="2523"/>
              </a:lnSpc>
            </a:pPr>
            <a:r>
              <a:rPr lang="en-US" sz="2102">
                <a:solidFill>
                  <a:srgbClr val="000000"/>
                </a:solidFill>
                <a:latin typeface="Times New Roman"/>
                <a:ea typeface="Times New Roman"/>
                <a:cs typeface="Times New Roman"/>
                <a:sym typeface="Times New Roman"/>
              </a:rPr>
              <a:t>[10] L. Liu, Y. Guan, Z. Wang, R. Shen, G. Zheng, X. Fu, X. Yu, and J. Jiang, “An interactive food recommendation system using reinforcement learn-ing,” Expert Sys</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ems wi</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h A</a:t>
            </a:r>
            <a:r>
              <a:rPr lang="en-US" sz="2102" u="none">
                <a:solidFill>
                  <a:srgbClr val="000000"/>
                </a:solidFill>
                <a:latin typeface="Times New Roman"/>
                <a:ea typeface="Times New Roman"/>
                <a:cs typeface="Times New Roman"/>
                <a:sym typeface="Times New Roman"/>
              </a:rPr>
              <a:t>pp</a:t>
            </a:r>
            <a:r>
              <a:rPr lang="en-US" sz="2102">
                <a:solidFill>
                  <a:srgbClr val="000000"/>
                </a:solidFill>
                <a:latin typeface="Times New Roman"/>
                <a:ea typeface="Times New Roman"/>
                <a:cs typeface="Times New Roman"/>
                <a:sym typeface="Times New Roman"/>
              </a:rPr>
              <a:t>lic</a:t>
            </a:r>
            <a:r>
              <a:rPr lang="en-US" sz="2102" u="none">
                <a:solidFill>
                  <a:srgbClr val="000000"/>
                </a:solidFill>
                <a:latin typeface="Times New Roman"/>
                <a:ea typeface="Times New Roman"/>
                <a:cs typeface="Times New Roman"/>
                <a:sym typeface="Times New Roman"/>
              </a:rPr>
              <a:t>ati</a:t>
            </a:r>
            <a:r>
              <a:rPr lang="en-US" sz="2102">
                <a:solidFill>
                  <a:srgbClr val="000000"/>
                </a:solidFill>
                <a:latin typeface="Times New Roman"/>
                <a:ea typeface="Times New Roman"/>
                <a:cs typeface="Times New Roman"/>
                <a:sym typeface="Times New Roman"/>
              </a:rPr>
              <a:t>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s, vol</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254, a</a:t>
            </a:r>
            <a:r>
              <a:rPr lang="en-US" sz="2102" u="none">
                <a:solidFill>
                  <a:srgbClr val="000000"/>
                </a:solidFill>
                <a:latin typeface="Times New Roman"/>
                <a:ea typeface="Times New Roman"/>
                <a:cs typeface="Times New Roman"/>
                <a:sym typeface="Times New Roman"/>
              </a:rPr>
              <a:t>r</a:t>
            </a:r>
            <a:r>
              <a:rPr lang="en-US" sz="2102">
                <a:solidFill>
                  <a:srgbClr val="000000"/>
                </a:solidFill>
                <a:latin typeface="Times New Roman"/>
                <a:ea typeface="Times New Roman"/>
                <a:cs typeface="Times New Roman"/>
                <a:sym typeface="Times New Roman"/>
              </a:rPr>
              <a:t>t. </a:t>
            </a:r>
            <a:r>
              <a:rPr lang="en-US" sz="2102" u="none">
                <a:solidFill>
                  <a:srgbClr val="000000"/>
                </a:solidFill>
                <a:latin typeface="Times New Roman"/>
                <a:ea typeface="Times New Roman"/>
                <a:cs typeface="Times New Roman"/>
                <a:sym typeface="Times New Roman"/>
              </a:rPr>
              <a:t>no.</a:t>
            </a:r>
            <a:r>
              <a:rPr lang="en-US" sz="2102">
                <a:solidFill>
                  <a:srgbClr val="000000"/>
                </a:solidFill>
                <a:latin typeface="Times New Roman"/>
                <a:ea typeface="Times New Roman"/>
                <a:cs typeface="Times New Roman"/>
                <a:sym typeface="Times New Roman"/>
              </a:rPr>
              <a:t> 124313, N</a:t>
            </a:r>
            <a:r>
              <a:rPr lang="en-US" sz="2102" u="none">
                <a:solidFill>
                  <a:srgbClr val="000000"/>
                </a:solidFill>
                <a:latin typeface="Times New Roman"/>
                <a:ea typeface="Times New Roman"/>
                <a:cs typeface="Times New Roman"/>
                <a:sym typeface="Times New Roman"/>
              </a:rPr>
              <a:t>o</a:t>
            </a:r>
            <a:r>
              <a:rPr lang="en-US" sz="2102">
                <a:solidFill>
                  <a:srgbClr val="000000"/>
                </a:solidFill>
                <a:latin typeface="Times New Roman"/>
                <a:ea typeface="Times New Roman"/>
                <a:cs typeface="Times New Roman"/>
                <a:sym typeface="Times New Roman"/>
              </a:rPr>
              <a:t>v. 2024, do</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a:t>
            </a:r>
            <a:r>
              <a:rPr lang="en-US" sz="2102" u="none">
                <a:solidFill>
                  <a:srgbClr val="000000"/>
                </a:solidFill>
                <a:latin typeface="Times New Roman"/>
                <a:ea typeface="Times New Roman"/>
                <a:cs typeface="Times New Roman"/>
                <a:sym typeface="Times New Roman"/>
              </a:rPr>
              <a:t>10.1</a:t>
            </a:r>
            <a:r>
              <a:rPr lang="en-US" sz="2102">
                <a:solidFill>
                  <a:srgbClr val="000000"/>
                </a:solidFill>
                <a:latin typeface="Times New Roman"/>
                <a:ea typeface="Times New Roman"/>
                <a:cs typeface="Times New Roman"/>
                <a:sym typeface="Times New Roman"/>
              </a:rPr>
              <a:t>0</a:t>
            </a:r>
            <a:r>
              <a:rPr lang="en-US" sz="2102" u="none">
                <a:solidFill>
                  <a:srgbClr val="000000"/>
                </a:solidFill>
                <a:latin typeface="Times New Roman"/>
                <a:ea typeface="Times New Roman"/>
                <a:cs typeface="Times New Roman"/>
                <a:sym typeface="Times New Roman"/>
              </a:rPr>
              <a:t>1</a:t>
            </a:r>
            <a:r>
              <a:rPr lang="en-US" sz="2102">
                <a:solidFill>
                  <a:srgbClr val="000000"/>
                </a:solidFill>
                <a:latin typeface="Times New Roman"/>
                <a:ea typeface="Times New Roman"/>
                <a:cs typeface="Times New Roman"/>
                <a:sym typeface="Times New Roman"/>
              </a:rPr>
              <a:t>6</a:t>
            </a:r>
            <a:r>
              <a:rPr lang="en-US" sz="2102" u="none">
                <a:solidFill>
                  <a:srgbClr val="000000"/>
                </a:solidFill>
                <a:latin typeface="Times New Roman"/>
                <a:ea typeface="Times New Roman"/>
                <a:cs typeface="Times New Roman"/>
                <a:sym typeface="Times New Roman"/>
              </a:rPr>
              <a:t>/j</a:t>
            </a:r>
            <a:r>
              <a:rPr lang="en-US" sz="2102">
                <a:solidFill>
                  <a:srgbClr val="000000"/>
                </a:solidFill>
                <a:latin typeface="Times New Roman"/>
                <a:ea typeface="Times New Roman"/>
                <a:cs typeface="Times New Roman"/>
                <a:sym typeface="Times New Roman"/>
              </a:rPr>
              <a:t>.e</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wa.2024.</a:t>
            </a:r>
            <a:r>
              <a:rPr lang="en-US" sz="2102" u="none">
                <a:solidFill>
                  <a:srgbClr val="000000"/>
                </a:solidFill>
                <a:latin typeface="Times New Roman"/>
                <a:ea typeface="Times New Roman"/>
                <a:cs typeface="Times New Roman"/>
                <a:sym typeface="Times New Roman"/>
              </a:rPr>
              <a:t>12</a:t>
            </a:r>
            <a:r>
              <a:rPr lang="en-US" sz="2102">
                <a:solidFill>
                  <a:srgbClr val="000000"/>
                </a:solidFill>
                <a:latin typeface="Times New Roman"/>
                <a:ea typeface="Times New Roman"/>
                <a:cs typeface="Times New Roman"/>
                <a:sym typeface="Times New Roman"/>
              </a:rPr>
              <a:t>4</a:t>
            </a:r>
            <a:r>
              <a:rPr lang="en-US" sz="2102" u="none">
                <a:solidFill>
                  <a:srgbClr val="000000"/>
                </a:solidFill>
                <a:latin typeface="Times New Roman"/>
                <a:ea typeface="Times New Roman"/>
                <a:cs typeface="Times New Roman"/>
                <a:sym typeface="Times New Roman"/>
              </a:rPr>
              <a:t>3</a:t>
            </a:r>
            <a:r>
              <a:rPr lang="en-US" sz="2102">
                <a:solidFill>
                  <a:srgbClr val="000000"/>
                </a:solidFill>
                <a:latin typeface="Times New Roman"/>
                <a:ea typeface="Times New Roman"/>
                <a:cs typeface="Times New Roman"/>
                <a:sym typeface="Times New Roman"/>
              </a:rPr>
              <a:t>1</a:t>
            </a:r>
            <a:r>
              <a:rPr lang="en-US" sz="2102" u="none">
                <a:solidFill>
                  <a:srgbClr val="000000"/>
                </a:solidFill>
                <a:latin typeface="Times New Roman"/>
                <a:ea typeface="Times New Roman"/>
                <a:cs typeface="Times New Roman"/>
                <a:sym typeface="Times New Roman"/>
              </a:rPr>
              <a:t>3.</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dirty="0">
                  <a:solidFill>
                    <a:srgbClr val="888888"/>
                  </a:solidFill>
                  <a:latin typeface="Calibri (MS)"/>
                  <a:ea typeface="Calibri (MS)"/>
                  <a:cs typeface="Calibri (MS)"/>
                  <a:sym typeface="Calibri (MS)"/>
                </a:rPr>
                <a:t>48</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5906</Words>
  <Application>Microsoft Office PowerPoint</Application>
  <PresentationFormat>Custom</PresentationFormat>
  <Paragraphs>836</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Calibri (MS)</vt:lpstr>
      <vt:lpstr>Times New Roman</vt:lpstr>
      <vt:lpstr>Calibri</vt:lpstr>
      <vt:lpstr>Arial</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GR21-MPIDISM-PPT.pptx</dc:title>
  <dc:creator>Sanjit Dutta</dc:creator>
  <cp:lastModifiedBy>Rohan Banerjee</cp:lastModifiedBy>
  <cp:revision>5</cp:revision>
  <dcterms:created xsi:type="dcterms:W3CDTF">2006-08-16T00:00:00Z</dcterms:created>
  <dcterms:modified xsi:type="dcterms:W3CDTF">2025-12-21T10:36:31Z</dcterms:modified>
  <dc:identifier>DAG7rq700gM</dc:identifier>
</cp:coreProperties>
</file>