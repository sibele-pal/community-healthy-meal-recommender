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8288000" cy="10287000"/>
  <p:notesSz cx="6858000" cy="9144000"/>
  <p:embeddedFontLst>
    <p:embeddedFont>
      <p:font typeface="Calibri (MS)" panose="020B0604020202020204" charset="0"/>
      <p:regular r:id="rId43"/>
    </p:embeddedFont>
    <p:embeddedFont>
      <p:font typeface="Times New Roman Bold" panose="02020803070505020304" pitchFamily="18" charset="0"/>
      <p:bold r:id="rId44"/>
    </p:embeddedFont>
    <p:embeddedFont>
      <p:font typeface="Calibri" panose="020F0502020204030204" pitchFamily="34" charset="0"/>
      <p:regular r:id="rId45"/>
      <p:bold r:id="rId46"/>
      <p:italic r:id="rId47"/>
      <p:boldItalic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610"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18.12.2025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390552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5997868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5005960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8370336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9241248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9357237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3110019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5743761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0687592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5636389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1204413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7945105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7879265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0575016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8749528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0931609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7180201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6069571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360854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833209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9144241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5377787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42623497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6917668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5296306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8258653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8224662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602173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5638135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40086620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9158895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2425168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42835260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9787019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113320489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96225873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12066908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403570689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304771041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p>
        </p:txBody>
      </p:sp>
    </p:spTree>
    <p:extLst>
      <p:ext uri="{BB962C8B-B14F-4D97-AF65-F5344CB8AC3E}">
        <p14:creationId xmlns:p14="http://schemas.microsoft.com/office/powerpoint/2010/main" val="26699450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4.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86000" y="1855694"/>
            <a:ext cx="14744700" cy="3660115"/>
            <a:chOff x="0" y="0"/>
            <a:chExt cx="19659600" cy="4880154"/>
          </a:xfrm>
        </p:grpSpPr>
        <p:sp>
          <p:nvSpPr>
            <p:cNvPr id="3" name="Freeform 3"/>
            <p:cNvSpPr/>
            <p:nvPr/>
          </p:nvSpPr>
          <p:spPr>
            <a:xfrm>
              <a:off x="0" y="0"/>
              <a:ext cx="19659600" cy="4880153"/>
            </a:xfrm>
            <a:custGeom>
              <a:avLst/>
              <a:gdLst/>
              <a:ahLst/>
              <a:cxnLst/>
              <a:rect l="l" t="t" r="r" b="b"/>
              <a:pathLst>
                <a:path w="19659600" h="4880153">
                  <a:moveTo>
                    <a:pt x="0" y="0"/>
                  </a:moveTo>
                  <a:lnTo>
                    <a:pt x="19659600" y="0"/>
                  </a:lnTo>
                  <a:lnTo>
                    <a:pt x="19659600" y="4880153"/>
                  </a:lnTo>
                  <a:lnTo>
                    <a:pt x="0" y="4880153"/>
                  </a:lnTo>
                  <a:close/>
                </a:path>
              </a:pathLst>
            </a:custGeom>
            <a:solidFill>
              <a:srgbClr val="000000">
                <a:alpha val="0"/>
              </a:srgbClr>
            </a:solidFill>
          </p:spPr>
        </p:sp>
        <p:sp>
          <p:nvSpPr>
            <p:cNvPr id="4" name="TextBox 4"/>
            <p:cNvSpPr txBox="1"/>
            <p:nvPr/>
          </p:nvSpPr>
          <p:spPr>
            <a:xfrm>
              <a:off x="0" y="38100"/>
              <a:ext cx="19659600" cy="4842054"/>
            </a:xfrm>
            <a:prstGeom prst="rect">
              <a:avLst/>
            </a:prstGeom>
          </p:spPr>
          <p:txBody>
            <a:bodyPr lIns="0" tIns="0" rIns="0" bIns="0" rtlCol="0" anchor="b"/>
            <a:lstStyle/>
            <a:p>
              <a:pPr algn="ctr">
                <a:lnSpc>
                  <a:spcPts val="6480"/>
                </a:lnSpc>
              </a:pPr>
              <a:r>
                <a:rPr lang="en-US" sz="6000" b="1" dirty="0">
                  <a:solidFill>
                    <a:srgbClr val="000000"/>
                  </a:solidFill>
                  <a:latin typeface="Times New Roman Bold"/>
                  <a:ea typeface="Times New Roman Bold"/>
                  <a:cs typeface="Times New Roman Bold"/>
                  <a:sym typeface="Times New Roman Bold"/>
                </a:rPr>
                <a:t>A Novel Community and Family Centric Healthy Meal Planner Integrating Nutritional Information, User Preferences, and Regional Context</a:t>
              </a:r>
            </a:p>
          </p:txBody>
        </p:sp>
      </p:grpSp>
      <p:sp>
        <p:nvSpPr>
          <p:cNvPr id="5" name="TextBox 5"/>
          <p:cNvSpPr txBox="1"/>
          <p:nvPr/>
        </p:nvSpPr>
        <p:spPr>
          <a:xfrm>
            <a:off x="2377425" y="5641395"/>
            <a:ext cx="13533150" cy="3005438"/>
          </a:xfrm>
          <a:prstGeom prst="rect">
            <a:avLst/>
          </a:prstGeom>
        </p:spPr>
        <p:txBody>
          <a:bodyPr lIns="0" tIns="0" rIns="0" bIns="0" rtlCol="0" anchor="t">
            <a:spAutoFit/>
          </a:bodyPr>
          <a:lstStyle/>
          <a:p>
            <a:pPr algn="ctr"/>
            <a:r>
              <a:rPr lang="en-US" sz="2790" dirty="0">
                <a:solidFill>
                  <a:srgbClr val="000000"/>
                </a:solidFill>
                <a:latin typeface="Times New Roman"/>
                <a:ea typeface="Times New Roman"/>
                <a:cs typeface="Times New Roman"/>
                <a:sym typeface="Times New Roman"/>
              </a:rPr>
              <a:t>- </a:t>
            </a:r>
            <a:r>
              <a:rPr lang="en-US" sz="2790" b="1" dirty="0">
                <a:solidFill>
                  <a:srgbClr val="000000"/>
                </a:solidFill>
                <a:latin typeface="Times New Roman Bold"/>
                <a:ea typeface="Times New Roman Bold"/>
                <a:cs typeface="Times New Roman Bold"/>
                <a:sym typeface="Times New Roman Bold"/>
              </a:rPr>
              <a:t>Presented by</a:t>
            </a:r>
          </a:p>
          <a:p>
            <a:pPr algn="ctr"/>
            <a:r>
              <a:rPr lang="en-US" sz="2790" dirty="0">
                <a:solidFill>
                  <a:srgbClr val="000000"/>
                </a:solidFill>
                <a:latin typeface="Times New Roman"/>
                <a:ea typeface="Times New Roman"/>
                <a:cs typeface="Times New Roman"/>
                <a:sym typeface="Times New Roman"/>
              </a:rPr>
              <a:t>Rohan Banerjee (</a:t>
            </a:r>
            <a:r>
              <a:rPr lang="en-US" sz="2790" dirty="0" smtClean="0">
                <a:solidFill>
                  <a:srgbClr val="000000"/>
                </a:solidFill>
                <a:latin typeface="Times New Roman"/>
                <a:ea typeface="Times New Roman"/>
                <a:cs typeface="Times New Roman"/>
                <a:sym typeface="Times New Roman"/>
              </a:rPr>
              <a:t>13000122001</a:t>
            </a:r>
            <a:r>
              <a:rPr lang="en-US" sz="2790" dirty="0">
                <a:solidFill>
                  <a:srgbClr val="000000"/>
                </a:solidFill>
                <a:latin typeface="Times New Roman"/>
                <a:ea typeface="Times New Roman"/>
                <a:cs typeface="Times New Roman"/>
                <a:sym typeface="Times New Roman"/>
              </a:rPr>
              <a:t>)</a:t>
            </a:r>
          </a:p>
          <a:p>
            <a:pPr algn="ctr"/>
            <a:r>
              <a:rPr lang="en-US" sz="2790" dirty="0" err="1">
                <a:solidFill>
                  <a:srgbClr val="000000"/>
                </a:solidFill>
                <a:latin typeface="Times New Roman"/>
                <a:ea typeface="Times New Roman"/>
                <a:cs typeface="Times New Roman"/>
                <a:sym typeface="Times New Roman"/>
              </a:rPr>
              <a:t>Sasshtik</a:t>
            </a:r>
            <a:r>
              <a:rPr lang="en-US" sz="2790" dirty="0">
                <a:solidFill>
                  <a:srgbClr val="000000"/>
                </a:solidFill>
                <a:latin typeface="Times New Roman"/>
                <a:ea typeface="Times New Roman"/>
                <a:cs typeface="Times New Roman"/>
                <a:sym typeface="Times New Roman"/>
              </a:rPr>
              <a:t> Trivedi (13000122006)</a:t>
            </a:r>
          </a:p>
          <a:p>
            <a:pPr algn="ctr"/>
            <a:r>
              <a:rPr lang="en-US" sz="2790" dirty="0">
                <a:solidFill>
                  <a:srgbClr val="000000"/>
                </a:solidFill>
                <a:latin typeface="Times New Roman"/>
                <a:ea typeface="Times New Roman"/>
                <a:cs typeface="Times New Roman"/>
                <a:sym typeface="Times New Roman"/>
              </a:rPr>
              <a:t>Sanjit Dutta (13000122007)</a:t>
            </a:r>
          </a:p>
          <a:p>
            <a:pPr algn="ctr"/>
            <a:r>
              <a:rPr lang="en-US" sz="2790" dirty="0" err="1">
                <a:solidFill>
                  <a:srgbClr val="000000"/>
                </a:solidFill>
                <a:latin typeface="Times New Roman"/>
                <a:ea typeface="Times New Roman"/>
                <a:cs typeface="Times New Roman"/>
                <a:sym typeface="Times New Roman"/>
              </a:rPr>
              <a:t>Sibele</a:t>
            </a:r>
            <a:r>
              <a:rPr lang="en-US" sz="2790" dirty="0">
                <a:solidFill>
                  <a:srgbClr val="000000"/>
                </a:solidFill>
                <a:latin typeface="Times New Roman"/>
                <a:ea typeface="Times New Roman"/>
                <a:cs typeface="Times New Roman"/>
                <a:sym typeface="Times New Roman"/>
              </a:rPr>
              <a:t> Pal (13000122048)</a:t>
            </a:r>
          </a:p>
          <a:p>
            <a:pPr algn="ctr"/>
            <a:endParaRPr lang="en-US" sz="2790" dirty="0">
              <a:solidFill>
                <a:srgbClr val="000000"/>
              </a:solidFill>
              <a:latin typeface="Times New Roman"/>
              <a:ea typeface="Times New Roman"/>
              <a:cs typeface="Times New Roman"/>
              <a:sym typeface="Times New Roman"/>
            </a:endParaRPr>
          </a:p>
          <a:p>
            <a:pPr algn="ctr"/>
            <a:r>
              <a:rPr lang="en-US" sz="2790" dirty="0">
                <a:solidFill>
                  <a:srgbClr val="000000"/>
                </a:solidFill>
                <a:latin typeface="Times New Roman"/>
                <a:ea typeface="Times New Roman"/>
                <a:cs typeface="Times New Roman"/>
                <a:sym typeface="Times New Roman"/>
              </a:rPr>
              <a:t>- </a:t>
            </a:r>
            <a:r>
              <a:rPr lang="en-US" sz="2790" b="1" dirty="0">
                <a:solidFill>
                  <a:srgbClr val="000000"/>
                </a:solidFill>
                <a:latin typeface="Times New Roman Bold"/>
                <a:ea typeface="Times New Roman Bold"/>
                <a:cs typeface="Times New Roman Bold"/>
                <a:sym typeface="Times New Roman Bold"/>
              </a:rPr>
              <a:t>Under the guidance of </a:t>
            </a:r>
            <a:r>
              <a:rPr lang="en-US" sz="2790" dirty="0">
                <a:solidFill>
                  <a:srgbClr val="000000"/>
                </a:solidFill>
                <a:latin typeface="Times New Roman"/>
                <a:ea typeface="Times New Roman"/>
                <a:cs typeface="Times New Roman"/>
                <a:sym typeface="Times New Roman"/>
              </a:rPr>
              <a:t>Prof. </a:t>
            </a:r>
            <a:r>
              <a:rPr lang="en-US" sz="2790" dirty="0" err="1">
                <a:solidFill>
                  <a:srgbClr val="000000"/>
                </a:solidFill>
                <a:latin typeface="Times New Roman"/>
                <a:ea typeface="Times New Roman"/>
                <a:cs typeface="Times New Roman"/>
                <a:sym typeface="Times New Roman"/>
              </a:rPr>
              <a:t>Poulami</a:t>
            </a:r>
            <a:r>
              <a:rPr lang="en-US" sz="2790" dirty="0">
                <a:solidFill>
                  <a:srgbClr val="000000"/>
                </a:solidFill>
                <a:latin typeface="Times New Roman"/>
                <a:ea typeface="Times New Roman"/>
                <a:cs typeface="Times New Roman"/>
                <a:sym typeface="Times New Roman"/>
              </a:rPr>
              <a:t> Dutta</a:t>
            </a:r>
          </a:p>
        </p:txBody>
      </p:sp>
      <p:grpSp>
        <p:nvGrpSpPr>
          <p:cNvPr id="6" name="Group 6"/>
          <p:cNvGrpSpPr/>
          <p:nvPr/>
        </p:nvGrpSpPr>
        <p:grpSpPr>
          <a:xfrm>
            <a:off x="1257300" y="9534525"/>
            <a:ext cx="4114800" cy="547688"/>
            <a:chOff x="0" y="0"/>
            <a:chExt cx="5486400" cy="730250"/>
          </a:xfrm>
        </p:grpSpPr>
        <p:sp>
          <p:nvSpPr>
            <p:cNvPr id="7" name="Freeform 7"/>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8" name="TextBox 8"/>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grpSp>
        <p:nvGrpSpPr>
          <p:cNvPr id="9" name="Group 9"/>
          <p:cNvGrpSpPr/>
          <p:nvPr/>
        </p:nvGrpSpPr>
        <p:grpSpPr>
          <a:xfrm>
            <a:off x="6057900" y="9534525"/>
            <a:ext cx="6172200" cy="547688"/>
            <a:chOff x="0" y="0"/>
            <a:chExt cx="8229600" cy="730250"/>
          </a:xfrm>
        </p:grpSpPr>
        <p:sp>
          <p:nvSpPr>
            <p:cNvPr id="10" name="Freeform 10"/>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11" name="TextBox 11"/>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12" name="Group 12"/>
          <p:cNvGrpSpPr/>
          <p:nvPr/>
        </p:nvGrpSpPr>
        <p:grpSpPr>
          <a:xfrm>
            <a:off x="129159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1</a:t>
              </a:r>
            </a:p>
          </p:txBody>
        </p:sp>
      </p:grpSp>
      <p:pic>
        <p:nvPicPr>
          <p:cNvPr id="21" name="Google Shape;93;p1"/>
          <p:cNvPicPr preferRelativeResize="0"/>
          <p:nvPr/>
        </p:nvPicPr>
        <p:blipFill rotWithShape="1">
          <a:blip r:embed="rId3">
            <a:alphaModFix/>
          </a:blip>
          <a:srcRect/>
          <a:stretch/>
        </p:blipFill>
        <p:spPr>
          <a:xfrm>
            <a:off x="342522" y="411392"/>
            <a:ext cx="914778" cy="860177"/>
          </a:xfrm>
          <a:prstGeom prst="rect">
            <a:avLst/>
          </a:prstGeom>
          <a:noFill/>
          <a:ln>
            <a:noFill/>
          </a:ln>
        </p:spPr>
      </p:pic>
      <p:grpSp>
        <p:nvGrpSpPr>
          <p:cNvPr id="22" name="Google Shape;94;p1"/>
          <p:cNvGrpSpPr/>
          <p:nvPr/>
        </p:nvGrpSpPr>
        <p:grpSpPr>
          <a:xfrm>
            <a:off x="221223" y="359329"/>
            <a:ext cx="17897473" cy="1042664"/>
            <a:chOff x="1800" y="1130"/>
            <a:chExt cx="8715" cy="535"/>
          </a:xfrm>
        </p:grpSpPr>
        <p:sp>
          <p:nvSpPr>
            <p:cNvPr id="23" name="Google Shape;95;p1"/>
            <p:cNvSpPr txBox="1"/>
            <p:nvPr/>
          </p:nvSpPr>
          <p:spPr>
            <a:xfrm>
              <a:off x="6408" y="1130"/>
              <a:ext cx="4107" cy="53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rtl="0">
                <a:spcBef>
                  <a:spcPts val="0"/>
                </a:spcBef>
                <a:spcAft>
                  <a:spcPts val="0"/>
                </a:spcAft>
                <a:buNone/>
              </a:pPr>
              <a:r>
                <a:rPr lang="en-IN" sz="2000" b="0" i="1" u="none" strike="noStrike" cap="none" dirty="0">
                  <a:solidFill>
                    <a:schemeClr val="dk1"/>
                  </a:solidFill>
                  <a:latin typeface="Times New Roman"/>
                  <a:ea typeface="Times New Roman"/>
                  <a:cs typeface="Times New Roman"/>
                  <a:sym typeface="Times New Roman"/>
                </a:rPr>
                <a:t>Techno Main Salt Lake</a:t>
              </a:r>
              <a:endParaRPr sz="2400" b="0" i="0" u="none" strike="noStrike" cap="none" dirty="0">
                <a:solidFill>
                  <a:schemeClr val="dk1"/>
                </a:solidFill>
                <a:latin typeface="Times New Roman"/>
                <a:ea typeface="Times New Roman"/>
                <a:cs typeface="Times New Roman"/>
                <a:sym typeface="Times New Roman"/>
              </a:endParaRPr>
            </a:p>
            <a:p>
              <a:pPr marL="0" marR="0" lvl="0" indent="0" algn="r" rtl="0">
                <a:spcBef>
                  <a:spcPts val="0"/>
                </a:spcBef>
                <a:spcAft>
                  <a:spcPts val="0"/>
                </a:spcAft>
                <a:buNone/>
              </a:pPr>
              <a:r>
                <a:rPr lang="en-IN" sz="2000" b="0" i="1" u="none" strike="noStrike" cap="none" dirty="0">
                  <a:solidFill>
                    <a:schemeClr val="dk1"/>
                  </a:solidFill>
                  <a:latin typeface="Times New Roman"/>
                  <a:ea typeface="Times New Roman"/>
                  <a:cs typeface="Times New Roman"/>
                  <a:sym typeface="Times New Roman"/>
                </a:rPr>
                <a:t>       EM-4/1, Sector-V, Salt Lake City, Kolkata- 700091</a:t>
              </a:r>
              <a:endParaRPr sz="2400" b="0" i="0" u="none" strike="noStrike" cap="none" dirty="0">
                <a:solidFill>
                  <a:schemeClr val="dk1"/>
                </a:solidFill>
                <a:latin typeface="Times New Roman"/>
                <a:ea typeface="Times New Roman"/>
                <a:cs typeface="Times New Roman"/>
                <a:sym typeface="Times New Roman"/>
              </a:endParaRPr>
            </a:p>
          </p:txBody>
        </p:sp>
        <p:cxnSp>
          <p:nvCxnSpPr>
            <p:cNvPr id="24" name="Google Shape;96;p1"/>
            <p:cNvCxnSpPr/>
            <p:nvPr/>
          </p:nvCxnSpPr>
          <p:spPr>
            <a:xfrm>
              <a:off x="1800" y="1665"/>
              <a:ext cx="8715" cy="0"/>
            </a:xfrm>
            <a:prstGeom prst="straightConnector1">
              <a:avLst/>
            </a:prstGeom>
            <a:noFill/>
            <a:ln w="57150" cap="flat" cmpd="thinThick">
              <a:solidFill>
                <a:srgbClr val="000000"/>
              </a:solidFill>
              <a:prstDash val="solid"/>
              <a:round/>
              <a:headEnd type="none" w="med" len="med"/>
              <a:tailEnd type="none" w="med" len="med"/>
            </a:ln>
          </p:spPr>
        </p:cxn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988550"/>
            <a:chOff x="0" y="0"/>
            <a:chExt cx="21031200" cy="2651400"/>
          </a:xfrm>
        </p:grpSpPr>
        <p:sp>
          <p:nvSpPr>
            <p:cNvPr id="3" name="Freeform 3"/>
            <p:cNvSpPr/>
            <p:nvPr/>
          </p:nvSpPr>
          <p:spPr>
            <a:xfrm>
              <a:off x="0" y="0"/>
              <a:ext cx="21031200" cy="2651400"/>
            </a:xfrm>
            <a:custGeom>
              <a:avLst/>
              <a:gdLst/>
              <a:ahLst/>
              <a:cxnLst/>
              <a:rect l="l" t="t" r="r" b="b"/>
              <a:pathLst>
                <a:path w="21031200" h="2651400">
                  <a:moveTo>
                    <a:pt x="0" y="0"/>
                  </a:moveTo>
                  <a:lnTo>
                    <a:pt x="21031200" y="0"/>
                  </a:lnTo>
                  <a:lnTo>
                    <a:pt x="21031200" y="2651400"/>
                  </a:lnTo>
                  <a:lnTo>
                    <a:pt x="0" y="2651400"/>
                  </a:lnTo>
                  <a:close/>
                </a:path>
              </a:pathLst>
            </a:custGeom>
            <a:solidFill>
              <a:srgbClr val="000000">
                <a:alpha val="0"/>
              </a:srgbClr>
            </a:solidFill>
          </p:spPr>
        </p:sp>
        <p:sp>
          <p:nvSpPr>
            <p:cNvPr id="4" name="TextBox 4"/>
            <p:cNvSpPr txBox="1"/>
            <p:nvPr/>
          </p:nvSpPr>
          <p:spPr>
            <a:xfrm>
              <a:off x="0" y="38100"/>
              <a:ext cx="21031200" cy="26133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Contents</a:t>
              </a:r>
            </a:p>
          </p:txBody>
        </p:sp>
      </p:grpSp>
      <p:grpSp>
        <p:nvGrpSpPr>
          <p:cNvPr id="5" name="Group 5"/>
          <p:cNvGrpSpPr/>
          <p:nvPr/>
        </p:nvGrpSpPr>
        <p:grpSpPr>
          <a:xfrm>
            <a:off x="1257300" y="9534525"/>
            <a:ext cx="4114800" cy="547688"/>
            <a:chOff x="0" y="0"/>
            <a:chExt cx="5486400" cy="730250"/>
          </a:xfrm>
        </p:grpSpPr>
        <p:sp>
          <p:nvSpPr>
            <p:cNvPr id="6" name="Freeform 6"/>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7" name="TextBox 7"/>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grpSp>
        <p:nvGrpSpPr>
          <p:cNvPr id="8" name="Group 8"/>
          <p:cNvGrpSpPr/>
          <p:nvPr/>
        </p:nvGrpSpPr>
        <p:grpSpPr>
          <a:xfrm>
            <a:off x="6057900" y="9534525"/>
            <a:ext cx="6172200" cy="547688"/>
            <a:chOff x="0" y="0"/>
            <a:chExt cx="8229600" cy="730250"/>
          </a:xfrm>
        </p:grpSpPr>
        <p:sp>
          <p:nvSpPr>
            <p:cNvPr id="9" name="Freeform 9"/>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10" name="TextBox 10"/>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11" name="Group 11"/>
          <p:cNvGrpSpPr/>
          <p:nvPr/>
        </p:nvGrpSpPr>
        <p:grpSpPr>
          <a:xfrm>
            <a:off x="12915900" y="9534525"/>
            <a:ext cx="4114800" cy="547688"/>
            <a:chOff x="0" y="0"/>
            <a:chExt cx="5486400" cy="730250"/>
          </a:xfrm>
        </p:grpSpPr>
        <p:sp>
          <p:nvSpPr>
            <p:cNvPr id="12" name="Freeform 12"/>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3" name="TextBox 13"/>
            <p:cNvSpPr txBox="1"/>
            <p:nvPr/>
          </p:nvSpPr>
          <p:spPr>
            <a:xfrm>
              <a:off x="0" y="-38100"/>
              <a:ext cx="5486400" cy="76835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2</a:t>
              </a:r>
            </a:p>
          </p:txBody>
        </p:sp>
      </p:grpSp>
      <p:sp>
        <p:nvSpPr>
          <p:cNvPr id="14" name="TextBox 14"/>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
        <p:nvSpPr>
          <p:cNvPr id="15" name="TextBox 15"/>
          <p:cNvSpPr txBox="1"/>
          <p:nvPr/>
        </p:nvSpPr>
        <p:spPr>
          <a:xfrm>
            <a:off x="1143000" y="2726738"/>
            <a:ext cx="7926757" cy="5970598"/>
          </a:xfrm>
          <a:prstGeom prst="rect">
            <a:avLst/>
          </a:prstGeom>
        </p:spPr>
        <p:txBody>
          <a:bodyPr lIns="0" tIns="0" rIns="0" bIns="0" rtlCol="0" anchor="t">
            <a:spAutoFit/>
          </a:bodyPr>
          <a:lstStyle/>
          <a:p>
            <a:pPr marL="783394" lvl="1" indent="-391697" algn="l">
              <a:lnSpc>
                <a:spcPts val="3918"/>
              </a:lnSpc>
              <a:buAutoNum type="arabicPeriod"/>
            </a:pPr>
            <a:r>
              <a:rPr lang="en-US" sz="3628">
                <a:solidFill>
                  <a:srgbClr val="000000"/>
                </a:solidFill>
                <a:latin typeface="Times New Roman"/>
                <a:ea typeface="Times New Roman"/>
                <a:cs typeface="Times New Roman"/>
                <a:sym typeface="Times New Roman"/>
              </a:rPr>
              <a:t>Introduction</a:t>
            </a:r>
          </a:p>
          <a:p>
            <a:pPr marL="783394" lvl="1" indent="-391697" algn="l">
              <a:lnSpc>
                <a:spcPts val="3918"/>
              </a:lnSpc>
              <a:buAutoNum type="arabicPeriod"/>
            </a:pPr>
            <a:r>
              <a:rPr lang="en-US" sz="3628">
                <a:solidFill>
                  <a:srgbClr val="000000"/>
                </a:solidFill>
                <a:latin typeface="Times New Roman"/>
                <a:ea typeface="Times New Roman"/>
                <a:cs typeface="Times New Roman"/>
                <a:sym typeface="Times New Roman"/>
              </a:rPr>
              <a:t>Motivation and Problem Statement</a:t>
            </a:r>
          </a:p>
          <a:p>
            <a:pPr marL="783394" lvl="1" indent="-391697" algn="l">
              <a:lnSpc>
                <a:spcPts val="3918"/>
              </a:lnSpc>
              <a:buAutoNum type="arabicPeriod"/>
            </a:pPr>
            <a:r>
              <a:rPr lang="en-US" sz="3628">
                <a:solidFill>
                  <a:srgbClr val="000000"/>
                </a:solidFill>
                <a:latin typeface="Times New Roman"/>
                <a:ea typeface="Times New Roman"/>
                <a:cs typeface="Times New Roman"/>
                <a:sym typeface="Times New Roman"/>
              </a:rPr>
              <a:t>Objectives and Contributions</a:t>
            </a:r>
          </a:p>
          <a:p>
            <a:pPr marL="783394" lvl="1" indent="-391697" algn="l">
              <a:lnSpc>
                <a:spcPts val="3918"/>
              </a:lnSpc>
              <a:buAutoNum type="arabicPeriod"/>
            </a:pPr>
            <a:r>
              <a:rPr lang="en-US" sz="3628">
                <a:solidFill>
                  <a:srgbClr val="000000"/>
                </a:solidFill>
                <a:latin typeface="Times New Roman"/>
                <a:ea typeface="Times New Roman"/>
                <a:cs typeface="Times New Roman"/>
                <a:sym typeface="Times New Roman"/>
              </a:rPr>
              <a:t>Literature Review</a:t>
            </a:r>
          </a:p>
          <a:p>
            <a:pPr marL="783394" lvl="1" indent="-391697" algn="l">
              <a:lnSpc>
                <a:spcPts val="3918"/>
              </a:lnSpc>
              <a:buAutoNum type="arabicPeriod"/>
            </a:pPr>
            <a:r>
              <a:rPr lang="en-US" sz="3628">
                <a:solidFill>
                  <a:srgbClr val="000000"/>
                </a:solidFill>
                <a:latin typeface="Times New Roman"/>
                <a:ea typeface="Times New Roman"/>
                <a:cs typeface="Times New Roman"/>
                <a:sym typeface="Times New Roman"/>
              </a:rPr>
              <a:t>Dataset Description and Integration</a:t>
            </a:r>
          </a:p>
          <a:p>
            <a:pPr marL="783394" lvl="1" indent="-391697" algn="l">
              <a:lnSpc>
                <a:spcPts val="3918"/>
              </a:lnSpc>
              <a:buAutoNum type="arabicPeriod"/>
            </a:pPr>
            <a:r>
              <a:rPr lang="en-US" sz="3628">
                <a:solidFill>
                  <a:srgbClr val="000000"/>
                </a:solidFill>
                <a:latin typeface="Times New Roman"/>
                <a:ea typeface="Times New Roman"/>
                <a:cs typeface="Times New Roman"/>
                <a:sym typeface="Times New Roman"/>
              </a:rPr>
              <a:t>Data Preprocessing</a:t>
            </a:r>
          </a:p>
          <a:p>
            <a:pPr marL="783394" lvl="1" indent="-391697" algn="l">
              <a:lnSpc>
                <a:spcPts val="3918"/>
              </a:lnSpc>
              <a:buAutoNum type="arabicPeriod"/>
            </a:pPr>
            <a:r>
              <a:rPr lang="en-US" sz="3628">
                <a:solidFill>
                  <a:srgbClr val="000000"/>
                </a:solidFill>
                <a:latin typeface="Times New Roman"/>
                <a:ea typeface="Times New Roman"/>
                <a:cs typeface="Times New Roman"/>
                <a:sym typeface="Times New Roman"/>
              </a:rPr>
              <a:t>Feature Extraction</a:t>
            </a:r>
          </a:p>
          <a:p>
            <a:pPr marL="783394" lvl="1" indent="-391697" algn="l">
              <a:lnSpc>
                <a:spcPts val="3918"/>
              </a:lnSpc>
              <a:buAutoNum type="arabicPeriod"/>
            </a:pPr>
            <a:r>
              <a:rPr lang="en-US" sz="3628">
                <a:solidFill>
                  <a:srgbClr val="000000"/>
                </a:solidFill>
                <a:latin typeface="Times New Roman"/>
                <a:ea typeface="Times New Roman"/>
                <a:cs typeface="Times New Roman"/>
                <a:sym typeface="Times New Roman"/>
              </a:rPr>
              <a:t>System Architecture Overview</a:t>
            </a:r>
          </a:p>
          <a:p>
            <a:pPr marL="783394" lvl="1" indent="-391697" algn="l">
              <a:lnSpc>
                <a:spcPts val="3918"/>
              </a:lnSpc>
              <a:buAutoNum type="arabicPeriod"/>
            </a:pPr>
            <a:r>
              <a:rPr lang="en-US" sz="3628">
                <a:solidFill>
                  <a:srgbClr val="000000"/>
                </a:solidFill>
                <a:latin typeface="Times New Roman"/>
                <a:ea typeface="Times New Roman"/>
                <a:cs typeface="Times New Roman"/>
                <a:sym typeface="Times New Roman"/>
              </a:rPr>
              <a:t>Model Development</a:t>
            </a:r>
          </a:p>
          <a:p>
            <a:pPr marL="1566787" lvl="2" indent="-522262" algn="l">
              <a:lnSpc>
                <a:spcPts val="3918"/>
              </a:lnSpc>
              <a:buAutoNum type="alphaLcPeriod"/>
            </a:pPr>
            <a:r>
              <a:rPr lang="en-US" sz="3628">
                <a:solidFill>
                  <a:srgbClr val="000000"/>
                </a:solidFill>
                <a:latin typeface="Times New Roman"/>
                <a:ea typeface="Times New Roman"/>
                <a:cs typeface="Times New Roman"/>
                <a:sym typeface="Times New Roman"/>
              </a:rPr>
              <a:t>Matrix Factorization</a:t>
            </a:r>
          </a:p>
          <a:p>
            <a:pPr marL="1566787" lvl="2" indent="-522262" algn="l">
              <a:lnSpc>
                <a:spcPts val="3918"/>
              </a:lnSpc>
              <a:buAutoNum type="alphaLcPeriod"/>
            </a:pPr>
            <a:r>
              <a:rPr lang="en-US" sz="3628">
                <a:solidFill>
                  <a:srgbClr val="000000"/>
                </a:solidFill>
                <a:latin typeface="Times New Roman"/>
                <a:ea typeface="Times New Roman"/>
                <a:cs typeface="Times New Roman"/>
                <a:sym typeface="Times New Roman"/>
              </a:rPr>
              <a:t>Transformer Sequence Model</a:t>
            </a:r>
          </a:p>
          <a:p>
            <a:pPr marL="1566787" lvl="2" indent="-522262" algn="l">
              <a:lnSpc>
                <a:spcPts val="3918"/>
              </a:lnSpc>
              <a:buAutoNum type="alphaLcPeriod"/>
            </a:pPr>
            <a:r>
              <a:rPr lang="en-US" sz="3628">
                <a:solidFill>
                  <a:srgbClr val="000000"/>
                </a:solidFill>
                <a:latin typeface="Times New Roman"/>
                <a:ea typeface="Times New Roman"/>
                <a:cs typeface="Times New Roman"/>
                <a:sym typeface="Times New Roman"/>
              </a:rPr>
              <a:t>Content-Based Similarity</a:t>
            </a:r>
          </a:p>
        </p:txBody>
      </p:sp>
      <p:sp>
        <p:nvSpPr>
          <p:cNvPr id="16" name="TextBox 16"/>
          <p:cNvSpPr txBox="1"/>
          <p:nvPr/>
        </p:nvSpPr>
        <p:spPr>
          <a:xfrm>
            <a:off x="9218243" y="2726737"/>
            <a:ext cx="7926757" cy="4983128"/>
          </a:xfrm>
          <a:prstGeom prst="rect">
            <a:avLst/>
          </a:prstGeom>
        </p:spPr>
        <p:txBody>
          <a:bodyPr lIns="0" tIns="0" rIns="0" bIns="0" rtlCol="0" anchor="t">
            <a:spAutoFit/>
          </a:bodyPr>
          <a:lstStyle/>
          <a:p>
            <a:pPr marL="783394" lvl="1" indent="-391697" algn="l">
              <a:lnSpc>
                <a:spcPts val="3918"/>
              </a:lnSpc>
              <a:buAutoNum type="arabicPeriod"/>
            </a:pPr>
            <a:r>
              <a:rPr lang="en-US" sz="3628">
                <a:solidFill>
                  <a:srgbClr val="000000"/>
                </a:solidFill>
                <a:latin typeface="Times New Roman"/>
                <a:ea typeface="Times New Roman"/>
                <a:cs typeface="Times New Roman"/>
                <a:sym typeface="Times New Roman"/>
              </a:rPr>
              <a:t>Attention-Based Fusion Mechanism</a:t>
            </a:r>
          </a:p>
          <a:p>
            <a:pPr marL="783394" lvl="1" indent="-391697" algn="l">
              <a:lnSpc>
                <a:spcPts val="3918"/>
              </a:lnSpc>
              <a:buAutoNum type="arabicPeriod"/>
            </a:pPr>
            <a:r>
              <a:rPr lang="en-US" sz="3628">
                <a:solidFill>
                  <a:srgbClr val="000000"/>
                </a:solidFill>
                <a:latin typeface="Times New Roman"/>
                <a:ea typeface="Times New Roman"/>
                <a:cs typeface="Times New Roman"/>
                <a:sym typeface="Times New Roman"/>
              </a:rPr>
              <a:t>Training and Evaluation Strategy</a:t>
            </a:r>
          </a:p>
          <a:p>
            <a:pPr marL="783394" lvl="1" indent="-391697" algn="l">
              <a:lnSpc>
                <a:spcPts val="3918"/>
              </a:lnSpc>
              <a:buAutoNum type="arabicPeriod"/>
            </a:pPr>
            <a:r>
              <a:rPr lang="en-US" sz="3628">
                <a:solidFill>
                  <a:srgbClr val="000000"/>
                </a:solidFill>
                <a:latin typeface="Times New Roman"/>
                <a:ea typeface="Times New Roman"/>
                <a:cs typeface="Times New Roman"/>
                <a:sym typeface="Times New Roman"/>
              </a:rPr>
              <a:t>Recommendation Generation and Serving</a:t>
            </a:r>
          </a:p>
          <a:p>
            <a:pPr marL="783394" lvl="1" indent="-391697" algn="l">
              <a:lnSpc>
                <a:spcPts val="3918"/>
              </a:lnSpc>
              <a:buAutoNum type="arabicPeriod"/>
            </a:pPr>
            <a:r>
              <a:rPr lang="en-US" sz="3628">
                <a:solidFill>
                  <a:srgbClr val="000000"/>
                </a:solidFill>
                <a:latin typeface="Times New Roman"/>
                <a:ea typeface="Times New Roman"/>
                <a:cs typeface="Times New Roman"/>
                <a:sym typeface="Times New Roman"/>
              </a:rPr>
              <a:t>Experimental Results and Visual Analysis</a:t>
            </a:r>
          </a:p>
          <a:p>
            <a:pPr marL="783394" lvl="1" indent="-391697" algn="l">
              <a:lnSpc>
                <a:spcPts val="3918"/>
              </a:lnSpc>
              <a:buAutoNum type="arabicPeriod"/>
            </a:pPr>
            <a:r>
              <a:rPr lang="en-US" sz="3628">
                <a:solidFill>
                  <a:srgbClr val="000000"/>
                </a:solidFill>
                <a:latin typeface="Times New Roman"/>
                <a:ea typeface="Times New Roman"/>
                <a:cs typeface="Times New Roman"/>
                <a:sym typeface="Times New Roman"/>
              </a:rPr>
              <a:t>Key Findings and Discussion</a:t>
            </a:r>
          </a:p>
          <a:p>
            <a:pPr marL="783394" lvl="1" indent="-391697" algn="l">
              <a:lnSpc>
                <a:spcPts val="3918"/>
              </a:lnSpc>
              <a:buAutoNum type="arabicPeriod"/>
            </a:pPr>
            <a:r>
              <a:rPr lang="en-US" sz="3628">
                <a:solidFill>
                  <a:srgbClr val="000000"/>
                </a:solidFill>
                <a:latin typeface="Times New Roman"/>
                <a:ea typeface="Times New Roman"/>
                <a:cs typeface="Times New Roman"/>
                <a:sym typeface="Times New Roman"/>
              </a:rPr>
              <a:t>Future Scope and Enhancements</a:t>
            </a:r>
          </a:p>
          <a:p>
            <a:pPr marL="783394" lvl="1" indent="-391697" algn="l">
              <a:lnSpc>
                <a:spcPts val="3918"/>
              </a:lnSpc>
              <a:buAutoNum type="arabicPeriod"/>
            </a:pPr>
            <a:r>
              <a:rPr lang="en-US" sz="3628">
                <a:solidFill>
                  <a:srgbClr val="000000"/>
                </a:solidFill>
                <a:latin typeface="Times New Roman"/>
                <a:ea typeface="Times New Roman"/>
                <a:cs typeface="Times New Roman"/>
                <a:sym typeface="Times New Roman"/>
              </a:rPr>
              <a:t>Conclusion</a:t>
            </a:r>
          </a:p>
          <a:p>
            <a:pPr marL="783394" lvl="1" indent="-391697" algn="l">
              <a:lnSpc>
                <a:spcPts val="3918"/>
              </a:lnSpc>
              <a:buAutoNum type="arabicPeriod"/>
            </a:pPr>
            <a:r>
              <a:rPr lang="en-US" sz="3628">
                <a:solidFill>
                  <a:srgbClr val="000000"/>
                </a:solidFill>
                <a:latin typeface="Times New Roman"/>
                <a:ea typeface="Times New Roman"/>
                <a:cs typeface="Times New Roman"/>
                <a:sym typeface="Times New Roman"/>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988345"/>
            <a:chOff x="0" y="0"/>
            <a:chExt cx="21031200" cy="2651126"/>
          </a:xfrm>
        </p:grpSpPr>
        <p:sp>
          <p:nvSpPr>
            <p:cNvPr id="3"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solidFill>
              <a:srgbClr val="000000">
                <a:alpha val="0"/>
              </a:srgbClr>
            </a:solidFill>
          </p:spPr>
        </p:sp>
        <p:sp>
          <p:nvSpPr>
            <p:cNvPr id="4" name="TextBox 4"/>
            <p:cNvSpPr txBox="1"/>
            <p:nvPr/>
          </p:nvSpPr>
          <p:spPr>
            <a:xfrm>
              <a:off x="0" y="38100"/>
              <a:ext cx="21031200" cy="2613026"/>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Motivation</a:t>
              </a:r>
            </a:p>
          </p:txBody>
        </p:sp>
      </p:grpSp>
      <p:sp>
        <p:nvSpPr>
          <p:cNvPr id="5" name="TextBox 5"/>
          <p:cNvSpPr txBox="1"/>
          <p:nvPr/>
        </p:nvSpPr>
        <p:spPr>
          <a:xfrm>
            <a:off x="1348725" y="2484400"/>
            <a:ext cx="15590550" cy="6525825"/>
          </a:xfrm>
          <a:prstGeom prst="rect">
            <a:avLst/>
          </a:prstGeom>
        </p:spPr>
        <p:txBody>
          <a:bodyPr lIns="0" tIns="0" rIns="0" bIns="0" rtlCol="0" anchor="t">
            <a:spAutoFit/>
          </a:bodyPr>
          <a:lstStyle/>
          <a:p>
            <a:pPr algn="l">
              <a:lnSpc>
                <a:spcPts val="4536"/>
              </a:lnSpc>
            </a:pPr>
            <a:r>
              <a:rPr lang="en-US" sz="2400" dirty="0">
                <a:solidFill>
                  <a:srgbClr val="000000"/>
                </a:solidFill>
                <a:latin typeface="Times New Roman"/>
                <a:ea typeface="Times New Roman"/>
                <a:cs typeface="Times New Roman"/>
                <a:sym typeface="Times New Roman"/>
              </a:rPr>
              <a:t>The motivation behind our project are</a:t>
            </a:r>
            <a:r>
              <a:rPr lang="en-US" sz="2400" dirty="0" smtClean="0">
                <a:solidFill>
                  <a:srgbClr val="000000"/>
                </a:solidFill>
                <a:latin typeface="Times New Roman"/>
                <a:ea typeface="Times New Roman"/>
                <a:cs typeface="Times New Roman"/>
                <a:sym typeface="Times New Roman"/>
              </a:rPr>
              <a:t>:</a:t>
            </a:r>
            <a:endParaRPr lang="en-US" sz="2400" dirty="0">
              <a:solidFill>
                <a:srgbClr val="000000"/>
              </a:solidFill>
              <a:latin typeface="Times New Roman"/>
              <a:ea typeface="Times New Roman"/>
              <a:cs typeface="Times New Roman"/>
              <a:sym typeface="Times New Roman"/>
            </a:endParaRPr>
          </a:p>
          <a:p>
            <a:pPr marL="1125855" lvl="1" indent="-742950">
              <a:lnSpc>
                <a:spcPts val="3888"/>
              </a:lnSpc>
              <a:buFont typeface="+mj-lt"/>
              <a:buAutoNum type="arabicPeriod"/>
            </a:pPr>
            <a:r>
              <a:rPr lang="en-US" sz="2400" b="1" dirty="0">
                <a:solidFill>
                  <a:srgbClr val="000000"/>
                </a:solidFill>
                <a:latin typeface="Times New Roman"/>
                <a:ea typeface="Times New Roman"/>
                <a:cs typeface="Times New Roman"/>
                <a:sym typeface="Times New Roman"/>
              </a:rPr>
              <a:t>Addressing Health Risks Through Intelligent Food </a:t>
            </a:r>
            <a:r>
              <a:rPr lang="en-US" sz="2400" b="1" dirty="0" smtClean="0">
                <a:solidFill>
                  <a:srgbClr val="000000"/>
                </a:solidFill>
                <a:latin typeface="Times New Roman"/>
                <a:ea typeface="Times New Roman"/>
                <a:cs typeface="Times New Roman"/>
                <a:sym typeface="Times New Roman"/>
              </a:rPr>
              <a:t>Recommendations: </a:t>
            </a:r>
            <a:r>
              <a:rPr lang="en-US" sz="2400" dirty="0" smtClean="0">
                <a:solidFill>
                  <a:srgbClr val="000000"/>
                </a:solidFill>
                <a:latin typeface="Times New Roman"/>
                <a:ea typeface="Times New Roman"/>
                <a:cs typeface="Times New Roman"/>
                <a:sym typeface="Times New Roman"/>
              </a:rPr>
              <a:t>Lifestyle </a:t>
            </a:r>
            <a:r>
              <a:rPr lang="en-US" sz="2400" dirty="0">
                <a:solidFill>
                  <a:srgbClr val="000000"/>
                </a:solidFill>
                <a:latin typeface="Times New Roman"/>
                <a:ea typeface="Times New Roman"/>
                <a:cs typeface="Times New Roman"/>
                <a:sym typeface="Times New Roman"/>
              </a:rPr>
              <a:t>diseases such as diabetes, obesity, and hypertension are increasing rapidly due to unhealthy eating habits. Existing food platforms prioritize popularity and taste, often ignoring nutritional suitability and health constraints</a:t>
            </a:r>
            <a:r>
              <a:rPr lang="en-US" sz="2400" dirty="0" smtClean="0">
                <a:solidFill>
                  <a:srgbClr val="000000"/>
                </a:solidFill>
                <a:latin typeface="Times New Roman"/>
                <a:ea typeface="Times New Roman"/>
                <a:cs typeface="Times New Roman"/>
                <a:sym typeface="Times New Roman"/>
              </a:rPr>
              <a:t>.</a:t>
            </a:r>
          </a:p>
          <a:p>
            <a:pPr marL="1125855" lvl="1" indent="-742950">
              <a:lnSpc>
                <a:spcPts val="3888"/>
              </a:lnSpc>
              <a:buFont typeface="+mj-lt"/>
              <a:buAutoNum type="arabicPeriod"/>
            </a:pPr>
            <a:endParaRPr lang="en-US" sz="2400" dirty="0">
              <a:solidFill>
                <a:srgbClr val="000000"/>
              </a:solidFill>
              <a:latin typeface="Times New Roman"/>
              <a:ea typeface="Times New Roman"/>
              <a:cs typeface="Times New Roman"/>
              <a:sym typeface="Times New Roman"/>
            </a:endParaRPr>
          </a:p>
          <a:p>
            <a:pPr marL="1125855" lvl="1" indent="-742950">
              <a:lnSpc>
                <a:spcPts val="3888"/>
              </a:lnSpc>
              <a:buFont typeface="+mj-lt"/>
              <a:buAutoNum type="arabicPeriod"/>
            </a:pPr>
            <a:r>
              <a:rPr lang="en-US" sz="2400" b="1" dirty="0">
                <a:solidFill>
                  <a:srgbClr val="000000"/>
                </a:solidFill>
                <a:latin typeface="Times New Roman"/>
                <a:ea typeface="Times New Roman"/>
                <a:cs typeface="Times New Roman"/>
                <a:sym typeface="Times New Roman"/>
              </a:rPr>
              <a:t>Incorporating Regional and Cultural Food </a:t>
            </a:r>
            <a:r>
              <a:rPr lang="en-US" sz="2400" b="1" dirty="0" smtClean="0">
                <a:solidFill>
                  <a:srgbClr val="000000"/>
                </a:solidFill>
                <a:latin typeface="Times New Roman"/>
                <a:ea typeface="Times New Roman"/>
                <a:cs typeface="Times New Roman"/>
                <a:sym typeface="Times New Roman"/>
              </a:rPr>
              <a:t>Diversity: </a:t>
            </a:r>
            <a:r>
              <a:rPr lang="en-US" sz="2400" dirty="0" smtClean="0">
                <a:solidFill>
                  <a:srgbClr val="000000"/>
                </a:solidFill>
                <a:latin typeface="Times New Roman"/>
                <a:ea typeface="Times New Roman"/>
                <a:cs typeface="Times New Roman"/>
                <a:sym typeface="Times New Roman"/>
              </a:rPr>
              <a:t>India’s </a:t>
            </a:r>
            <a:r>
              <a:rPr lang="en-US" sz="2400" dirty="0">
                <a:solidFill>
                  <a:srgbClr val="000000"/>
                </a:solidFill>
                <a:latin typeface="Times New Roman"/>
                <a:ea typeface="Times New Roman"/>
                <a:cs typeface="Times New Roman"/>
                <a:sym typeface="Times New Roman"/>
              </a:rPr>
              <a:t>dietary practices vary significantly across regions and cultures. Most current recommendation systems fail to consider regional food habits, leading to impractical and culturally irrelevant suggestions</a:t>
            </a:r>
            <a:r>
              <a:rPr lang="en-US" sz="2400" dirty="0" smtClean="0">
                <a:solidFill>
                  <a:srgbClr val="000000"/>
                </a:solidFill>
                <a:latin typeface="Times New Roman"/>
                <a:ea typeface="Times New Roman"/>
                <a:cs typeface="Times New Roman"/>
                <a:sym typeface="Times New Roman"/>
              </a:rPr>
              <a:t>.</a:t>
            </a:r>
          </a:p>
          <a:p>
            <a:pPr marL="1125855" lvl="1" indent="-742950">
              <a:lnSpc>
                <a:spcPts val="3888"/>
              </a:lnSpc>
              <a:buFont typeface="+mj-lt"/>
              <a:buAutoNum type="arabicPeriod"/>
            </a:pPr>
            <a:endParaRPr lang="en-US" sz="2400" dirty="0">
              <a:solidFill>
                <a:srgbClr val="000000"/>
              </a:solidFill>
              <a:latin typeface="Times New Roman"/>
              <a:ea typeface="Times New Roman"/>
              <a:cs typeface="Times New Roman"/>
              <a:sym typeface="Times New Roman"/>
            </a:endParaRPr>
          </a:p>
          <a:p>
            <a:pPr marL="1125855" lvl="1" indent="-742950">
              <a:lnSpc>
                <a:spcPts val="3888"/>
              </a:lnSpc>
              <a:buFont typeface="+mj-lt"/>
              <a:buAutoNum type="arabicPeriod"/>
            </a:pPr>
            <a:r>
              <a:rPr lang="en-US" sz="2400" b="1" dirty="0">
                <a:solidFill>
                  <a:srgbClr val="000000"/>
                </a:solidFill>
                <a:latin typeface="Times New Roman"/>
                <a:ea typeface="Times New Roman"/>
                <a:cs typeface="Times New Roman"/>
                <a:sym typeface="Times New Roman"/>
              </a:rPr>
              <a:t>Applying ML and DL for Health-Aware </a:t>
            </a:r>
            <a:r>
              <a:rPr lang="en-US" sz="2400" b="1" dirty="0" smtClean="0">
                <a:solidFill>
                  <a:srgbClr val="000000"/>
                </a:solidFill>
                <a:latin typeface="Times New Roman"/>
                <a:ea typeface="Times New Roman"/>
                <a:cs typeface="Times New Roman"/>
                <a:sym typeface="Times New Roman"/>
              </a:rPr>
              <a:t>Personalization: </a:t>
            </a:r>
            <a:r>
              <a:rPr lang="en-US" sz="2400" dirty="0" smtClean="0">
                <a:solidFill>
                  <a:srgbClr val="000000"/>
                </a:solidFill>
                <a:latin typeface="Times New Roman"/>
                <a:ea typeface="Times New Roman"/>
                <a:cs typeface="Times New Roman"/>
                <a:sym typeface="Times New Roman"/>
              </a:rPr>
              <a:t>This </a:t>
            </a:r>
            <a:r>
              <a:rPr lang="en-US" sz="2400" dirty="0">
                <a:solidFill>
                  <a:srgbClr val="000000"/>
                </a:solidFill>
                <a:latin typeface="Times New Roman"/>
                <a:ea typeface="Times New Roman"/>
                <a:cs typeface="Times New Roman"/>
                <a:sym typeface="Times New Roman"/>
              </a:rPr>
              <a:t>project leverages hybrid machine learning and deep learning models to integrate user preferences, health conditions, allergies, and activity levels. The goal is to deliver scalable, responsible, and personalized food recommendations, forming a foundation for future family-centric meal planning.</a:t>
            </a:r>
          </a:p>
        </p:txBody>
      </p:sp>
      <p:grpSp>
        <p:nvGrpSpPr>
          <p:cNvPr id="6" name="Group 6"/>
          <p:cNvGrpSpPr/>
          <p:nvPr/>
        </p:nvGrpSpPr>
        <p:grpSpPr>
          <a:xfrm>
            <a:off x="6057900" y="9534525"/>
            <a:ext cx="6172200" cy="547688"/>
            <a:chOff x="0" y="0"/>
            <a:chExt cx="8229600" cy="730250"/>
          </a:xfrm>
        </p:grpSpPr>
        <p:sp>
          <p:nvSpPr>
            <p:cNvPr id="7" name="Freeform 7"/>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8" name="TextBox 8"/>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88"/>
            <a:chOff x="0" y="0"/>
            <a:chExt cx="5486400" cy="730250"/>
          </a:xfrm>
        </p:grpSpPr>
        <p:sp>
          <p:nvSpPr>
            <p:cNvPr id="10" name="Freeform 10"/>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1" name="TextBox 11"/>
            <p:cNvSpPr txBox="1"/>
            <p:nvPr/>
          </p:nvSpPr>
          <p:spPr>
            <a:xfrm>
              <a:off x="0" y="-38100"/>
              <a:ext cx="5486400" cy="76835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3</a:t>
              </a:r>
            </a:p>
          </p:txBody>
        </p:sp>
      </p:grpSp>
      <p:sp>
        <p:nvSpPr>
          <p:cNvPr id="12" name="TextBox 12"/>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grpSp>
        <p:nvGrpSpPr>
          <p:cNvPr id="13" name="Group 13"/>
          <p:cNvGrpSpPr/>
          <p:nvPr/>
        </p:nvGrpSpPr>
        <p:grpSpPr>
          <a:xfrm>
            <a:off x="1257300" y="9534525"/>
            <a:ext cx="4114800" cy="547688"/>
            <a:chOff x="0" y="0"/>
            <a:chExt cx="5486400" cy="730250"/>
          </a:xfrm>
        </p:grpSpPr>
        <p:sp>
          <p:nvSpPr>
            <p:cNvPr id="14" name="Freeform 14"/>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5" name="TextBox 15"/>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988550"/>
            <a:chOff x="0" y="0"/>
            <a:chExt cx="21031200" cy="2651400"/>
          </a:xfrm>
        </p:grpSpPr>
        <p:sp>
          <p:nvSpPr>
            <p:cNvPr id="3" name="Freeform 3"/>
            <p:cNvSpPr/>
            <p:nvPr/>
          </p:nvSpPr>
          <p:spPr>
            <a:xfrm>
              <a:off x="0" y="0"/>
              <a:ext cx="21031200" cy="2651400"/>
            </a:xfrm>
            <a:custGeom>
              <a:avLst/>
              <a:gdLst/>
              <a:ahLst/>
              <a:cxnLst/>
              <a:rect l="l" t="t" r="r" b="b"/>
              <a:pathLst>
                <a:path w="21031200" h="2651400">
                  <a:moveTo>
                    <a:pt x="0" y="0"/>
                  </a:moveTo>
                  <a:lnTo>
                    <a:pt x="21031200" y="0"/>
                  </a:lnTo>
                  <a:lnTo>
                    <a:pt x="21031200" y="2651400"/>
                  </a:lnTo>
                  <a:lnTo>
                    <a:pt x="0" y="2651400"/>
                  </a:lnTo>
                  <a:close/>
                </a:path>
              </a:pathLst>
            </a:custGeom>
            <a:solidFill>
              <a:srgbClr val="000000">
                <a:alpha val="0"/>
              </a:srgbClr>
            </a:solidFill>
          </p:spPr>
        </p:sp>
        <p:sp>
          <p:nvSpPr>
            <p:cNvPr id="4" name="TextBox 4"/>
            <p:cNvSpPr txBox="1"/>
            <p:nvPr/>
          </p:nvSpPr>
          <p:spPr>
            <a:xfrm>
              <a:off x="0" y="38100"/>
              <a:ext cx="21031200" cy="26133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Introduction</a:t>
              </a:r>
            </a:p>
          </p:txBody>
        </p:sp>
      </p:grpSp>
      <p:sp>
        <p:nvSpPr>
          <p:cNvPr id="5" name="TextBox 5"/>
          <p:cNvSpPr txBox="1"/>
          <p:nvPr/>
        </p:nvSpPr>
        <p:spPr>
          <a:xfrm>
            <a:off x="1348725" y="2427250"/>
            <a:ext cx="15590550" cy="6069113"/>
          </a:xfrm>
          <a:prstGeom prst="rect">
            <a:avLst/>
          </a:prstGeom>
        </p:spPr>
        <p:txBody>
          <a:bodyPr lIns="0" tIns="0" rIns="0" bIns="0" rtlCol="0" anchor="t">
            <a:spAutoFit/>
          </a:bodyPr>
          <a:lstStyle/>
          <a:p>
            <a:pPr marL="799073" lvl="1" indent="-399537" algn="just">
              <a:lnSpc>
                <a:spcPts val="4042"/>
              </a:lnSpc>
              <a:buFont typeface="Arial"/>
              <a:buChar char="•"/>
            </a:pPr>
            <a:r>
              <a:rPr lang="en-US" sz="3254">
                <a:solidFill>
                  <a:srgbClr val="000000"/>
                </a:solidFill>
                <a:latin typeface="Times New Roman"/>
                <a:ea typeface="Times New Roman"/>
                <a:cs typeface="Times New Roman"/>
                <a:sym typeface="Times New Roman"/>
              </a:rPr>
              <a:t>In the age of digital transformation, food delivery and nutrition platforms play a crucial role in shaping daily dietary habits. However, most existing food recommendation systems focus primarily on user preferences and popularity, often overlooking nutritional balance, health conditions, and regional dietary practices.</a:t>
            </a:r>
          </a:p>
          <a:p>
            <a:pPr algn="just">
              <a:lnSpc>
                <a:spcPts val="4042"/>
              </a:lnSpc>
            </a:pPr>
            <a:endParaRPr lang="en-US" sz="3254">
              <a:solidFill>
                <a:srgbClr val="000000"/>
              </a:solidFill>
              <a:latin typeface="Times New Roman"/>
              <a:ea typeface="Times New Roman"/>
              <a:cs typeface="Times New Roman"/>
              <a:sym typeface="Times New Roman"/>
            </a:endParaRPr>
          </a:p>
          <a:p>
            <a:pPr marL="799073" lvl="1" indent="-399537" algn="just">
              <a:lnSpc>
                <a:spcPts val="4042"/>
              </a:lnSpc>
              <a:buFont typeface="Arial"/>
              <a:buChar char="•"/>
            </a:pPr>
            <a:r>
              <a:rPr lang="en-US" sz="3254">
                <a:solidFill>
                  <a:srgbClr val="000000"/>
                </a:solidFill>
                <a:latin typeface="Times New Roman"/>
                <a:ea typeface="Times New Roman"/>
                <a:cs typeface="Times New Roman"/>
                <a:sym typeface="Times New Roman"/>
              </a:rPr>
              <a:t>This project aims to bridge this gap by developing a region-aware and health-constrained food recommendation system. By leveraging machine learning and deep learning techniques, the system generates personalized food recommendations based on user health conditions, dietary goals, allergies, activity levels, and regional preferences. The proposed prototype supports informed and safer food choices and lays the foundation for future extensions into family-centric meal planning and community-based dietary management.</a:t>
            </a:r>
          </a:p>
        </p:txBody>
      </p:sp>
      <p:grpSp>
        <p:nvGrpSpPr>
          <p:cNvPr id="6" name="Group 6"/>
          <p:cNvGrpSpPr/>
          <p:nvPr/>
        </p:nvGrpSpPr>
        <p:grpSpPr>
          <a:xfrm>
            <a:off x="6057900" y="9534525"/>
            <a:ext cx="6172200" cy="547650"/>
            <a:chOff x="0" y="0"/>
            <a:chExt cx="8229600" cy="730200"/>
          </a:xfrm>
        </p:grpSpPr>
        <p:sp>
          <p:nvSpPr>
            <p:cNvPr id="7" name="Freeform 7"/>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8" name="TextBox 8"/>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50"/>
            <a:chOff x="0" y="0"/>
            <a:chExt cx="5486400" cy="730200"/>
          </a:xfrm>
        </p:grpSpPr>
        <p:sp>
          <p:nvSpPr>
            <p:cNvPr id="10" name="Freeform 10"/>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1" name="TextBox 11"/>
            <p:cNvSpPr txBox="1"/>
            <p:nvPr/>
          </p:nvSpPr>
          <p:spPr>
            <a:xfrm>
              <a:off x="0" y="-38100"/>
              <a:ext cx="5486400" cy="76830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4</a:t>
              </a:r>
            </a:p>
          </p:txBody>
        </p:sp>
      </p:grpSp>
      <p:sp>
        <p:nvSpPr>
          <p:cNvPr id="12" name="TextBox 12"/>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grpSp>
        <p:nvGrpSpPr>
          <p:cNvPr id="13" name="Group 13"/>
          <p:cNvGrpSpPr/>
          <p:nvPr/>
        </p:nvGrpSpPr>
        <p:grpSpPr>
          <a:xfrm>
            <a:off x="1257300" y="9534525"/>
            <a:ext cx="4114800" cy="547688"/>
            <a:chOff x="0" y="0"/>
            <a:chExt cx="5486400" cy="730250"/>
          </a:xfrm>
        </p:grpSpPr>
        <p:sp>
          <p:nvSpPr>
            <p:cNvPr id="14" name="Freeform 14"/>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5" name="TextBox 15"/>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988345"/>
            <a:chOff x="0" y="0"/>
            <a:chExt cx="21031200" cy="2651126"/>
          </a:xfrm>
        </p:grpSpPr>
        <p:sp>
          <p:nvSpPr>
            <p:cNvPr id="3"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solidFill>
              <a:srgbClr val="000000">
                <a:alpha val="0"/>
              </a:srgbClr>
            </a:solidFill>
          </p:spPr>
        </p:sp>
        <p:sp>
          <p:nvSpPr>
            <p:cNvPr id="4" name="TextBox 4"/>
            <p:cNvSpPr txBox="1"/>
            <p:nvPr/>
          </p:nvSpPr>
          <p:spPr>
            <a:xfrm>
              <a:off x="0" y="38100"/>
              <a:ext cx="21031200" cy="2613026"/>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Problem Statement</a:t>
              </a:r>
            </a:p>
          </p:txBody>
        </p:sp>
      </p:grpSp>
      <p:sp>
        <p:nvSpPr>
          <p:cNvPr id="5" name="TextBox 5"/>
          <p:cNvSpPr txBox="1"/>
          <p:nvPr/>
        </p:nvSpPr>
        <p:spPr>
          <a:xfrm>
            <a:off x="1348725" y="2356775"/>
            <a:ext cx="15590550" cy="6357381"/>
          </a:xfrm>
          <a:prstGeom prst="rect">
            <a:avLst/>
          </a:prstGeom>
        </p:spPr>
        <p:txBody>
          <a:bodyPr lIns="0" tIns="0" rIns="0" bIns="0" rtlCol="0" anchor="t">
            <a:spAutoFit/>
          </a:bodyPr>
          <a:lstStyle/>
          <a:p>
            <a:pPr marL="806904" lvl="1" indent="-403452" algn="just">
              <a:lnSpc>
                <a:spcPts val="3830"/>
              </a:lnSpc>
              <a:buFont typeface="Arial"/>
              <a:buChar char="•"/>
            </a:pPr>
            <a:r>
              <a:rPr lang="en-US" sz="3470" dirty="0">
                <a:solidFill>
                  <a:srgbClr val="000000"/>
                </a:solidFill>
                <a:latin typeface="Times New Roman"/>
                <a:ea typeface="Times New Roman"/>
                <a:cs typeface="Times New Roman"/>
                <a:sym typeface="Times New Roman"/>
              </a:rPr>
              <a:t>The growing incidence of lifestyle-related health issues such as obesity, diabetes, and cardiovascular diseases highlights the importance of informed and balanced dietary planning. Although numerous digital food and meal-planning platforms exist, most focus on individual preferences or calorie tracking, while overlooking nutritional balance, health conditions, allergies, regional food habits, and family-level coordination.</a:t>
            </a:r>
          </a:p>
          <a:p>
            <a:pPr algn="just">
              <a:lnSpc>
                <a:spcPts val="3830"/>
              </a:lnSpc>
            </a:pPr>
            <a:endParaRPr lang="en-US" sz="3470" dirty="0">
              <a:solidFill>
                <a:srgbClr val="000000"/>
              </a:solidFill>
              <a:latin typeface="Times New Roman"/>
              <a:ea typeface="Times New Roman"/>
              <a:cs typeface="Times New Roman"/>
              <a:sym typeface="Times New Roman"/>
            </a:endParaRPr>
          </a:p>
          <a:p>
            <a:pPr marL="806904" lvl="1" indent="-403452" algn="just">
              <a:lnSpc>
                <a:spcPts val="3830"/>
              </a:lnSpc>
              <a:buFont typeface="Arial"/>
              <a:buChar char="•"/>
            </a:pPr>
            <a:r>
              <a:rPr lang="en-US" sz="3470" dirty="0">
                <a:solidFill>
                  <a:srgbClr val="000000"/>
                </a:solidFill>
                <a:latin typeface="Times New Roman"/>
                <a:ea typeface="Times New Roman"/>
                <a:cs typeface="Times New Roman"/>
                <a:sym typeface="Times New Roman"/>
              </a:rPr>
              <a:t>Additionally, current systems lack support for community and family-centric meal planning, which is essential in culturally diverse societies like India where meals are often shared. To address these limitations, this project proposes a novel community and family-centric healthy meal planner that integrates nutritional information, user preferences, health constraints, and regional context to deliver practical, health-aware, and culturally relevant meal planning solutions.</a:t>
            </a:r>
          </a:p>
        </p:txBody>
      </p:sp>
      <p:grpSp>
        <p:nvGrpSpPr>
          <p:cNvPr id="6" name="Group 6"/>
          <p:cNvGrpSpPr/>
          <p:nvPr/>
        </p:nvGrpSpPr>
        <p:grpSpPr>
          <a:xfrm>
            <a:off x="6057900" y="9534525"/>
            <a:ext cx="6172200" cy="547688"/>
            <a:chOff x="0" y="0"/>
            <a:chExt cx="8229600" cy="730250"/>
          </a:xfrm>
        </p:grpSpPr>
        <p:sp>
          <p:nvSpPr>
            <p:cNvPr id="7" name="Freeform 7"/>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8" name="TextBox 8"/>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88"/>
            <a:chOff x="0" y="0"/>
            <a:chExt cx="5486400" cy="730250"/>
          </a:xfrm>
        </p:grpSpPr>
        <p:sp>
          <p:nvSpPr>
            <p:cNvPr id="10" name="Freeform 10"/>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1" name="TextBox 11"/>
            <p:cNvSpPr txBox="1"/>
            <p:nvPr/>
          </p:nvSpPr>
          <p:spPr>
            <a:xfrm>
              <a:off x="0" y="-38100"/>
              <a:ext cx="5486400" cy="76835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5</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988550"/>
            <a:chOff x="0" y="0"/>
            <a:chExt cx="21031200" cy="2651400"/>
          </a:xfrm>
        </p:grpSpPr>
        <p:sp>
          <p:nvSpPr>
            <p:cNvPr id="3" name="Freeform 3"/>
            <p:cNvSpPr/>
            <p:nvPr/>
          </p:nvSpPr>
          <p:spPr>
            <a:xfrm>
              <a:off x="0" y="0"/>
              <a:ext cx="21031200" cy="2651400"/>
            </a:xfrm>
            <a:custGeom>
              <a:avLst/>
              <a:gdLst/>
              <a:ahLst/>
              <a:cxnLst/>
              <a:rect l="l" t="t" r="r" b="b"/>
              <a:pathLst>
                <a:path w="21031200" h="2651400">
                  <a:moveTo>
                    <a:pt x="0" y="0"/>
                  </a:moveTo>
                  <a:lnTo>
                    <a:pt x="21031200" y="0"/>
                  </a:lnTo>
                  <a:lnTo>
                    <a:pt x="21031200" y="2651400"/>
                  </a:lnTo>
                  <a:lnTo>
                    <a:pt x="0" y="2651400"/>
                  </a:lnTo>
                  <a:close/>
                </a:path>
              </a:pathLst>
            </a:custGeom>
            <a:solidFill>
              <a:srgbClr val="000000">
                <a:alpha val="0"/>
              </a:srgbClr>
            </a:solidFill>
          </p:spPr>
        </p:sp>
        <p:sp>
          <p:nvSpPr>
            <p:cNvPr id="4" name="TextBox 4"/>
            <p:cNvSpPr txBox="1"/>
            <p:nvPr/>
          </p:nvSpPr>
          <p:spPr>
            <a:xfrm>
              <a:off x="0" y="38100"/>
              <a:ext cx="21031200" cy="26133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Our Contribution</a:t>
              </a:r>
            </a:p>
          </p:txBody>
        </p:sp>
      </p:grpSp>
      <p:sp>
        <p:nvSpPr>
          <p:cNvPr id="5" name="TextBox 5"/>
          <p:cNvSpPr txBox="1"/>
          <p:nvPr/>
        </p:nvSpPr>
        <p:spPr>
          <a:xfrm>
            <a:off x="1348725" y="2455825"/>
            <a:ext cx="15590550" cy="6772688"/>
          </a:xfrm>
          <a:prstGeom prst="rect">
            <a:avLst/>
          </a:prstGeom>
        </p:spPr>
        <p:txBody>
          <a:bodyPr lIns="0" tIns="0" rIns="0" bIns="0" rtlCol="0" anchor="t">
            <a:spAutoFit/>
          </a:bodyPr>
          <a:lstStyle/>
          <a:p>
            <a:pPr marL="734058" lvl="1" indent="-367029">
              <a:lnSpc>
                <a:spcPts val="3841"/>
              </a:lnSpc>
              <a:buAutoNum type="arabicPeriod"/>
            </a:pPr>
            <a:r>
              <a:rPr lang="en-US" sz="2400" dirty="0">
                <a:solidFill>
                  <a:srgbClr val="000000"/>
                </a:solidFill>
                <a:latin typeface="Times New Roman"/>
                <a:ea typeface="Times New Roman"/>
                <a:cs typeface="Times New Roman"/>
                <a:sym typeface="Times New Roman"/>
              </a:rPr>
              <a:t>Designed and implemented a region-aware and health-constrained food recommendation prototype that personalizes food suggestions based on user health conditions, allergies, dietary goals, activity level, and regional food preferences</a:t>
            </a:r>
            <a:r>
              <a:rPr lang="en-US" sz="2400" dirty="0" smtClean="0">
                <a:solidFill>
                  <a:srgbClr val="000000"/>
                </a:solidFill>
                <a:latin typeface="Times New Roman"/>
                <a:ea typeface="Times New Roman"/>
                <a:cs typeface="Times New Roman"/>
                <a:sym typeface="Times New Roman"/>
              </a:rPr>
              <a:t>.</a:t>
            </a:r>
          </a:p>
          <a:p>
            <a:pPr marL="734058" lvl="1" indent="-367029">
              <a:lnSpc>
                <a:spcPts val="3841"/>
              </a:lnSpc>
              <a:buAutoNum type="arabicPeriod"/>
            </a:pPr>
            <a:endParaRPr lang="en-US" sz="2400" dirty="0">
              <a:solidFill>
                <a:srgbClr val="000000"/>
              </a:solidFill>
              <a:latin typeface="Times New Roman"/>
              <a:ea typeface="Times New Roman"/>
              <a:cs typeface="Times New Roman"/>
              <a:sym typeface="Times New Roman"/>
            </a:endParaRPr>
          </a:p>
          <a:p>
            <a:pPr marL="734058" lvl="1" indent="-367029">
              <a:lnSpc>
                <a:spcPts val="3841"/>
              </a:lnSpc>
              <a:buAutoNum type="arabicPeriod"/>
            </a:pPr>
            <a:r>
              <a:rPr lang="en-US" sz="2400" dirty="0">
                <a:solidFill>
                  <a:srgbClr val="000000"/>
                </a:solidFill>
                <a:latin typeface="Times New Roman"/>
                <a:ea typeface="Times New Roman"/>
                <a:cs typeface="Times New Roman"/>
                <a:sym typeface="Times New Roman"/>
              </a:rPr>
              <a:t>Developed a hybrid recommendation framework integrating collaborative filtering concepts, content-based food representations, and rule-based health and safety constraints to balance personalization with nutritional responsibility</a:t>
            </a:r>
            <a:r>
              <a:rPr lang="en-US" sz="2400" dirty="0" smtClean="0">
                <a:solidFill>
                  <a:srgbClr val="000000"/>
                </a:solidFill>
                <a:latin typeface="Times New Roman"/>
                <a:ea typeface="Times New Roman"/>
                <a:cs typeface="Times New Roman"/>
                <a:sym typeface="Times New Roman"/>
              </a:rPr>
              <a:t>.</a:t>
            </a:r>
          </a:p>
          <a:p>
            <a:pPr marL="734058" lvl="1" indent="-367029">
              <a:lnSpc>
                <a:spcPts val="3841"/>
              </a:lnSpc>
              <a:buAutoNum type="arabicPeriod"/>
            </a:pPr>
            <a:endParaRPr lang="en-US" sz="2400" dirty="0">
              <a:solidFill>
                <a:srgbClr val="000000"/>
              </a:solidFill>
              <a:latin typeface="Times New Roman"/>
              <a:ea typeface="Times New Roman"/>
              <a:cs typeface="Times New Roman"/>
              <a:sym typeface="Times New Roman"/>
            </a:endParaRPr>
          </a:p>
          <a:p>
            <a:pPr marL="734058" lvl="1" indent="-367029">
              <a:lnSpc>
                <a:spcPts val="3841"/>
              </a:lnSpc>
              <a:buAutoNum type="arabicPeriod"/>
            </a:pPr>
            <a:r>
              <a:rPr lang="en-US" sz="2400" dirty="0">
                <a:solidFill>
                  <a:srgbClr val="000000"/>
                </a:solidFill>
                <a:latin typeface="Times New Roman"/>
                <a:ea typeface="Times New Roman"/>
                <a:cs typeface="Times New Roman"/>
                <a:sym typeface="Times New Roman"/>
              </a:rPr>
              <a:t>Engineered nutritional, lifestyle, and contextual features from food and user data, enabling health-compliant ranking while preserving recommendation diversity</a:t>
            </a:r>
            <a:r>
              <a:rPr lang="en-US" sz="2400" dirty="0" smtClean="0">
                <a:solidFill>
                  <a:srgbClr val="000000"/>
                </a:solidFill>
                <a:latin typeface="Times New Roman"/>
                <a:ea typeface="Times New Roman"/>
                <a:cs typeface="Times New Roman"/>
                <a:sym typeface="Times New Roman"/>
              </a:rPr>
              <a:t>.</a:t>
            </a:r>
          </a:p>
          <a:p>
            <a:pPr marL="734058" lvl="1" indent="-367029">
              <a:lnSpc>
                <a:spcPts val="3841"/>
              </a:lnSpc>
              <a:buAutoNum type="arabicPeriod"/>
            </a:pPr>
            <a:endParaRPr lang="en-US" sz="2400" dirty="0">
              <a:solidFill>
                <a:srgbClr val="000000"/>
              </a:solidFill>
              <a:latin typeface="Times New Roman"/>
              <a:ea typeface="Times New Roman"/>
              <a:cs typeface="Times New Roman"/>
              <a:sym typeface="Times New Roman"/>
            </a:endParaRPr>
          </a:p>
          <a:p>
            <a:pPr marL="734058" lvl="1" indent="-367029">
              <a:lnSpc>
                <a:spcPts val="3841"/>
              </a:lnSpc>
              <a:buAutoNum type="arabicPeriod"/>
            </a:pPr>
            <a:r>
              <a:rPr lang="en-US" sz="2400" dirty="0">
                <a:solidFill>
                  <a:srgbClr val="000000"/>
                </a:solidFill>
                <a:latin typeface="Times New Roman"/>
                <a:ea typeface="Times New Roman"/>
                <a:cs typeface="Times New Roman"/>
                <a:sym typeface="Times New Roman"/>
              </a:rPr>
              <a:t>Incorporated health penalty and allergy filtering mechanisms to prevent unsafe or unsuitable food recommendations, improving user safety and system reliability</a:t>
            </a:r>
            <a:r>
              <a:rPr lang="en-US" sz="2400" dirty="0" smtClean="0">
                <a:solidFill>
                  <a:srgbClr val="000000"/>
                </a:solidFill>
                <a:latin typeface="Times New Roman"/>
                <a:ea typeface="Times New Roman"/>
                <a:cs typeface="Times New Roman"/>
                <a:sym typeface="Times New Roman"/>
              </a:rPr>
              <a:t>.</a:t>
            </a:r>
          </a:p>
          <a:p>
            <a:pPr marL="734058" lvl="1" indent="-367029">
              <a:lnSpc>
                <a:spcPts val="3841"/>
              </a:lnSpc>
              <a:buAutoNum type="arabicPeriod"/>
            </a:pPr>
            <a:endParaRPr lang="en-US" sz="2400" dirty="0">
              <a:solidFill>
                <a:srgbClr val="000000"/>
              </a:solidFill>
              <a:latin typeface="Times New Roman"/>
              <a:ea typeface="Times New Roman"/>
              <a:cs typeface="Times New Roman"/>
              <a:sym typeface="Times New Roman"/>
            </a:endParaRPr>
          </a:p>
          <a:p>
            <a:pPr marL="734058" lvl="1" indent="-367029">
              <a:lnSpc>
                <a:spcPts val="3841"/>
              </a:lnSpc>
              <a:buAutoNum type="arabicPeriod"/>
            </a:pPr>
            <a:r>
              <a:rPr lang="en-US" sz="2400" dirty="0">
                <a:solidFill>
                  <a:srgbClr val="000000"/>
                </a:solidFill>
                <a:latin typeface="Times New Roman"/>
                <a:ea typeface="Times New Roman"/>
                <a:cs typeface="Times New Roman"/>
                <a:sym typeface="Times New Roman"/>
              </a:rPr>
              <a:t>Built a modular and scalable system architecture, with clearly defined input–output schemas and processing pipelines, suitable for future extension into family-centric recommendations and complete meal planning (breakfast, lunch, dinner).</a:t>
            </a:r>
          </a:p>
        </p:txBody>
      </p:sp>
      <p:grpSp>
        <p:nvGrpSpPr>
          <p:cNvPr id="6" name="Group 6"/>
          <p:cNvGrpSpPr/>
          <p:nvPr/>
        </p:nvGrpSpPr>
        <p:grpSpPr>
          <a:xfrm>
            <a:off x="6057900" y="9534525"/>
            <a:ext cx="6172200" cy="547650"/>
            <a:chOff x="0" y="0"/>
            <a:chExt cx="8229600" cy="730200"/>
          </a:xfrm>
        </p:grpSpPr>
        <p:sp>
          <p:nvSpPr>
            <p:cNvPr id="7" name="Freeform 7"/>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8" name="TextBox 8"/>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50"/>
            <a:chOff x="0" y="0"/>
            <a:chExt cx="5486400" cy="730200"/>
          </a:xfrm>
        </p:grpSpPr>
        <p:sp>
          <p:nvSpPr>
            <p:cNvPr id="10" name="Freeform 10"/>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1" name="TextBox 11"/>
            <p:cNvSpPr txBox="1"/>
            <p:nvPr/>
          </p:nvSpPr>
          <p:spPr>
            <a:xfrm>
              <a:off x="0" y="-38100"/>
              <a:ext cx="5486400" cy="76830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6</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988345"/>
            <a:chOff x="0" y="0"/>
            <a:chExt cx="21031200" cy="2651126"/>
          </a:xfrm>
        </p:grpSpPr>
        <p:sp>
          <p:nvSpPr>
            <p:cNvPr id="3"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solidFill>
              <a:srgbClr val="000000">
                <a:alpha val="0"/>
              </a:srgbClr>
            </a:solidFill>
          </p:spPr>
        </p:sp>
        <p:sp>
          <p:nvSpPr>
            <p:cNvPr id="4" name="TextBox 4"/>
            <p:cNvSpPr txBox="1"/>
            <p:nvPr/>
          </p:nvSpPr>
          <p:spPr>
            <a:xfrm>
              <a:off x="0" y="38100"/>
              <a:ext cx="21031200" cy="2613026"/>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Dataset Preparation</a:t>
              </a:r>
            </a:p>
          </p:txBody>
        </p:sp>
      </p:grpSp>
      <p:sp>
        <p:nvSpPr>
          <p:cNvPr id="5" name="TextBox 5"/>
          <p:cNvSpPr txBox="1"/>
          <p:nvPr/>
        </p:nvSpPr>
        <p:spPr>
          <a:xfrm>
            <a:off x="1348725" y="2831762"/>
            <a:ext cx="15910575" cy="6758260"/>
          </a:xfrm>
          <a:prstGeom prst="rect">
            <a:avLst/>
          </a:prstGeom>
        </p:spPr>
        <p:txBody>
          <a:bodyPr lIns="0" tIns="0" rIns="0" bIns="0" rtlCol="0" anchor="t">
            <a:spAutoFit/>
          </a:bodyPr>
          <a:lstStyle/>
          <a:p>
            <a:pPr marL="632909" lvl="1" indent="-316454" algn="l">
              <a:lnSpc>
                <a:spcPts val="3072"/>
              </a:lnSpc>
              <a:buFont typeface="Arial"/>
              <a:buChar char="•"/>
            </a:pPr>
            <a:r>
              <a:rPr lang="en-US" sz="3200" b="1" u="sng" dirty="0">
                <a:solidFill>
                  <a:srgbClr val="000000"/>
                </a:solidFill>
                <a:latin typeface="Times New Roman"/>
                <a:ea typeface="Times New Roman"/>
                <a:cs typeface="Times New Roman"/>
                <a:sym typeface="Times New Roman"/>
              </a:rPr>
              <a:t>Dataset:</a:t>
            </a:r>
          </a:p>
          <a:p>
            <a:pPr marL="1350062" lvl="2" indent="-450021" algn="l">
              <a:lnSpc>
                <a:spcPts val="3072"/>
              </a:lnSpc>
              <a:buFont typeface="Arial"/>
              <a:buChar char="⚬"/>
            </a:pPr>
            <a:r>
              <a:rPr lang="en-US" sz="3200" dirty="0">
                <a:solidFill>
                  <a:srgbClr val="000000"/>
                </a:solidFill>
                <a:latin typeface="Times New Roman"/>
                <a:ea typeface="Times New Roman"/>
                <a:cs typeface="Times New Roman"/>
                <a:sym typeface="Times New Roman"/>
              </a:rPr>
              <a:t>Multiple datasets are used, including:</a:t>
            </a:r>
          </a:p>
          <a:p>
            <a:pPr marL="1350062" lvl="2" indent="-450021" algn="l">
              <a:lnSpc>
                <a:spcPts val="3072"/>
              </a:lnSpc>
              <a:buFont typeface="Arial"/>
              <a:buChar char="⚬"/>
            </a:pPr>
            <a:r>
              <a:rPr lang="en-US" sz="3200" dirty="0">
                <a:solidFill>
                  <a:srgbClr val="000000"/>
                </a:solidFill>
                <a:latin typeface="Times New Roman"/>
                <a:ea typeface="Times New Roman"/>
                <a:cs typeface="Times New Roman"/>
                <a:sym typeface="Times New Roman"/>
              </a:rPr>
              <a:t>Food nutrition datasets (403095, 11)</a:t>
            </a:r>
          </a:p>
          <a:p>
            <a:pPr marL="1350062" lvl="2" indent="-450021" algn="l">
              <a:lnSpc>
                <a:spcPts val="3072"/>
              </a:lnSpc>
              <a:buFont typeface="Arial"/>
              <a:buChar char="⚬"/>
            </a:pPr>
            <a:r>
              <a:rPr lang="en-US" sz="3200" dirty="0">
                <a:solidFill>
                  <a:srgbClr val="000000"/>
                </a:solidFill>
                <a:latin typeface="Times New Roman"/>
                <a:ea typeface="Times New Roman"/>
                <a:cs typeface="Times New Roman"/>
                <a:sym typeface="Times New Roman"/>
              </a:rPr>
              <a:t>Macro- and micro-nutrient values (5000, 14)</a:t>
            </a:r>
          </a:p>
          <a:p>
            <a:pPr marL="1350062" lvl="2" indent="-450021" algn="l">
              <a:lnSpc>
                <a:spcPts val="3072"/>
              </a:lnSpc>
              <a:buFont typeface="Arial"/>
              <a:buChar char="⚬"/>
            </a:pPr>
            <a:r>
              <a:rPr lang="en-US" sz="3200" dirty="0">
                <a:solidFill>
                  <a:srgbClr val="000000"/>
                </a:solidFill>
                <a:latin typeface="Times New Roman"/>
                <a:ea typeface="Times New Roman"/>
                <a:cs typeface="Times New Roman"/>
                <a:sym typeface="Times New Roman"/>
              </a:rPr>
              <a:t>User lifestyle and health datasets (5000, 12)</a:t>
            </a:r>
          </a:p>
          <a:p>
            <a:pPr marL="1350062" lvl="2" indent="-450021" algn="l">
              <a:lnSpc>
                <a:spcPts val="3072"/>
              </a:lnSpc>
              <a:buFont typeface="Arial"/>
              <a:buChar char="⚬"/>
            </a:pPr>
            <a:r>
              <a:rPr lang="en-US" sz="3200" dirty="0">
                <a:solidFill>
                  <a:srgbClr val="000000"/>
                </a:solidFill>
                <a:latin typeface="Times New Roman"/>
                <a:ea typeface="Times New Roman"/>
                <a:cs typeface="Times New Roman"/>
                <a:sym typeface="Times New Roman"/>
              </a:rPr>
              <a:t>Food safety alert datasets (30780, 6)</a:t>
            </a:r>
          </a:p>
          <a:p>
            <a:pPr marL="1350062" lvl="2" indent="-450021" algn="l">
              <a:lnSpc>
                <a:spcPts val="3072"/>
              </a:lnSpc>
              <a:buFont typeface="Arial"/>
              <a:buChar char="⚬"/>
            </a:pPr>
            <a:r>
              <a:rPr lang="en-US" sz="3200" dirty="0">
                <a:solidFill>
                  <a:srgbClr val="000000"/>
                </a:solidFill>
                <a:latin typeface="Times New Roman"/>
                <a:ea typeface="Times New Roman"/>
                <a:cs typeface="Times New Roman"/>
                <a:sym typeface="Times New Roman"/>
              </a:rPr>
              <a:t>Synthetic user–food interaction datasets (500, 16)</a:t>
            </a:r>
          </a:p>
          <a:p>
            <a:pPr marL="1350087" lvl="2" indent="-450029" algn="l">
              <a:lnSpc>
                <a:spcPts val="3072"/>
              </a:lnSpc>
            </a:pPr>
            <a:endParaRPr lang="en-US" sz="3200" dirty="0">
              <a:solidFill>
                <a:srgbClr val="000000"/>
              </a:solidFill>
              <a:latin typeface="Times New Roman"/>
              <a:ea typeface="Times New Roman"/>
              <a:cs typeface="Times New Roman"/>
              <a:sym typeface="Times New Roman"/>
            </a:endParaRPr>
          </a:p>
          <a:p>
            <a:pPr marL="632909" lvl="1" indent="-316454" algn="l">
              <a:lnSpc>
                <a:spcPts val="3072"/>
              </a:lnSpc>
              <a:buFont typeface="Arial"/>
              <a:buChar char="•"/>
            </a:pPr>
            <a:r>
              <a:rPr lang="en-US" sz="3200" b="1" u="sng" dirty="0">
                <a:solidFill>
                  <a:srgbClr val="000000"/>
                </a:solidFill>
                <a:latin typeface="Times New Roman"/>
                <a:ea typeface="Times New Roman"/>
                <a:cs typeface="Times New Roman"/>
                <a:sym typeface="Times New Roman"/>
              </a:rPr>
              <a:t>Preprocessing Steps:</a:t>
            </a:r>
          </a:p>
          <a:p>
            <a:pPr marL="1350087" lvl="2" indent="-450029" algn="l">
              <a:lnSpc>
                <a:spcPts val="3072"/>
              </a:lnSpc>
              <a:buFont typeface="Arial"/>
              <a:buChar char="⚬"/>
            </a:pPr>
            <a:r>
              <a:rPr lang="en-US" sz="3200" dirty="0">
                <a:solidFill>
                  <a:srgbClr val="000000"/>
                </a:solidFill>
                <a:latin typeface="Times New Roman"/>
                <a:ea typeface="Times New Roman"/>
                <a:cs typeface="Times New Roman"/>
                <a:sym typeface="Times New Roman"/>
              </a:rPr>
              <a:t>Missing Value Handling: Nutritional gaps handled via controlled imputation to ensure stable model training.</a:t>
            </a:r>
          </a:p>
          <a:p>
            <a:pPr marL="1350062" lvl="2" indent="-450021" algn="l">
              <a:lnSpc>
                <a:spcPts val="3072"/>
              </a:lnSpc>
              <a:buFont typeface="Arial"/>
              <a:buChar char="⚬"/>
            </a:pPr>
            <a:r>
              <a:rPr lang="en-US" sz="3200" dirty="0">
                <a:solidFill>
                  <a:srgbClr val="000000"/>
                </a:solidFill>
                <a:latin typeface="Times New Roman"/>
                <a:ea typeface="Times New Roman"/>
                <a:cs typeface="Times New Roman"/>
                <a:sym typeface="Times New Roman"/>
              </a:rPr>
              <a:t>Unit Standardization: All nutrients normalized to consistent measurement units (per 100g).</a:t>
            </a:r>
          </a:p>
          <a:p>
            <a:pPr marL="1350062" lvl="2" indent="-450021" algn="l">
              <a:lnSpc>
                <a:spcPts val="3072"/>
              </a:lnSpc>
              <a:buFont typeface="Arial"/>
              <a:buChar char="⚬"/>
            </a:pPr>
            <a:r>
              <a:rPr lang="en-US" sz="3200" dirty="0">
                <a:solidFill>
                  <a:srgbClr val="000000"/>
                </a:solidFill>
                <a:latin typeface="Times New Roman"/>
                <a:ea typeface="Times New Roman"/>
                <a:cs typeface="Times New Roman"/>
                <a:sym typeface="Times New Roman"/>
              </a:rPr>
              <a:t>Categorical Encoding: Region, health condition, and dietary goals encoded for model compatibility.</a:t>
            </a:r>
          </a:p>
          <a:p>
            <a:pPr marL="1350062" lvl="2" indent="-450021" algn="l">
              <a:lnSpc>
                <a:spcPts val="3072"/>
              </a:lnSpc>
              <a:buFont typeface="Arial"/>
              <a:buChar char="⚬"/>
            </a:pPr>
            <a:r>
              <a:rPr lang="en-US" sz="3200" dirty="0">
                <a:solidFill>
                  <a:srgbClr val="000000"/>
                </a:solidFill>
                <a:latin typeface="Times New Roman"/>
                <a:ea typeface="Times New Roman"/>
                <a:cs typeface="Times New Roman"/>
                <a:sym typeface="Times New Roman"/>
              </a:rPr>
              <a:t>Unified Food ID Mapping: Consistent food identifiers assigned across all datasets for seamless integration.</a:t>
            </a:r>
          </a:p>
        </p:txBody>
      </p:sp>
      <p:grpSp>
        <p:nvGrpSpPr>
          <p:cNvPr id="6" name="Group 6"/>
          <p:cNvGrpSpPr/>
          <p:nvPr/>
        </p:nvGrpSpPr>
        <p:grpSpPr>
          <a:xfrm>
            <a:off x="6057900" y="9534525"/>
            <a:ext cx="6172200" cy="547688"/>
            <a:chOff x="0" y="0"/>
            <a:chExt cx="8229600" cy="730250"/>
          </a:xfrm>
        </p:grpSpPr>
        <p:sp>
          <p:nvSpPr>
            <p:cNvPr id="7" name="Freeform 7"/>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8" name="TextBox 8"/>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88"/>
            <a:chOff x="0" y="0"/>
            <a:chExt cx="5486400" cy="730250"/>
          </a:xfrm>
        </p:grpSpPr>
        <p:sp>
          <p:nvSpPr>
            <p:cNvPr id="10" name="Freeform 10"/>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1" name="TextBox 11"/>
            <p:cNvSpPr txBox="1"/>
            <p:nvPr/>
          </p:nvSpPr>
          <p:spPr>
            <a:xfrm>
              <a:off x="0" y="-38100"/>
              <a:ext cx="5486400" cy="76835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7</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988550"/>
            <a:chOff x="0" y="0"/>
            <a:chExt cx="21031200" cy="2651400"/>
          </a:xfrm>
        </p:grpSpPr>
        <p:sp>
          <p:nvSpPr>
            <p:cNvPr id="3" name="Freeform 3"/>
            <p:cNvSpPr/>
            <p:nvPr/>
          </p:nvSpPr>
          <p:spPr>
            <a:xfrm>
              <a:off x="0" y="0"/>
              <a:ext cx="21031200" cy="2651400"/>
            </a:xfrm>
            <a:custGeom>
              <a:avLst/>
              <a:gdLst/>
              <a:ahLst/>
              <a:cxnLst/>
              <a:rect l="l" t="t" r="r" b="b"/>
              <a:pathLst>
                <a:path w="21031200" h="2651400">
                  <a:moveTo>
                    <a:pt x="0" y="0"/>
                  </a:moveTo>
                  <a:lnTo>
                    <a:pt x="21031200" y="0"/>
                  </a:lnTo>
                  <a:lnTo>
                    <a:pt x="21031200" y="2651400"/>
                  </a:lnTo>
                  <a:lnTo>
                    <a:pt x="0" y="2651400"/>
                  </a:lnTo>
                  <a:close/>
                </a:path>
              </a:pathLst>
            </a:custGeom>
            <a:solidFill>
              <a:srgbClr val="000000">
                <a:alpha val="0"/>
              </a:srgbClr>
            </a:solidFill>
          </p:spPr>
        </p:sp>
        <p:sp>
          <p:nvSpPr>
            <p:cNvPr id="4" name="TextBox 4"/>
            <p:cNvSpPr txBox="1"/>
            <p:nvPr/>
          </p:nvSpPr>
          <p:spPr>
            <a:xfrm>
              <a:off x="0" y="38100"/>
              <a:ext cx="21031200" cy="26133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Existing Solutions</a:t>
              </a:r>
            </a:p>
          </p:txBody>
        </p:sp>
      </p:grpSp>
      <p:sp>
        <p:nvSpPr>
          <p:cNvPr id="5" name="TextBox 5"/>
          <p:cNvSpPr txBox="1"/>
          <p:nvPr/>
        </p:nvSpPr>
        <p:spPr>
          <a:xfrm>
            <a:off x="1348725" y="2784137"/>
            <a:ext cx="15590550" cy="6306464"/>
          </a:xfrm>
          <a:prstGeom prst="rect">
            <a:avLst/>
          </a:prstGeom>
        </p:spPr>
        <p:txBody>
          <a:bodyPr lIns="0" tIns="0" rIns="0" bIns="0" rtlCol="0" anchor="t">
            <a:spAutoFit/>
          </a:bodyPr>
          <a:lstStyle/>
          <a:p>
            <a:pPr algn="just">
              <a:lnSpc>
                <a:spcPts val="3532"/>
              </a:lnSpc>
            </a:pPr>
            <a:r>
              <a:rPr lang="en-US" sz="3200" dirty="0">
                <a:solidFill>
                  <a:srgbClr val="000000"/>
                </a:solidFill>
                <a:latin typeface="Times New Roman"/>
                <a:ea typeface="Times New Roman"/>
                <a:cs typeface="Times New Roman"/>
                <a:sym typeface="Times New Roman"/>
              </a:rPr>
              <a:t>Several approaches have been explored for food recommendation and dietary planning using machine learning, nutrition science, and user preference modeling. These solutions vary in scope, data usage, and level of personalization:</a:t>
            </a:r>
          </a:p>
          <a:p>
            <a:pPr algn="just">
              <a:lnSpc>
                <a:spcPts val="3532"/>
              </a:lnSpc>
            </a:pPr>
            <a:endParaRPr lang="en-US" sz="3200" dirty="0">
              <a:solidFill>
                <a:srgbClr val="000000"/>
              </a:solidFill>
              <a:latin typeface="Times New Roman"/>
              <a:ea typeface="Times New Roman"/>
              <a:cs typeface="Times New Roman"/>
              <a:sym typeface="Times New Roman"/>
            </a:endParaRPr>
          </a:p>
          <a:p>
            <a:pPr marL="690881" lvl="1" indent="-345440" algn="just">
              <a:lnSpc>
                <a:spcPts val="3532"/>
              </a:lnSpc>
              <a:buFont typeface="Arial"/>
              <a:buChar char="•"/>
            </a:pPr>
            <a:r>
              <a:rPr lang="en-US" sz="3200" b="1" u="sng" dirty="0">
                <a:solidFill>
                  <a:srgbClr val="000000"/>
                </a:solidFill>
                <a:latin typeface="Times New Roman"/>
                <a:ea typeface="Times New Roman"/>
                <a:cs typeface="Times New Roman"/>
                <a:sym typeface="Times New Roman"/>
              </a:rPr>
              <a:t>Nutrition-Aware Food Recommendation Systems (2021–2023):</a:t>
            </a:r>
            <a:r>
              <a:rPr lang="en-US" sz="3200" b="1" dirty="0">
                <a:solidFill>
                  <a:srgbClr val="000000"/>
                </a:solidFill>
                <a:latin typeface="Times New Roman"/>
                <a:ea typeface="Times New Roman"/>
                <a:cs typeface="Times New Roman"/>
                <a:sym typeface="Times New Roman"/>
              </a:rPr>
              <a:t> </a:t>
            </a:r>
            <a:r>
              <a:rPr lang="en-US" sz="3200" dirty="0">
                <a:solidFill>
                  <a:srgbClr val="000000"/>
                </a:solidFill>
                <a:latin typeface="Times New Roman"/>
                <a:ea typeface="Times New Roman"/>
                <a:cs typeface="Times New Roman"/>
                <a:sym typeface="Times New Roman"/>
              </a:rPr>
              <a:t>Several studies integrate nutritional information (calories, fat, sugar, protein) with user preferences using collaborative filtering and multi-objective optimization. These systems improve health-aware personalization compared to traditional recommenders but are largely limited to individual users and lack regional and family-level planning.</a:t>
            </a:r>
          </a:p>
          <a:p>
            <a:pPr algn="just">
              <a:lnSpc>
                <a:spcPts val="3532"/>
              </a:lnSpc>
            </a:pPr>
            <a:endParaRPr lang="en-US" sz="3200" dirty="0">
              <a:solidFill>
                <a:srgbClr val="000000"/>
              </a:solidFill>
              <a:latin typeface="Times New Roman"/>
              <a:ea typeface="Times New Roman"/>
              <a:cs typeface="Times New Roman"/>
              <a:sym typeface="Times New Roman"/>
            </a:endParaRPr>
          </a:p>
          <a:p>
            <a:pPr marL="821335" lvl="1" indent="-410668" algn="just">
              <a:lnSpc>
                <a:spcPts val="3532"/>
              </a:lnSpc>
              <a:buFont typeface="Arial"/>
              <a:buChar char="•"/>
            </a:pPr>
            <a:r>
              <a:rPr lang="en-US" sz="3200" b="1" u="sng" dirty="0">
                <a:solidFill>
                  <a:srgbClr val="000000"/>
                </a:solidFill>
                <a:latin typeface="Times New Roman"/>
                <a:ea typeface="Times New Roman"/>
                <a:cs typeface="Times New Roman"/>
                <a:sym typeface="Times New Roman"/>
              </a:rPr>
              <a:t>Deep Learning-Based Food Recommendation Models:</a:t>
            </a:r>
            <a:r>
              <a:rPr lang="en-US" sz="3200" dirty="0">
                <a:solidFill>
                  <a:srgbClr val="000000"/>
                </a:solidFill>
                <a:latin typeface="Times New Roman"/>
                <a:ea typeface="Times New Roman"/>
                <a:cs typeface="Times New Roman"/>
                <a:sym typeface="Times New Roman"/>
              </a:rPr>
              <a:t> Recent works employ deep neural networks and sequence-based models to capture complex dietary behavior from user history. While these models outperform classical methods like matrix factorization, most do not explicitly incorporate health constraints, allergies, or nutritional safety.</a:t>
            </a:r>
          </a:p>
        </p:txBody>
      </p:sp>
      <p:grpSp>
        <p:nvGrpSpPr>
          <p:cNvPr id="6" name="Group 6"/>
          <p:cNvGrpSpPr/>
          <p:nvPr/>
        </p:nvGrpSpPr>
        <p:grpSpPr>
          <a:xfrm>
            <a:off x="6057900" y="9534525"/>
            <a:ext cx="6172200" cy="547650"/>
            <a:chOff x="0" y="0"/>
            <a:chExt cx="8229600" cy="730200"/>
          </a:xfrm>
        </p:grpSpPr>
        <p:sp>
          <p:nvSpPr>
            <p:cNvPr id="7" name="Freeform 7"/>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8" name="TextBox 8"/>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50"/>
            <a:chOff x="0" y="0"/>
            <a:chExt cx="5486400" cy="730200"/>
          </a:xfrm>
        </p:grpSpPr>
        <p:sp>
          <p:nvSpPr>
            <p:cNvPr id="10" name="Freeform 10"/>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1" name="TextBox 11"/>
            <p:cNvSpPr txBox="1"/>
            <p:nvPr/>
          </p:nvSpPr>
          <p:spPr>
            <a:xfrm>
              <a:off x="0" y="-38100"/>
              <a:ext cx="5486400" cy="76830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8</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988550"/>
            <a:chOff x="0" y="0"/>
            <a:chExt cx="21031200" cy="2651400"/>
          </a:xfrm>
        </p:grpSpPr>
        <p:sp>
          <p:nvSpPr>
            <p:cNvPr id="3" name="Freeform 3"/>
            <p:cNvSpPr/>
            <p:nvPr/>
          </p:nvSpPr>
          <p:spPr>
            <a:xfrm>
              <a:off x="0" y="0"/>
              <a:ext cx="21031200" cy="2651400"/>
            </a:xfrm>
            <a:custGeom>
              <a:avLst/>
              <a:gdLst/>
              <a:ahLst/>
              <a:cxnLst/>
              <a:rect l="l" t="t" r="r" b="b"/>
              <a:pathLst>
                <a:path w="21031200" h="2651400">
                  <a:moveTo>
                    <a:pt x="0" y="0"/>
                  </a:moveTo>
                  <a:lnTo>
                    <a:pt x="21031200" y="0"/>
                  </a:lnTo>
                  <a:lnTo>
                    <a:pt x="21031200" y="2651400"/>
                  </a:lnTo>
                  <a:lnTo>
                    <a:pt x="0" y="2651400"/>
                  </a:lnTo>
                  <a:close/>
                </a:path>
              </a:pathLst>
            </a:custGeom>
            <a:solidFill>
              <a:srgbClr val="000000">
                <a:alpha val="0"/>
              </a:srgbClr>
            </a:solidFill>
          </p:spPr>
        </p:sp>
        <p:sp>
          <p:nvSpPr>
            <p:cNvPr id="4" name="TextBox 4"/>
            <p:cNvSpPr txBox="1"/>
            <p:nvPr/>
          </p:nvSpPr>
          <p:spPr>
            <a:xfrm>
              <a:off x="0" y="38100"/>
              <a:ext cx="21031200" cy="26133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Existing Solutions</a:t>
              </a:r>
            </a:p>
          </p:txBody>
        </p:sp>
      </p:grpSp>
      <p:sp>
        <p:nvSpPr>
          <p:cNvPr id="5" name="TextBox 5"/>
          <p:cNvSpPr txBox="1"/>
          <p:nvPr/>
        </p:nvSpPr>
        <p:spPr>
          <a:xfrm>
            <a:off x="1348725" y="2793662"/>
            <a:ext cx="15590550" cy="5642570"/>
          </a:xfrm>
          <a:prstGeom prst="rect">
            <a:avLst/>
          </a:prstGeom>
        </p:spPr>
        <p:txBody>
          <a:bodyPr lIns="0" tIns="0" rIns="0" bIns="0" rtlCol="0" anchor="t">
            <a:spAutoFit/>
          </a:bodyPr>
          <a:lstStyle/>
          <a:p>
            <a:pPr marL="777240" lvl="1" indent="-388620" algn="just">
              <a:lnSpc>
                <a:spcPts val="3974"/>
              </a:lnSpc>
              <a:buFont typeface="Arial"/>
              <a:buChar char="•"/>
            </a:pPr>
            <a:r>
              <a:rPr lang="en-US" sz="3600" b="1" u="sng" dirty="0">
                <a:solidFill>
                  <a:srgbClr val="000000"/>
                </a:solidFill>
                <a:latin typeface="Times New Roman"/>
                <a:ea typeface="Times New Roman"/>
                <a:cs typeface="Times New Roman"/>
                <a:sym typeface="Times New Roman"/>
              </a:rPr>
              <a:t>Rule-Based Diet Recommendation Systems</a:t>
            </a:r>
            <a:r>
              <a:rPr lang="en-US" sz="3600" b="1" dirty="0">
                <a:solidFill>
                  <a:srgbClr val="000000"/>
                </a:solidFill>
                <a:latin typeface="Times New Roman"/>
                <a:ea typeface="Times New Roman"/>
                <a:cs typeface="Times New Roman"/>
                <a:sym typeface="Times New Roman"/>
              </a:rPr>
              <a:t>: </a:t>
            </a:r>
            <a:r>
              <a:rPr lang="en-US" sz="3600" dirty="0">
                <a:solidFill>
                  <a:srgbClr val="000000"/>
                </a:solidFill>
                <a:latin typeface="Times New Roman"/>
                <a:ea typeface="Times New Roman"/>
                <a:cs typeface="Times New Roman"/>
                <a:sym typeface="Times New Roman"/>
              </a:rPr>
              <a:t>Rule-based approaches are widely used for chronic disease management by enforcing predefined dietary guidelines. Although effective for medical compliance, these systems are rigid, offer limited personalization, and scale poorly across diverse users and dietary preferences.</a:t>
            </a:r>
          </a:p>
          <a:p>
            <a:pPr algn="l">
              <a:lnSpc>
                <a:spcPts val="3974"/>
              </a:lnSpc>
            </a:pPr>
            <a:endParaRPr lang="en-US" sz="3600" dirty="0">
              <a:solidFill>
                <a:srgbClr val="000000"/>
              </a:solidFill>
              <a:latin typeface="Times New Roman"/>
              <a:ea typeface="Times New Roman"/>
              <a:cs typeface="Times New Roman"/>
              <a:sym typeface="Times New Roman"/>
            </a:endParaRPr>
          </a:p>
          <a:p>
            <a:pPr marL="777240" lvl="1" indent="-388620" algn="just">
              <a:lnSpc>
                <a:spcPts val="3974"/>
              </a:lnSpc>
              <a:buFont typeface="Arial"/>
              <a:buChar char="•"/>
            </a:pPr>
            <a:r>
              <a:rPr lang="en-US" sz="3600" b="1" u="sng" dirty="0">
                <a:solidFill>
                  <a:srgbClr val="000000"/>
                </a:solidFill>
                <a:latin typeface="Times New Roman"/>
                <a:ea typeface="Times New Roman"/>
                <a:cs typeface="Times New Roman"/>
                <a:sym typeface="Times New Roman"/>
              </a:rPr>
              <a:t>Context-Aware and Group-Based Recommendation Systems</a:t>
            </a:r>
            <a:r>
              <a:rPr lang="en-US" sz="3600" b="1" dirty="0">
                <a:solidFill>
                  <a:srgbClr val="000000"/>
                </a:solidFill>
                <a:latin typeface="Times New Roman"/>
                <a:ea typeface="Times New Roman"/>
                <a:cs typeface="Times New Roman"/>
                <a:sym typeface="Times New Roman"/>
              </a:rPr>
              <a:t>: </a:t>
            </a:r>
            <a:r>
              <a:rPr lang="en-US" sz="3600" dirty="0">
                <a:solidFill>
                  <a:srgbClr val="000000"/>
                </a:solidFill>
                <a:latin typeface="Times New Roman"/>
                <a:ea typeface="Times New Roman"/>
                <a:cs typeface="Times New Roman"/>
                <a:sym typeface="Times New Roman"/>
              </a:rPr>
              <a:t>Some studies incorporate contextual factors such as lifestyle, time, location, or group preferences to improve recommendation relevance. Group-based systems show higher satisfaction but often lack comprehensive integration of nutrition, health constraints, regional context, and food safety within a unified framework.</a:t>
            </a:r>
          </a:p>
        </p:txBody>
      </p:sp>
      <p:grpSp>
        <p:nvGrpSpPr>
          <p:cNvPr id="6" name="Group 6"/>
          <p:cNvGrpSpPr/>
          <p:nvPr/>
        </p:nvGrpSpPr>
        <p:grpSpPr>
          <a:xfrm>
            <a:off x="6057900" y="9534525"/>
            <a:ext cx="6172200" cy="547650"/>
            <a:chOff x="0" y="0"/>
            <a:chExt cx="8229600" cy="730200"/>
          </a:xfrm>
        </p:grpSpPr>
        <p:sp>
          <p:nvSpPr>
            <p:cNvPr id="7" name="Freeform 7"/>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8" name="TextBox 8"/>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50"/>
            <a:chOff x="0" y="0"/>
            <a:chExt cx="5486400" cy="730200"/>
          </a:xfrm>
        </p:grpSpPr>
        <p:sp>
          <p:nvSpPr>
            <p:cNvPr id="10" name="Freeform 10"/>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1" name="TextBox 11"/>
            <p:cNvSpPr txBox="1"/>
            <p:nvPr/>
          </p:nvSpPr>
          <p:spPr>
            <a:xfrm>
              <a:off x="0" y="-38100"/>
              <a:ext cx="5486400" cy="76830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9</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50900" y="386588"/>
            <a:ext cx="13548600" cy="1481850"/>
            <a:chOff x="0" y="0"/>
            <a:chExt cx="18064800" cy="1975800"/>
          </a:xfrm>
        </p:grpSpPr>
        <p:sp>
          <p:nvSpPr>
            <p:cNvPr id="3" name="Freeform 3"/>
            <p:cNvSpPr/>
            <p:nvPr/>
          </p:nvSpPr>
          <p:spPr>
            <a:xfrm>
              <a:off x="0" y="0"/>
              <a:ext cx="18064800" cy="1975800"/>
            </a:xfrm>
            <a:custGeom>
              <a:avLst/>
              <a:gdLst/>
              <a:ahLst/>
              <a:cxnLst/>
              <a:rect l="l" t="t" r="r" b="b"/>
              <a:pathLst>
                <a:path w="18064800" h="1975800">
                  <a:moveTo>
                    <a:pt x="0" y="0"/>
                  </a:moveTo>
                  <a:lnTo>
                    <a:pt x="18064800" y="0"/>
                  </a:lnTo>
                  <a:lnTo>
                    <a:pt x="18064800" y="1975800"/>
                  </a:lnTo>
                  <a:lnTo>
                    <a:pt x="0" y="1975800"/>
                  </a:lnTo>
                  <a:close/>
                </a:path>
              </a:pathLst>
            </a:custGeom>
            <a:solidFill>
              <a:srgbClr val="000000">
                <a:alpha val="0"/>
              </a:srgbClr>
            </a:solidFill>
          </p:spPr>
        </p:sp>
        <p:sp>
          <p:nvSpPr>
            <p:cNvPr id="4" name="TextBox 4"/>
            <p:cNvSpPr txBox="1"/>
            <p:nvPr/>
          </p:nvSpPr>
          <p:spPr>
            <a:xfrm>
              <a:off x="0" y="38100"/>
              <a:ext cx="18064800" cy="19377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Proposed Methodology</a:t>
              </a:r>
            </a:p>
          </p:txBody>
        </p:sp>
      </p:grpSp>
      <p:sp>
        <p:nvSpPr>
          <p:cNvPr id="5" name="TextBox 5"/>
          <p:cNvSpPr txBox="1"/>
          <p:nvPr/>
        </p:nvSpPr>
        <p:spPr>
          <a:xfrm>
            <a:off x="1028700" y="2232048"/>
            <a:ext cx="16230600" cy="7181453"/>
          </a:xfrm>
          <a:prstGeom prst="rect">
            <a:avLst/>
          </a:prstGeom>
        </p:spPr>
        <p:txBody>
          <a:bodyPr lIns="0" tIns="0" rIns="0" bIns="0" rtlCol="0" anchor="t">
            <a:spAutoFit/>
          </a:bodyPr>
          <a:lstStyle/>
          <a:p>
            <a:pPr marL="725315" lvl="1" indent="-362658" algn="l">
              <a:lnSpc>
                <a:spcPts val="3267"/>
              </a:lnSpc>
              <a:buAutoNum type="arabicPeriod"/>
            </a:pPr>
            <a:r>
              <a:rPr lang="en-US" sz="3025" b="1" dirty="0">
                <a:solidFill>
                  <a:srgbClr val="000000"/>
                </a:solidFill>
                <a:latin typeface="Times New Roman Bold"/>
                <a:ea typeface="Times New Roman Bold"/>
                <a:cs typeface="Times New Roman Bold"/>
                <a:sym typeface="Times New Roman Bold"/>
              </a:rPr>
              <a:t>Data Collection</a:t>
            </a:r>
          </a:p>
          <a:p>
            <a:pPr marL="681171" lvl="1" indent="-340586" algn="l">
              <a:lnSpc>
                <a:spcPts val="3068"/>
              </a:lnSpc>
            </a:pPr>
            <a:endParaRPr lang="en-US" sz="3025" b="1" dirty="0">
              <a:solidFill>
                <a:srgbClr val="000000"/>
              </a:solidFill>
              <a:latin typeface="Times New Roman Bold"/>
              <a:ea typeface="Times New Roman Bold"/>
              <a:cs typeface="Times New Roman Bold"/>
              <a:sym typeface="Times New Roman Bold"/>
            </a:endParaRPr>
          </a:p>
          <a:p>
            <a:pPr marL="1479939" lvl="2" indent="-493313" algn="l">
              <a:lnSpc>
                <a:spcPts val="3068"/>
              </a:lnSpc>
              <a:buFont typeface="Arial"/>
              <a:buChar char="⚬"/>
            </a:pPr>
            <a:r>
              <a:rPr lang="en-US" sz="2841" b="1" dirty="0">
                <a:solidFill>
                  <a:srgbClr val="000000"/>
                </a:solidFill>
                <a:latin typeface="Times New Roman"/>
                <a:ea typeface="Times New Roman"/>
                <a:cs typeface="Times New Roman"/>
                <a:sym typeface="Times New Roman"/>
              </a:rPr>
              <a:t>Datasets Used: </a:t>
            </a:r>
          </a:p>
          <a:p>
            <a:pPr marL="2453935" lvl="4" indent="-490787" algn="l">
              <a:lnSpc>
                <a:spcPts val="3068"/>
              </a:lnSpc>
              <a:buFont typeface="Arial"/>
              <a:buChar char="•"/>
            </a:pPr>
            <a:r>
              <a:rPr lang="en-US" sz="2841" dirty="0">
                <a:solidFill>
                  <a:srgbClr val="000000"/>
                </a:solidFill>
                <a:latin typeface="Times New Roman"/>
                <a:ea typeface="Times New Roman"/>
                <a:cs typeface="Times New Roman"/>
                <a:sym typeface="Times New Roman"/>
              </a:rPr>
              <a:t>Food Nutrition Datasets:</a:t>
            </a:r>
          </a:p>
          <a:p>
            <a:pPr marL="3067418" lvl="5" indent="-511236" algn="l">
              <a:lnSpc>
                <a:spcPts val="3068"/>
              </a:lnSpc>
              <a:buFont typeface="Arial"/>
              <a:buChar char="⚬"/>
            </a:pPr>
            <a:r>
              <a:rPr lang="en-US" sz="2841" dirty="0">
                <a:solidFill>
                  <a:srgbClr val="000000"/>
                </a:solidFill>
                <a:latin typeface="Times New Roman"/>
                <a:ea typeface="Times New Roman"/>
                <a:cs typeface="Times New Roman"/>
                <a:sym typeface="Times New Roman"/>
              </a:rPr>
              <a:t>Contain macro- and micro-nutrient values such as calories, protein, fat, sugar, fiber, and sodium.</a:t>
            </a:r>
          </a:p>
          <a:p>
            <a:pPr marL="3067418" lvl="5" indent="-511236" algn="l">
              <a:lnSpc>
                <a:spcPts val="3068"/>
              </a:lnSpc>
              <a:buFont typeface="Arial"/>
              <a:buChar char="⚬"/>
            </a:pPr>
            <a:r>
              <a:rPr lang="en-US" sz="2841" dirty="0">
                <a:solidFill>
                  <a:srgbClr val="000000"/>
                </a:solidFill>
                <a:latin typeface="Times New Roman"/>
                <a:ea typeface="Times New Roman"/>
                <a:cs typeface="Times New Roman"/>
                <a:sym typeface="Times New Roman"/>
              </a:rPr>
              <a:t>Used to evaluate the nutritional suitability of food items for different health conditions and dietary goals.</a:t>
            </a:r>
          </a:p>
          <a:p>
            <a:pPr marL="2453935" lvl="4" indent="-490787" algn="l">
              <a:lnSpc>
                <a:spcPts val="3068"/>
              </a:lnSpc>
              <a:buFont typeface="Arial"/>
              <a:buChar char="•"/>
            </a:pPr>
            <a:r>
              <a:rPr lang="en-US" sz="2841" dirty="0">
                <a:solidFill>
                  <a:srgbClr val="000000"/>
                </a:solidFill>
                <a:latin typeface="Times New Roman"/>
                <a:ea typeface="Times New Roman"/>
                <a:cs typeface="Times New Roman"/>
                <a:sym typeface="Times New Roman"/>
              </a:rPr>
              <a:t>User Lifestyle &amp; Health Datasets:</a:t>
            </a:r>
          </a:p>
          <a:p>
            <a:pPr marL="3067418" lvl="5" indent="-511236" algn="l">
              <a:lnSpc>
                <a:spcPts val="3068"/>
              </a:lnSpc>
              <a:buFont typeface="Arial"/>
              <a:buChar char="⚬"/>
            </a:pPr>
            <a:r>
              <a:rPr lang="en-US" sz="2841" dirty="0">
                <a:solidFill>
                  <a:srgbClr val="000000"/>
                </a:solidFill>
                <a:latin typeface="Times New Roman"/>
                <a:ea typeface="Times New Roman"/>
                <a:cs typeface="Times New Roman"/>
                <a:sym typeface="Times New Roman"/>
              </a:rPr>
              <a:t>Capture user-specific attributes including dietary goals, health conditions, allergies, activity levels, and food awareness.</a:t>
            </a:r>
          </a:p>
          <a:p>
            <a:pPr marL="3067418" lvl="5" indent="-511236" algn="l">
              <a:lnSpc>
                <a:spcPts val="3068"/>
              </a:lnSpc>
              <a:buFont typeface="Arial"/>
              <a:buChar char="⚬"/>
            </a:pPr>
            <a:r>
              <a:rPr lang="en-US" sz="2841" dirty="0">
                <a:solidFill>
                  <a:srgbClr val="000000"/>
                </a:solidFill>
                <a:latin typeface="Times New Roman"/>
                <a:ea typeface="Times New Roman"/>
                <a:cs typeface="Times New Roman"/>
                <a:sym typeface="Times New Roman"/>
              </a:rPr>
              <a:t>Enable personalized and health-aware recommendation generation.</a:t>
            </a:r>
          </a:p>
          <a:p>
            <a:pPr marL="2453935" lvl="4" indent="-490787" algn="l">
              <a:lnSpc>
                <a:spcPts val="3068"/>
              </a:lnSpc>
              <a:buFont typeface="Arial"/>
              <a:buChar char="•"/>
            </a:pPr>
            <a:r>
              <a:rPr lang="en-US" sz="2841" dirty="0">
                <a:solidFill>
                  <a:srgbClr val="000000"/>
                </a:solidFill>
                <a:latin typeface="Times New Roman"/>
                <a:ea typeface="Times New Roman"/>
                <a:cs typeface="Times New Roman"/>
                <a:sym typeface="Times New Roman"/>
              </a:rPr>
              <a:t>Food Safety Alert Datasets:</a:t>
            </a:r>
          </a:p>
          <a:p>
            <a:pPr marL="3067418" lvl="5" indent="-511236" algn="l">
              <a:lnSpc>
                <a:spcPts val="3068"/>
              </a:lnSpc>
              <a:buFont typeface="Arial"/>
              <a:buChar char="⚬"/>
            </a:pPr>
            <a:r>
              <a:rPr lang="en-US" sz="2841" dirty="0">
                <a:solidFill>
                  <a:srgbClr val="000000"/>
                </a:solidFill>
                <a:latin typeface="Times New Roman"/>
                <a:ea typeface="Times New Roman"/>
                <a:cs typeface="Times New Roman"/>
                <a:sym typeface="Times New Roman"/>
              </a:rPr>
              <a:t>Provide information about potentially unsafe or restricted food categories.</a:t>
            </a:r>
          </a:p>
          <a:p>
            <a:pPr marL="3067418" lvl="5" indent="-511236" algn="l">
              <a:lnSpc>
                <a:spcPts val="3068"/>
              </a:lnSpc>
              <a:buFont typeface="Arial"/>
              <a:buChar char="⚬"/>
            </a:pPr>
            <a:r>
              <a:rPr lang="en-US" sz="2841" dirty="0">
                <a:solidFill>
                  <a:srgbClr val="000000"/>
                </a:solidFill>
                <a:latin typeface="Times New Roman"/>
                <a:ea typeface="Times New Roman"/>
                <a:cs typeface="Times New Roman"/>
                <a:sym typeface="Times New Roman"/>
              </a:rPr>
              <a:t>Used for safety-aware filtering and penalization during recommendation ranking.</a:t>
            </a:r>
          </a:p>
          <a:p>
            <a:pPr marL="2453935" lvl="4" indent="-490787" algn="l">
              <a:lnSpc>
                <a:spcPts val="3068"/>
              </a:lnSpc>
              <a:buFont typeface="Arial"/>
              <a:buChar char="•"/>
            </a:pPr>
            <a:r>
              <a:rPr lang="en-US" sz="2841" dirty="0">
                <a:solidFill>
                  <a:srgbClr val="000000"/>
                </a:solidFill>
                <a:latin typeface="Times New Roman"/>
                <a:ea typeface="Times New Roman"/>
                <a:cs typeface="Times New Roman"/>
                <a:sym typeface="Times New Roman"/>
              </a:rPr>
              <a:t>Synthetic User–Food Interaction Datasets:</a:t>
            </a:r>
          </a:p>
          <a:p>
            <a:pPr marL="3067418" lvl="5" indent="-511236" algn="l">
              <a:lnSpc>
                <a:spcPts val="3068"/>
              </a:lnSpc>
              <a:buFont typeface="Arial"/>
              <a:buChar char="⚬"/>
            </a:pPr>
            <a:r>
              <a:rPr lang="en-US" sz="2841" dirty="0">
                <a:solidFill>
                  <a:srgbClr val="000000"/>
                </a:solidFill>
                <a:latin typeface="Times New Roman"/>
                <a:ea typeface="Times New Roman"/>
                <a:cs typeface="Times New Roman"/>
                <a:sym typeface="Times New Roman"/>
              </a:rPr>
              <a:t>Simulate realistic food consumption patterns in the absence of re</a:t>
            </a:r>
            <a:r>
              <a:rPr lang="en-US" sz="2841" u="none" dirty="0">
                <a:solidFill>
                  <a:srgbClr val="000000"/>
                </a:solidFill>
                <a:latin typeface="Times New Roman"/>
                <a:ea typeface="Times New Roman"/>
                <a:cs typeface="Times New Roman"/>
                <a:sym typeface="Times New Roman"/>
              </a:rPr>
              <a:t>a</a:t>
            </a:r>
            <a:r>
              <a:rPr lang="en-US" sz="2841" dirty="0">
                <a:solidFill>
                  <a:srgbClr val="000000"/>
                </a:solidFill>
                <a:latin typeface="Times New Roman"/>
                <a:ea typeface="Times New Roman"/>
                <a:cs typeface="Times New Roman"/>
                <a:sym typeface="Times New Roman"/>
              </a:rPr>
              <a:t>l</a:t>
            </a:r>
            <a:r>
              <a:rPr lang="en-US" sz="2841" u="none" dirty="0">
                <a:solidFill>
                  <a:srgbClr val="000000"/>
                </a:solidFill>
                <a:latin typeface="Times New Roman"/>
                <a:ea typeface="Times New Roman"/>
                <a:cs typeface="Times New Roman"/>
                <a:sym typeface="Times New Roman"/>
              </a:rPr>
              <a:t> </a:t>
            </a:r>
            <a:r>
              <a:rPr lang="en-US" sz="2841" dirty="0">
                <a:solidFill>
                  <a:srgbClr val="000000"/>
                </a:solidFill>
                <a:latin typeface="Times New Roman"/>
                <a:ea typeface="Times New Roman"/>
                <a:cs typeface="Times New Roman"/>
                <a:sym typeface="Times New Roman"/>
              </a:rPr>
              <a:t>i</a:t>
            </a:r>
            <a:r>
              <a:rPr lang="en-US" sz="2841" u="none" dirty="0">
                <a:solidFill>
                  <a:srgbClr val="000000"/>
                </a:solidFill>
                <a:latin typeface="Times New Roman"/>
                <a:ea typeface="Times New Roman"/>
                <a:cs typeface="Times New Roman"/>
                <a:sym typeface="Times New Roman"/>
              </a:rPr>
              <a:t>ntera</a:t>
            </a:r>
            <a:r>
              <a:rPr lang="en-US" sz="2841" dirty="0">
                <a:solidFill>
                  <a:srgbClr val="000000"/>
                </a:solidFill>
                <a:latin typeface="Times New Roman"/>
                <a:ea typeface="Times New Roman"/>
                <a:cs typeface="Times New Roman"/>
                <a:sym typeface="Times New Roman"/>
              </a:rPr>
              <a:t>c</a:t>
            </a:r>
            <a:r>
              <a:rPr lang="en-US" sz="2841" u="none" dirty="0">
                <a:solidFill>
                  <a:srgbClr val="000000"/>
                </a:solidFill>
                <a:latin typeface="Times New Roman"/>
                <a:ea typeface="Times New Roman"/>
                <a:cs typeface="Times New Roman"/>
                <a:sym typeface="Times New Roman"/>
              </a:rPr>
              <a:t>tion</a:t>
            </a:r>
            <a:r>
              <a:rPr lang="en-US" sz="2841" dirty="0">
                <a:solidFill>
                  <a:srgbClr val="000000"/>
                </a:solidFill>
                <a:latin typeface="Times New Roman"/>
                <a:ea typeface="Times New Roman"/>
                <a:cs typeface="Times New Roman"/>
                <a:sym typeface="Times New Roman"/>
              </a:rPr>
              <a:t> logs.</a:t>
            </a:r>
          </a:p>
          <a:p>
            <a:pPr marL="3067418" lvl="5" indent="-511236" algn="l">
              <a:lnSpc>
                <a:spcPts val="3068"/>
              </a:lnSpc>
              <a:buFont typeface="Arial"/>
              <a:buChar char="⚬"/>
            </a:pPr>
            <a:r>
              <a:rPr lang="en-US" sz="2841" dirty="0">
                <a:solidFill>
                  <a:srgbClr val="000000"/>
                </a:solidFill>
                <a:latin typeface="Times New Roman"/>
                <a:ea typeface="Times New Roman"/>
                <a:cs typeface="Times New Roman"/>
                <a:sym typeface="Times New Roman"/>
              </a:rPr>
              <a:t>Required for training machine learning and deep learning recommendation models.</a:t>
            </a:r>
          </a:p>
        </p:txBody>
      </p:sp>
      <p:grpSp>
        <p:nvGrpSpPr>
          <p:cNvPr id="6" name="Group 6"/>
          <p:cNvGrpSpPr/>
          <p:nvPr/>
        </p:nvGrpSpPr>
        <p:grpSpPr>
          <a:xfrm>
            <a:off x="6057900" y="9534525"/>
            <a:ext cx="6172200" cy="547650"/>
            <a:chOff x="0" y="0"/>
            <a:chExt cx="8229600" cy="730200"/>
          </a:xfrm>
        </p:grpSpPr>
        <p:sp>
          <p:nvSpPr>
            <p:cNvPr id="7" name="Freeform 7"/>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8" name="TextBox 8"/>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50"/>
            <a:chOff x="0" y="0"/>
            <a:chExt cx="5486400" cy="730200"/>
          </a:xfrm>
        </p:grpSpPr>
        <p:sp>
          <p:nvSpPr>
            <p:cNvPr id="10" name="Freeform 10"/>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1" name="TextBox 11"/>
            <p:cNvSpPr txBox="1"/>
            <p:nvPr/>
          </p:nvSpPr>
          <p:spPr>
            <a:xfrm>
              <a:off x="0" y="-38100"/>
              <a:ext cx="5486400" cy="76830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10</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50900" y="386588"/>
            <a:ext cx="13548600" cy="1481850"/>
            <a:chOff x="0" y="0"/>
            <a:chExt cx="18064800" cy="1975800"/>
          </a:xfrm>
        </p:grpSpPr>
        <p:sp>
          <p:nvSpPr>
            <p:cNvPr id="3" name="Freeform 3"/>
            <p:cNvSpPr/>
            <p:nvPr/>
          </p:nvSpPr>
          <p:spPr>
            <a:xfrm>
              <a:off x="0" y="0"/>
              <a:ext cx="18064800" cy="1975800"/>
            </a:xfrm>
            <a:custGeom>
              <a:avLst/>
              <a:gdLst/>
              <a:ahLst/>
              <a:cxnLst/>
              <a:rect l="l" t="t" r="r" b="b"/>
              <a:pathLst>
                <a:path w="18064800" h="1975800">
                  <a:moveTo>
                    <a:pt x="0" y="0"/>
                  </a:moveTo>
                  <a:lnTo>
                    <a:pt x="18064800" y="0"/>
                  </a:lnTo>
                  <a:lnTo>
                    <a:pt x="18064800" y="1975800"/>
                  </a:lnTo>
                  <a:lnTo>
                    <a:pt x="0" y="1975800"/>
                  </a:lnTo>
                  <a:close/>
                </a:path>
              </a:pathLst>
            </a:custGeom>
            <a:solidFill>
              <a:srgbClr val="000000">
                <a:alpha val="0"/>
              </a:srgbClr>
            </a:solidFill>
          </p:spPr>
        </p:sp>
        <p:sp>
          <p:nvSpPr>
            <p:cNvPr id="4" name="TextBox 4"/>
            <p:cNvSpPr txBox="1"/>
            <p:nvPr/>
          </p:nvSpPr>
          <p:spPr>
            <a:xfrm>
              <a:off x="0" y="38100"/>
              <a:ext cx="18064800" cy="19377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Proposed Methodology</a:t>
              </a:r>
            </a:p>
          </p:txBody>
        </p:sp>
      </p:grpSp>
      <p:sp>
        <p:nvSpPr>
          <p:cNvPr id="5" name="TextBox 5"/>
          <p:cNvSpPr txBox="1"/>
          <p:nvPr/>
        </p:nvSpPr>
        <p:spPr>
          <a:xfrm>
            <a:off x="609600" y="2324100"/>
            <a:ext cx="15468600" cy="6245299"/>
          </a:xfrm>
          <a:prstGeom prst="rect">
            <a:avLst/>
          </a:prstGeom>
        </p:spPr>
        <p:txBody>
          <a:bodyPr wrap="square" lIns="0" tIns="0" rIns="0" bIns="0" rtlCol="0" anchor="t">
            <a:spAutoFit/>
          </a:bodyPr>
          <a:lstStyle/>
          <a:p>
            <a:pPr algn="l">
              <a:lnSpc>
                <a:spcPts val="4904"/>
              </a:lnSpc>
            </a:pPr>
            <a:endParaRPr sz="1200" dirty="0"/>
          </a:p>
          <a:p>
            <a:pPr marL="2365323" lvl="2" indent="-788441">
              <a:lnSpc>
                <a:spcPts val="4904"/>
              </a:lnSpc>
              <a:buFont typeface="Arial"/>
              <a:buChar char="⚬"/>
            </a:pPr>
            <a:r>
              <a:rPr lang="en-IN" sz="2400" dirty="0"/>
              <a:t>Acknowledgement (Dataset Source</a:t>
            </a:r>
            <a:r>
              <a:rPr lang="en-IN" sz="2400" dirty="0" smtClean="0"/>
              <a:t>)</a:t>
            </a:r>
          </a:p>
          <a:p>
            <a:pPr marL="2491282" lvl="4"/>
            <a:r>
              <a:rPr lang="en-US" sz="2400" dirty="0"/>
              <a:t>The datasets used in this project were sourced and adapted from publicly available open datasets and an open-source GitHub repository maintained by </a:t>
            </a:r>
            <a:r>
              <a:rPr lang="en-US" sz="2400" i="1" dirty="0" err="1"/>
              <a:t>Aniket</a:t>
            </a:r>
            <a:r>
              <a:rPr lang="en-US" sz="2400" dirty="0"/>
              <a:t>. These datasets are used strictly for academic and educational purposes, with appropriate attribution to the original data providers.</a:t>
            </a:r>
            <a:br>
              <a:rPr lang="en-US" sz="2400" dirty="0"/>
            </a:br>
            <a:r>
              <a:rPr lang="en-US" sz="2400" dirty="0"/>
              <a:t>[</a:t>
            </a:r>
            <a:r>
              <a:rPr lang="en-US" sz="2400" dirty="0" smtClean="0"/>
              <a:t>https</a:t>
            </a:r>
            <a:r>
              <a:rPr lang="en-US" sz="2400" dirty="0"/>
              <a:t>://</a:t>
            </a:r>
            <a:r>
              <a:rPr lang="en-US" sz="2400" dirty="0" smtClean="0"/>
              <a:t>github.com/Aniketkoppaka/AI-DIET-AND-FOOD-SAFETY-RECOMMENDER/tree/main/DATASETS]</a:t>
            </a:r>
          </a:p>
          <a:p>
            <a:pPr marL="2491282" lvl="4"/>
            <a:endParaRPr lang="en-US" sz="2400" b="1" u="sng" dirty="0" smtClean="0">
              <a:solidFill>
                <a:srgbClr val="000000"/>
              </a:solidFill>
              <a:latin typeface="Times New Roman"/>
              <a:ea typeface="Times New Roman"/>
              <a:cs typeface="Times New Roman"/>
              <a:sym typeface="Times New Roman"/>
            </a:endParaRPr>
          </a:p>
          <a:p>
            <a:pPr marL="2365323" lvl="2" indent="-788441" algn="l">
              <a:lnSpc>
                <a:spcPts val="4904"/>
              </a:lnSpc>
              <a:buFont typeface="Arial"/>
              <a:buChar char="⚬"/>
            </a:pPr>
            <a:r>
              <a:rPr lang="en-US" sz="2400" b="1" u="sng" dirty="0" smtClean="0">
                <a:solidFill>
                  <a:srgbClr val="000000"/>
                </a:solidFill>
                <a:latin typeface="Times New Roman"/>
                <a:ea typeface="Times New Roman"/>
                <a:cs typeface="Times New Roman"/>
                <a:sym typeface="Times New Roman"/>
              </a:rPr>
              <a:t>Dataset </a:t>
            </a:r>
            <a:r>
              <a:rPr lang="en-US" sz="2400" b="1" u="sng" dirty="0">
                <a:solidFill>
                  <a:srgbClr val="000000"/>
                </a:solidFill>
                <a:latin typeface="Times New Roman"/>
                <a:ea typeface="Times New Roman"/>
                <a:cs typeface="Times New Roman"/>
                <a:sym typeface="Times New Roman"/>
              </a:rPr>
              <a:t>Integration</a:t>
            </a:r>
            <a:r>
              <a:rPr lang="en-US" sz="2400" u="sng" dirty="0">
                <a:solidFill>
                  <a:srgbClr val="000000"/>
                </a:solidFill>
                <a:latin typeface="Times New Roman"/>
                <a:ea typeface="Times New Roman"/>
                <a:cs typeface="Times New Roman"/>
                <a:sym typeface="Times New Roman"/>
              </a:rPr>
              <a:t>:</a:t>
            </a:r>
          </a:p>
          <a:p>
            <a:pPr marL="3922018" lvl="4" indent="-784404" algn="l">
              <a:lnSpc>
                <a:spcPts val="4904"/>
              </a:lnSpc>
              <a:buFont typeface="Arial"/>
              <a:buChar char="•"/>
            </a:pPr>
            <a:r>
              <a:rPr lang="en-US" sz="2400" dirty="0">
                <a:solidFill>
                  <a:srgbClr val="000000"/>
                </a:solidFill>
                <a:latin typeface="Times New Roman"/>
                <a:ea typeface="Times New Roman"/>
                <a:cs typeface="Times New Roman"/>
                <a:sym typeface="Times New Roman"/>
              </a:rPr>
              <a:t>All datasets are merged into a unified structured dataset.</a:t>
            </a:r>
          </a:p>
          <a:p>
            <a:pPr marL="3922018" lvl="4" indent="-784404" algn="l">
              <a:lnSpc>
                <a:spcPts val="4904"/>
              </a:lnSpc>
              <a:buFont typeface="Arial"/>
              <a:buChar char="•"/>
            </a:pPr>
            <a:r>
              <a:rPr lang="en-US" sz="2400" dirty="0">
                <a:solidFill>
                  <a:srgbClr val="000000"/>
                </a:solidFill>
                <a:latin typeface="Times New Roman"/>
                <a:ea typeface="Times New Roman"/>
                <a:cs typeface="Times New Roman"/>
                <a:sym typeface="Times New Roman"/>
              </a:rPr>
              <a:t>Consistent food identifiers are assigned across nutrition, safety, and interaction data.</a:t>
            </a:r>
          </a:p>
          <a:p>
            <a:pPr marL="3922018" lvl="4" indent="-784404" algn="l">
              <a:lnSpc>
                <a:spcPts val="4904"/>
              </a:lnSpc>
              <a:buFont typeface="Arial"/>
              <a:buChar char="•"/>
            </a:pPr>
            <a:r>
              <a:rPr lang="en-US" sz="2400" dirty="0">
                <a:solidFill>
                  <a:srgbClr val="000000"/>
                </a:solidFill>
                <a:latin typeface="Times New Roman"/>
                <a:ea typeface="Times New Roman"/>
                <a:cs typeface="Times New Roman"/>
                <a:sym typeface="Times New Roman"/>
              </a:rPr>
              <a:t>User attributes are aligned with interaction records to enable seamless feature extraction and model training.</a:t>
            </a:r>
          </a:p>
        </p:txBody>
      </p:sp>
      <p:grpSp>
        <p:nvGrpSpPr>
          <p:cNvPr id="6" name="Group 6"/>
          <p:cNvGrpSpPr/>
          <p:nvPr/>
        </p:nvGrpSpPr>
        <p:grpSpPr>
          <a:xfrm>
            <a:off x="6057900" y="9534525"/>
            <a:ext cx="6172200" cy="547650"/>
            <a:chOff x="0" y="0"/>
            <a:chExt cx="8229600" cy="730200"/>
          </a:xfrm>
        </p:grpSpPr>
        <p:sp>
          <p:nvSpPr>
            <p:cNvPr id="7" name="Freeform 7"/>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8" name="TextBox 8"/>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50"/>
            <a:chOff x="0" y="0"/>
            <a:chExt cx="5486400" cy="730200"/>
          </a:xfrm>
        </p:grpSpPr>
        <p:sp>
          <p:nvSpPr>
            <p:cNvPr id="10" name="Freeform 10"/>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1" name="TextBox 11"/>
            <p:cNvSpPr txBox="1"/>
            <p:nvPr/>
          </p:nvSpPr>
          <p:spPr>
            <a:xfrm>
              <a:off x="0" y="-38100"/>
              <a:ext cx="5486400" cy="76830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11</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50900" y="386588"/>
            <a:ext cx="13548600" cy="1481850"/>
            <a:chOff x="0" y="0"/>
            <a:chExt cx="18064800" cy="1975800"/>
          </a:xfrm>
        </p:grpSpPr>
        <p:sp>
          <p:nvSpPr>
            <p:cNvPr id="3" name="Freeform 3"/>
            <p:cNvSpPr/>
            <p:nvPr/>
          </p:nvSpPr>
          <p:spPr>
            <a:xfrm>
              <a:off x="0" y="0"/>
              <a:ext cx="18064800" cy="1975800"/>
            </a:xfrm>
            <a:custGeom>
              <a:avLst/>
              <a:gdLst/>
              <a:ahLst/>
              <a:cxnLst/>
              <a:rect l="l" t="t" r="r" b="b"/>
              <a:pathLst>
                <a:path w="18064800" h="1975800">
                  <a:moveTo>
                    <a:pt x="0" y="0"/>
                  </a:moveTo>
                  <a:lnTo>
                    <a:pt x="18064800" y="0"/>
                  </a:lnTo>
                  <a:lnTo>
                    <a:pt x="18064800" y="1975800"/>
                  </a:lnTo>
                  <a:lnTo>
                    <a:pt x="0" y="1975800"/>
                  </a:lnTo>
                  <a:close/>
                </a:path>
              </a:pathLst>
            </a:custGeom>
            <a:solidFill>
              <a:srgbClr val="000000">
                <a:alpha val="0"/>
              </a:srgbClr>
            </a:solidFill>
          </p:spPr>
        </p:sp>
        <p:sp>
          <p:nvSpPr>
            <p:cNvPr id="4" name="TextBox 4"/>
            <p:cNvSpPr txBox="1"/>
            <p:nvPr/>
          </p:nvSpPr>
          <p:spPr>
            <a:xfrm>
              <a:off x="0" y="38100"/>
              <a:ext cx="18064800" cy="19377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Proposed Methodology</a:t>
              </a:r>
            </a:p>
          </p:txBody>
        </p:sp>
      </p:grpSp>
      <p:sp>
        <p:nvSpPr>
          <p:cNvPr id="5" name="TextBox 5"/>
          <p:cNvSpPr txBox="1"/>
          <p:nvPr/>
        </p:nvSpPr>
        <p:spPr>
          <a:xfrm>
            <a:off x="1028700" y="2241572"/>
            <a:ext cx="16002000" cy="6894195"/>
          </a:xfrm>
          <a:prstGeom prst="rect">
            <a:avLst/>
          </a:prstGeom>
        </p:spPr>
        <p:txBody>
          <a:bodyPr wrap="square" lIns="0" tIns="0" rIns="0" bIns="0" rtlCol="0" anchor="t">
            <a:spAutoFit/>
          </a:bodyPr>
          <a:lstStyle/>
          <a:p>
            <a:r>
              <a:rPr lang="en-US" sz="2800" b="1" dirty="0" smtClean="0">
                <a:latin typeface="Times New Roman" panose="02020603050405020304" pitchFamily="18" charset="0"/>
                <a:cs typeface="Times New Roman" panose="02020603050405020304" pitchFamily="18" charset="0"/>
              </a:rPr>
              <a:t>2. Data </a:t>
            </a:r>
            <a:r>
              <a:rPr lang="en-US" sz="2800" b="1" dirty="0">
                <a:latin typeface="Times New Roman" panose="02020603050405020304" pitchFamily="18" charset="0"/>
                <a:cs typeface="Times New Roman" panose="02020603050405020304" pitchFamily="18" charset="0"/>
              </a:rPr>
              <a:t>Preprocessing</a:t>
            </a:r>
            <a:endParaRPr lang="en-US" sz="28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Data Cleaning</a:t>
            </a:r>
          </a:p>
          <a:p>
            <a:pPr marL="2114550" lvl="4"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Removed duplicate and inconsistent food records to ensure a reliable item catalog.</a:t>
            </a:r>
          </a:p>
          <a:p>
            <a:pPr marL="2114550" lvl="4"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Handled missing nutritional values using controlled imputation to maintain numerical stability.</a:t>
            </a:r>
          </a:p>
          <a:p>
            <a:pPr marL="2114550" lvl="4"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Eliminated invalid or incomplete user entries to prevent biased learning during model training.</a:t>
            </a:r>
          </a:p>
          <a:p>
            <a:pPr marL="742950" lvl="1" indent="-28575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Standardization &amp; Encoding</a:t>
            </a:r>
          </a:p>
          <a:p>
            <a:pPr marL="2114550" lvl="4"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Standardized nutrient values (calories, protein, fat, sugar, sodium) to common measurement units.</a:t>
            </a:r>
          </a:p>
          <a:p>
            <a:pPr marL="2114550" lvl="4"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Encoded categorical attributes such as region, cuisine type, health condition, and activity level into model-compatible formats.</a:t>
            </a:r>
          </a:p>
          <a:p>
            <a:pPr marL="2114550" lvl="4"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Assigned unique food identifiers to enable consistent mapping across nutrition, safety, and interaction datasets.</a:t>
            </a:r>
          </a:p>
          <a:p>
            <a:pPr marL="742950" lvl="1" indent="-28575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Health &amp; Safety Handling</a:t>
            </a:r>
          </a:p>
          <a:p>
            <a:pPr marL="2114550" lvl="4"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Flagged food items conflicting with declared user allergies as strict exclusion constraints.</a:t>
            </a:r>
          </a:p>
          <a:p>
            <a:pPr marL="2114550" lvl="4"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Marked foods unsuitable for specific health conditions to apply health-aware penalties.</a:t>
            </a:r>
          </a:p>
          <a:p>
            <a:pPr marL="2114550" lvl="4"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Integrated food safety alerts to penalize or filter high-risk food items during recommendation.</a:t>
            </a:r>
          </a:p>
        </p:txBody>
      </p:sp>
      <p:grpSp>
        <p:nvGrpSpPr>
          <p:cNvPr id="6" name="Group 6"/>
          <p:cNvGrpSpPr/>
          <p:nvPr/>
        </p:nvGrpSpPr>
        <p:grpSpPr>
          <a:xfrm>
            <a:off x="6057900" y="9534525"/>
            <a:ext cx="6172200" cy="547650"/>
            <a:chOff x="0" y="0"/>
            <a:chExt cx="8229600" cy="730200"/>
          </a:xfrm>
        </p:grpSpPr>
        <p:sp>
          <p:nvSpPr>
            <p:cNvPr id="7" name="Freeform 7"/>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8" name="TextBox 8"/>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50"/>
            <a:chOff x="0" y="0"/>
            <a:chExt cx="5486400" cy="730200"/>
          </a:xfrm>
        </p:grpSpPr>
        <p:sp>
          <p:nvSpPr>
            <p:cNvPr id="10" name="Freeform 10"/>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1" name="TextBox 11"/>
            <p:cNvSpPr txBox="1"/>
            <p:nvPr/>
          </p:nvSpPr>
          <p:spPr>
            <a:xfrm>
              <a:off x="0" y="-38100"/>
              <a:ext cx="5486400" cy="76830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12</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50900" y="386588"/>
            <a:ext cx="13548600" cy="1481850"/>
            <a:chOff x="0" y="0"/>
            <a:chExt cx="18064800" cy="1975800"/>
          </a:xfrm>
        </p:grpSpPr>
        <p:sp>
          <p:nvSpPr>
            <p:cNvPr id="3" name="Freeform 3"/>
            <p:cNvSpPr/>
            <p:nvPr/>
          </p:nvSpPr>
          <p:spPr>
            <a:xfrm>
              <a:off x="0" y="0"/>
              <a:ext cx="18064800" cy="1975800"/>
            </a:xfrm>
            <a:custGeom>
              <a:avLst/>
              <a:gdLst/>
              <a:ahLst/>
              <a:cxnLst/>
              <a:rect l="l" t="t" r="r" b="b"/>
              <a:pathLst>
                <a:path w="18064800" h="1975800">
                  <a:moveTo>
                    <a:pt x="0" y="0"/>
                  </a:moveTo>
                  <a:lnTo>
                    <a:pt x="18064800" y="0"/>
                  </a:lnTo>
                  <a:lnTo>
                    <a:pt x="18064800" y="1975800"/>
                  </a:lnTo>
                  <a:lnTo>
                    <a:pt x="0" y="1975800"/>
                  </a:lnTo>
                  <a:close/>
                </a:path>
              </a:pathLst>
            </a:custGeom>
            <a:solidFill>
              <a:srgbClr val="000000">
                <a:alpha val="0"/>
              </a:srgbClr>
            </a:solidFill>
          </p:spPr>
        </p:sp>
        <p:sp>
          <p:nvSpPr>
            <p:cNvPr id="4" name="TextBox 4"/>
            <p:cNvSpPr txBox="1"/>
            <p:nvPr/>
          </p:nvSpPr>
          <p:spPr>
            <a:xfrm>
              <a:off x="0" y="38100"/>
              <a:ext cx="18064800" cy="19377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Proposed Methodology</a:t>
              </a:r>
            </a:p>
          </p:txBody>
        </p:sp>
      </p:grpSp>
      <p:sp>
        <p:nvSpPr>
          <p:cNvPr id="5" name="TextBox 5"/>
          <p:cNvSpPr txBox="1"/>
          <p:nvPr/>
        </p:nvSpPr>
        <p:spPr>
          <a:xfrm>
            <a:off x="1028700" y="2402200"/>
            <a:ext cx="16230600" cy="6519063"/>
          </a:xfrm>
          <a:prstGeom prst="rect">
            <a:avLst/>
          </a:prstGeom>
        </p:spPr>
        <p:txBody>
          <a:bodyPr lIns="0" tIns="0" rIns="0" bIns="0" rtlCol="0" anchor="t">
            <a:spAutoFit/>
          </a:bodyPr>
          <a:lstStyle/>
          <a:p>
            <a:pPr algn="l">
              <a:lnSpc>
                <a:spcPts val="3207"/>
              </a:lnSpc>
            </a:pPr>
            <a:r>
              <a:rPr lang="en-US" sz="3300" b="1">
                <a:solidFill>
                  <a:srgbClr val="000000"/>
                </a:solidFill>
                <a:latin typeface="Times New Roman Bold"/>
                <a:ea typeface="Times New Roman Bold"/>
                <a:cs typeface="Times New Roman Bold"/>
                <a:sym typeface="Times New Roman Bold"/>
              </a:rPr>
              <a:t>3.   Feature Extraction</a:t>
            </a:r>
          </a:p>
          <a:p>
            <a:pPr algn="l">
              <a:lnSpc>
                <a:spcPts val="2916"/>
              </a:lnSpc>
            </a:pPr>
            <a:endParaRPr lang="en-US" sz="3300" b="1">
              <a:solidFill>
                <a:srgbClr val="000000"/>
              </a:solidFill>
              <a:latin typeface="Times New Roman Bold"/>
              <a:ea typeface="Times New Roman Bold"/>
              <a:cs typeface="Times New Roman Bold"/>
              <a:sym typeface="Times New Roman Bold"/>
            </a:endParaRPr>
          </a:p>
          <a:p>
            <a:pPr marL="1287402" lvl="1" indent="-643701" algn="l">
              <a:lnSpc>
                <a:spcPts val="3240"/>
              </a:lnSpc>
              <a:buFont typeface="Arial"/>
              <a:buChar char="•"/>
            </a:pPr>
            <a:r>
              <a:rPr lang="en-US" sz="3000" b="1">
                <a:solidFill>
                  <a:srgbClr val="000000"/>
                </a:solidFill>
                <a:latin typeface="Times New Roman Bold"/>
                <a:ea typeface="Times New Roman Bold"/>
                <a:cs typeface="Times New Roman Bold"/>
                <a:sym typeface="Times New Roman Bold"/>
              </a:rPr>
              <a:t>Food Feature Embeddings</a:t>
            </a:r>
          </a:p>
          <a:p>
            <a:pPr marL="2590806" lvl="4" indent="-518161" algn="l">
              <a:lnSpc>
                <a:spcPts val="3240"/>
              </a:lnSpc>
              <a:buFont typeface="Arial"/>
              <a:buChar char="•"/>
            </a:pPr>
            <a:r>
              <a:rPr lang="en-US" sz="3000">
                <a:solidFill>
                  <a:srgbClr val="000000"/>
                </a:solidFill>
                <a:latin typeface="Times New Roman"/>
                <a:ea typeface="Times New Roman"/>
                <a:cs typeface="Times New Roman"/>
                <a:sym typeface="Times New Roman"/>
              </a:rPr>
              <a:t>Generated structured food representations using nutritional attributes such as calories, macronutrients, fiber, and sodium.</a:t>
            </a:r>
          </a:p>
          <a:p>
            <a:pPr marL="2590806" lvl="4" indent="-518161" algn="l">
              <a:lnSpc>
                <a:spcPts val="3240"/>
              </a:lnSpc>
              <a:buFont typeface="Arial"/>
              <a:buChar char="•"/>
            </a:pPr>
            <a:r>
              <a:rPr lang="en-US" sz="3000">
                <a:solidFill>
                  <a:srgbClr val="000000"/>
                </a:solidFill>
                <a:latin typeface="Times New Roman"/>
                <a:ea typeface="Times New Roman"/>
                <a:cs typeface="Times New Roman"/>
                <a:sym typeface="Times New Roman"/>
              </a:rPr>
              <a:t>Incorporated region and cuisine tags to preserve cultural and dietary relevance.</a:t>
            </a:r>
          </a:p>
          <a:p>
            <a:pPr marL="2590806" lvl="4" indent="-518161" algn="l">
              <a:lnSpc>
                <a:spcPts val="3240"/>
              </a:lnSpc>
              <a:buFont typeface="Arial"/>
              <a:buChar char="•"/>
            </a:pPr>
            <a:r>
              <a:rPr lang="en-US" sz="3000">
                <a:solidFill>
                  <a:srgbClr val="000000"/>
                </a:solidFill>
                <a:latin typeface="Times New Roman"/>
                <a:ea typeface="Times New Roman"/>
                <a:cs typeface="Times New Roman"/>
                <a:sym typeface="Times New Roman"/>
              </a:rPr>
              <a:t>Included food safety risk indicators as additional features for safety-aware ranking.</a:t>
            </a:r>
          </a:p>
          <a:p>
            <a:pPr algn="l">
              <a:lnSpc>
                <a:spcPts val="3240"/>
              </a:lnSpc>
            </a:pPr>
            <a:endParaRPr lang="en-US" sz="3000">
              <a:solidFill>
                <a:srgbClr val="000000"/>
              </a:solidFill>
              <a:latin typeface="Times New Roman"/>
              <a:ea typeface="Times New Roman"/>
              <a:cs typeface="Times New Roman"/>
              <a:sym typeface="Times New Roman"/>
            </a:endParaRPr>
          </a:p>
          <a:p>
            <a:pPr marL="1287402" lvl="1" indent="-643701" algn="l">
              <a:lnSpc>
                <a:spcPts val="3240"/>
              </a:lnSpc>
              <a:buFont typeface="Arial"/>
              <a:buChar char="•"/>
            </a:pPr>
            <a:r>
              <a:rPr lang="en-US" sz="3000" b="1">
                <a:solidFill>
                  <a:srgbClr val="000000"/>
                </a:solidFill>
                <a:latin typeface="Times New Roman Bold"/>
                <a:ea typeface="Times New Roman Bold"/>
                <a:cs typeface="Times New Roman Bold"/>
                <a:sym typeface="Times New Roman Bold"/>
              </a:rPr>
              <a:t>User Feature Representation</a:t>
            </a:r>
          </a:p>
          <a:p>
            <a:pPr marL="2590806" lvl="4" indent="-518161" algn="l">
              <a:lnSpc>
                <a:spcPts val="3240"/>
              </a:lnSpc>
              <a:buFont typeface="Arial"/>
              <a:buChar char="•"/>
            </a:pPr>
            <a:r>
              <a:rPr lang="en-US" sz="3000">
                <a:solidFill>
                  <a:srgbClr val="000000"/>
                </a:solidFill>
                <a:latin typeface="Times New Roman"/>
                <a:ea typeface="Times New Roman"/>
                <a:cs typeface="Times New Roman"/>
                <a:sym typeface="Times New Roman"/>
              </a:rPr>
              <a:t>Encoded user health conditions, dietary goals, allergies, and activity levels.</a:t>
            </a:r>
          </a:p>
          <a:p>
            <a:pPr marL="2590806" lvl="4" indent="-518161" algn="l">
              <a:lnSpc>
                <a:spcPts val="3240"/>
              </a:lnSpc>
              <a:buFont typeface="Arial"/>
              <a:buChar char="•"/>
            </a:pPr>
            <a:r>
              <a:rPr lang="en-US" sz="3000">
                <a:solidFill>
                  <a:srgbClr val="000000"/>
                </a:solidFill>
                <a:latin typeface="Times New Roman"/>
                <a:ea typeface="Times New Roman"/>
                <a:cs typeface="Times New Roman"/>
                <a:sym typeface="Times New Roman"/>
              </a:rPr>
              <a:t>Modeled lifestyle attributes to align recommendations with daily energy requirements.</a:t>
            </a:r>
          </a:p>
          <a:p>
            <a:pPr algn="l">
              <a:lnSpc>
                <a:spcPts val="3240"/>
              </a:lnSpc>
            </a:pPr>
            <a:endParaRPr lang="en-US" sz="3000">
              <a:solidFill>
                <a:srgbClr val="000000"/>
              </a:solidFill>
              <a:latin typeface="Times New Roman"/>
              <a:ea typeface="Times New Roman"/>
              <a:cs typeface="Times New Roman"/>
              <a:sym typeface="Times New Roman"/>
            </a:endParaRPr>
          </a:p>
          <a:p>
            <a:pPr marL="1287402" lvl="1" indent="-643701" algn="l">
              <a:lnSpc>
                <a:spcPts val="3240"/>
              </a:lnSpc>
              <a:buFont typeface="Arial"/>
              <a:buChar char="•"/>
            </a:pPr>
            <a:r>
              <a:rPr lang="en-US" sz="3000" b="1">
                <a:solidFill>
                  <a:srgbClr val="000000"/>
                </a:solidFill>
                <a:latin typeface="Times New Roman Bold"/>
                <a:ea typeface="Times New Roman Bold"/>
                <a:cs typeface="Times New Roman Bold"/>
                <a:sym typeface="Times New Roman Bold"/>
              </a:rPr>
              <a:t>Preference &amp; Context Features</a:t>
            </a:r>
          </a:p>
          <a:p>
            <a:pPr marL="2590806" lvl="4" indent="-518161" algn="l">
              <a:lnSpc>
                <a:spcPts val="3240"/>
              </a:lnSpc>
              <a:buFont typeface="Arial"/>
              <a:buChar char="•"/>
            </a:pPr>
            <a:r>
              <a:rPr lang="en-US" sz="3000">
                <a:solidFill>
                  <a:srgbClr val="000000"/>
                </a:solidFill>
                <a:latin typeface="Times New Roman"/>
                <a:ea typeface="Times New Roman"/>
                <a:cs typeface="Times New Roman"/>
                <a:sym typeface="Times New Roman"/>
              </a:rPr>
              <a:t>Utilized user–food interaction history (where available) to simulate preference learning.</a:t>
            </a:r>
          </a:p>
          <a:p>
            <a:pPr marL="2590806" lvl="4" indent="-518161" algn="l">
              <a:lnSpc>
                <a:spcPts val="3240"/>
              </a:lnSpc>
              <a:buFont typeface="Arial"/>
              <a:buChar char="•"/>
            </a:pPr>
            <a:r>
              <a:rPr lang="en-US" sz="3000">
                <a:solidFill>
                  <a:srgbClr val="000000"/>
                </a:solidFill>
                <a:latin typeface="Times New Roman"/>
                <a:ea typeface="Times New Roman"/>
                <a:cs typeface="Times New Roman"/>
                <a:sym typeface="Times New Roman"/>
              </a:rPr>
              <a:t>Integrated regional context to ensure recommendations remain region-specific and culturally appropriate.</a:t>
            </a:r>
          </a:p>
        </p:txBody>
      </p:sp>
      <p:grpSp>
        <p:nvGrpSpPr>
          <p:cNvPr id="6" name="Group 6"/>
          <p:cNvGrpSpPr/>
          <p:nvPr/>
        </p:nvGrpSpPr>
        <p:grpSpPr>
          <a:xfrm>
            <a:off x="6057900" y="9534525"/>
            <a:ext cx="6172200" cy="547650"/>
            <a:chOff x="0" y="0"/>
            <a:chExt cx="8229600" cy="730200"/>
          </a:xfrm>
        </p:grpSpPr>
        <p:sp>
          <p:nvSpPr>
            <p:cNvPr id="7" name="Freeform 7"/>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8" name="TextBox 8"/>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50"/>
            <a:chOff x="0" y="0"/>
            <a:chExt cx="5486400" cy="730200"/>
          </a:xfrm>
        </p:grpSpPr>
        <p:sp>
          <p:nvSpPr>
            <p:cNvPr id="10" name="Freeform 10"/>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1" name="TextBox 11"/>
            <p:cNvSpPr txBox="1"/>
            <p:nvPr/>
          </p:nvSpPr>
          <p:spPr>
            <a:xfrm>
              <a:off x="0" y="-38100"/>
              <a:ext cx="5486400" cy="76830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13</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50900" y="386588"/>
            <a:ext cx="13548600" cy="1481850"/>
            <a:chOff x="0" y="0"/>
            <a:chExt cx="18064800" cy="1975800"/>
          </a:xfrm>
        </p:grpSpPr>
        <p:sp>
          <p:nvSpPr>
            <p:cNvPr id="3" name="Freeform 3"/>
            <p:cNvSpPr/>
            <p:nvPr/>
          </p:nvSpPr>
          <p:spPr>
            <a:xfrm>
              <a:off x="0" y="0"/>
              <a:ext cx="18064800" cy="1975800"/>
            </a:xfrm>
            <a:custGeom>
              <a:avLst/>
              <a:gdLst/>
              <a:ahLst/>
              <a:cxnLst/>
              <a:rect l="l" t="t" r="r" b="b"/>
              <a:pathLst>
                <a:path w="18064800" h="1975800">
                  <a:moveTo>
                    <a:pt x="0" y="0"/>
                  </a:moveTo>
                  <a:lnTo>
                    <a:pt x="18064800" y="0"/>
                  </a:lnTo>
                  <a:lnTo>
                    <a:pt x="18064800" y="1975800"/>
                  </a:lnTo>
                  <a:lnTo>
                    <a:pt x="0" y="1975800"/>
                  </a:lnTo>
                  <a:close/>
                </a:path>
              </a:pathLst>
            </a:custGeom>
            <a:solidFill>
              <a:srgbClr val="000000">
                <a:alpha val="0"/>
              </a:srgbClr>
            </a:solidFill>
          </p:spPr>
        </p:sp>
        <p:sp>
          <p:nvSpPr>
            <p:cNvPr id="4" name="TextBox 4"/>
            <p:cNvSpPr txBox="1"/>
            <p:nvPr/>
          </p:nvSpPr>
          <p:spPr>
            <a:xfrm>
              <a:off x="0" y="38100"/>
              <a:ext cx="18064800" cy="19377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Proposed Methodology</a:t>
              </a:r>
            </a:p>
          </p:txBody>
        </p:sp>
      </p:grpSp>
      <p:sp>
        <p:nvSpPr>
          <p:cNvPr id="5" name="TextBox 5"/>
          <p:cNvSpPr txBox="1"/>
          <p:nvPr/>
        </p:nvSpPr>
        <p:spPr>
          <a:xfrm>
            <a:off x="1028700" y="2364100"/>
            <a:ext cx="16230600" cy="7122334"/>
          </a:xfrm>
          <a:prstGeom prst="rect">
            <a:avLst/>
          </a:prstGeom>
        </p:spPr>
        <p:txBody>
          <a:bodyPr lIns="0" tIns="0" rIns="0" bIns="0" rtlCol="0" anchor="t">
            <a:spAutoFit/>
          </a:bodyPr>
          <a:lstStyle/>
          <a:p>
            <a:pPr algn="l">
              <a:lnSpc>
                <a:spcPts val="2808"/>
              </a:lnSpc>
            </a:pPr>
            <a:r>
              <a:rPr lang="en-US" sz="2600" b="1" dirty="0">
                <a:solidFill>
                  <a:srgbClr val="000000"/>
                </a:solidFill>
                <a:latin typeface="Times New Roman Bold"/>
                <a:ea typeface="Times New Roman Bold"/>
                <a:cs typeface="Times New Roman Bold"/>
                <a:sym typeface="Times New Roman Bold"/>
              </a:rPr>
              <a:t>4.	Model Development</a:t>
            </a:r>
          </a:p>
          <a:p>
            <a:pPr algn="l">
              <a:lnSpc>
                <a:spcPts val="2484"/>
              </a:lnSpc>
            </a:pPr>
            <a:endParaRPr lang="en-US" sz="2600" b="1" dirty="0">
              <a:solidFill>
                <a:srgbClr val="000000"/>
              </a:solidFill>
              <a:latin typeface="Times New Roman Bold"/>
              <a:ea typeface="Times New Roman Bold"/>
              <a:cs typeface="Times New Roman Bold"/>
              <a:sym typeface="Times New Roman Bold"/>
            </a:endParaRPr>
          </a:p>
          <a:p>
            <a:pPr marL="496575" lvl="1" indent="-248288" algn="l">
              <a:lnSpc>
                <a:spcPts val="2760"/>
              </a:lnSpc>
              <a:buFont typeface="Arial"/>
              <a:buChar char="•"/>
            </a:pPr>
            <a:r>
              <a:rPr lang="en-US" sz="2300" b="1" dirty="0">
                <a:solidFill>
                  <a:srgbClr val="000000"/>
                </a:solidFill>
                <a:latin typeface="Times New Roman Bold"/>
                <a:ea typeface="Times New Roman Bold"/>
                <a:cs typeface="Times New Roman Bold"/>
                <a:sym typeface="Times New Roman Bold"/>
              </a:rPr>
              <a:t>Recommendation Models Used:</a:t>
            </a:r>
          </a:p>
          <a:p>
            <a:pPr marL="993151" lvl="2" indent="-331050" algn="l">
              <a:lnSpc>
                <a:spcPts val="2760"/>
              </a:lnSpc>
              <a:buFont typeface="Arial"/>
              <a:buChar char="⚬"/>
            </a:pPr>
            <a:r>
              <a:rPr lang="en-US" sz="2300" dirty="0">
                <a:solidFill>
                  <a:srgbClr val="000000"/>
                </a:solidFill>
                <a:latin typeface="Times New Roman"/>
                <a:ea typeface="Times New Roman"/>
                <a:cs typeface="Times New Roman"/>
                <a:sym typeface="Times New Roman"/>
              </a:rPr>
              <a:t>Collaborative Filtering (Matrix Factorization)</a:t>
            </a:r>
          </a:p>
          <a:p>
            <a:pPr marL="1489726" lvl="3" indent="-372432" algn="l">
              <a:lnSpc>
                <a:spcPts val="2760"/>
              </a:lnSpc>
              <a:buFont typeface="Arial"/>
              <a:buChar char="￭"/>
            </a:pPr>
            <a:r>
              <a:rPr lang="en-US" sz="2300" dirty="0">
                <a:solidFill>
                  <a:srgbClr val="000000"/>
                </a:solidFill>
                <a:latin typeface="Times New Roman"/>
                <a:ea typeface="Times New Roman"/>
                <a:cs typeface="Times New Roman"/>
                <a:sym typeface="Times New Roman"/>
              </a:rPr>
              <a:t>Learns long-term user preference patterns from user–food interaction data.</a:t>
            </a:r>
          </a:p>
          <a:p>
            <a:pPr marL="1489726" lvl="3" indent="-372432" algn="l">
              <a:lnSpc>
                <a:spcPts val="2760"/>
              </a:lnSpc>
              <a:buFont typeface="Arial"/>
              <a:buChar char="￭"/>
            </a:pPr>
            <a:r>
              <a:rPr lang="en-US" sz="2300" dirty="0">
                <a:solidFill>
                  <a:srgbClr val="000000"/>
                </a:solidFill>
                <a:latin typeface="Times New Roman"/>
                <a:ea typeface="Times New Roman"/>
                <a:cs typeface="Times New Roman"/>
                <a:sym typeface="Times New Roman"/>
              </a:rPr>
              <a:t>Captures stable consumption behavior using latent user and food </a:t>
            </a:r>
            <a:r>
              <a:rPr lang="en-US" sz="2300" dirty="0" err="1">
                <a:solidFill>
                  <a:srgbClr val="000000"/>
                </a:solidFill>
                <a:latin typeface="Times New Roman"/>
                <a:ea typeface="Times New Roman"/>
                <a:cs typeface="Times New Roman"/>
                <a:sym typeface="Times New Roman"/>
              </a:rPr>
              <a:t>embeddings</a:t>
            </a:r>
            <a:r>
              <a:rPr lang="en-US" sz="2300" dirty="0">
                <a:solidFill>
                  <a:srgbClr val="000000"/>
                </a:solidFill>
                <a:latin typeface="Times New Roman"/>
                <a:ea typeface="Times New Roman"/>
                <a:cs typeface="Times New Roman"/>
                <a:sym typeface="Times New Roman"/>
              </a:rPr>
              <a:t>.</a:t>
            </a:r>
          </a:p>
          <a:p>
            <a:pPr marL="993151" lvl="2" indent="-331050" algn="l">
              <a:lnSpc>
                <a:spcPts val="2760"/>
              </a:lnSpc>
              <a:buFont typeface="Arial"/>
              <a:buChar char="⚬"/>
            </a:pPr>
            <a:r>
              <a:rPr lang="en-US" sz="2300" dirty="0">
                <a:solidFill>
                  <a:srgbClr val="000000"/>
                </a:solidFill>
                <a:latin typeface="Times New Roman"/>
                <a:ea typeface="Times New Roman"/>
                <a:cs typeface="Times New Roman"/>
                <a:sym typeface="Times New Roman"/>
              </a:rPr>
              <a:t>Sequence-Based Modeling (Transformer Architecture)</a:t>
            </a:r>
          </a:p>
          <a:p>
            <a:pPr marL="1489726" lvl="3" indent="-372432" algn="l">
              <a:lnSpc>
                <a:spcPts val="2760"/>
              </a:lnSpc>
              <a:buFont typeface="Arial"/>
              <a:buChar char="￭"/>
            </a:pPr>
            <a:r>
              <a:rPr lang="en-US" sz="2300" dirty="0">
                <a:solidFill>
                  <a:srgbClr val="000000"/>
                </a:solidFill>
                <a:latin typeface="Times New Roman"/>
                <a:ea typeface="Times New Roman"/>
                <a:cs typeface="Times New Roman"/>
                <a:sym typeface="Times New Roman"/>
              </a:rPr>
              <a:t>Models short-term eating behavior by learning sequential food consumption patterns.</a:t>
            </a:r>
          </a:p>
          <a:p>
            <a:pPr marL="1489726" lvl="3" indent="-372432" algn="l">
              <a:lnSpc>
                <a:spcPts val="2760"/>
              </a:lnSpc>
              <a:buFont typeface="Arial"/>
              <a:buChar char="￭"/>
            </a:pPr>
            <a:r>
              <a:rPr lang="en-US" sz="2300" dirty="0">
                <a:solidFill>
                  <a:srgbClr val="000000"/>
                </a:solidFill>
                <a:latin typeface="Times New Roman"/>
                <a:ea typeface="Times New Roman"/>
                <a:cs typeface="Times New Roman"/>
                <a:sym typeface="Times New Roman"/>
              </a:rPr>
              <a:t>Uses attention mechanisms to focus on recent and relevant food choices.</a:t>
            </a:r>
          </a:p>
          <a:p>
            <a:pPr marL="993151" lvl="2" indent="-331050" algn="l">
              <a:lnSpc>
                <a:spcPts val="2760"/>
              </a:lnSpc>
              <a:buFont typeface="Arial"/>
              <a:buChar char="⚬"/>
            </a:pPr>
            <a:r>
              <a:rPr lang="en-US" sz="2300" dirty="0">
                <a:solidFill>
                  <a:srgbClr val="000000"/>
                </a:solidFill>
                <a:latin typeface="Times New Roman"/>
                <a:ea typeface="Times New Roman"/>
                <a:cs typeface="Times New Roman"/>
                <a:sym typeface="Times New Roman"/>
              </a:rPr>
              <a:t>Content-Based Similarity Models</a:t>
            </a:r>
          </a:p>
          <a:p>
            <a:pPr marL="1489726" lvl="3" indent="-372432" algn="l">
              <a:lnSpc>
                <a:spcPts val="2760"/>
              </a:lnSpc>
              <a:buFont typeface="Arial"/>
              <a:buChar char="￭"/>
            </a:pPr>
            <a:r>
              <a:rPr lang="en-US" sz="2300" dirty="0">
                <a:solidFill>
                  <a:srgbClr val="000000"/>
                </a:solidFill>
                <a:latin typeface="Times New Roman"/>
                <a:ea typeface="Times New Roman"/>
                <a:cs typeface="Times New Roman"/>
                <a:sym typeface="Times New Roman"/>
              </a:rPr>
              <a:t>Leverages nutritional, regional, and categorical food attributes.</a:t>
            </a:r>
          </a:p>
          <a:p>
            <a:pPr marL="1489726" lvl="3" indent="-372432" algn="l">
              <a:lnSpc>
                <a:spcPts val="2760"/>
              </a:lnSpc>
              <a:buFont typeface="Arial"/>
              <a:buChar char="￭"/>
            </a:pPr>
            <a:r>
              <a:rPr lang="en-US" sz="2300" dirty="0">
                <a:solidFill>
                  <a:srgbClr val="000000"/>
                </a:solidFill>
                <a:latin typeface="Times New Roman"/>
                <a:ea typeface="Times New Roman"/>
                <a:cs typeface="Times New Roman"/>
                <a:sym typeface="Times New Roman"/>
              </a:rPr>
              <a:t>Supports cold-start users and newly introduced food items.</a:t>
            </a:r>
          </a:p>
          <a:p>
            <a:pPr algn="l">
              <a:lnSpc>
                <a:spcPts val="2760"/>
              </a:lnSpc>
            </a:pPr>
            <a:endParaRPr lang="en-US" sz="2300" dirty="0">
              <a:solidFill>
                <a:srgbClr val="000000"/>
              </a:solidFill>
              <a:latin typeface="Times New Roman"/>
              <a:ea typeface="Times New Roman"/>
              <a:cs typeface="Times New Roman"/>
              <a:sym typeface="Times New Roman"/>
            </a:endParaRPr>
          </a:p>
          <a:p>
            <a:pPr marL="496575" lvl="1" indent="-248288" algn="l">
              <a:lnSpc>
                <a:spcPts val="2760"/>
              </a:lnSpc>
              <a:buFont typeface="Arial"/>
              <a:buChar char="•"/>
            </a:pPr>
            <a:r>
              <a:rPr lang="en-US" sz="2300" b="1" dirty="0">
                <a:solidFill>
                  <a:srgbClr val="000000"/>
                </a:solidFill>
                <a:latin typeface="Times New Roman"/>
                <a:ea typeface="Times New Roman"/>
                <a:cs typeface="Times New Roman"/>
                <a:sym typeface="Times New Roman"/>
              </a:rPr>
              <a:t>Hybrid Recommendation Strategy</a:t>
            </a:r>
          </a:p>
          <a:p>
            <a:pPr marL="1489726" lvl="3" indent="-372432" algn="l">
              <a:lnSpc>
                <a:spcPts val="2760"/>
              </a:lnSpc>
              <a:buFont typeface="Arial"/>
              <a:buChar char="￭"/>
            </a:pPr>
            <a:r>
              <a:rPr lang="en-US" sz="2300" dirty="0">
                <a:solidFill>
                  <a:srgbClr val="000000"/>
                </a:solidFill>
                <a:latin typeface="Times New Roman"/>
                <a:ea typeface="Times New Roman"/>
                <a:cs typeface="Times New Roman"/>
                <a:sym typeface="Times New Roman"/>
              </a:rPr>
              <a:t>Combined outputs from collaborative filtering, sequence modeling, and content-based similarity models.</a:t>
            </a:r>
          </a:p>
          <a:p>
            <a:pPr marL="1489726" lvl="3" indent="-372432" algn="l">
              <a:lnSpc>
                <a:spcPts val="2760"/>
              </a:lnSpc>
              <a:buFont typeface="Arial"/>
              <a:buChar char="￭"/>
            </a:pPr>
            <a:r>
              <a:rPr lang="en-US" sz="2300" dirty="0">
                <a:solidFill>
                  <a:srgbClr val="000000"/>
                </a:solidFill>
                <a:latin typeface="Times New Roman"/>
                <a:ea typeface="Times New Roman"/>
                <a:cs typeface="Times New Roman"/>
                <a:sym typeface="Times New Roman"/>
              </a:rPr>
              <a:t>Enforced health-condition penalties, allergy-based filtering, and food safety constraints during ranking.</a:t>
            </a:r>
          </a:p>
          <a:p>
            <a:pPr marL="1489726" lvl="3" indent="-372432" algn="l">
              <a:lnSpc>
                <a:spcPts val="2760"/>
              </a:lnSpc>
              <a:buFont typeface="Arial"/>
              <a:buChar char="￭"/>
            </a:pPr>
            <a:r>
              <a:rPr lang="en-US" sz="2300" dirty="0">
                <a:solidFill>
                  <a:srgbClr val="000000"/>
                </a:solidFill>
                <a:latin typeface="Times New Roman"/>
                <a:ea typeface="Times New Roman"/>
                <a:cs typeface="Times New Roman"/>
                <a:sym typeface="Times New Roman"/>
              </a:rPr>
              <a:t>Final recommendation score balances:</a:t>
            </a:r>
          </a:p>
          <a:p>
            <a:pPr marL="1986302" lvl="4" indent="-397260" algn="l">
              <a:lnSpc>
                <a:spcPts val="2760"/>
              </a:lnSpc>
              <a:buFont typeface="Arial"/>
              <a:buChar char="•"/>
            </a:pPr>
            <a:r>
              <a:rPr lang="en-US" sz="2300" dirty="0">
                <a:solidFill>
                  <a:srgbClr val="000000"/>
                </a:solidFill>
                <a:latin typeface="Times New Roman"/>
                <a:ea typeface="Times New Roman"/>
                <a:cs typeface="Times New Roman"/>
                <a:sym typeface="Times New Roman"/>
              </a:rPr>
              <a:t>Preference relevance</a:t>
            </a:r>
          </a:p>
          <a:p>
            <a:pPr marL="1986302" lvl="4" indent="-397260" algn="l">
              <a:lnSpc>
                <a:spcPts val="2760"/>
              </a:lnSpc>
              <a:buFont typeface="Arial"/>
              <a:buChar char="•"/>
            </a:pPr>
            <a:r>
              <a:rPr lang="en-US" sz="2300" dirty="0">
                <a:solidFill>
                  <a:srgbClr val="000000"/>
                </a:solidFill>
                <a:latin typeface="Times New Roman"/>
                <a:ea typeface="Times New Roman"/>
                <a:cs typeface="Times New Roman"/>
                <a:sym typeface="Times New Roman"/>
              </a:rPr>
              <a:t>Nutritional suitability</a:t>
            </a:r>
          </a:p>
          <a:p>
            <a:pPr marL="1986302" lvl="4" indent="-397260" algn="l">
              <a:lnSpc>
                <a:spcPts val="2760"/>
              </a:lnSpc>
              <a:buFont typeface="Arial"/>
              <a:buChar char="•"/>
            </a:pPr>
            <a:r>
              <a:rPr lang="en-US" sz="2300" dirty="0">
                <a:solidFill>
                  <a:srgbClr val="000000"/>
                </a:solidFill>
                <a:latin typeface="Times New Roman"/>
                <a:ea typeface="Times New Roman"/>
                <a:cs typeface="Times New Roman"/>
                <a:sym typeface="Times New Roman"/>
              </a:rPr>
              <a:t>Regional and cultural context</a:t>
            </a:r>
          </a:p>
        </p:txBody>
      </p:sp>
      <p:grpSp>
        <p:nvGrpSpPr>
          <p:cNvPr id="6" name="Group 6"/>
          <p:cNvGrpSpPr/>
          <p:nvPr/>
        </p:nvGrpSpPr>
        <p:grpSpPr>
          <a:xfrm>
            <a:off x="6057900" y="9534525"/>
            <a:ext cx="6172200" cy="547650"/>
            <a:chOff x="0" y="0"/>
            <a:chExt cx="8229600" cy="730200"/>
          </a:xfrm>
        </p:grpSpPr>
        <p:sp>
          <p:nvSpPr>
            <p:cNvPr id="7" name="Freeform 7"/>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8" name="TextBox 8"/>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62"/>
            <a:ext cx="4114800" cy="547650"/>
            <a:chOff x="0" y="0"/>
            <a:chExt cx="5486400" cy="730200"/>
          </a:xfrm>
        </p:grpSpPr>
        <p:sp>
          <p:nvSpPr>
            <p:cNvPr id="10" name="Freeform 10"/>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1" name="TextBox 11"/>
            <p:cNvSpPr txBox="1"/>
            <p:nvPr/>
          </p:nvSpPr>
          <p:spPr>
            <a:xfrm>
              <a:off x="0" y="-38100"/>
              <a:ext cx="5486400" cy="76830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14</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50900" y="386588"/>
            <a:ext cx="13548600" cy="1481850"/>
            <a:chOff x="0" y="0"/>
            <a:chExt cx="18064800" cy="1975800"/>
          </a:xfrm>
        </p:grpSpPr>
        <p:sp>
          <p:nvSpPr>
            <p:cNvPr id="3" name="Freeform 3"/>
            <p:cNvSpPr/>
            <p:nvPr/>
          </p:nvSpPr>
          <p:spPr>
            <a:xfrm>
              <a:off x="0" y="0"/>
              <a:ext cx="18064800" cy="1975800"/>
            </a:xfrm>
            <a:custGeom>
              <a:avLst/>
              <a:gdLst/>
              <a:ahLst/>
              <a:cxnLst/>
              <a:rect l="l" t="t" r="r" b="b"/>
              <a:pathLst>
                <a:path w="18064800" h="1975800">
                  <a:moveTo>
                    <a:pt x="0" y="0"/>
                  </a:moveTo>
                  <a:lnTo>
                    <a:pt x="18064800" y="0"/>
                  </a:lnTo>
                  <a:lnTo>
                    <a:pt x="18064800" y="1975800"/>
                  </a:lnTo>
                  <a:lnTo>
                    <a:pt x="0" y="1975800"/>
                  </a:lnTo>
                  <a:close/>
                </a:path>
              </a:pathLst>
            </a:custGeom>
            <a:solidFill>
              <a:srgbClr val="000000">
                <a:alpha val="0"/>
              </a:srgbClr>
            </a:solidFill>
          </p:spPr>
        </p:sp>
        <p:sp>
          <p:nvSpPr>
            <p:cNvPr id="4" name="TextBox 4"/>
            <p:cNvSpPr txBox="1"/>
            <p:nvPr/>
          </p:nvSpPr>
          <p:spPr>
            <a:xfrm>
              <a:off x="0" y="38100"/>
              <a:ext cx="18064800" cy="19377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Proposed Methodology</a:t>
              </a:r>
            </a:p>
          </p:txBody>
        </p:sp>
      </p:grpSp>
      <p:sp>
        <p:nvSpPr>
          <p:cNvPr id="5" name="TextBox 5"/>
          <p:cNvSpPr txBox="1"/>
          <p:nvPr/>
        </p:nvSpPr>
        <p:spPr>
          <a:xfrm>
            <a:off x="1028700" y="2373625"/>
            <a:ext cx="16230600" cy="6806946"/>
          </a:xfrm>
          <a:prstGeom prst="rect">
            <a:avLst/>
          </a:prstGeom>
        </p:spPr>
        <p:txBody>
          <a:bodyPr lIns="0" tIns="0" rIns="0" bIns="0" rtlCol="0" anchor="t">
            <a:spAutoFit/>
          </a:bodyPr>
          <a:lstStyle/>
          <a:p>
            <a:pPr algn="l">
              <a:lnSpc>
                <a:spcPts val="3564"/>
              </a:lnSpc>
            </a:pPr>
            <a:r>
              <a:rPr lang="en-US" sz="3300" b="1">
                <a:solidFill>
                  <a:srgbClr val="000000"/>
                </a:solidFill>
                <a:latin typeface="Times New Roman Bold"/>
                <a:ea typeface="Times New Roman Bold"/>
                <a:cs typeface="Times New Roman Bold"/>
                <a:sym typeface="Times New Roman Bold"/>
              </a:rPr>
              <a:t>5. Attention-Based Fusion Mechanism</a:t>
            </a:r>
          </a:p>
          <a:p>
            <a:pPr algn="l">
              <a:lnSpc>
                <a:spcPts val="3240"/>
              </a:lnSpc>
            </a:pPr>
            <a:endParaRPr lang="en-US" sz="3300" b="1">
              <a:solidFill>
                <a:srgbClr val="000000"/>
              </a:solidFill>
              <a:latin typeface="Times New Roman Bold"/>
              <a:ea typeface="Times New Roman Bold"/>
              <a:cs typeface="Times New Roman Bold"/>
              <a:sym typeface="Times New Roman Bold"/>
            </a:endParaRPr>
          </a:p>
          <a:p>
            <a:pPr marL="1287402" lvl="1" indent="-643701" algn="l">
              <a:lnSpc>
                <a:spcPts val="3600"/>
              </a:lnSpc>
              <a:buFont typeface="Arial"/>
              <a:buChar char="•"/>
            </a:pPr>
            <a:r>
              <a:rPr lang="en-US" sz="3000" b="1">
                <a:solidFill>
                  <a:srgbClr val="000000"/>
                </a:solidFill>
                <a:latin typeface="Times New Roman Bold"/>
                <a:ea typeface="Times New Roman Bold"/>
                <a:cs typeface="Times New Roman Bold"/>
                <a:sym typeface="Times New Roman Bold"/>
              </a:rPr>
              <a:t>A</a:t>
            </a:r>
            <a:r>
              <a:rPr lang="en-US" sz="3000">
                <a:solidFill>
                  <a:srgbClr val="000000"/>
                </a:solidFill>
                <a:latin typeface="Times New Roman"/>
                <a:ea typeface="Times New Roman"/>
                <a:cs typeface="Times New Roman"/>
                <a:sym typeface="Times New Roman"/>
              </a:rPr>
              <a:t>pplied an attention-based fusion layer to combine:</a:t>
            </a:r>
          </a:p>
          <a:p>
            <a:pPr marL="1943105" lvl="3" indent="-485776" algn="l">
              <a:lnSpc>
                <a:spcPts val="3600"/>
              </a:lnSpc>
              <a:buFont typeface="Arial"/>
              <a:buChar char="￭"/>
            </a:pPr>
            <a:r>
              <a:rPr lang="en-US" sz="3000">
                <a:solidFill>
                  <a:srgbClr val="000000"/>
                </a:solidFill>
                <a:latin typeface="Times New Roman"/>
                <a:ea typeface="Times New Roman"/>
                <a:cs typeface="Times New Roman"/>
                <a:sym typeface="Times New Roman"/>
              </a:rPr>
              <a:t>Sequence-level food consumption representation</a:t>
            </a:r>
          </a:p>
          <a:p>
            <a:pPr marL="1943105" lvl="3" indent="-485776" algn="l">
              <a:lnSpc>
                <a:spcPts val="3600"/>
              </a:lnSpc>
              <a:buFont typeface="Arial"/>
              <a:buChar char="￭"/>
            </a:pPr>
            <a:r>
              <a:rPr lang="en-US" sz="3000">
                <a:solidFill>
                  <a:srgbClr val="000000"/>
                </a:solidFill>
                <a:latin typeface="Times New Roman"/>
                <a:ea typeface="Times New Roman"/>
                <a:cs typeface="Times New Roman"/>
                <a:sym typeface="Times New Roman"/>
              </a:rPr>
              <a:t>Static user preference embedding</a:t>
            </a:r>
          </a:p>
          <a:p>
            <a:pPr marL="1287402" lvl="1" indent="-643701" algn="l">
              <a:lnSpc>
                <a:spcPts val="3600"/>
              </a:lnSpc>
              <a:buFont typeface="Arial"/>
              <a:buChar char="•"/>
            </a:pPr>
            <a:r>
              <a:rPr lang="en-US" sz="3000">
                <a:solidFill>
                  <a:srgbClr val="000000"/>
                </a:solidFill>
                <a:latin typeface="Times New Roman"/>
                <a:ea typeface="Times New Roman"/>
                <a:cs typeface="Times New Roman"/>
                <a:sym typeface="Times New Roman"/>
              </a:rPr>
              <a:t>Attention mechanism dynamically learns the relative importance of:</a:t>
            </a:r>
          </a:p>
          <a:p>
            <a:pPr marL="1943105" lvl="3" indent="-485776" algn="l">
              <a:lnSpc>
                <a:spcPts val="3600"/>
              </a:lnSpc>
              <a:buFont typeface="Arial"/>
              <a:buChar char="￭"/>
            </a:pPr>
            <a:r>
              <a:rPr lang="en-US" sz="3000">
                <a:solidFill>
                  <a:srgbClr val="000000"/>
                </a:solidFill>
                <a:latin typeface="Times New Roman"/>
                <a:ea typeface="Times New Roman"/>
                <a:cs typeface="Times New Roman"/>
                <a:sym typeface="Times New Roman"/>
              </a:rPr>
              <a:t>Recent eating behavior</a:t>
            </a:r>
          </a:p>
          <a:p>
            <a:pPr marL="1943105" lvl="3" indent="-485776" algn="l">
              <a:lnSpc>
                <a:spcPts val="3600"/>
              </a:lnSpc>
              <a:buFont typeface="Arial"/>
              <a:buChar char="￭"/>
            </a:pPr>
            <a:r>
              <a:rPr lang="en-US" sz="3000">
                <a:solidFill>
                  <a:srgbClr val="000000"/>
                </a:solidFill>
                <a:latin typeface="Times New Roman"/>
                <a:ea typeface="Times New Roman"/>
                <a:cs typeface="Times New Roman"/>
                <a:sym typeface="Times New Roman"/>
              </a:rPr>
              <a:t>Long-term preference patterns</a:t>
            </a:r>
          </a:p>
          <a:p>
            <a:pPr marL="1287402" lvl="1" indent="-643701" algn="l">
              <a:lnSpc>
                <a:spcPts val="3600"/>
              </a:lnSpc>
              <a:buFont typeface="Arial"/>
              <a:buChar char="•"/>
            </a:pPr>
            <a:r>
              <a:rPr lang="en-US" sz="3000">
                <a:solidFill>
                  <a:srgbClr val="000000"/>
                </a:solidFill>
                <a:latin typeface="Times New Roman"/>
                <a:ea typeface="Times New Roman"/>
                <a:cs typeface="Times New Roman"/>
                <a:sym typeface="Times New Roman"/>
              </a:rPr>
              <a:t>Produces a unified representation used for final recommendation scoring.</a:t>
            </a:r>
          </a:p>
          <a:p>
            <a:pPr algn="l">
              <a:lnSpc>
                <a:spcPts val="3600"/>
              </a:lnSpc>
            </a:pPr>
            <a:endParaRPr lang="en-US" sz="3000">
              <a:solidFill>
                <a:srgbClr val="000000"/>
              </a:solidFill>
              <a:latin typeface="Times New Roman"/>
              <a:ea typeface="Times New Roman"/>
              <a:cs typeface="Times New Roman"/>
              <a:sym typeface="Times New Roman"/>
            </a:endParaRPr>
          </a:p>
          <a:p>
            <a:pPr algn="l">
              <a:lnSpc>
                <a:spcPts val="3600"/>
              </a:lnSpc>
            </a:pPr>
            <a:r>
              <a:rPr lang="en-US" sz="3000" b="1">
                <a:solidFill>
                  <a:srgbClr val="000000"/>
                </a:solidFill>
                <a:latin typeface="Times New Roman Bold"/>
                <a:ea typeface="Times New Roman Bold"/>
                <a:cs typeface="Times New Roman Bold"/>
                <a:sym typeface="Times New Roman Bold"/>
              </a:rPr>
              <a:t>6. Model Training &amp; Evaluation</a:t>
            </a:r>
          </a:p>
          <a:p>
            <a:pPr marL="1295403" lvl="2" indent="-431801" algn="l">
              <a:lnSpc>
                <a:spcPts val="3600"/>
              </a:lnSpc>
              <a:buFont typeface="Arial"/>
              <a:buChar char="⚬"/>
            </a:pPr>
            <a:r>
              <a:rPr lang="en-US" sz="3000">
                <a:solidFill>
                  <a:srgbClr val="000000"/>
                </a:solidFill>
                <a:latin typeface="Times New Roman"/>
                <a:ea typeface="Times New Roman"/>
                <a:cs typeface="Times New Roman"/>
                <a:sym typeface="Times New Roman"/>
              </a:rPr>
              <a:t>Training Process</a:t>
            </a:r>
          </a:p>
          <a:p>
            <a:pPr marL="1943105" lvl="3" indent="-485776" algn="l">
              <a:lnSpc>
                <a:spcPts val="3600"/>
              </a:lnSpc>
              <a:buFont typeface="Arial"/>
              <a:buChar char="￭"/>
            </a:pPr>
            <a:r>
              <a:rPr lang="en-US" sz="3000">
                <a:solidFill>
                  <a:srgbClr val="000000"/>
                </a:solidFill>
                <a:latin typeface="Times New Roman"/>
                <a:ea typeface="Times New Roman"/>
                <a:cs typeface="Times New Roman"/>
                <a:sym typeface="Times New Roman"/>
              </a:rPr>
              <a:t>Models are trained independently using neural network-based optimization techniques.</a:t>
            </a:r>
          </a:p>
          <a:p>
            <a:pPr marL="1943105" lvl="3" indent="-485776" algn="l">
              <a:lnSpc>
                <a:spcPts val="3600"/>
              </a:lnSpc>
              <a:buFont typeface="Arial"/>
              <a:buChar char="￭"/>
            </a:pPr>
            <a:r>
              <a:rPr lang="en-US" sz="3000">
                <a:solidFill>
                  <a:srgbClr val="000000"/>
                </a:solidFill>
                <a:latin typeface="Times New Roman"/>
                <a:ea typeface="Times New Roman"/>
                <a:cs typeface="Times New Roman"/>
                <a:sym typeface="Times New Roman"/>
              </a:rPr>
              <a:t>Matrix Factorization uses interaction-based loss functions.</a:t>
            </a:r>
          </a:p>
          <a:p>
            <a:pPr marL="1943105" lvl="3" indent="-485776" algn="l">
              <a:lnSpc>
                <a:spcPts val="3600"/>
              </a:lnSpc>
              <a:buFont typeface="Arial"/>
              <a:buChar char="￭"/>
            </a:pPr>
            <a:r>
              <a:rPr lang="en-US" sz="3000">
                <a:solidFill>
                  <a:srgbClr val="000000"/>
                </a:solidFill>
                <a:latin typeface="Times New Roman"/>
                <a:ea typeface="Times New Roman"/>
                <a:cs typeface="Times New Roman"/>
                <a:sym typeface="Times New Roman"/>
              </a:rPr>
              <a:t>Sequence model uses cross-entropy loss for next-food prediction.</a:t>
            </a:r>
          </a:p>
        </p:txBody>
      </p:sp>
      <p:grpSp>
        <p:nvGrpSpPr>
          <p:cNvPr id="6" name="Group 6"/>
          <p:cNvGrpSpPr/>
          <p:nvPr/>
        </p:nvGrpSpPr>
        <p:grpSpPr>
          <a:xfrm>
            <a:off x="6057900" y="9534525"/>
            <a:ext cx="6172200" cy="547650"/>
            <a:chOff x="0" y="0"/>
            <a:chExt cx="8229600" cy="730200"/>
          </a:xfrm>
        </p:grpSpPr>
        <p:sp>
          <p:nvSpPr>
            <p:cNvPr id="7" name="Freeform 7"/>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8" name="TextBox 8"/>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50"/>
            <a:chOff x="0" y="0"/>
            <a:chExt cx="5486400" cy="730200"/>
          </a:xfrm>
        </p:grpSpPr>
        <p:sp>
          <p:nvSpPr>
            <p:cNvPr id="10" name="Freeform 10"/>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1" name="TextBox 11"/>
            <p:cNvSpPr txBox="1"/>
            <p:nvPr/>
          </p:nvSpPr>
          <p:spPr>
            <a:xfrm>
              <a:off x="0" y="-38100"/>
              <a:ext cx="5486400" cy="76830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15</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50900" y="386588"/>
            <a:ext cx="13548600" cy="1481850"/>
            <a:chOff x="0" y="0"/>
            <a:chExt cx="18064800" cy="1975800"/>
          </a:xfrm>
        </p:grpSpPr>
        <p:sp>
          <p:nvSpPr>
            <p:cNvPr id="3" name="Freeform 3"/>
            <p:cNvSpPr/>
            <p:nvPr/>
          </p:nvSpPr>
          <p:spPr>
            <a:xfrm>
              <a:off x="0" y="0"/>
              <a:ext cx="18064800" cy="1975800"/>
            </a:xfrm>
            <a:custGeom>
              <a:avLst/>
              <a:gdLst/>
              <a:ahLst/>
              <a:cxnLst/>
              <a:rect l="l" t="t" r="r" b="b"/>
              <a:pathLst>
                <a:path w="18064800" h="1975800">
                  <a:moveTo>
                    <a:pt x="0" y="0"/>
                  </a:moveTo>
                  <a:lnTo>
                    <a:pt x="18064800" y="0"/>
                  </a:lnTo>
                  <a:lnTo>
                    <a:pt x="18064800" y="1975800"/>
                  </a:lnTo>
                  <a:lnTo>
                    <a:pt x="0" y="1975800"/>
                  </a:lnTo>
                  <a:close/>
                </a:path>
              </a:pathLst>
            </a:custGeom>
            <a:solidFill>
              <a:srgbClr val="000000">
                <a:alpha val="0"/>
              </a:srgbClr>
            </a:solidFill>
          </p:spPr>
        </p:sp>
        <p:sp>
          <p:nvSpPr>
            <p:cNvPr id="4" name="TextBox 4"/>
            <p:cNvSpPr txBox="1"/>
            <p:nvPr/>
          </p:nvSpPr>
          <p:spPr>
            <a:xfrm>
              <a:off x="0" y="38100"/>
              <a:ext cx="18064800" cy="19377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Proposed Methodology</a:t>
              </a:r>
            </a:p>
          </p:txBody>
        </p:sp>
      </p:grpSp>
      <p:sp>
        <p:nvSpPr>
          <p:cNvPr id="5" name="TextBox 5"/>
          <p:cNvSpPr txBox="1"/>
          <p:nvPr/>
        </p:nvSpPr>
        <p:spPr>
          <a:xfrm>
            <a:off x="1028700" y="2373625"/>
            <a:ext cx="16230600" cy="6642844"/>
          </a:xfrm>
          <a:prstGeom prst="rect">
            <a:avLst/>
          </a:prstGeom>
        </p:spPr>
        <p:txBody>
          <a:bodyPr lIns="0" tIns="0" rIns="0" bIns="0" rtlCol="0" anchor="t">
            <a:spAutoFit/>
          </a:bodyPr>
          <a:lstStyle/>
          <a:p>
            <a:pPr marL="735136" lvl="1" indent="-367568" algn="l">
              <a:lnSpc>
                <a:spcPts val="3677"/>
              </a:lnSpc>
              <a:buFont typeface="Arial"/>
              <a:buChar char="•"/>
            </a:pPr>
            <a:r>
              <a:rPr lang="en-US" sz="3404" b="1" dirty="0">
                <a:solidFill>
                  <a:srgbClr val="000000"/>
                </a:solidFill>
                <a:latin typeface="Times New Roman"/>
                <a:ea typeface="Times New Roman"/>
                <a:cs typeface="Times New Roman"/>
                <a:sym typeface="Times New Roman"/>
              </a:rPr>
              <a:t>Evaluation Approach</a:t>
            </a:r>
          </a:p>
          <a:p>
            <a:pPr marL="1470273" lvl="2" indent="-490091" algn="l">
              <a:lnSpc>
                <a:spcPts val="3677"/>
              </a:lnSpc>
              <a:buFont typeface="Arial"/>
              <a:buChar char="⚬"/>
            </a:pPr>
            <a:r>
              <a:rPr lang="en-US" sz="3404" dirty="0">
                <a:solidFill>
                  <a:srgbClr val="000000"/>
                </a:solidFill>
                <a:latin typeface="Times New Roman"/>
                <a:ea typeface="Times New Roman"/>
                <a:cs typeface="Times New Roman"/>
                <a:sym typeface="Times New Roman"/>
              </a:rPr>
              <a:t>Model performance is evaluated using loss convergence across epochs.</a:t>
            </a:r>
          </a:p>
          <a:p>
            <a:pPr marL="1470273" lvl="2" indent="-490091" algn="l">
              <a:lnSpc>
                <a:spcPts val="3677"/>
              </a:lnSpc>
              <a:buFont typeface="Arial"/>
              <a:buChar char="⚬"/>
            </a:pPr>
            <a:r>
              <a:rPr lang="en-US" sz="3404" dirty="0">
                <a:solidFill>
                  <a:srgbClr val="000000"/>
                </a:solidFill>
                <a:latin typeface="Times New Roman"/>
                <a:ea typeface="Times New Roman"/>
                <a:cs typeface="Times New Roman"/>
                <a:sym typeface="Times New Roman"/>
              </a:rPr>
              <a:t>Decreasing loss trends indicate stable and effective learning.</a:t>
            </a:r>
          </a:p>
          <a:p>
            <a:pPr marL="1470273" lvl="2" indent="-490091" algn="l">
              <a:lnSpc>
                <a:spcPts val="3677"/>
              </a:lnSpc>
              <a:buFont typeface="Arial"/>
              <a:buChar char="⚬"/>
            </a:pPr>
            <a:r>
              <a:rPr lang="en-US" sz="3404" dirty="0">
                <a:solidFill>
                  <a:srgbClr val="000000"/>
                </a:solidFill>
                <a:latin typeface="Times New Roman"/>
                <a:ea typeface="Times New Roman"/>
                <a:cs typeface="Times New Roman"/>
                <a:sym typeface="Times New Roman"/>
              </a:rPr>
              <a:t>Hybrid performance is analyzed using pseudo-loss curves, derived from weighted aggregation of individual model losses.</a:t>
            </a:r>
          </a:p>
          <a:p>
            <a:pPr algn="l">
              <a:lnSpc>
                <a:spcPts val="3677"/>
              </a:lnSpc>
            </a:pPr>
            <a:endParaRPr lang="en-US" sz="3404" dirty="0">
              <a:solidFill>
                <a:srgbClr val="000000"/>
              </a:solidFill>
              <a:latin typeface="Times New Roman"/>
              <a:ea typeface="Times New Roman"/>
              <a:cs typeface="Times New Roman"/>
              <a:sym typeface="Times New Roman"/>
            </a:endParaRPr>
          </a:p>
          <a:p>
            <a:pPr algn="l">
              <a:lnSpc>
                <a:spcPts val="3677"/>
              </a:lnSpc>
            </a:pPr>
            <a:r>
              <a:rPr lang="en-US" sz="3404" dirty="0">
                <a:solidFill>
                  <a:srgbClr val="000000"/>
                </a:solidFill>
                <a:latin typeface="Times New Roman"/>
                <a:ea typeface="Times New Roman"/>
                <a:cs typeface="Times New Roman"/>
                <a:sym typeface="Times New Roman"/>
              </a:rPr>
              <a:t>7. </a:t>
            </a:r>
            <a:r>
              <a:rPr lang="en-US" sz="3404" b="1" dirty="0">
                <a:solidFill>
                  <a:srgbClr val="000000"/>
                </a:solidFill>
                <a:latin typeface="Times New Roman Bold"/>
                <a:ea typeface="Times New Roman Bold"/>
                <a:cs typeface="Times New Roman Bold"/>
                <a:sym typeface="Times New Roman Bold"/>
              </a:rPr>
              <a:t>Recommendation Generation &amp; Serving</a:t>
            </a:r>
          </a:p>
          <a:p>
            <a:pPr marL="1470273" lvl="2" indent="-490091" algn="l">
              <a:lnSpc>
                <a:spcPts val="3677"/>
              </a:lnSpc>
              <a:buFont typeface="Arial"/>
              <a:buChar char="⚬"/>
            </a:pPr>
            <a:r>
              <a:rPr lang="en-US" sz="3404" dirty="0">
                <a:solidFill>
                  <a:srgbClr val="000000"/>
                </a:solidFill>
                <a:latin typeface="Times New Roman"/>
                <a:ea typeface="Times New Roman"/>
                <a:cs typeface="Times New Roman"/>
                <a:sym typeface="Times New Roman"/>
              </a:rPr>
              <a:t>Final recommendations are generated by combining:</a:t>
            </a:r>
          </a:p>
          <a:p>
            <a:pPr marL="2205409" lvl="3" indent="-551352" algn="l">
              <a:lnSpc>
                <a:spcPts val="3677"/>
              </a:lnSpc>
              <a:buFont typeface="Arial"/>
              <a:buChar char="￭"/>
            </a:pPr>
            <a:r>
              <a:rPr lang="en-US" sz="3404" dirty="0">
                <a:solidFill>
                  <a:srgbClr val="000000"/>
                </a:solidFill>
                <a:latin typeface="Times New Roman"/>
                <a:ea typeface="Times New Roman"/>
                <a:cs typeface="Times New Roman"/>
                <a:sym typeface="Times New Roman"/>
              </a:rPr>
              <a:t>Collaborative filtering scores</a:t>
            </a:r>
          </a:p>
          <a:p>
            <a:pPr marL="2205409" lvl="3" indent="-551352" algn="l">
              <a:lnSpc>
                <a:spcPts val="3677"/>
              </a:lnSpc>
              <a:buFont typeface="Arial"/>
              <a:buChar char="￭"/>
            </a:pPr>
            <a:r>
              <a:rPr lang="en-US" sz="3404" dirty="0">
                <a:solidFill>
                  <a:srgbClr val="000000"/>
                </a:solidFill>
                <a:latin typeface="Times New Roman"/>
                <a:ea typeface="Times New Roman"/>
                <a:cs typeface="Times New Roman"/>
                <a:sym typeface="Times New Roman"/>
              </a:rPr>
              <a:t>Sequence model scores</a:t>
            </a:r>
          </a:p>
          <a:p>
            <a:pPr marL="2205409" lvl="3" indent="-551352" algn="l">
              <a:lnSpc>
                <a:spcPts val="3677"/>
              </a:lnSpc>
              <a:buFont typeface="Arial"/>
              <a:buChar char="￭"/>
            </a:pPr>
            <a:r>
              <a:rPr lang="en-US" sz="3404" dirty="0">
                <a:solidFill>
                  <a:srgbClr val="000000"/>
                </a:solidFill>
                <a:latin typeface="Times New Roman"/>
                <a:ea typeface="Times New Roman"/>
                <a:cs typeface="Times New Roman"/>
                <a:sym typeface="Times New Roman"/>
              </a:rPr>
              <a:t>Content similarity scores</a:t>
            </a:r>
          </a:p>
          <a:p>
            <a:pPr marL="1470273" lvl="2" indent="-490091" algn="l">
              <a:lnSpc>
                <a:spcPts val="3677"/>
              </a:lnSpc>
              <a:buFont typeface="Arial"/>
              <a:buChar char="⚬"/>
            </a:pPr>
            <a:r>
              <a:rPr lang="en-US" sz="3404" dirty="0">
                <a:solidFill>
                  <a:srgbClr val="000000"/>
                </a:solidFill>
                <a:latin typeface="Times New Roman"/>
                <a:ea typeface="Times New Roman"/>
                <a:cs typeface="Times New Roman"/>
                <a:sym typeface="Times New Roman"/>
              </a:rPr>
              <a:t>Health penalties and safety filters are applied before ranking.</a:t>
            </a:r>
          </a:p>
          <a:p>
            <a:pPr marL="1470273" lvl="2" indent="-490091" algn="l">
              <a:lnSpc>
                <a:spcPts val="3677"/>
              </a:lnSpc>
              <a:buFont typeface="Arial"/>
              <a:buChar char="⚬"/>
            </a:pPr>
            <a:r>
              <a:rPr lang="en-US" sz="3404" dirty="0">
                <a:solidFill>
                  <a:srgbClr val="000000"/>
                </a:solidFill>
                <a:latin typeface="Times New Roman"/>
                <a:ea typeface="Times New Roman"/>
                <a:cs typeface="Times New Roman"/>
                <a:sym typeface="Times New Roman"/>
              </a:rPr>
              <a:t>System outputs top-K personalized, health-aware food recommendations via an API-based interface.</a:t>
            </a:r>
          </a:p>
        </p:txBody>
      </p:sp>
      <p:grpSp>
        <p:nvGrpSpPr>
          <p:cNvPr id="6" name="Group 6"/>
          <p:cNvGrpSpPr/>
          <p:nvPr/>
        </p:nvGrpSpPr>
        <p:grpSpPr>
          <a:xfrm>
            <a:off x="6057900" y="9534525"/>
            <a:ext cx="6172200" cy="547650"/>
            <a:chOff x="0" y="0"/>
            <a:chExt cx="8229600" cy="730200"/>
          </a:xfrm>
        </p:grpSpPr>
        <p:sp>
          <p:nvSpPr>
            <p:cNvPr id="7" name="Freeform 7"/>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8" name="TextBox 8"/>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50"/>
            <a:chOff x="0" y="0"/>
            <a:chExt cx="5486400" cy="730200"/>
          </a:xfrm>
        </p:grpSpPr>
        <p:sp>
          <p:nvSpPr>
            <p:cNvPr id="10" name="Freeform 10"/>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1" name="TextBox 11"/>
            <p:cNvSpPr txBox="1"/>
            <p:nvPr/>
          </p:nvSpPr>
          <p:spPr>
            <a:xfrm>
              <a:off x="0" y="-38100"/>
              <a:ext cx="5486400" cy="76830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16</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50900" y="386588"/>
            <a:ext cx="13548600" cy="1481850"/>
            <a:chOff x="0" y="0"/>
            <a:chExt cx="18064800" cy="1975800"/>
          </a:xfrm>
        </p:grpSpPr>
        <p:sp>
          <p:nvSpPr>
            <p:cNvPr id="3" name="Freeform 3"/>
            <p:cNvSpPr/>
            <p:nvPr/>
          </p:nvSpPr>
          <p:spPr>
            <a:xfrm>
              <a:off x="0" y="0"/>
              <a:ext cx="18064800" cy="1975800"/>
            </a:xfrm>
            <a:custGeom>
              <a:avLst/>
              <a:gdLst/>
              <a:ahLst/>
              <a:cxnLst/>
              <a:rect l="l" t="t" r="r" b="b"/>
              <a:pathLst>
                <a:path w="18064800" h="1975800">
                  <a:moveTo>
                    <a:pt x="0" y="0"/>
                  </a:moveTo>
                  <a:lnTo>
                    <a:pt x="18064800" y="0"/>
                  </a:lnTo>
                  <a:lnTo>
                    <a:pt x="18064800" y="1975800"/>
                  </a:lnTo>
                  <a:lnTo>
                    <a:pt x="0" y="1975800"/>
                  </a:lnTo>
                  <a:close/>
                </a:path>
              </a:pathLst>
            </a:custGeom>
            <a:solidFill>
              <a:srgbClr val="000000">
                <a:alpha val="0"/>
              </a:srgbClr>
            </a:solidFill>
          </p:spPr>
        </p:sp>
        <p:sp>
          <p:nvSpPr>
            <p:cNvPr id="4" name="TextBox 4"/>
            <p:cNvSpPr txBox="1"/>
            <p:nvPr/>
          </p:nvSpPr>
          <p:spPr>
            <a:xfrm>
              <a:off x="0" y="38100"/>
              <a:ext cx="18064800" cy="19377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Proposed Methodology</a:t>
              </a:r>
            </a:p>
          </p:txBody>
        </p:sp>
      </p:grpSp>
      <p:sp>
        <p:nvSpPr>
          <p:cNvPr id="5" name="TextBox 5"/>
          <p:cNvSpPr txBox="1"/>
          <p:nvPr/>
        </p:nvSpPr>
        <p:spPr>
          <a:xfrm>
            <a:off x="1028700" y="2308105"/>
            <a:ext cx="16230600" cy="6410325"/>
          </a:xfrm>
          <a:prstGeom prst="rect">
            <a:avLst/>
          </a:prstGeom>
        </p:spPr>
        <p:txBody>
          <a:bodyPr lIns="0" tIns="0" rIns="0" bIns="0" rtlCol="0" anchor="t">
            <a:spAutoFit/>
          </a:bodyPr>
          <a:lstStyle/>
          <a:p>
            <a:pPr algn="l">
              <a:lnSpc>
                <a:spcPts val="4211"/>
              </a:lnSpc>
            </a:pPr>
            <a:r>
              <a:rPr lang="en-US" sz="3899" b="1">
                <a:solidFill>
                  <a:srgbClr val="000000"/>
                </a:solidFill>
                <a:latin typeface="Times New Roman Bold"/>
                <a:ea typeface="Times New Roman Bold"/>
                <a:cs typeface="Times New Roman Bold"/>
                <a:sym typeface="Times New Roman Bold"/>
              </a:rPr>
              <a:t>8.	Future Improvements</a:t>
            </a:r>
          </a:p>
          <a:p>
            <a:pPr algn="l">
              <a:lnSpc>
                <a:spcPts val="3887"/>
              </a:lnSpc>
            </a:pPr>
            <a:endParaRPr lang="en-US" sz="3899" b="1">
              <a:solidFill>
                <a:srgbClr val="000000"/>
              </a:solidFill>
              <a:latin typeface="Times New Roman Bold"/>
              <a:ea typeface="Times New Roman Bold"/>
              <a:cs typeface="Times New Roman Bold"/>
              <a:sym typeface="Times New Roman Bold"/>
            </a:endParaRPr>
          </a:p>
          <a:p>
            <a:pPr marL="1544876" lvl="1" indent="-772438" algn="l">
              <a:lnSpc>
                <a:spcPts val="3887"/>
              </a:lnSpc>
              <a:buFont typeface="Arial"/>
              <a:buChar char="•"/>
            </a:pPr>
            <a:r>
              <a:rPr lang="en-US" sz="3599">
                <a:solidFill>
                  <a:srgbClr val="000000"/>
                </a:solidFill>
                <a:latin typeface="Times New Roman"/>
                <a:ea typeface="Times New Roman"/>
                <a:cs typeface="Times New Roman"/>
                <a:sym typeface="Times New Roman"/>
              </a:rPr>
              <a:t>Family-Centric Recommendation: Extend the system to aggregate preferences, health conditions, and nutritional needs of multiple family members, enabling balanced and age-aware household-level recommendations.</a:t>
            </a:r>
          </a:p>
          <a:p>
            <a:pPr marL="1544876" lvl="1" indent="-772438" algn="l">
              <a:lnSpc>
                <a:spcPts val="3887"/>
              </a:lnSpc>
              <a:buFont typeface="Arial"/>
              <a:buChar char="•"/>
            </a:pPr>
            <a:r>
              <a:rPr lang="en-US" sz="3599">
                <a:solidFill>
                  <a:srgbClr val="000000"/>
                </a:solidFill>
                <a:latin typeface="Times New Roman"/>
                <a:ea typeface="Times New Roman"/>
                <a:cs typeface="Times New Roman"/>
                <a:sym typeface="Times New Roman"/>
              </a:rPr>
              <a:t>Structured Meal Planning: Generate complete daily and weekly meal plans (breakfast, lunch, dinner) with calorie and macro-nutrient balancing while preserving regional and cultural relevance.</a:t>
            </a:r>
          </a:p>
          <a:p>
            <a:pPr marL="1544876" lvl="1" indent="-772438" algn="l">
              <a:lnSpc>
                <a:spcPts val="3887"/>
              </a:lnSpc>
              <a:buFont typeface="Arial"/>
              <a:buChar char="•"/>
            </a:pPr>
            <a:r>
              <a:rPr lang="en-US" sz="3599">
                <a:solidFill>
                  <a:srgbClr val="000000"/>
                </a:solidFill>
                <a:latin typeface="Times New Roman"/>
                <a:ea typeface="Times New Roman"/>
                <a:cs typeface="Times New Roman"/>
                <a:sym typeface="Times New Roman"/>
              </a:rPr>
              <a:t>Feedback-Driven Learning: Incorporate user feedback on recommended foods to continuously refine preference modeling and improve personalization over time.</a:t>
            </a:r>
          </a:p>
          <a:p>
            <a:pPr marL="1544876" lvl="1" indent="-772438" algn="l">
              <a:lnSpc>
                <a:spcPts val="3887"/>
              </a:lnSpc>
              <a:buFont typeface="Arial"/>
              <a:buChar char="•"/>
            </a:pPr>
            <a:r>
              <a:rPr lang="en-US" sz="3599">
                <a:solidFill>
                  <a:srgbClr val="000000"/>
                </a:solidFill>
                <a:latin typeface="Times New Roman"/>
                <a:ea typeface="Times New Roman"/>
                <a:cs typeface="Times New Roman"/>
                <a:sym typeface="Times New Roman"/>
              </a:rPr>
              <a:t>Explainability: Provide clear health, nutrition, and safety-based explanations for each recommendation to enhance transparency, trust, and user adoption.</a:t>
            </a:r>
          </a:p>
        </p:txBody>
      </p:sp>
      <p:grpSp>
        <p:nvGrpSpPr>
          <p:cNvPr id="6" name="Group 6"/>
          <p:cNvGrpSpPr/>
          <p:nvPr/>
        </p:nvGrpSpPr>
        <p:grpSpPr>
          <a:xfrm>
            <a:off x="6057900" y="9534525"/>
            <a:ext cx="6172200" cy="547650"/>
            <a:chOff x="0" y="0"/>
            <a:chExt cx="8229600" cy="730200"/>
          </a:xfrm>
        </p:grpSpPr>
        <p:sp>
          <p:nvSpPr>
            <p:cNvPr id="7" name="Freeform 7"/>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8" name="TextBox 8"/>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50"/>
            <a:chOff x="0" y="0"/>
            <a:chExt cx="5486400" cy="730200"/>
          </a:xfrm>
        </p:grpSpPr>
        <p:sp>
          <p:nvSpPr>
            <p:cNvPr id="10" name="Freeform 10"/>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1" name="TextBox 11"/>
            <p:cNvSpPr txBox="1"/>
            <p:nvPr/>
          </p:nvSpPr>
          <p:spPr>
            <a:xfrm>
              <a:off x="0" y="-38100"/>
              <a:ext cx="5486400" cy="76830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17</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2231617"/>
            <a:chOff x="0" y="0"/>
            <a:chExt cx="21031200" cy="2975489"/>
          </a:xfrm>
        </p:grpSpPr>
        <p:sp>
          <p:nvSpPr>
            <p:cNvPr id="3" name="Freeform 3"/>
            <p:cNvSpPr/>
            <p:nvPr/>
          </p:nvSpPr>
          <p:spPr>
            <a:xfrm>
              <a:off x="0" y="0"/>
              <a:ext cx="21031200" cy="2975489"/>
            </a:xfrm>
            <a:custGeom>
              <a:avLst/>
              <a:gdLst/>
              <a:ahLst/>
              <a:cxnLst/>
              <a:rect l="l" t="t" r="r" b="b"/>
              <a:pathLst>
                <a:path w="21031200" h="2975489">
                  <a:moveTo>
                    <a:pt x="0" y="0"/>
                  </a:moveTo>
                  <a:lnTo>
                    <a:pt x="21031200" y="0"/>
                  </a:lnTo>
                  <a:lnTo>
                    <a:pt x="21031200" y="2975489"/>
                  </a:lnTo>
                  <a:lnTo>
                    <a:pt x="0" y="2975489"/>
                  </a:lnTo>
                  <a:close/>
                </a:path>
              </a:pathLst>
            </a:custGeom>
            <a:solidFill>
              <a:srgbClr val="000000">
                <a:alpha val="0"/>
              </a:srgbClr>
            </a:solidFill>
          </p:spPr>
        </p:sp>
        <p:sp>
          <p:nvSpPr>
            <p:cNvPr id="4" name="TextBox 4"/>
            <p:cNvSpPr txBox="1"/>
            <p:nvPr/>
          </p:nvSpPr>
          <p:spPr>
            <a:xfrm>
              <a:off x="0" y="38100"/>
              <a:ext cx="21031200" cy="2937389"/>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Methodology – Graph-Based Interaction Modeling</a:t>
              </a:r>
            </a:p>
          </p:txBody>
        </p:sp>
      </p:grpSp>
      <p:sp>
        <p:nvSpPr>
          <p:cNvPr id="5" name="TextBox 5"/>
          <p:cNvSpPr txBox="1"/>
          <p:nvPr/>
        </p:nvSpPr>
        <p:spPr>
          <a:xfrm>
            <a:off x="1348725" y="2803187"/>
            <a:ext cx="15590550" cy="6119317"/>
          </a:xfrm>
          <a:prstGeom prst="rect">
            <a:avLst/>
          </a:prstGeom>
        </p:spPr>
        <p:txBody>
          <a:bodyPr lIns="0" tIns="0" rIns="0" bIns="0" rtlCol="0" anchor="t">
            <a:spAutoFit/>
          </a:bodyPr>
          <a:lstStyle/>
          <a:p>
            <a:pPr marL="870073" lvl="1" indent="-435037" algn="l">
              <a:lnSpc>
                <a:spcPts val="4352"/>
              </a:lnSpc>
              <a:buFont typeface="Arial"/>
              <a:buChar char="•"/>
            </a:pPr>
            <a:r>
              <a:rPr lang="en-US" sz="4029">
                <a:solidFill>
                  <a:srgbClr val="000000"/>
                </a:solidFill>
                <a:latin typeface="Times New Roman"/>
                <a:ea typeface="Times New Roman"/>
                <a:cs typeface="Times New Roman"/>
                <a:sym typeface="Times New Roman"/>
              </a:rPr>
              <a:t>Modeled user–food consumption data as a bipartite graph.</a:t>
            </a:r>
          </a:p>
          <a:p>
            <a:pPr marL="870073" lvl="1" indent="-435037" algn="l">
              <a:lnSpc>
                <a:spcPts val="4352"/>
              </a:lnSpc>
              <a:buFont typeface="Arial"/>
              <a:buChar char="•"/>
            </a:pPr>
            <a:r>
              <a:rPr lang="en-US" sz="4029">
                <a:solidFill>
                  <a:srgbClr val="000000"/>
                </a:solidFill>
                <a:latin typeface="Times New Roman"/>
                <a:ea typeface="Times New Roman"/>
                <a:cs typeface="Times New Roman"/>
                <a:sym typeface="Times New Roman"/>
              </a:rPr>
              <a:t>Defined two disjoint node sets:</a:t>
            </a:r>
          </a:p>
          <a:p>
            <a:pPr marL="1740146" lvl="2" indent="-580049" algn="l">
              <a:lnSpc>
                <a:spcPts val="4352"/>
              </a:lnSpc>
              <a:buFont typeface="Arial"/>
              <a:buChar char="⚬"/>
            </a:pPr>
            <a:r>
              <a:rPr lang="en-US" sz="4029">
                <a:solidFill>
                  <a:srgbClr val="000000"/>
                </a:solidFill>
                <a:latin typeface="Times New Roman"/>
                <a:ea typeface="Times New Roman"/>
                <a:cs typeface="Times New Roman"/>
                <a:sym typeface="Times New Roman"/>
              </a:rPr>
              <a:t>Users</a:t>
            </a:r>
          </a:p>
          <a:p>
            <a:pPr marL="1740146" lvl="2" indent="-580049" algn="l">
              <a:lnSpc>
                <a:spcPts val="4352"/>
              </a:lnSpc>
              <a:buFont typeface="Arial"/>
              <a:buChar char="⚬"/>
            </a:pPr>
            <a:r>
              <a:rPr lang="en-US" sz="4029">
                <a:solidFill>
                  <a:srgbClr val="000000"/>
                </a:solidFill>
                <a:latin typeface="Times New Roman"/>
                <a:ea typeface="Times New Roman"/>
                <a:cs typeface="Times New Roman"/>
                <a:sym typeface="Times New Roman"/>
              </a:rPr>
              <a:t>Food items</a:t>
            </a:r>
          </a:p>
          <a:p>
            <a:pPr marL="870073" lvl="1" indent="-435037" algn="l">
              <a:lnSpc>
                <a:spcPts val="4352"/>
              </a:lnSpc>
              <a:buFont typeface="Arial"/>
              <a:buChar char="•"/>
            </a:pPr>
            <a:r>
              <a:rPr lang="en-US" sz="4029">
                <a:solidFill>
                  <a:srgbClr val="000000"/>
                </a:solidFill>
                <a:latin typeface="Times New Roman"/>
                <a:ea typeface="Times New Roman"/>
                <a:cs typeface="Times New Roman"/>
                <a:sym typeface="Times New Roman"/>
              </a:rPr>
              <a:t>Created edges between users and food items based on interaction history.</a:t>
            </a:r>
          </a:p>
          <a:p>
            <a:pPr marL="870073" lvl="1" indent="-435037" algn="l">
              <a:lnSpc>
                <a:spcPts val="4352"/>
              </a:lnSpc>
              <a:buFont typeface="Arial"/>
              <a:buChar char="•"/>
            </a:pPr>
            <a:r>
              <a:rPr lang="en-US" sz="4029">
                <a:solidFill>
                  <a:srgbClr val="000000"/>
                </a:solidFill>
                <a:latin typeface="Times New Roman"/>
                <a:ea typeface="Times New Roman"/>
                <a:cs typeface="Times New Roman"/>
                <a:sym typeface="Times New Roman"/>
              </a:rPr>
              <a:t>Used the bipartite structure to:</a:t>
            </a:r>
          </a:p>
          <a:p>
            <a:pPr marL="1740146" lvl="2" indent="-580049" algn="l">
              <a:lnSpc>
                <a:spcPts val="4352"/>
              </a:lnSpc>
              <a:buFont typeface="Arial"/>
              <a:buChar char="⚬"/>
            </a:pPr>
            <a:r>
              <a:rPr lang="en-US" sz="4029">
                <a:solidFill>
                  <a:srgbClr val="000000"/>
                </a:solidFill>
                <a:latin typeface="Times New Roman"/>
                <a:ea typeface="Times New Roman"/>
                <a:cs typeface="Times New Roman"/>
                <a:sym typeface="Times New Roman"/>
              </a:rPr>
              <a:t>Capture user preference behavior</a:t>
            </a:r>
          </a:p>
          <a:p>
            <a:pPr marL="1740146" lvl="2" indent="-580049" algn="l">
              <a:lnSpc>
                <a:spcPts val="4352"/>
              </a:lnSpc>
              <a:buFont typeface="Arial"/>
              <a:buChar char="⚬"/>
            </a:pPr>
            <a:r>
              <a:rPr lang="en-US" sz="4029">
                <a:solidFill>
                  <a:srgbClr val="000000"/>
                </a:solidFill>
                <a:latin typeface="Times New Roman"/>
                <a:ea typeface="Times New Roman"/>
                <a:cs typeface="Times New Roman"/>
                <a:sym typeface="Times New Roman"/>
              </a:rPr>
              <a:t>Analyze food popularity and user activity distribution</a:t>
            </a:r>
          </a:p>
          <a:p>
            <a:pPr marL="870073" lvl="1" indent="-435037" algn="l">
              <a:lnSpc>
                <a:spcPts val="4352"/>
              </a:lnSpc>
              <a:buFont typeface="Arial"/>
              <a:buChar char="•"/>
            </a:pPr>
            <a:r>
              <a:rPr lang="en-US" sz="4029">
                <a:solidFill>
                  <a:srgbClr val="000000"/>
                </a:solidFill>
                <a:latin typeface="Times New Roman"/>
                <a:ea typeface="Times New Roman"/>
                <a:cs typeface="Times New Roman"/>
                <a:sym typeface="Times New Roman"/>
              </a:rPr>
              <a:t>Generated interaction matrices from the graph to support collaborative filtering.</a:t>
            </a:r>
          </a:p>
        </p:txBody>
      </p:sp>
      <p:grpSp>
        <p:nvGrpSpPr>
          <p:cNvPr id="6" name="Group 6"/>
          <p:cNvGrpSpPr/>
          <p:nvPr/>
        </p:nvGrpSpPr>
        <p:grpSpPr>
          <a:xfrm>
            <a:off x="6057900" y="9534525"/>
            <a:ext cx="6172200" cy="547688"/>
            <a:chOff x="0" y="0"/>
            <a:chExt cx="8229600" cy="730250"/>
          </a:xfrm>
        </p:grpSpPr>
        <p:sp>
          <p:nvSpPr>
            <p:cNvPr id="7" name="Freeform 7"/>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8" name="TextBox 8"/>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88"/>
            <a:chOff x="0" y="0"/>
            <a:chExt cx="5486400" cy="730250"/>
          </a:xfrm>
        </p:grpSpPr>
        <p:sp>
          <p:nvSpPr>
            <p:cNvPr id="10" name="Freeform 10"/>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1" name="TextBox 11"/>
            <p:cNvSpPr txBox="1"/>
            <p:nvPr/>
          </p:nvSpPr>
          <p:spPr>
            <a:xfrm>
              <a:off x="0" y="-38100"/>
              <a:ext cx="5486400" cy="76835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18</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2231617"/>
            <a:chOff x="0" y="0"/>
            <a:chExt cx="21031200" cy="2975489"/>
          </a:xfrm>
        </p:grpSpPr>
        <p:sp>
          <p:nvSpPr>
            <p:cNvPr id="3" name="Freeform 3"/>
            <p:cNvSpPr/>
            <p:nvPr/>
          </p:nvSpPr>
          <p:spPr>
            <a:xfrm>
              <a:off x="0" y="0"/>
              <a:ext cx="21031200" cy="2975489"/>
            </a:xfrm>
            <a:custGeom>
              <a:avLst/>
              <a:gdLst/>
              <a:ahLst/>
              <a:cxnLst/>
              <a:rect l="l" t="t" r="r" b="b"/>
              <a:pathLst>
                <a:path w="21031200" h="2975489">
                  <a:moveTo>
                    <a:pt x="0" y="0"/>
                  </a:moveTo>
                  <a:lnTo>
                    <a:pt x="21031200" y="0"/>
                  </a:lnTo>
                  <a:lnTo>
                    <a:pt x="21031200" y="2975489"/>
                  </a:lnTo>
                  <a:lnTo>
                    <a:pt x="0" y="2975489"/>
                  </a:lnTo>
                  <a:close/>
                </a:path>
              </a:pathLst>
            </a:custGeom>
            <a:solidFill>
              <a:srgbClr val="000000">
                <a:alpha val="0"/>
              </a:srgbClr>
            </a:solidFill>
          </p:spPr>
        </p:sp>
        <p:sp>
          <p:nvSpPr>
            <p:cNvPr id="4" name="TextBox 4"/>
            <p:cNvSpPr txBox="1"/>
            <p:nvPr/>
          </p:nvSpPr>
          <p:spPr>
            <a:xfrm>
              <a:off x="0" y="38100"/>
              <a:ext cx="21031200" cy="2937389"/>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Methodology – Collaborative Filtering (Matrix Factorization)</a:t>
              </a:r>
            </a:p>
          </p:txBody>
        </p:sp>
      </p:grpSp>
      <p:sp>
        <p:nvSpPr>
          <p:cNvPr id="5" name="TextBox 5"/>
          <p:cNvSpPr txBox="1"/>
          <p:nvPr/>
        </p:nvSpPr>
        <p:spPr>
          <a:xfrm>
            <a:off x="1348725" y="2812713"/>
            <a:ext cx="15590550" cy="6321933"/>
          </a:xfrm>
          <a:prstGeom prst="rect">
            <a:avLst/>
          </a:prstGeom>
        </p:spPr>
        <p:txBody>
          <a:bodyPr lIns="0" tIns="0" rIns="0" bIns="0" rtlCol="0" anchor="t">
            <a:spAutoFit/>
          </a:bodyPr>
          <a:lstStyle/>
          <a:p>
            <a:pPr marL="906780" lvl="1" indent="-453390" algn="l">
              <a:lnSpc>
                <a:spcPts val="4536"/>
              </a:lnSpc>
              <a:buFont typeface="Arial"/>
              <a:buChar char="•"/>
            </a:pPr>
            <a:r>
              <a:rPr lang="en-US" sz="4200">
                <a:solidFill>
                  <a:srgbClr val="000000"/>
                </a:solidFill>
                <a:latin typeface="Times New Roman"/>
                <a:ea typeface="Times New Roman"/>
                <a:cs typeface="Times New Roman"/>
                <a:sym typeface="Times New Roman"/>
              </a:rPr>
              <a:t>Applied Matrix Factorization (MF) on user–food interaction data.</a:t>
            </a:r>
          </a:p>
          <a:p>
            <a:pPr marL="906780" lvl="1" indent="-453390" algn="l">
              <a:lnSpc>
                <a:spcPts val="4536"/>
              </a:lnSpc>
              <a:buFont typeface="Arial"/>
              <a:buChar char="•"/>
            </a:pPr>
            <a:r>
              <a:rPr lang="en-US" sz="4200">
                <a:solidFill>
                  <a:srgbClr val="000000"/>
                </a:solidFill>
                <a:latin typeface="Times New Roman"/>
                <a:ea typeface="Times New Roman"/>
                <a:cs typeface="Times New Roman"/>
                <a:sym typeface="Times New Roman"/>
              </a:rPr>
              <a:t>Decomposed the interaction matrix into:</a:t>
            </a:r>
          </a:p>
          <a:p>
            <a:pPr marL="1813560" lvl="2" indent="-604520" algn="l">
              <a:lnSpc>
                <a:spcPts val="4536"/>
              </a:lnSpc>
              <a:buFont typeface="Arial"/>
              <a:buChar char="⚬"/>
            </a:pPr>
            <a:r>
              <a:rPr lang="en-US" sz="4200">
                <a:solidFill>
                  <a:srgbClr val="000000"/>
                </a:solidFill>
                <a:latin typeface="Times New Roman"/>
                <a:ea typeface="Times New Roman"/>
                <a:cs typeface="Times New Roman"/>
                <a:sym typeface="Times New Roman"/>
              </a:rPr>
              <a:t>User latent factor matrix</a:t>
            </a:r>
          </a:p>
          <a:p>
            <a:pPr marL="1813560" lvl="2" indent="-604520" algn="l">
              <a:lnSpc>
                <a:spcPts val="4536"/>
              </a:lnSpc>
              <a:buFont typeface="Arial"/>
              <a:buChar char="⚬"/>
            </a:pPr>
            <a:r>
              <a:rPr lang="en-US" sz="4200">
                <a:solidFill>
                  <a:srgbClr val="000000"/>
                </a:solidFill>
                <a:latin typeface="Times New Roman"/>
                <a:ea typeface="Times New Roman"/>
                <a:cs typeface="Times New Roman"/>
                <a:sym typeface="Times New Roman"/>
              </a:rPr>
              <a:t>Food latent factor matrix</a:t>
            </a:r>
          </a:p>
          <a:p>
            <a:pPr marL="906780" lvl="1" indent="-453390" algn="l">
              <a:lnSpc>
                <a:spcPts val="4536"/>
              </a:lnSpc>
              <a:buFont typeface="Arial"/>
              <a:buChar char="•"/>
            </a:pPr>
            <a:r>
              <a:rPr lang="en-US" sz="4200">
                <a:solidFill>
                  <a:srgbClr val="000000"/>
                </a:solidFill>
                <a:latin typeface="Times New Roman"/>
                <a:ea typeface="Times New Roman"/>
                <a:cs typeface="Times New Roman"/>
                <a:sym typeface="Times New Roman"/>
              </a:rPr>
              <a:t>Used dot product of latent vectors to predict user–food affinity scores.</a:t>
            </a:r>
          </a:p>
          <a:p>
            <a:pPr marL="906780" lvl="1" indent="-453390" algn="l">
              <a:lnSpc>
                <a:spcPts val="4536"/>
              </a:lnSpc>
              <a:buFont typeface="Arial"/>
              <a:buChar char="•"/>
            </a:pPr>
            <a:r>
              <a:rPr lang="en-US" sz="4200">
                <a:solidFill>
                  <a:srgbClr val="000000"/>
                </a:solidFill>
                <a:latin typeface="Times New Roman"/>
                <a:ea typeface="Times New Roman"/>
                <a:cs typeface="Times New Roman"/>
                <a:sym typeface="Times New Roman"/>
              </a:rPr>
              <a:t>Applied negative sampling to distinguish positive and negative interactions.</a:t>
            </a:r>
          </a:p>
          <a:p>
            <a:pPr marL="906780" lvl="1" indent="-453390" algn="l">
              <a:lnSpc>
                <a:spcPts val="4536"/>
              </a:lnSpc>
              <a:buFont typeface="Arial"/>
              <a:buChar char="•"/>
            </a:pPr>
            <a:r>
              <a:rPr lang="en-US" sz="4200">
                <a:solidFill>
                  <a:srgbClr val="000000"/>
                </a:solidFill>
                <a:latin typeface="Times New Roman"/>
                <a:ea typeface="Times New Roman"/>
                <a:cs typeface="Times New Roman"/>
                <a:sym typeface="Times New Roman"/>
              </a:rPr>
              <a:t>Optimized the model using binary cross-entropy loss.</a:t>
            </a:r>
          </a:p>
          <a:p>
            <a:pPr marL="906780" lvl="1" indent="-453390" algn="l">
              <a:lnSpc>
                <a:spcPts val="4536"/>
              </a:lnSpc>
              <a:buFont typeface="Arial"/>
              <a:buChar char="•"/>
            </a:pPr>
            <a:r>
              <a:rPr lang="en-US" sz="4200">
                <a:solidFill>
                  <a:srgbClr val="000000"/>
                </a:solidFill>
                <a:latin typeface="Times New Roman"/>
                <a:ea typeface="Times New Roman"/>
                <a:cs typeface="Times New Roman"/>
                <a:sym typeface="Times New Roman"/>
              </a:rPr>
              <a:t>Trained for multiple epochs until loss convergence was observed.</a:t>
            </a:r>
          </a:p>
          <a:p>
            <a:pPr marL="906780" lvl="1" indent="-453390" algn="l">
              <a:lnSpc>
                <a:spcPts val="4536"/>
              </a:lnSpc>
              <a:buFont typeface="Arial"/>
              <a:buChar char="•"/>
            </a:pPr>
            <a:r>
              <a:rPr lang="en-US" sz="4200">
                <a:solidFill>
                  <a:srgbClr val="000000"/>
                </a:solidFill>
                <a:latin typeface="Times New Roman"/>
                <a:ea typeface="Times New Roman"/>
                <a:cs typeface="Times New Roman"/>
                <a:sym typeface="Times New Roman"/>
              </a:rPr>
              <a:t>Saved learned embeddings for hybrid recommendation scoring.</a:t>
            </a:r>
          </a:p>
        </p:txBody>
      </p:sp>
      <p:grpSp>
        <p:nvGrpSpPr>
          <p:cNvPr id="6" name="Group 6"/>
          <p:cNvGrpSpPr/>
          <p:nvPr/>
        </p:nvGrpSpPr>
        <p:grpSpPr>
          <a:xfrm>
            <a:off x="6057900" y="9534525"/>
            <a:ext cx="6172200" cy="547688"/>
            <a:chOff x="0" y="0"/>
            <a:chExt cx="8229600" cy="730250"/>
          </a:xfrm>
        </p:grpSpPr>
        <p:sp>
          <p:nvSpPr>
            <p:cNvPr id="7" name="Freeform 7"/>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8" name="TextBox 8"/>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88"/>
            <a:chOff x="0" y="0"/>
            <a:chExt cx="5486400" cy="730250"/>
          </a:xfrm>
        </p:grpSpPr>
        <p:sp>
          <p:nvSpPr>
            <p:cNvPr id="10" name="Freeform 10"/>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1" name="TextBox 11"/>
            <p:cNvSpPr txBox="1"/>
            <p:nvPr/>
          </p:nvSpPr>
          <p:spPr>
            <a:xfrm>
              <a:off x="0" y="-38100"/>
              <a:ext cx="5486400" cy="76835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19</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7"/>
            <a:ext cx="15773400" cy="2231617"/>
            <a:chOff x="0" y="0"/>
            <a:chExt cx="21031200" cy="2975489"/>
          </a:xfrm>
        </p:grpSpPr>
        <p:sp>
          <p:nvSpPr>
            <p:cNvPr id="3" name="Freeform 3"/>
            <p:cNvSpPr/>
            <p:nvPr/>
          </p:nvSpPr>
          <p:spPr>
            <a:xfrm>
              <a:off x="0" y="0"/>
              <a:ext cx="21031200" cy="2975489"/>
            </a:xfrm>
            <a:custGeom>
              <a:avLst/>
              <a:gdLst/>
              <a:ahLst/>
              <a:cxnLst/>
              <a:rect l="l" t="t" r="r" b="b"/>
              <a:pathLst>
                <a:path w="21031200" h="2975489">
                  <a:moveTo>
                    <a:pt x="0" y="0"/>
                  </a:moveTo>
                  <a:lnTo>
                    <a:pt x="21031200" y="0"/>
                  </a:lnTo>
                  <a:lnTo>
                    <a:pt x="21031200" y="2975489"/>
                  </a:lnTo>
                  <a:lnTo>
                    <a:pt x="0" y="2975489"/>
                  </a:lnTo>
                  <a:close/>
                </a:path>
              </a:pathLst>
            </a:custGeom>
            <a:solidFill>
              <a:srgbClr val="000000">
                <a:alpha val="0"/>
              </a:srgbClr>
            </a:solidFill>
          </p:spPr>
        </p:sp>
        <p:sp>
          <p:nvSpPr>
            <p:cNvPr id="4" name="TextBox 4"/>
            <p:cNvSpPr txBox="1"/>
            <p:nvPr/>
          </p:nvSpPr>
          <p:spPr>
            <a:xfrm>
              <a:off x="0" y="38100"/>
              <a:ext cx="21031200" cy="2937389"/>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Methodology – Sequence-Based Learning (Transformer Model)</a:t>
              </a:r>
            </a:p>
          </p:txBody>
        </p:sp>
      </p:grpSp>
      <p:sp>
        <p:nvSpPr>
          <p:cNvPr id="5" name="TextBox 5"/>
          <p:cNvSpPr txBox="1"/>
          <p:nvPr/>
        </p:nvSpPr>
        <p:spPr>
          <a:xfrm>
            <a:off x="1348725" y="2793662"/>
            <a:ext cx="15590550" cy="6450711"/>
          </a:xfrm>
          <a:prstGeom prst="rect">
            <a:avLst/>
          </a:prstGeom>
        </p:spPr>
        <p:txBody>
          <a:bodyPr lIns="0" tIns="0" rIns="0" bIns="0" rtlCol="0" anchor="t">
            <a:spAutoFit/>
          </a:bodyPr>
          <a:lstStyle/>
          <a:p>
            <a:pPr marL="705804" lvl="1" indent="-352902" algn="l">
              <a:lnSpc>
                <a:spcPts val="4212"/>
              </a:lnSpc>
              <a:buFont typeface="Arial"/>
              <a:buChar char="•"/>
            </a:pPr>
            <a:r>
              <a:rPr lang="en-US" sz="3900">
                <a:solidFill>
                  <a:srgbClr val="000000"/>
                </a:solidFill>
                <a:latin typeface="Times New Roman"/>
                <a:ea typeface="Times New Roman"/>
                <a:cs typeface="Times New Roman"/>
                <a:sym typeface="Times New Roman"/>
              </a:rPr>
              <a:t>Modeled food consumption as a sequential prediction problem.</a:t>
            </a:r>
          </a:p>
          <a:p>
            <a:pPr marL="705804" lvl="1" indent="-352902" algn="l">
              <a:lnSpc>
                <a:spcPts val="4212"/>
              </a:lnSpc>
              <a:buFont typeface="Arial"/>
              <a:buChar char="•"/>
            </a:pPr>
            <a:r>
              <a:rPr lang="en-US" sz="3900">
                <a:solidFill>
                  <a:srgbClr val="000000"/>
                </a:solidFill>
                <a:latin typeface="Times New Roman"/>
                <a:ea typeface="Times New Roman"/>
                <a:cs typeface="Times New Roman"/>
                <a:sym typeface="Times New Roman"/>
              </a:rPr>
              <a:t>Constructed ordered food sequences for each user from interaction history.</a:t>
            </a:r>
          </a:p>
          <a:p>
            <a:pPr marL="705804" lvl="1" indent="-352902" algn="l">
              <a:lnSpc>
                <a:spcPts val="4212"/>
              </a:lnSpc>
              <a:buFont typeface="Arial"/>
              <a:buChar char="•"/>
            </a:pPr>
            <a:r>
              <a:rPr lang="en-US" sz="3900">
                <a:solidFill>
                  <a:srgbClr val="000000"/>
                </a:solidFill>
                <a:latin typeface="Times New Roman"/>
                <a:ea typeface="Times New Roman"/>
                <a:cs typeface="Times New Roman"/>
                <a:sym typeface="Times New Roman"/>
              </a:rPr>
              <a:t>Used a Transformer encoder architecture to learn temporal eating behavior.</a:t>
            </a:r>
          </a:p>
          <a:p>
            <a:pPr marL="705804" lvl="1" indent="-352902" algn="l">
              <a:lnSpc>
                <a:spcPts val="4212"/>
              </a:lnSpc>
              <a:buFont typeface="Arial"/>
              <a:buChar char="•"/>
            </a:pPr>
            <a:r>
              <a:rPr lang="en-US" sz="3900">
                <a:solidFill>
                  <a:srgbClr val="000000"/>
                </a:solidFill>
                <a:latin typeface="Times New Roman"/>
                <a:ea typeface="Times New Roman"/>
                <a:cs typeface="Times New Roman"/>
                <a:sym typeface="Times New Roman"/>
              </a:rPr>
              <a:t>Input components included:</a:t>
            </a:r>
          </a:p>
          <a:p>
            <a:pPr marL="705804" lvl="1" indent="-352902" algn="l">
              <a:lnSpc>
                <a:spcPts val="4212"/>
              </a:lnSpc>
              <a:buFont typeface="Arial"/>
              <a:buChar char="•"/>
            </a:pPr>
            <a:r>
              <a:rPr lang="en-US" sz="3900">
                <a:solidFill>
                  <a:srgbClr val="000000"/>
                </a:solidFill>
                <a:latin typeface="Times New Roman"/>
                <a:ea typeface="Times New Roman"/>
                <a:cs typeface="Times New Roman"/>
                <a:sym typeface="Times New Roman"/>
              </a:rPr>
              <a:t>Food item embeddings</a:t>
            </a:r>
          </a:p>
          <a:p>
            <a:pPr marL="705804" lvl="1" indent="-352902" algn="l">
              <a:lnSpc>
                <a:spcPts val="4212"/>
              </a:lnSpc>
              <a:buFont typeface="Arial"/>
              <a:buChar char="•"/>
            </a:pPr>
            <a:r>
              <a:rPr lang="en-US" sz="3900">
                <a:solidFill>
                  <a:srgbClr val="000000"/>
                </a:solidFill>
                <a:latin typeface="Times New Roman"/>
                <a:ea typeface="Times New Roman"/>
                <a:cs typeface="Times New Roman"/>
                <a:sym typeface="Times New Roman"/>
              </a:rPr>
              <a:t>Regional embeddings</a:t>
            </a:r>
          </a:p>
          <a:p>
            <a:pPr marL="705804" lvl="1" indent="-352902" algn="l">
              <a:lnSpc>
                <a:spcPts val="4212"/>
              </a:lnSpc>
              <a:buFont typeface="Arial"/>
              <a:buChar char="•"/>
            </a:pPr>
            <a:r>
              <a:rPr lang="en-US" sz="3900">
                <a:solidFill>
                  <a:srgbClr val="000000"/>
                </a:solidFill>
                <a:latin typeface="Times New Roman"/>
                <a:ea typeface="Times New Roman"/>
                <a:cs typeface="Times New Roman"/>
                <a:sym typeface="Times New Roman"/>
              </a:rPr>
              <a:t>Positional embeddings</a:t>
            </a:r>
          </a:p>
          <a:p>
            <a:pPr marL="705804" lvl="1" indent="-352902" algn="l">
              <a:lnSpc>
                <a:spcPts val="4212"/>
              </a:lnSpc>
              <a:buFont typeface="Arial"/>
              <a:buChar char="•"/>
            </a:pPr>
            <a:r>
              <a:rPr lang="en-US" sz="3900">
                <a:solidFill>
                  <a:srgbClr val="000000"/>
                </a:solidFill>
                <a:latin typeface="Times New Roman"/>
                <a:ea typeface="Times New Roman"/>
                <a:cs typeface="Times New Roman"/>
                <a:sym typeface="Times New Roman"/>
              </a:rPr>
              <a:t>Self-attention mechanism identifies important past food items influencing the next choice.</a:t>
            </a:r>
          </a:p>
          <a:p>
            <a:pPr marL="705804" lvl="1" indent="-352902" algn="l">
              <a:lnSpc>
                <a:spcPts val="4212"/>
              </a:lnSpc>
              <a:buFont typeface="Arial"/>
              <a:buChar char="•"/>
            </a:pPr>
            <a:r>
              <a:rPr lang="en-US" sz="3900">
                <a:solidFill>
                  <a:srgbClr val="000000"/>
                </a:solidFill>
                <a:latin typeface="Times New Roman"/>
                <a:ea typeface="Times New Roman"/>
                <a:cs typeface="Times New Roman"/>
                <a:sym typeface="Times New Roman"/>
              </a:rPr>
              <a:t>Trained the model using cross-entropy loss for next-item predictio</a:t>
            </a:r>
            <a:r>
              <a:rPr lang="en-US" sz="3900" u="none">
                <a:solidFill>
                  <a:srgbClr val="000000"/>
                </a:solidFill>
                <a:latin typeface="Times New Roman"/>
                <a:ea typeface="Times New Roman"/>
                <a:cs typeface="Times New Roman"/>
                <a:sym typeface="Times New Roman"/>
              </a:rPr>
              <a:t>n</a:t>
            </a:r>
            <a:r>
              <a:rPr lang="en-US" sz="3900">
                <a:solidFill>
                  <a:srgbClr val="000000"/>
                </a:solidFill>
                <a:latin typeface="Times New Roman"/>
                <a:ea typeface="Times New Roman"/>
                <a:cs typeface="Times New Roman"/>
                <a:sym typeface="Times New Roman"/>
              </a:rPr>
              <a:t>.</a:t>
            </a:r>
          </a:p>
          <a:p>
            <a:pPr marL="705804" lvl="1" indent="-352902" algn="l">
              <a:lnSpc>
                <a:spcPts val="4212"/>
              </a:lnSpc>
              <a:buFont typeface="Arial"/>
              <a:buChar char="•"/>
            </a:pPr>
            <a:r>
              <a:rPr lang="en-US" sz="3900">
                <a:solidFill>
                  <a:srgbClr val="000000"/>
                </a:solidFill>
                <a:latin typeface="Times New Roman"/>
                <a:ea typeface="Times New Roman"/>
                <a:cs typeface="Times New Roman"/>
                <a:sym typeface="Times New Roman"/>
              </a:rPr>
              <a:t>Captur</a:t>
            </a:r>
            <a:r>
              <a:rPr lang="en-US" sz="3900" u="none">
                <a:solidFill>
                  <a:srgbClr val="000000"/>
                </a:solidFill>
                <a:latin typeface="Times New Roman"/>
                <a:ea typeface="Times New Roman"/>
                <a:cs typeface="Times New Roman"/>
                <a:sym typeface="Times New Roman"/>
              </a:rPr>
              <a:t>e</a:t>
            </a:r>
            <a:r>
              <a:rPr lang="en-US" sz="3900">
                <a:solidFill>
                  <a:srgbClr val="000000"/>
                </a:solidFill>
                <a:latin typeface="Times New Roman"/>
                <a:ea typeface="Times New Roman"/>
                <a:cs typeface="Times New Roman"/>
                <a:sym typeface="Times New Roman"/>
              </a:rPr>
              <a:t>s</a:t>
            </a:r>
            <a:r>
              <a:rPr lang="en-US" sz="3900" u="none">
                <a:solidFill>
                  <a:srgbClr val="000000"/>
                </a:solidFill>
                <a:latin typeface="Times New Roman"/>
                <a:ea typeface="Times New Roman"/>
                <a:cs typeface="Times New Roman"/>
                <a:sym typeface="Times New Roman"/>
              </a:rPr>
              <a:t> </a:t>
            </a:r>
            <a:r>
              <a:rPr lang="en-US" sz="3900">
                <a:solidFill>
                  <a:srgbClr val="000000"/>
                </a:solidFill>
                <a:latin typeface="Times New Roman"/>
                <a:ea typeface="Times New Roman"/>
                <a:cs typeface="Times New Roman"/>
                <a:sym typeface="Times New Roman"/>
              </a:rPr>
              <a:t>short-term </a:t>
            </a:r>
            <a:r>
              <a:rPr lang="en-US" sz="3900" u="none">
                <a:solidFill>
                  <a:srgbClr val="000000"/>
                </a:solidFill>
                <a:latin typeface="Times New Roman"/>
                <a:ea typeface="Times New Roman"/>
                <a:cs typeface="Times New Roman"/>
                <a:sym typeface="Times New Roman"/>
              </a:rPr>
              <a:t>a</a:t>
            </a:r>
            <a:r>
              <a:rPr lang="en-US" sz="3900">
                <a:solidFill>
                  <a:srgbClr val="000000"/>
                </a:solidFill>
                <a:latin typeface="Times New Roman"/>
                <a:ea typeface="Times New Roman"/>
                <a:cs typeface="Times New Roman"/>
                <a:sym typeface="Times New Roman"/>
              </a:rPr>
              <a:t>nd r</a:t>
            </a:r>
            <a:r>
              <a:rPr lang="en-US" sz="3900" u="none">
                <a:solidFill>
                  <a:srgbClr val="000000"/>
                </a:solidFill>
                <a:latin typeface="Times New Roman"/>
                <a:ea typeface="Times New Roman"/>
                <a:cs typeface="Times New Roman"/>
                <a:sym typeface="Times New Roman"/>
              </a:rPr>
              <a:t>e</a:t>
            </a:r>
            <a:r>
              <a:rPr lang="en-US" sz="3900">
                <a:solidFill>
                  <a:srgbClr val="000000"/>
                </a:solidFill>
                <a:latin typeface="Times New Roman"/>
                <a:ea typeface="Times New Roman"/>
                <a:cs typeface="Times New Roman"/>
                <a:sym typeface="Times New Roman"/>
              </a:rPr>
              <a:t>c</a:t>
            </a:r>
            <a:r>
              <a:rPr lang="en-US" sz="3900" u="none">
                <a:solidFill>
                  <a:srgbClr val="000000"/>
                </a:solidFill>
                <a:latin typeface="Times New Roman"/>
                <a:ea typeface="Times New Roman"/>
                <a:cs typeface="Times New Roman"/>
                <a:sym typeface="Times New Roman"/>
              </a:rPr>
              <a:t>e</a:t>
            </a:r>
            <a:r>
              <a:rPr lang="en-US" sz="3900">
                <a:solidFill>
                  <a:srgbClr val="000000"/>
                </a:solidFill>
                <a:latin typeface="Times New Roman"/>
                <a:ea typeface="Times New Roman"/>
                <a:cs typeface="Times New Roman"/>
                <a:sym typeface="Times New Roman"/>
              </a:rPr>
              <a:t>nt</a:t>
            </a:r>
            <a:r>
              <a:rPr lang="en-US" sz="3900" u="none">
                <a:solidFill>
                  <a:srgbClr val="000000"/>
                </a:solidFill>
                <a:latin typeface="Times New Roman"/>
                <a:ea typeface="Times New Roman"/>
                <a:cs typeface="Times New Roman"/>
                <a:sym typeface="Times New Roman"/>
              </a:rPr>
              <a:t> </a:t>
            </a:r>
            <a:r>
              <a:rPr lang="en-US" sz="3900">
                <a:solidFill>
                  <a:srgbClr val="000000"/>
                </a:solidFill>
                <a:latin typeface="Times New Roman"/>
                <a:ea typeface="Times New Roman"/>
                <a:cs typeface="Times New Roman"/>
                <a:sym typeface="Times New Roman"/>
              </a:rPr>
              <a:t>die</a:t>
            </a:r>
            <a:r>
              <a:rPr lang="en-US" sz="3900" u="none">
                <a:solidFill>
                  <a:srgbClr val="000000"/>
                </a:solidFill>
                <a:latin typeface="Times New Roman"/>
                <a:ea typeface="Times New Roman"/>
                <a:cs typeface="Times New Roman"/>
                <a:sym typeface="Times New Roman"/>
              </a:rPr>
              <a:t>tar</a:t>
            </a:r>
            <a:r>
              <a:rPr lang="en-US" sz="3900">
                <a:solidFill>
                  <a:srgbClr val="000000"/>
                </a:solidFill>
                <a:latin typeface="Times New Roman"/>
                <a:ea typeface="Times New Roman"/>
                <a:cs typeface="Times New Roman"/>
                <a:sym typeface="Times New Roman"/>
              </a:rPr>
              <a:t>y p</a:t>
            </a:r>
            <a:r>
              <a:rPr lang="en-US" sz="3900" u="none">
                <a:solidFill>
                  <a:srgbClr val="000000"/>
                </a:solidFill>
                <a:latin typeface="Times New Roman"/>
                <a:ea typeface="Times New Roman"/>
                <a:cs typeface="Times New Roman"/>
                <a:sym typeface="Times New Roman"/>
              </a:rPr>
              <a:t>a</a:t>
            </a:r>
            <a:r>
              <a:rPr lang="en-US" sz="3900">
                <a:solidFill>
                  <a:srgbClr val="000000"/>
                </a:solidFill>
                <a:latin typeface="Times New Roman"/>
                <a:ea typeface="Times New Roman"/>
                <a:cs typeface="Times New Roman"/>
                <a:sym typeface="Times New Roman"/>
              </a:rPr>
              <a:t>tt</a:t>
            </a:r>
            <a:r>
              <a:rPr lang="en-US" sz="3900" u="none">
                <a:solidFill>
                  <a:srgbClr val="000000"/>
                </a:solidFill>
                <a:latin typeface="Times New Roman"/>
                <a:ea typeface="Times New Roman"/>
                <a:cs typeface="Times New Roman"/>
                <a:sym typeface="Times New Roman"/>
              </a:rPr>
              <a:t>e</a:t>
            </a:r>
            <a:r>
              <a:rPr lang="en-US" sz="3900">
                <a:solidFill>
                  <a:srgbClr val="000000"/>
                </a:solidFill>
                <a:latin typeface="Times New Roman"/>
                <a:ea typeface="Times New Roman"/>
                <a:cs typeface="Times New Roman"/>
                <a:sym typeface="Times New Roman"/>
              </a:rPr>
              <a:t>rns.</a:t>
            </a:r>
          </a:p>
        </p:txBody>
      </p:sp>
      <p:grpSp>
        <p:nvGrpSpPr>
          <p:cNvPr id="6" name="Group 6"/>
          <p:cNvGrpSpPr/>
          <p:nvPr/>
        </p:nvGrpSpPr>
        <p:grpSpPr>
          <a:xfrm>
            <a:off x="6057900" y="9534525"/>
            <a:ext cx="6172200" cy="547688"/>
            <a:chOff x="0" y="0"/>
            <a:chExt cx="8229600" cy="730250"/>
          </a:xfrm>
        </p:grpSpPr>
        <p:sp>
          <p:nvSpPr>
            <p:cNvPr id="7" name="Freeform 7"/>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8" name="TextBox 8"/>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88"/>
            <a:chOff x="0" y="0"/>
            <a:chExt cx="5486400" cy="730250"/>
          </a:xfrm>
        </p:grpSpPr>
        <p:sp>
          <p:nvSpPr>
            <p:cNvPr id="10" name="Freeform 10"/>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1" name="TextBox 11"/>
            <p:cNvSpPr txBox="1"/>
            <p:nvPr/>
          </p:nvSpPr>
          <p:spPr>
            <a:xfrm>
              <a:off x="0" y="-38100"/>
              <a:ext cx="5486400" cy="76835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20</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2231617"/>
            <a:chOff x="0" y="0"/>
            <a:chExt cx="21031200" cy="2975489"/>
          </a:xfrm>
        </p:grpSpPr>
        <p:sp>
          <p:nvSpPr>
            <p:cNvPr id="3" name="Freeform 3"/>
            <p:cNvSpPr/>
            <p:nvPr/>
          </p:nvSpPr>
          <p:spPr>
            <a:xfrm>
              <a:off x="0" y="0"/>
              <a:ext cx="21031200" cy="2975489"/>
            </a:xfrm>
            <a:custGeom>
              <a:avLst/>
              <a:gdLst/>
              <a:ahLst/>
              <a:cxnLst/>
              <a:rect l="l" t="t" r="r" b="b"/>
              <a:pathLst>
                <a:path w="21031200" h="2975489">
                  <a:moveTo>
                    <a:pt x="0" y="0"/>
                  </a:moveTo>
                  <a:lnTo>
                    <a:pt x="21031200" y="0"/>
                  </a:lnTo>
                  <a:lnTo>
                    <a:pt x="21031200" y="2975489"/>
                  </a:lnTo>
                  <a:lnTo>
                    <a:pt x="0" y="2975489"/>
                  </a:lnTo>
                  <a:close/>
                </a:path>
              </a:pathLst>
            </a:custGeom>
            <a:solidFill>
              <a:srgbClr val="000000">
                <a:alpha val="0"/>
              </a:srgbClr>
            </a:solidFill>
          </p:spPr>
        </p:sp>
        <p:sp>
          <p:nvSpPr>
            <p:cNvPr id="4" name="TextBox 4"/>
            <p:cNvSpPr txBox="1"/>
            <p:nvPr/>
          </p:nvSpPr>
          <p:spPr>
            <a:xfrm>
              <a:off x="0" y="38100"/>
              <a:ext cx="21031200" cy="2937389"/>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Methodology – Attention-Based </a:t>
              </a:r>
            </a:p>
            <a:p>
              <a:pPr algn="ctr">
                <a:lnSpc>
                  <a:spcPts val="7128"/>
                </a:lnSpc>
              </a:pPr>
              <a:r>
                <a:rPr lang="en-US" sz="6600" u="sng">
                  <a:solidFill>
                    <a:srgbClr val="000000"/>
                  </a:solidFill>
                  <a:latin typeface="Times New Roman"/>
                  <a:ea typeface="Times New Roman"/>
                  <a:cs typeface="Times New Roman"/>
                  <a:sym typeface="Times New Roman"/>
                </a:rPr>
                <a:t>Feature Fusion</a:t>
              </a:r>
            </a:p>
          </p:txBody>
        </p:sp>
      </p:grpSp>
      <p:sp>
        <p:nvSpPr>
          <p:cNvPr id="5" name="TextBox 5"/>
          <p:cNvSpPr txBox="1"/>
          <p:nvPr/>
        </p:nvSpPr>
        <p:spPr>
          <a:xfrm>
            <a:off x="1348725" y="2803187"/>
            <a:ext cx="15590550" cy="6014085"/>
          </a:xfrm>
          <a:prstGeom prst="rect">
            <a:avLst/>
          </a:prstGeom>
        </p:spPr>
        <p:txBody>
          <a:bodyPr lIns="0" tIns="0" rIns="0" bIns="0" rtlCol="0" anchor="t">
            <a:spAutoFit/>
          </a:bodyPr>
          <a:lstStyle/>
          <a:p>
            <a:pPr marL="723901" lvl="1" indent="-361950" algn="l">
              <a:lnSpc>
                <a:spcPts val="4320"/>
              </a:lnSpc>
              <a:buFont typeface="Arial"/>
              <a:buChar char="•"/>
            </a:pPr>
            <a:r>
              <a:rPr lang="en-US" sz="4000">
                <a:solidFill>
                  <a:srgbClr val="000000"/>
                </a:solidFill>
                <a:latin typeface="Times New Roman"/>
                <a:ea typeface="Times New Roman"/>
                <a:cs typeface="Times New Roman"/>
                <a:sym typeface="Times New Roman"/>
              </a:rPr>
              <a:t>Introduced an Attention Fusion mechanism to combine multiple preference signals.</a:t>
            </a:r>
          </a:p>
          <a:p>
            <a:pPr marL="723901" lvl="1" indent="-361950" algn="l">
              <a:lnSpc>
                <a:spcPts val="4320"/>
              </a:lnSpc>
              <a:buFont typeface="Arial"/>
              <a:buChar char="•"/>
            </a:pPr>
            <a:r>
              <a:rPr lang="en-US" sz="4000">
                <a:solidFill>
                  <a:srgbClr val="000000"/>
                </a:solidFill>
                <a:latin typeface="Times New Roman"/>
                <a:ea typeface="Times New Roman"/>
                <a:cs typeface="Times New Roman"/>
                <a:sym typeface="Times New Roman"/>
              </a:rPr>
              <a:t>Inputs to the attention module:</a:t>
            </a:r>
          </a:p>
          <a:p>
            <a:pPr marL="1727202" lvl="2" indent="-575734" algn="l">
              <a:lnSpc>
                <a:spcPts val="4320"/>
              </a:lnSpc>
              <a:buFont typeface="Arial"/>
              <a:buChar char="⚬"/>
            </a:pPr>
            <a:r>
              <a:rPr lang="en-US" sz="4000">
                <a:solidFill>
                  <a:srgbClr val="000000"/>
                </a:solidFill>
                <a:latin typeface="Times New Roman"/>
                <a:ea typeface="Times New Roman"/>
                <a:cs typeface="Times New Roman"/>
                <a:sym typeface="Times New Roman"/>
              </a:rPr>
              <a:t>Sequence-level representation from Transformer</a:t>
            </a:r>
          </a:p>
          <a:p>
            <a:pPr marL="1727202" lvl="2" indent="-575734" algn="l">
              <a:lnSpc>
                <a:spcPts val="4320"/>
              </a:lnSpc>
              <a:buFont typeface="Arial"/>
              <a:buChar char="⚬"/>
            </a:pPr>
            <a:r>
              <a:rPr lang="en-US" sz="4000">
                <a:solidFill>
                  <a:srgbClr val="000000"/>
                </a:solidFill>
                <a:latin typeface="Times New Roman"/>
                <a:ea typeface="Times New Roman"/>
                <a:cs typeface="Times New Roman"/>
                <a:sym typeface="Times New Roman"/>
              </a:rPr>
              <a:t>Static user preference embedding</a:t>
            </a:r>
          </a:p>
          <a:p>
            <a:pPr marL="723901" lvl="1" indent="-361950" algn="l">
              <a:lnSpc>
                <a:spcPts val="4320"/>
              </a:lnSpc>
              <a:buFont typeface="Arial"/>
              <a:buChar char="•"/>
            </a:pPr>
            <a:r>
              <a:rPr lang="en-US" sz="4000">
                <a:solidFill>
                  <a:srgbClr val="000000"/>
                </a:solidFill>
                <a:latin typeface="Times New Roman"/>
                <a:ea typeface="Times New Roman"/>
                <a:cs typeface="Times New Roman"/>
                <a:sym typeface="Times New Roman"/>
              </a:rPr>
              <a:t>Used a learnable query vector to compute attention weights.</a:t>
            </a:r>
          </a:p>
          <a:p>
            <a:pPr marL="723901" lvl="1" indent="-361950" algn="l">
              <a:lnSpc>
                <a:spcPts val="4320"/>
              </a:lnSpc>
              <a:buFont typeface="Arial"/>
              <a:buChar char="•"/>
            </a:pPr>
            <a:r>
              <a:rPr lang="en-US" sz="4000">
                <a:solidFill>
                  <a:srgbClr val="000000"/>
                </a:solidFill>
                <a:latin typeface="Times New Roman"/>
                <a:ea typeface="Times New Roman"/>
                <a:cs typeface="Times New Roman"/>
                <a:sym typeface="Times New Roman"/>
              </a:rPr>
              <a:t>Attention scores dynamically decide:</a:t>
            </a:r>
          </a:p>
          <a:p>
            <a:pPr marL="1727202" lvl="2" indent="-575734" algn="l">
              <a:lnSpc>
                <a:spcPts val="4320"/>
              </a:lnSpc>
              <a:buFont typeface="Arial"/>
              <a:buChar char="⚬"/>
            </a:pPr>
            <a:r>
              <a:rPr lang="en-US" sz="4000">
                <a:solidFill>
                  <a:srgbClr val="000000"/>
                </a:solidFill>
                <a:latin typeface="Times New Roman"/>
                <a:ea typeface="Times New Roman"/>
                <a:cs typeface="Times New Roman"/>
                <a:sym typeface="Times New Roman"/>
              </a:rPr>
              <a:t>Whether recent behavior or long-term preference is more important</a:t>
            </a:r>
          </a:p>
          <a:p>
            <a:pPr marL="723901" lvl="1" indent="-361950" algn="l">
              <a:lnSpc>
                <a:spcPts val="4320"/>
              </a:lnSpc>
              <a:buFont typeface="Arial"/>
              <a:buChar char="•"/>
            </a:pPr>
            <a:r>
              <a:rPr lang="en-US" sz="4000">
                <a:solidFill>
                  <a:srgbClr val="000000"/>
                </a:solidFill>
                <a:latin typeface="Times New Roman"/>
                <a:ea typeface="Times New Roman"/>
                <a:cs typeface="Times New Roman"/>
                <a:sym typeface="Times New Roman"/>
              </a:rPr>
              <a:t>Generated a unified user representation through weighted aggregation.</a:t>
            </a:r>
          </a:p>
          <a:p>
            <a:pPr marL="723901" lvl="1" indent="-361950" algn="l">
              <a:lnSpc>
                <a:spcPts val="4320"/>
              </a:lnSpc>
              <a:buFont typeface="Arial"/>
              <a:buChar char="•"/>
            </a:pPr>
            <a:r>
              <a:rPr lang="en-US" sz="4000">
                <a:solidFill>
                  <a:srgbClr val="000000"/>
                </a:solidFill>
                <a:latin typeface="Times New Roman"/>
                <a:ea typeface="Times New Roman"/>
                <a:cs typeface="Times New Roman"/>
                <a:sym typeface="Times New Roman"/>
              </a:rPr>
              <a:t>Improved adaptability of recommendations across different user behaviors.</a:t>
            </a:r>
          </a:p>
        </p:txBody>
      </p:sp>
      <p:grpSp>
        <p:nvGrpSpPr>
          <p:cNvPr id="6" name="Group 6"/>
          <p:cNvGrpSpPr/>
          <p:nvPr/>
        </p:nvGrpSpPr>
        <p:grpSpPr>
          <a:xfrm>
            <a:off x="6057900" y="9534525"/>
            <a:ext cx="6172200" cy="547688"/>
            <a:chOff x="0" y="0"/>
            <a:chExt cx="8229600" cy="730250"/>
          </a:xfrm>
        </p:grpSpPr>
        <p:sp>
          <p:nvSpPr>
            <p:cNvPr id="7" name="Freeform 7"/>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8" name="TextBox 8"/>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88"/>
            <a:chOff x="0" y="0"/>
            <a:chExt cx="5486400" cy="730250"/>
          </a:xfrm>
        </p:grpSpPr>
        <p:sp>
          <p:nvSpPr>
            <p:cNvPr id="10" name="Freeform 10"/>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1" name="TextBox 11"/>
            <p:cNvSpPr txBox="1"/>
            <p:nvPr/>
          </p:nvSpPr>
          <p:spPr>
            <a:xfrm>
              <a:off x="0" y="-38100"/>
              <a:ext cx="5486400" cy="76835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21</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2231617"/>
            <a:chOff x="0" y="0"/>
            <a:chExt cx="21031200" cy="2975489"/>
          </a:xfrm>
        </p:grpSpPr>
        <p:sp>
          <p:nvSpPr>
            <p:cNvPr id="3" name="Freeform 3"/>
            <p:cNvSpPr/>
            <p:nvPr/>
          </p:nvSpPr>
          <p:spPr>
            <a:xfrm>
              <a:off x="0" y="0"/>
              <a:ext cx="21031200" cy="2975489"/>
            </a:xfrm>
            <a:custGeom>
              <a:avLst/>
              <a:gdLst/>
              <a:ahLst/>
              <a:cxnLst/>
              <a:rect l="l" t="t" r="r" b="b"/>
              <a:pathLst>
                <a:path w="21031200" h="2975489">
                  <a:moveTo>
                    <a:pt x="0" y="0"/>
                  </a:moveTo>
                  <a:lnTo>
                    <a:pt x="21031200" y="0"/>
                  </a:lnTo>
                  <a:lnTo>
                    <a:pt x="21031200" y="2975489"/>
                  </a:lnTo>
                  <a:lnTo>
                    <a:pt x="0" y="2975489"/>
                  </a:lnTo>
                  <a:close/>
                </a:path>
              </a:pathLst>
            </a:custGeom>
            <a:solidFill>
              <a:srgbClr val="000000">
                <a:alpha val="0"/>
              </a:srgbClr>
            </a:solidFill>
          </p:spPr>
        </p:sp>
        <p:sp>
          <p:nvSpPr>
            <p:cNvPr id="4" name="TextBox 4"/>
            <p:cNvSpPr txBox="1"/>
            <p:nvPr/>
          </p:nvSpPr>
          <p:spPr>
            <a:xfrm>
              <a:off x="0" y="38100"/>
              <a:ext cx="21031200" cy="2937389"/>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Methodology – Content-Based Similarity Modeling</a:t>
              </a:r>
            </a:p>
          </p:txBody>
        </p:sp>
      </p:grpSp>
      <p:sp>
        <p:nvSpPr>
          <p:cNvPr id="5" name="TextBox 5"/>
          <p:cNvSpPr txBox="1"/>
          <p:nvPr/>
        </p:nvSpPr>
        <p:spPr>
          <a:xfrm>
            <a:off x="1348725" y="2803187"/>
            <a:ext cx="15590550" cy="5471160"/>
          </a:xfrm>
          <a:prstGeom prst="rect">
            <a:avLst/>
          </a:prstGeom>
        </p:spPr>
        <p:txBody>
          <a:bodyPr lIns="0" tIns="0" rIns="0" bIns="0" rtlCol="0" anchor="t">
            <a:spAutoFit/>
          </a:bodyPr>
          <a:lstStyle/>
          <a:p>
            <a:pPr marL="863598" lvl="1" indent="-431799" algn="l">
              <a:lnSpc>
                <a:spcPts val="4319"/>
              </a:lnSpc>
              <a:buFont typeface="Arial"/>
              <a:buChar char="•"/>
            </a:pPr>
            <a:r>
              <a:rPr lang="en-US" sz="3999">
                <a:solidFill>
                  <a:srgbClr val="000000"/>
                </a:solidFill>
                <a:latin typeface="Times New Roman"/>
                <a:ea typeface="Times New Roman"/>
                <a:cs typeface="Times New Roman"/>
                <a:sym typeface="Times New Roman"/>
              </a:rPr>
              <a:t>Generated food embeddings using:</a:t>
            </a:r>
          </a:p>
          <a:p>
            <a:pPr marL="1727196" lvl="2" indent="-575732" algn="l">
              <a:lnSpc>
                <a:spcPts val="4319"/>
              </a:lnSpc>
              <a:buFont typeface="Arial"/>
              <a:buChar char="⚬"/>
            </a:pPr>
            <a:r>
              <a:rPr lang="en-US" sz="3999">
                <a:solidFill>
                  <a:srgbClr val="000000"/>
                </a:solidFill>
                <a:latin typeface="Times New Roman"/>
                <a:ea typeface="Times New Roman"/>
                <a:cs typeface="Times New Roman"/>
                <a:sym typeface="Times New Roman"/>
              </a:rPr>
              <a:t>Nutritional attributes</a:t>
            </a:r>
          </a:p>
          <a:p>
            <a:pPr marL="1727196" lvl="2" indent="-575732" algn="l">
              <a:lnSpc>
                <a:spcPts val="4319"/>
              </a:lnSpc>
              <a:buFont typeface="Arial"/>
              <a:buChar char="⚬"/>
            </a:pPr>
            <a:r>
              <a:rPr lang="en-US" sz="3999">
                <a:solidFill>
                  <a:srgbClr val="000000"/>
                </a:solidFill>
                <a:latin typeface="Times New Roman"/>
                <a:ea typeface="Times New Roman"/>
                <a:cs typeface="Times New Roman"/>
                <a:sym typeface="Times New Roman"/>
              </a:rPr>
              <a:t>Regional and category information</a:t>
            </a:r>
          </a:p>
          <a:p>
            <a:pPr marL="863598" lvl="1" indent="-431799" algn="l">
              <a:lnSpc>
                <a:spcPts val="4319"/>
              </a:lnSpc>
              <a:buFont typeface="Arial"/>
              <a:buChar char="•"/>
            </a:pPr>
            <a:r>
              <a:rPr lang="en-US" sz="3999">
                <a:solidFill>
                  <a:srgbClr val="000000"/>
                </a:solidFill>
                <a:latin typeface="Times New Roman"/>
                <a:ea typeface="Times New Roman"/>
                <a:cs typeface="Times New Roman"/>
                <a:sym typeface="Times New Roman"/>
              </a:rPr>
              <a:t>Computed similarity between:</a:t>
            </a:r>
          </a:p>
          <a:p>
            <a:pPr marL="1727196" lvl="2" indent="-575732" algn="l">
              <a:lnSpc>
                <a:spcPts val="4319"/>
              </a:lnSpc>
              <a:buFont typeface="Arial"/>
              <a:buChar char="⚬"/>
            </a:pPr>
            <a:r>
              <a:rPr lang="en-US" sz="3999">
                <a:solidFill>
                  <a:srgbClr val="000000"/>
                </a:solidFill>
                <a:latin typeface="Times New Roman"/>
                <a:ea typeface="Times New Roman"/>
                <a:cs typeface="Times New Roman"/>
                <a:sym typeface="Times New Roman"/>
              </a:rPr>
              <a:t>User preference profile</a:t>
            </a:r>
          </a:p>
          <a:p>
            <a:pPr marL="1727196" lvl="2" indent="-575732" algn="l">
              <a:lnSpc>
                <a:spcPts val="4319"/>
              </a:lnSpc>
              <a:buFont typeface="Arial"/>
              <a:buChar char="⚬"/>
            </a:pPr>
            <a:r>
              <a:rPr lang="en-US" sz="3999">
                <a:solidFill>
                  <a:srgbClr val="000000"/>
                </a:solidFill>
                <a:latin typeface="Times New Roman"/>
                <a:ea typeface="Times New Roman"/>
                <a:cs typeface="Times New Roman"/>
                <a:sym typeface="Times New Roman"/>
              </a:rPr>
              <a:t>Food feature embeddings</a:t>
            </a:r>
          </a:p>
          <a:p>
            <a:pPr marL="863598" lvl="1" indent="-431799" algn="l">
              <a:lnSpc>
                <a:spcPts val="4319"/>
              </a:lnSpc>
              <a:buFont typeface="Arial"/>
              <a:buChar char="•"/>
            </a:pPr>
            <a:r>
              <a:rPr lang="en-US" sz="3999">
                <a:solidFill>
                  <a:srgbClr val="000000"/>
                </a:solidFill>
                <a:latin typeface="Times New Roman"/>
                <a:ea typeface="Times New Roman"/>
                <a:cs typeface="Times New Roman"/>
                <a:sym typeface="Times New Roman"/>
              </a:rPr>
              <a:t>Used cosine similarity to handle:</a:t>
            </a:r>
          </a:p>
          <a:p>
            <a:pPr marL="1727196" lvl="2" indent="-575732" algn="l">
              <a:lnSpc>
                <a:spcPts val="4319"/>
              </a:lnSpc>
              <a:buFont typeface="Arial"/>
              <a:buChar char="⚬"/>
            </a:pPr>
            <a:r>
              <a:rPr lang="en-US" sz="3999">
                <a:solidFill>
                  <a:srgbClr val="000000"/>
                </a:solidFill>
                <a:latin typeface="Times New Roman"/>
                <a:ea typeface="Times New Roman"/>
                <a:cs typeface="Times New Roman"/>
                <a:sym typeface="Times New Roman"/>
              </a:rPr>
              <a:t>Cold-start users</a:t>
            </a:r>
          </a:p>
          <a:p>
            <a:pPr marL="1727196" lvl="2" indent="-575732" algn="l">
              <a:lnSpc>
                <a:spcPts val="4319"/>
              </a:lnSpc>
              <a:buFont typeface="Arial"/>
              <a:buChar char="⚬"/>
            </a:pPr>
            <a:r>
              <a:rPr lang="en-US" sz="3999">
                <a:solidFill>
                  <a:srgbClr val="000000"/>
                </a:solidFill>
                <a:latin typeface="Times New Roman"/>
                <a:ea typeface="Times New Roman"/>
                <a:cs typeface="Times New Roman"/>
                <a:sym typeface="Times New Roman"/>
              </a:rPr>
              <a:t>Newly introduced food items</a:t>
            </a:r>
          </a:p>
          <a:p>
            <a:pPr marL="863598" lvl="1" indent="-431799" algn="l">
              <a:lnSpc>
                <a:spcPts val="4319"/>
              </a:lnSpc>
              <a:buFont typeface="Arial"/>
              <a:buChar char="•"/>
            </a:pPr>
            <a:r>
              <a:rPr lang="en-US" sz="3999">
                <a:solidFill>
                  <a:srgbClr val="000000"/>
                </a:solidFill>
                <a:latin typeface="Times New Roman"/>
                <a:ea typeface="Times New Roman"/>
                <a:cs typeface="Times New Roman"/>
                <a:sym typeface="Times New Roman"/>
              </a:rPr>
              <a:t>Content-based scores act as a complementary signal in hybrid ranking.</a:t>
            </a:r>
          </a:p>
        </p:txBody>
      </p:sp>
      <p:grpSp>
        <p:nvGrpSpPr>
          <p:cNvPr id="6" name="Group 6"/>
          <p:cNvGrpSpPr/>
          <p:nvPr/>
        </p:nvGrpSpPr>
        <p:grpSpPr>
          <a:xfrm>
            <a:off x="6057900" y="9534525"/>
            <a:ext cx="6172200" cy="547688"/>
            <a:chOff x="0" y="0"/>
            <a:chExt cx="8229600" cy="730250"/>
          </a:xfrm>
        </p:grpSpPr>
        <p:sp>
          <p:nvSpPr>
            <p:cNvPr id="7" name="Freeform 7"/>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8" name="TextBox 8"/>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88"/>
            <a:chOff x="0" y="0"/>
            <a:chExt cx="5486400" cy="730250"/>
          </a:xfrm>
        </p:grpSpPr>
        <p:sp>
          <p:nvSpPr>
            <p:cNvPr id="10" name="Freeform 10"/>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1" name="TextBox 11"/>
            <p:cNvSpPr txBox="1"/>
            <p:nvPr/>
          </p:nvSpPr>
          <p:spPr>
            <a:xfrm>
              <a:off x="0" y="-38100"/>
              <a:ext cx="5486400" cy="76835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22</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2231617"/>
            <a:chOff x="0" y="0"/>
            <a:chExt cx="21031200" cy="2975489"/>
          </a:xfrm>
        </p:grpSpPr>
        <p:sp>
          <p:nvSpPr>
            <p:cNvPr id="3" name="Freeform 3"/>
            <p:cNvSpPr/>
            <p:nvPr/>
          </p:nvSpPr>
          <p:spPr>
            <a:xfrm>
              <a:off x="0" y="0"/>
              <a:ext cx="21031200" cy="2975489"/>
            </a:xfrm>
            <a:custGeom>
              <a:avLst/>
              <a:gdLst/>
              <a:ahLst/>
              <a:cxnLst/>
              <a:rect l="l" t="t" r="r" b="b"/>
              <a:pathLst>
                <a:path w="21031200" h="2975489">
                  <a:moveTo>
                    <a:pt x="0" y="0"/>
                  </a:moveTo>
                  <a:lnTo>
                    <a:pt x="21031200" y="0"/>
                  </a:lnTo>
                  <a:lnTo>
                    <a:pt x="21031200" y="2975489"/>
                  </a:lnTo>
                  <a:lnTo>
                    <a:pt x="0" y="2975489"/>
                  </a:lnTo>
                  <a:close/>
                </a:path>
              </a:pathLst>
            </a:custGeom>
            <a:solidFill>
              <a:srgbClr val="000000">
                <a:alpha val="0"/>
              </a:srgbClr>
            </a:solidFill>
          </p:spPr>
        </p:sp>
        <p:sp>
          <p:nvSpPr>
            <p:cNvPr id="4" name="TextBox 4"/>
            <p:cNvSpPr txBox="1"/>
            <p:nvPr/>
          </p:nvSpPr>
          <p:spPr>
            <a:xfrm>
              <a:off x="0" y="38100"/>
              <a:ext cx="21031200" cy="2937389"/>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Methodology – Hybrid Recommendation Strategy</a:t>
              </a:r>
            </a:p>
          </p:txBody>
        </p:sp>
      </p:grpSp>
      <p:sp>
        <p:nvSpPr>
          <p:cNvPr id="5" name="TextBox 5"/>
          <p:cNvSpPr txBox="1"/>
          <p:nvPr/>
        </p:nvSpPr>
        <p:spPr>
          <a:xfrm>
            <a:off x="1348725" y="2803187"/>
            <a:ext cx="15590550" cy="6014085"/>
          </a:xfrm>
          <a:prstGeom prst="rect">
            <a:avLst/>
          </a:prstGeom>
        </p:spPr>
        <p:txBody>
          <a:bodyPr lIns="0" tIns="0" rIns="0" bIns="0" rtlCol="0" anchor="t">
            <a:spAutoFit/>
          </a:bodyPr>
          <a:lstStyle/>
          <a:p>
            <a:pPr marL="863598" lvl="1" indent="-431799" algn="l">
              <a:lnSpc>
                <a:spcPts val="4319"/>
              </a:lnSpc>
              <a:buFont typeface="Arial"/>
              <a:buChar char="•"/>
            </a:pPr>
            <a:r>
              <a:rPr lang="en-US" sz="3999">
                <a:solidFill>
                  <a:srgbClr val="000000"/>
                </a:solidFill>
                <a:latin typeface="Times New Roman"/>
                <a:ea typeface="Times New Roman"/>
                <a:cs typeface="Times New Roman"/>
                <a:sym typeface="Times New Roman"/>
              </a:rPr>
              <a:t>Combined multiple model outputs using weighted aggregation:</a:t>
            </a:r>
          </a:p>
          <a:p>
            <a:pPr marL="1727196" lvl="2" indent="-575732" algn="l">
              <a:lnSpc>
                <a:spcPts val="4319"/>
              </a:lnSpc>
              <a:buFont typeface="Arial"/>
              <a:buChar char="⚬"/>
            </a:pPr>
            <a:r>
              <a:rPr lang="en-US" sz="3999">
                <a:solidFill>
                  <a:srgbClr val="000000"/>
                </a:solidFill>
                <a:latin typeface="Times New Roman"/>
                <a:ea typeface="Times New Roman"/>
                <a:cs typeface="Times New Roman"/>
                <a:sym typeface="Times New Roman"/>
              </a:rPr>
              <a:t>Matrix Factorization score (long-term preference)</a:t>
            </a:r>
          </a:p>
          <a:p>
            <a:pPr marL="1727196" lvl="2" indent="-575732" algn="l">
              <a:lnSpc>
                <a:spcPts val="4319"/>
              </a:lnSpc>
              <a:buFont typeface="Arial"/>
              <a:buChar char="⚬"/>
            </a:pPr>
            <a:r>
              <a:rPr lang="en-US" sz="3999">
                <a:solidFill>
                  <a:srgbClr val="000000"/>
                </a:solidFill>
                <a:latin typeface="Times New Roman"/>
                <a:ea typeface="Times New Roman"/>
                <a:cs typeface="Times New Roman"/>
                <a:sym typeface="Times New Roman"/>
              </a:rPr>
              <a:t>Sequence model score (short-term behavior)</a:t>
            </a:r>
          </a:p>
          <a:p>
            <a:pPr marL="1727196" lvl="2" indent="-575732" algn="l">
              <a:lnSpc>
                <a:spcPts val="4319"/>
              </a:lnSpc>
              <a:buFont typeface="Arial"/>
              <a:buChar char="⚬"/>
            </a:pPr>
            <a:r>
              <a:rPr lang="en-US" sz="3999">
                <a:solidFill>
                  <a:srgbClr val="000000"/>
                </a:solidFill>
                <a:latin typeface="Times New Roman"/>
                <a:ea typeface="Times New Roman"/>
                <a:cs typeface="Times New Roman"/>
                <a:sym typeface="Times New Roman"/>
              </a:rPr>
              <a:t>Content similarity score (food attributes)</a:t>
            </a:r>
          </a:p>
          <a:p>
            <a:pPr marL="863598" lvl="1" indent="-431799" algn="l">
              <a:lnSpc>
                <a:spcPts val="4319"/>
              </a:lnSpc>
              <a:buFont typeface="Arial"/>
              <a:buChar char="•"/>
            </a:pPr>
            <a:r>
              <a:rPr lang="en-US" sz="3999">
                <a:solidFill>
                  <a:srgbClr val="000000"/>
                </a:solidFill>
                <a:latin typeface="Times New Roman"/>
                <a:ea typeface="Times New Roman"/>
                <a:cs typeface="Times New Roman"/>
                <a:sym typeface="Times New Roman"/>
              </a:rPr>
              <a:t>Applied allergy-based hard filtering to remove unsafe food items.</a:t>
            </a:r>
          </a:p>
          <a:p>
            <a:pPr marL="863598" lvl="1" indent="-431799" algn="l">
              <a:lnSpc>
                <a:spcPts val="4319"/>
              </a:lnSpc>
              <a:buFont typeface="Arial"/>
              <a:buChar char="•"/>
            </a:pPr>
            <a:r>
              <a:rPr lang="en-US" sz="3999">
                <a:solidFill>
                  <a:srgbClr val="000000"/>
                </a:solidFill>
                <a:latin typeface="Times New Roman"/>
                <a:ea typeface="Times New Roman"/>
                <a:cs typeface="Times New Roman"/>
                <a:sym typeface="Times New Roman"/>
              </a:rPr>
              <a:t>Applied health-condition-based soft penalties during ranking.</a:t>
            </a:r>
          </a:p>
          <a:p>
            <a:pPr marL="863598" lvl="1" indent="-431799" algn="l">
              <a:lnSpc>
                <a:spcPts val="4319"/>
              </a:lnSpc>
              <a:buFont typeface="Arial"/>
              <a:buChar char="•"/>
            </a:pPr>
            <a:r>
              <a:rPr lang="en-US" sz="3999">
                <a:solidFill>
                  <a:srgbClr val="000000"/>
                </a:solidFill>
                <a:latin typeface="Times New Roman"/>
                <a:ea typeface="Times New Roman"/>
                <a:cs typeface="Times New Roman"/>
                <a:sym typeface="Times New Roman"/>
              </a:rPr>
              <a:t>Integrated food safety alerts to penalize high-risk foods.</a:t>
            </a:r>
          </a:p>
          <a:p>
            <a:pPr marL="863598" lvl="1" indent="-431799" algn="l">
              <a:lnSpc>
                <a:spcPts val="4319"/>
              </a:lnSpc>
              <a:buFont typeface="Arial"/>
              <a:buChar char="•"/>
            </a:pPr>
            <a:r>
              <a:rPr lang="en-US" sz="3999">
                <a:solidFill>
                  <a:srgbClr val="000000"/>
                </a:solidFill>
                <a:latin typeface="Times New Roman"/>
                <a:ea typeface="Times New Roman"/>
                <a:cs typeface="Times New Roman"/>
                <a:sym typeface="Times New Roman"/>
              </a:rPr>
              <a:t>Final ranking balances:</a:t>
            </a:r>
          </a:p>
          <a:p>
            <a:pPr marL="1727196" lvl="2" indent="-575732" algn="l">
              <a:lnSpc>
                <a:spcPts val="4319"/>
              </a:lnSpc>
              <a:buFont typeface="Arial"/>
              <a:buChar char="⚬"/>
            </a:pPr>
            <a:r>
              <a:rPr lang="en-US" sz="3999">
                <a:solidFill>
                  <a:srgbClr val="000000"/>
                </a:solidFill>
                <a:latin typeface="Times New Roman"/>
                <a:ea typeface="Times New Roman"/>
                <a:cs typeface="Times New Roman"/>
                <a:sym typeface="Times New Roman"/>
              </a:rPr>
              <a:t>Personal preference relevance</a:t>
            </a:r>
          </a:p>
          <a:p>
            <a:pPr marL="1727196" lvl="2" indent="-575732" algn="l">
              <a:lnSpc>
                <a:spcPts val="4319"/>
              </a:lnSpc>
              <a:buFont typeface="Arial"/>
              <a:buChar char="⚬"/>
            </a:pPr>
            <a:r>
              <a:rPr lang="en-US" sz="3999">
                <a:solidFill>
                  <a:srgbClr val="000000"/>
                </a:solidFill>
                <a:latin typeface="Times New Roman"/>
                <a:ea typeface="Times New Roman"/>
                <a:cs typeface="Times New Roman"/>
                <a:sym typeface="Times New Roman"/>
              </a:rPr>
              <a:t>Nutritional suitability</a:t>
            </a:r>
          </a:p>
          <a:p>
            <a:pPr marL="1727196" lvl="2" indent="-575732" algn="l">
              <a:lnSpc>
                <a:spcPts val="4319"/>
              </a:lnSpc>
              <a:buFont typeface="Arial"/>
              <a:buChar char="⚬"/>
            </a:pPr>
            <a:r>
              <a:rPr lang="en-US" sz="3999">
                <a:solidFill>
                  <a:srgbClr val="000000"/>
                </a:solidFill>
                <a:latin typeface="Times New Roman"/>
                <a:ea typeface="Times New Roman"/>
                <a:cs typeface="Times New Roman"/>
                <a:sym typeface="Times New Roman"/>
              </a:rPr>
              <a:t>Regional and cultural alignment</a:t>
            </a:r>
          </a:p>
        </p:txBody>
      </p:sp>
      <p:grpSp>
        <p:nvGrpSpPr>
          <p:cNvPr id="6" name="Group 6"/>
          <p:cNvGrpSpPr/>
          <p:nvPr/>
        </p:nvGrpSpPr>
        <p:grpSpPr>
          <a:xfrm>
            <a:off x="6057900" y="9534525"/>
            <a:ext cx="6172200" cy="547688"/>
            <a:chOff x="0" y="0"/>
            <a:chExt cx="8229600" cy="730250"/>
          </a:xfrm>
        </p:grpSpPr>
        <p:sp>
          <p:nvSpPr>
            <p:cNvPr id="7" name="Freeform 7"/>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8" name="TextBox 8"/>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88"/>
            <a:chOff x="0" y="0"/>
            <a:chExt cx="5486400" cy="730250"/>
          </a:xfrm>
        </p:grpSpPr>
        <p:sp>
          <p:nvSpPr>
            <p:cNvPr id="10" name="Freeform 10"/>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1" name="TextBox 11"/>
            <p:cNvSpPr txBox="1"/>
            <p:nvPr/>
          </p:nvSpPr>
          <p:spPr>
            <a:xfrm>
              <a:off x="0" y="-38100"/>
              <a:ext cx="5486400" cy="76835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23</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652850"/>
            <a:chOff x="0" y="0"/>
            <a:chExt cx="21031200" cy="2203800"/>
          </a:xfrm>
        </p:grpSpPr>
        <p:sp>
          <p:nvSpPr>
            <p:cNvPr id="3" name="Freeform 3"/>
            <p:cNvSpPr/>
            <p:nvPr/>
          </p:nvSpPr>
          <p:spPr>
            <a:xfrm>
              <a:off x="0" y="0"/>
              <a:ext cx="21031200" cy="2203800"/>
            </a:xfrm>
            <a:custGeom>
              <a:avLst/>
              <a:gdLst/>
              <a:ahLst/>
              <a:cxnLst/>
              <a:rect l="l" t="t" r="r" b="b"/>
              <a:pathLst>
                <a:path w="21031200" h="2203800">
                  <a:moveTo>
                    <a:pt x="0" y="0"/>
                  </a:moveTo>
                  <a:lnTo>
                    <a:pt x="21031200" y="0"/>
                  </a:lnTo>
                  <a:lnTo>
                    <a:pt x="21031200" y="2203800"/>
                  </a:lnTo>
                  <a:lnTo>
                    <a:pt x="0" y="2203800"/>
                  </a:lnTo>
                  <a:close/>
                </a:path>
              </a:pathLst>
            </a:custGeom>
            <a:solidFill>
              <a:srgbClr val="000000">
                <a:alpha val="0"/>
              </a:srgbClr>
            </a:solidFill>
          </p:spPr>
        </p:sp>
        <p:sp>
          <p:nvSpPr>
            <p:cNvPr id="4" name="TextBox 4"/>
            <p:cNvSpPr txBox="1"/>
            <p:nvPr/>
          </p:nvSpPr>
          <p:spPr>
            <a:xfrm>
              <a:off x="0" y="38100"/>
              <a:ext cx="21031200" cy="21657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Uniqueness</a:t>
              </a:r>
            </a:p>
          </p:txBody>
        </p:sp>
      </p:grpSp>
      <p:sp>
        <p:nvSpPr>
          <p:cNvPr id="5" name="TextBox 5"/>
          <p:cNvSpPr txBox="1"/>
          <p:nvPr/>
        </p:nvSpPr>
        <p:spPr>
          <a:xfrm>
            <a:off x="1348725" y="2227187"/>
            <a:ext cx="15590550" cy="7040389"/>
          </a:xfrm>
          <a:prstGeom prst="rect">
            <a:avLst/>
          </a:prstGeom>
        </p:spPr>
        <p:txBody>
          <a:bodyPr lIns="0" tIns="0" rIns="0" bIns="0" rtlCol="0" anchor="t">
            <a:spAutoFit/>
          </a:bodyPr>
          <a:lstStyle/>
          <a:p>
            <a:pPr algn="l">
              <a:lnSpc>
                <a:spcPts val="3996"/>
              </a:lnSpc>
            </a:pPr>
            <a:r>
              <a:rPr lang="en-US" sz="3330" dirty="0">
                <a:solidFill>
                  <a:srgbClr val="000000"/>
                </a:solidFill>
                <a:latin typeface="Times New Roman"/>
                <a:ea typeface="Times New Roman"/>
                <a:cs typeface="Times New Roman"/>
                <a:sym typeface="Times New Roman"/>
              </a:rPr>
              <a:t>This project stands out from existing food recommendation solutions due to its integrated focus on health awareness, regional relevance, and future family-centric extensibility. The key unique aspects are:</a:t>
            </a:r>
          </a:p>
          <a:p>
            <a:pPr algn="l">
              <a:lnSpc>
                <a:spcPts val="3329"/>
              </a:lnSpc>
            </a:pPr>
            <a:endParaRPr lang="en-US" sz="3330" dirty="0">
              <a:solidFill>
                <a:srgbClr val="000000"/>
              </a:solidFill>
              <a:latin typeface="Times New Roman"/>
              <a:ea typeface="Times New Roman"/>
              <a:cs typeface="Times New Roman"/>
              <a:sym typeface="Times New Roman"/>
            </a:endParaRPr>
          </a:p>
          <a:p>
            <a:pPr marL="654453" lvl="1" indent="-327227" algn="l">
              <a:lnSpc>
                <a:spcPts val="3329"/>
              </a:lnSpc>
              <a:buAutoNum type="arabicPeriod"/>
            </a:pPr>
            <a:r>
              <a:rPr lang="en-US" sz="2775" b="1" u="sng" dirty="0">
                <a:solidFill>
                  <a:srgbClr val="000000"/>
                </a:solidFill>
                <a:latin typeface="Times New Roman"/>
                <a:ea typeface="Times New Roman"/>
                <a:cs typeface="Times New Roman"/>
                <a:sym typeface="Times New Roman"/>
              </a:rPr>
              <a:t>Health-Constrained Personalization:</a:t>
            </a:r>
            <a:r>
              <a:rPr lang="en-US" sz="2775" dirty="0">
                <a:solidFill>
                  <a:srgbClr val="000000"/>
                </a:solidFill>
                <a:latin typeface="Times New Roman"/>
                <a:ea typeface="Times New Roman"/>
                <a:cs typeface="Times New Roman"/>
                <a:sym typeface="Times New Roman"/>
              </a:rPr>
              <a:t> The system explicitly integrates health conditions, dietary goals, allergies, and activity levels into the recommendation process, ensuring nutritionally safe and responsible food suggestions.</a:t>
            </a:r>
          </a:p>
          <a:p>
            <a:pPr marL="654453" lvl="1" indent="-327227" algn="l">
              <a:lnSpc>
                <a:spcPts val="3329"/>
              </a:lnSpc>
              <a:buAutoNum type="arabicPeriod"/>
            </a:pPr>
            <a:r>
              <a:rPr lang="en-US" sz="2775" b="1" u="sng" dirty="0">
                <a:solidFill>
                  <a:srgbClr val="000000"/>
                </a:solidFill>
                <a:latin typeface="Times New Roman"/>
                <a:ea typeface="Times New Roman"/>
                <a:cs typeface="Times New Roman"/>
                <a:sym typeface="Times New Roman"/>
              </a:rPr>
              <a:t>Region-Aware Recommendation:</a:t>
            </a:r>
            <a:r>
              <a:rPr lang="en-US" sz="2775" b="1" dirty="0">
                <a:solidFill>
                  <a:srgbClr val="000000"/>
                </a:solidFill>
                <a:latin typeface="Times New Roman"/>
                <a:ea typeface="Times New Roman"/>
                <a:cs typeface="Times New Roman"/>
                <a:sym typeface="Times New Roman"/>
              </a:rPr>
              <a:t> </a:t>
            </a:r>
            <a:r>
              <a:rPr lang="en-US" sz="2775" dirty="0">
                <a:solidFill>
                  <a:srgbClr val="000000"/>
                </a:solidFill>
                <a:latin typeface="Times New Roman"/>
                <a:ea typeface="Times New Roman"/>
                <a:cs typeface="Times New Roman"/>
                <a:sym typeface="Times New Roman"/>
              </a:rPr>
              <a:t>Unlike generic food recommenders, the prototype incorporates regional and cuisine-specific context, making recommendations culturally relevant and practically adoptable.</a:t>
            </a:r>
          </a:p>
          <a:p>
            <a:pPr marL="654453" lvl="1" indent="-327227" algn="l">
              <a:lnSpc>
                <a:spcPts val="3329"/>
              </a:lnSpc>
              <a:buAutoNum type="arabicPeriod"/>
            </a:pPr>
            <a:r>
              <a:rPr lang="en-US" sz="2775" b="1" u="sng" dirty="0">
                <a:solidFill>
                  <a:srgbClr val="000000"/>
                </a:solidFill>
                <a:latin typeface="Times New Roman"/>
                <a:ea typeface="Times New Roman"/>
                <a:cs typeface="Times New Roman"/>
                <a:sym typeface="Times New Roman"/>
              </a:rPr>
              <a:t>Integrated Nutrition, Safety, and Preference Modeling:</a:t>
            </a:r>
            <a:r>
              <a:rPr lang="en-US" sz="2775" b="1" dirty="0">
                <a:solidFill>
                  <a:srgbClr val="000000"/>
                </a:solidFill>
                <a:latin typeface="Times New Roman"/>
                <a:ea typeface="Times New Roman"/>
                <a:cs typeface="Times New Roman"/>
                <a:sym typeface="Times New Roman"/>
              </a:rPr>
              <a:t> </a:t>
            </a:r>
            <a:r>
              <a:rPr lang="en-US" sz="2775" dirty="0">
                <a:solidFill>
                  <a:srgbClr val="000000"/>
                </a:solidFill>
                <a:latin typeface="Times New Roman"/>
                <a:ea typeface="Times New Roman"/>
                <a:cs typeface="Times New Roman"/>
                <a:sym typeface="Times New Roman"/>
              </a:rPr>
              <a:t>Nutritional attributes, food safety alerts, and user lifestyle data are jointly considered, enabling multi-constraint decision-making within a single recommendation pipeline.</a:t>
            </a:r>
          </a:p>
          <a:p>
            <a:pPr marL="654453" lvl="1" indent="-327227" algn="l">
              <a:lnSpc>
                <a:spcPts val="3329"/>
              </a:lnSpc>
              <a:buAutoNum type="arabicPeriod"/>
            </a:pPr>
            <a:r>
              <a:rPr lang="en-US" sz="2775" b="1" u="sng" dirty="0">
                <a:solidFill>
                  <a:srgbClr val="000000"/>
                </a:solidFill>
                <a:latin typeface="Times New Roman"/>
                <a:ea typeface="Times New Roman"/>
                <a:cs typeface="Times New Roman"/>
                <a:sym typeface="Times New Roman"/>
              </a:rPr>
              <a:t>Scalable Foundation for Family-Centric Meal Planning:</a:t>
            </a:r>
            <a:r>
              <a:rPr lang="en-US" sz="2775" b="1" dirty="0">
                <a:solidFill>
                  <a:srgbClr val="000000"/>
                </a:solidFill>
                <a:latin typeface="Times New Roman"/>
                <a:ea typeface="Times New Roman"/>
                <a:cs typeface="Times New Roman"/>
                <a:sym typeface="Times New Roman"/>
              </a:rPr>
              <a:t> </a:t>
            </a:r>
            <a:r>
              <a:rPr lang="en-US" sz="2775" dirty="0">
                <a:solidFill>
                  <a:srgbClr val="000000"/>
                </a:solidFill>
                <a:latin typeface="Times New Roman"/>
                <a:ea typeface="Times New Roman"/>
                <a:cs typeface="Times New Roman"/>
                <a:sym typeface="Times New Roman"/>
              </a:rPr>
              <a:t>Although currently individual-centric, the modular design supports future extension to family and community-level meal planning and structured daily diets.</a:t>
            </a:r>
          </a:p>
        </p:txBody>
      </p:sp>
      <p:grpSp>
        <p:nvGrpSpPr>
          <p:cNvPr id="6" name="Group 6"/>
          <p:cNvGrpSpPr/>
          <p:nvPr/>
        </p:nvGrpSpPr>
        <p:grpSpPr>
          <a:xfrm>
            <a:off x="6057900" y="9534525"/>
            <a:ext cx="6172200" cy="547650"/>
            <a:chOff x="0" y="0"/>
            <a:chExt cx="8229600" cy="730200"/>
          </a:xfrm>
        </p:grpSpPr>
        <p:sp>
          <p:nvSpPr>
            <p:cNvPr id="7" name="Freeform 7"/>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8" name="TextBox 8"/>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50"/>
            <a:chOff x="0" y="0"/>
            <a:chExt cx="5486400" cy="730200"/>
          </a:xfrm>
        </p:grpSpPr>
        <p:sp>
          <p:nvSpPr>
            <p:cNvPr id="10" name="Freeform 10"/>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1" name="TextBox 11"/>
            <p:cNvSpPr txBox="1"/>
            <p:nvPr/>
          </p:nvSpPr>
          <p:spPr>
            <a:xfrm>
              <a:off x="0" y="-38100"/>
              <a:ext cx="5486400" cy="76830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24</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399488"/>
            <a:ext cx="6172200" cy="1988550"/>
            <a:chOff x="0" y="0"/>
            <a:chExt cx="8229600" cy="2651400"/>
          </a:xfrm>
        </p:grpSpPr>
        <p:sp>
          <p:nvSpPr>
            <p:cNvPr id="3" name="Freeform 3"/>
            <p:cNvSpPr/>
            <p:nvPr/>
          </p:nvSpPr>
          <p:spPr>
            <a:xfrm>
              <a:off x="0" y="0"/>
              <a:ext cx="8229600" cy="2651400"/>
            </a:xfrm>
            <a:custGeom>
              <a:avLst/>
              <a:gdLst/>
              <a:ahLst/>
              <a:cxnLst/>
              <a:rect l="l" t="t" r="r" b="b"/>
              <a:pathLst>
                <a:path w="8229600" h="2651400">
                  <a:moveTo>
                    <a:pt x="0" y="0"/>
                  </a:moveTo>
                  <a:lnTo>
                    <a:pt x="8229600" y="0"/>
                  </a:lnTo>
                  <a:lnTo>
                    <a:pt x="8229600" y="2651400"/>
                  </a:lnTo>
                  <a:lnTo>
                    <a:pt x="0" y="2651400"/>
                  </a:lnTo>
                  <a:close/>
                </a:path>
              </a:pathLst>
            </a:custGeom>
            <a:solidFill>
              <a:srgbClr val="000000">
                <a:alpha val="0"/>
              </a:srgbClr>
            </a:solidFill>
          </p:spPr>
        </p:sp>
        <p:sp>
          <p:nvSpPr>
            <p:cNvPr id="4" name="TextBox 4"/>
            <p:cNvSpPr txBox="1"/>
            <p:nvPr/>
          </p:nvSpPr>
          <p:spPr>
            <a:xfrm>
              <a:off x="0" y="38100"/>
              <a:ext cx="8229600" cy="26133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Workflow</a:t>
              </a:r>
            </a:p>
          </p:txBody>
        </p:sp>
      </p:grpSp>
      <p:grpSp>
        <p:nvGrpSpPr>
          <p:cNvPr id="5" name="Group 5"/>
          <p:cNvGrpSpPr/>
          <p:nvPr/>
        </p:nvGrpSpPr>
        <p:grpSpPr>
          <a:xfrm>
            <a:off x="6057900" y="9534525"/>
            <a:ext cx="6172200" cy="547688"/>
            <a:chOff x="0" y="0"/>
            <a:chExt cx="8229600" cy="730250"/>
          </a:xfrm>
        </p:grpSpPr>
        <p:sp>
          <p:nvSpPr>
            <p:cNvPr id="6" name="Freeform 6"/>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7" name="TextBox 7"/>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8" name="Group 8"/>
          <p:cNvGrpSpPr/>
          <p:nvPr/>
        </p:nvGrpSpPr>
        <p:grpSpPr>
          <a:xfrm>
            <a:off x="12915900" y="9534525"/>
            <a:ext cx="4114800" cy="547688"/>
            <a:chOff x="0" y="0"/>
            <a:chExt cx="5486400" cy="730250"/>
          </a:xfrm>
        </p:grpSpPr>
        <p:sp>
          <p:nvSpPr>
            <p:cNvPr id="9" name="Freeform 9"/>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0" name="TextBox 10"/>
            <p:cNvSpPr txBox="1"/>
            <p:nvPr/>
          </p:nvSpPr>
          <p:spPr>
            <a:xfrm>
              <a:off x="0" y="-38100"/>
              <a:ext cx="5486400" cy="76835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25</a:t>
              </a:r>
            </a:p>
          </p:txBody>
        </p:sp>
      </p:grpSp>
      <p:sp>
        <p:nvSpPr>
          <p:cNvPr id="11" name="Freeform 11"/>
          <p:cNvSpPr/>
          <p:nvPr/>
        </p:nvSpPr>
        <p:spPr>
          <a:xfrm>
            <a:off x="6166373" y="2338512"/>
            <a:ext cx="5923827" cy="5609975"/>
          </a:xfrm>
          <a:custGeom>
            <a:avLst/>
            <a:gdLst/>
            <a:ahLst/>
            <a:cxnLst/>
            <a:rect l="l" t="t" r="r" b="b"/>
            <a:pathLst>
              <a:path w="5923827" h="5609975">
                <a:moveTo>
                  <a:pt x="0" y="0"/>
                </a:moveTo>
                <a:lnTo>
                  <a:pt x="5923826" y="0"/>
                </a:lnTo>
                <a:lnTo>
                  <a:pt x="5923826" y="5609976"/>
                </a:lnTo>
                <a:lnTo>
                  <a:pt x="0" y="5609976"/>
                </a:lnTo>
                <a:lnTo>
                  <a:pt x="0" y="0"/>
                </a:lnTo>
                <a:close/>
              </a:path>
            </a:pathLst>
          </a:custGeom>
          <a:blipFill>
            <a:blip r:embed="rId3"/>
            <a:stretch>
              <a:fillRect t="-140693" b="-101312"/>
            </a:stretch>
          </a:blipFill>
        </p:spPr>
      </p:sp>
      <p:sp>
        <p:nvSpPr>
          <p:cNvPr id="12" name="Freeform 12"/>
          <p:cNvSpPr/>
          <p:nvPr/>
        </p:nvSpPr>
        <p:spPr>
          <a:xfrm>
            <a:off x="12194974" y="2288155"/>
            <a:ext cx="5366926" cy="5710689"/>
          </a:xfrm>
          <a:custGeom>
            <a:avLst/>
            <a:gdLst/>
            <a:ahLst/>
            <a:cxnLst/>
            <a:rect l="l" t="t" r="r" b="b"/>
            <a:pathLst>
              <a:path w="5366926" h="5710689">
                <a:moveTo>
                  <a:pt x="0" y="0"/>
                </a:moveTo>
                <a:lnTo>
                  <a:pt x="5366926" y="0"/>
                </a:lnTo>
                <a:lnTo>
                  <a:pt x="5366926" y="5710690"/>
                </a:lnTo>
                <a:lnTo>
                  <a:pt x="0" y="5710690"/>
                </a:lnTo>
                <a:lnTo>
                  <a:pt x="0" y="0"/>
                </a:lnTo>
                <a:close/>
              </a:path>
            </a:pathLst>
          </a:custGeom>
          <a:blipFill>
            <a:blip r:embed="rId3"/>
            <a:stretch>
              <a:fillRect t="-204389"/>
            </a:stretch>
          </a:blipFill>
        </p:spPr>
      </p:sp>
      <p:sp>
        <p:nvSpPr>
          <p:cNvPr id="13" name="Freeform 13"/>
          <p:cNvSpPr/>
          <p:nvPr/>
        </p:nvSpPr>
        <p:spPr>
          <a:xfrm>
            <a:off x="726100" y="2117411"/>
            <a:ext cx="5340094" cy="7140889"/>
          </a:xfrm>
          <a:custGeom>
            <a:avLst/>
            <a:gdLst/>
            <a:ahLst/>
            <a:cxnLst/>
            <a:rect l="l" t="t" r="r" b="b"/>
            <a:pathLst>
              <a:path w="5340094" h="7140889">
                <a:moveTo>
                  <a:pt x="0" y="0"/>
                </a:moveTo>
                <a:lnTo>
                  <a:pt x="5340094" y="0"/>
                </a:lnTo>
                <a:lnTo>
                  <a:pt x="5340094" y="7140889"/>
                </a:lnTo>
                <a:lnTo>
                  <a:pt x="0" y="7140889"/>
                </a:lnTo>
                <a:lnTo>
                  <a:pt x="0" y="0"/>
                </a:lnTo>
                <a:close/>
              </a:path>
            </a:pathLst>
          </a:custGeom>
          <a:blipFill>
            <a:blip r:embed="rId3"/>
            <a:stretch>
              <a:fillRect b="-142208"/>
            </a:stretch>
          </a:blipFill>
        </p:spPr>
      </p:sp>
      <p:grpSp>
        <p:nvGrpSpPr>
          <p:cNvPr id="14" name="Group 14"/>
          <p:cNvGrpSpPr/>
          <p:nvPr/>
        </p:nvGrpSpPr>
        <p:grpSpPr>
          <a:xfrm>
            <a:off x="1257300" y="9534525"/>
            <a:ext cx="4114800" cy="547688"/>
            <a:chOff x="0" y="0"/>
            <a:chExt cx="5486400" cy="730250"/>
          </a:xfrm>
        </p:grpSpPr>
        <p:sp>
          <p:nvSpPr>
            <p:cNvPr id="15" name="Freeform 15"/>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6" name="TextBox 16"/>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7" name="TextBox 17"/>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5728950" cy="1988550"/>
            <a:chOff x="0" y="0"/>
            <a:chExt cx="7638600" cy="2651400"/>
          </a:xfrm>
        </p:grpSpPr>
        <p:sp>
          <p:nvSpPr>
            <p:cNvPr id="3" name="Freeform 3"/>
            <p:cNvSpPr/>
            <p:nvPr/>
          </p:nvSpPr>
          <p:spPr>
            <a:xfrm>
              <a:off x="0" y="0"/>
              <a:ext cx="7638600" cy="2651400"/>
            </a:xfrm>
            <a:custGeom>
              <a:avLst/>
              <a:gdLst/>
              <a:ahLst/>
              <a:cxnLst/>
              <a:rect l="l" t="t" r="r" b="b"/>
              <a:pathLst>
                <a:path w="7638600" h="2651400">
                  <a:moveTo>
                    <a:pt x="0" y="0"/>
                  </a:moveTo>
                  <a:lnTo>
                    <a:pt x="7638600" y="0"/>
                  </a:lnTo>
                  <a:lnTo>
                    <a:pt x="7638600" y="2651400"/>
                  </a:lnTo>
                  <a:lnTo>
                    <a:pt x="0" y="2651400"/>
                  </a:lnTo>
                  <a:close/>
                </a:path>
              </a:pathLst>
            </a:custGeom>
            <a:solidFill>
              <a:srgbClr val="000000">
                <a:alpha val="0"/>
              </a:srgbClr>
            </a:solidFill>
          </p:spPr>
        </p:sp>
        <p:sp>
          <p:nvSpPr>
            <p:cNvPr id="4" name="TextBox 4"/>
            <p:cNvSpPr txBox="1"/>
            <p:nvPr/>
          </p:nvSpPr>
          <p:spPr>
            <a:xfrm>
              <a:off x="0" y="38100"/>
              <a:ext cx="7638600" cy="2613300"/>
            </a:xfrm>
            <a:prstGeom prst="rect">
              <a:avLst/>
            </a:prstGeom>
          </p:spPr>
          <p:txBody>
            <a:bodyPr lIns="0" tIns="0" rIns="0" bIns="0" rtlCol="0" anchor="ctr"/>
            <a:lstStyle/>
            <a:p>
              <a:pPr algn="ctr">
                <a:lnSpc>
                  <a:spcPts val="7128"/>
                </a:lnSpc>
              </a:pPr>
              <a:r>
                <a:rPr lang="en-US" sz="6600" u="sng" dirty="0" smtClean="0">
                  <a:solidFill>
                    <a:srgbClr val="000000"/>
                  </a:solidFill>
                  <a:latin typeface="Times New Roman"/>
                  <a:ea typeface="Times New Roman"/>
                  <a:cs typeface="Times New Roman"/>
                  <a:sym typeface="Times New Roman"/>
                </a:rPr>
                <a:t>Flowchart</a:t>
              </a:r>
              <a:endParaRPr lang="en-US" sz="6600" u="sng" dirty="0">
                <a:solidFill>
                  <a:srgbClr val="000000"/>
                </a:solidFill>
                <a:latin typeface="Times New Roman"/>
                <a:ea typeface="Times New Roman"/>
                <a:cs typeface="Times New Roman"/>
                <a:sym typeface="Times New Roman"/>
              </a:endParaRPr>
            </a:p>
          </p:txBody>
        </p:sp>
      </p:grpSp>
      <p:grpSp>
        <p:nvGrpSpPr>
          <p:cNvPr id="5" name="Group 5"/>
          <p:cNvGrpSpPr/>
          <p:nvPr/>
        </p:nvGrpSpPr>
        <p:grpSpPr>
          <a:xfrm>
            <a:off x="6057900" y="9534525"/>
            <a:ext cx="6172200" cy="547688"/>
            <a:chOff x="0" y="0"/>
            <a:chExt cx="8229600" cy="730250"/>
          </a:xfrm>
        </p:grpSpPr>
        <p:sp>
          <p:nvSpPr>
            <p:cNvPr id="6" name="Freeform 6"/>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7" name="TextBox 7"/>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8" name="Group 8"/>
          <p:cNvGrpSpPr/>
          <p:nvPr/>
        </p:nvGrpSpPr>
        <p:grpSpPr>
          <a:xfrm>
            <a:off x="12915900" y="9534525"/>
            <a:ext cx="4114800" cy="547688"/>
            <a:chOff x="0" y="0"/>
            <a:chExt cx="5486400" cy="730250"/>
          </a:xfrm>
        </p:grpSpPr>
        <p:sp>
          <p:nvSpPr>
            <p:cNvPr id="9" name="Freeform 9"/>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0" name="TextBox 10"/>
            <p:cNvSpPr txBox="1"/>
            <p:nvPr/>
          </p:nvSpPr>
          <p:spPr>
            <a:xfrm>
              <a:off x="0" y="-38100"/>
              <a:ext cx="5486400" cy="76835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26</a:t>
              </a:r>
            </a:p>
          </p:txBody>
        </p:sp>
      </p:grpSp>
      <p:sp>
        <p:nvSpPr>
          <p:cNvPr id="11" name="Freeform 11"/>
          <p:cNvSpPr/>
          <p:nvPr/>
        </p:nvSpPr>
        <p:spPr>
          <a:xfrm>
            <a:off x="1831951" y="2102327"/>
            <a:ext cx="7243734" cy="7155973"/>
          </a:xfrm>
          <a:custGeom>
            <a:avLst/>
            <a:gdLst/>
            <a:ahLst/>
            <a:cxnLst/>
            <a:rect l="l" t="t" r="r" b="b"/>
            <a:pathLst>
              <a:path w="7243734" h="7155973">
                <a:moveTo>
                  <a:pt x="0" y="0"/>
                </a:moveTo>
                <a:lnTo>
                  <a:pt x="7243734" y="0"/>
                </a:lnTo>
                <a:lnTo>
                  <a:pt x="7243734" y="7155973"/>
                </a:lnTo>
                <a:lnTo>
                  <a:pt x="0" y="7155973"/>
                </a:lnTo>
                <a:lnTo>
                  <a:pt x="0" y="0"/>
                </a:lnTo>
                <a:close/>
              </a:path>
            </a:pathLst>
          </a:custGeom>
          <a:blipFill>
            <a:blip r:embed="rId3"/>
            <a:stretch>
              <a:fillRect b="-105535"/>
            </a:stretch>
          </a:blipFill>
        </p:spPr>
      </p:sp>
      <p:sp>
        <p:nvSpPr>
          <p:cNvPr id="12" name="Freeform 12"/>
          <p:cNvSpPr/>
          <p:nvPr/>
        </p:nvSpPr>
        <p:spPr>
          <a:xfrm>
            <a:off x="9527069" y="2102327"/>
            <a:ext cx="6928981" cy="7155973"/>
          </a:xfrm>
          <a:custGeom>
            <a:avLst/>
            <a:gdLst/>
            <a:ahLst/>
            <a:cxnLst/>
            <a:rect l="l" t="t" r="r" b="b"/>
            <a:pathLst>
              <a:path w="6928981" h="7155973">
                <a:moveTo>
                  <a:pt x="0" y="0"/>
                </a:moveTo>
                <a:lnTo>
                  <a:pt x="6928980" y="0"/>
                </a:lnTo>
                <a:lnTo>
                  <a:pt x="6928980" y="7155973"/>
                </a:lnTo>
                <a:lnTo>
                  <a:pt x="0" y="7155973"/>
                </a:lnTo>
                <a:lnTo>
                  <a:pt x="0" y="0"/>
                </a:lnTo>
                <a:close/>
              </a:path>
            </a:pathLst>
          </a:custGeom>
          <a:blipFill>
            <a:blip r:embed="rId3"/>
            <a:stretch>
              <a:fillRect t="-96604"/>
            </a:stretch>
          </a:blipFill>
        </p:spPr>
      </p:sp>
      <p:grpSp>
        <p:nvGrpSpPr>
          <p:cNvPr id="13" name="Group 13"/>
          <p:cNvGrpSpPr/>
          <p:nvPr/>
        </p:nvGrpSpPr>
        <p:grpSpPr>
          <a:xfrm>
            <a:off x="1257300" y="9534525"/>
            <a:ext cx="4114800" cy="547688"/>
            <a:chOff x="0" y="0"/>
            <a:chExt cx="5486400" cy="730250"/>
          </a:xfrm>
        </p:grpSpPr>
        <p:sp>
          <p:nvSpPr>
            <p:cNvPr id="14" name="Freeform 14"/>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5" name="TextBox 15"/>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6" name="TextBox 16"/>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988345"/>
            <a:chOff x="0" y="0"/>
            <a:chExt cx="21031200" cy="2651126"/>
          </a:xfrm>
        </p:grpSpPr>
        <p:sp>
          <p:nvSpPr>
            <p:cNvPr id="3"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solidFill>
              <a:srgbClr val="000000">
                <a:alpha val="0"/>
              </a:srgbClr>
            </a:solidFill>
          </p:spPr>
        </p:sp>
        <p:sp>
          <p:nvSpPr>
            <p:cNvPr id="4" name="TextBox 4"/>
            <p:cNvSpPr txBox="1"/>
            <p:nvPr/>
          </p:nvSpPr>
          <p:spPr>
            <a:xfrm>
              <a:off x="0" y="38100"/>
              <a:ext cx="21031200" cy="2613026"/>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Results and Performance Metrics</a:t>
              </a:r>
            </a:p>
          </p:txBody>
        </p:sp>
      </p:grpSp>
      <p:sp>
        <p:nvSpPr>
          <p:cNvPr id="5" name="TextBox 5"/>
          <p:cNvSpPr txBox="1"/>
          <p:nvPr/>
        </p:nvSpPr>
        <p:spPr>
          <a:xfrm>
            <a:off x="1028700" y="2707482"/>
            <a:ext cx="15590550" cy="6168355"/>
          </a:xfrm>
          <a:prstGeom prst="rect">
            <a:avLst/>
          </a:prstGeom>
        </p:spPr>
        <p:txBody>
          <a:bodyPr lIns="0" tIns="0" rIns="0" bIns="0" rtlCol="0" anchor="t">
            <a:spAutoFit/>
          </a:bodyPr>
          <a:lstStyle/>
          <a:p>
            <a:pPr algn="l">
              <a:lnSpc>
                <a:spcPts val="3672"/>
              </a:lnSpc>
            </a:pPr>
            <a:r>
              <a:rPr lang="en-US" sz="3400" dirty="0">
                <a:solidFill>
                  <a:srgbClr val="000000"/>
                </a:solidFill>
                <a:latin typeface="Times New Roman"/>
                <a:ea typeface="Times New Roman"/>
                <a:cs typeface="Times New Roman"/>
                <a:sym typeface="Times New Roman"/>
              </a:rPr>
              <a:t>1. </a:t>
            </a:r>
            <a:r>
              <a:rPr lang="en-US" sz="3400" b="1" dirty="0">
                <a:solidFill>
                  <a:srgbClr val="000000"/>
                </a:solidFill>
                <a:latin typeface="Times New Roman"/>
                <a:ea typeface="Times New Roman"/>
                <a:cs typeface="Times New Roman"/>
                <a:sym typeface="Times New Roman"/>
              </a:rPr>
              <a:t>Performance Evaluation Criteria</a:t>
            </a:r>
          </a:p>
          <a:p>
            <a:pPr algn="l">
              <a:lnSpc>
                <a:spcPts val="3672"/>
              </a:lnSpc>
            </a:pPr>
            <a:endParaRPr lang="en-US" sz="3400" dirty="0">
              <a:solidFill>
                <a:srgbClr val="000000"/>
              </a:solidFill>
              <a:latin typeface="Times New Roman"/>
              <a:ea typeface="Times New Roman"/>
              <a:cs typeface="Times New Roman"/>
              <a:sym typeface="Times New Roman"/>
            </a:endParaRPr>
          </a:p>
          <a:p>
            <a:pPr marL="1468129" lvl="2" indent="-489376" algn="l">
              <a:lnSpc>
                <a:spcPts val="3672"/>
              </a:lnSpc>
              <a:buFont typeface="Arial"/>
              <a:buChar char="⚬"/>
            </a:pPr>
            <a:r>
              <a:rPr lang="en-US" sz="3400" dirty="0">
                <a:solidFill>
                  <a:srgbClr val="000000"/>
                </a:solidFill>
                <a:latin typeface="Times New Roman"/>
                <a:ea typeface="Times New Roman"/>
                <a:cs typeface="Times New Roman"/>
                <a:sym typeface="Times New Roman"/>
              </a:rPr>
              <a:t>Model performance is evaluated using training loss convergence across epochs.</a:t>
            </a:r>
          </a:p>
          <a:p>
            <a:pPr marL="1468129" lvl="2" indent="-489376" algn="l">
              <a:lnSpc>
                <a:spcPts val="3672"/>
              </a:lnSpc>
              <a:buFont typeface="Arial"/>
              <a:buChar char="⚬"/>
            </a:pPr>
            <a:r>
              <a:rPr lang="en-US" sz="3400" dirty="0">
                <a:solidFill>
                  <a:srgbClr val="000000"/>
                </a:solidFill>
                <a:latin typeface="Times New Roman"/>
                <a:ea typeface="Times New Roman"/>
                <a:cs typeface="Times New Roman"/>
                <a:sym typeface="Times New Roman"/>
              </a:rPr>
              <a:t>Loss measures the error between:</a:t>
            </a:r>
          </a:p>
          <a:p>
            <a:pPr marL="2202193" lvl="3" indent="-550548" algn="l">
              <a:lnSpc>
                <a:spcPts val="3672"/>
              </a:lnSpc>
              <a:buFont typeface="Arial"/>
              <a:buChar char="￭"/>
            </a:pPr>
            <a:r>
              <a:rPr lang="en-US" sz="3400" dirty="0">
                <a:solidFill>
                  <a:srgbClr val="000000"/>
                </a:solidFill>
                <a:latin typeface="Times New Roman"/>
                <a:ea typeface="Times New Roman"/>
                <a:cs typeface="Times New Roman"/>
                <a:sym typeface="Times New Roman"/>
              </a:rPr>
              <a:t>Predicted user–food interaction scores</a:t>
            </a:r>
          </a:p>
          <a:p>
            <a:pPr marL="2202193" lvl="3" indent="-550548" algn="l">
              <a:lnSpc>
                <a:spcPts val="3672"/>
              </a:lnSpc>
              <a:buFont typeface="Arial"/>
              <a:buChar char="￭"/>
            </a:pPr>
            <a:r>
              <a:rPr lang="en-US" sz="3400" dirty="0">
                <a:solidFill>
                  <a:srgbClr val="000000"/>
                </a:solidFill>
                <a:latin typeface="Times New Roman"/>
                <a:ea typeface="Times New Roman"/>
                <a:cs typeface="Times New Roman"/>
                <a:sym typeface="Times New Roman"/>
              </a:rPr>
              <a:t>Actual interaction signals</a:t>
            </a:r>
          </a:p>
          <a:p>
            <a:pPr marL="1468129" lvl="2" indent="-489376" algn="l">
              <a:lnSpc>
                <a:spcPts val="3672"/>
              </a:lnSpc>
              <a:buFont typeface="Arial"/>
              <a:buChar char="⚬"/>
            </a:pPr>
            <a:r>
              <a:rPr lang="en-US" sz="3400" dirty="0">
                <a:solidFill>
                  <a:srgbClr val="000000"/>
                </a:solidFill>
                <a:latin typeface="Times New Roman"/>
                <a:ea typeface="Times New Roman"/>
                <a:cs typeface="Times New Roman"/>
                <a:sym typeface="Times New Roman"/>
              </a:rPr>
              <a:t>Decreasing loss indicates:</a:t>
            </a:r>
          </a:p>
          <a:p>
            <a:pPr marL="2202193" lvl="3" indent="-550548" algn="l">
              <a:lnSpc>
                <a:spcPts val="3672"/>
              </a:lnSpc>
              <a:buFont typeface="Arial"/>
              <a:buChar char="￭"/>
            </a:pPr>
            <a:r>
              <a:rPr lang="en-US" sz="3400" dirty="0">
                <a:solidFill>
                  <a:srgbClr val="000000"/>
                </a:solidFill>
                <a:latin typeface="Times New Roman"/>
                <a:ea typeface="Times New Roman"/>
                <a:cs typeface="Times New Roman"/>
                <a:sym typeface="Times New Roman"/>
              </a:rPr>
              <a:t>Effective preference learning</a:t>
            </a:r>
          </a:p>
          <a:p>
            <a:pPr marL="2202193" lvl="3" indent="-550548" algn="l">
              <a:lnSpc>
                <a:spcPts val="3672"/>
              </a:lnSpc>
              <a:buFont typeface="Arial"/>
              <a:buChar char="￭"/>
            </a:pPr>
            <a:r>
              <a:rPr lang="en-US" sz="3400" dirty="0">
                <a:solidFill>
                  <a:srgbClr val="000000"/>
                </a:solidFill>
                <a:latin typeface="Times New Roman"/>
                <a:ea typeface="Times New Roman"/>
                <a:cs typeface="Times New Roman"/>
                <a:sym typeface="Times New Roman"/>
              </a:rPr>
              <a:t>Stable optimization</a:t>
            </a:r>
          </a:p>
          <a:p>
            <a:pPr marL="1468129" lvl="2" indent="-489376" algn="l">
              <a:lnSpc>
                <a:spcPts val="3672"/>
              </a:lnSpc>
              <a:buFont typeface="Arial"/>
              <a:buChar char="⚬"/>
            </a:pPr>
            <a:r>
              <a:rPr lang="en-US" sz="3400" dirty="0">
                <a:solidFill>
                  <a:srgbClr val="000000"/>
                </a:solidFill>
                <a:latin typeface="Times New Roman"/>
                <a:ea typeface="Times New Roman"/>
                <a:cs typeface="Times New Roman"/>
                <a:sym typeface="Times New Roman"/>
              </a:rPr>
              <a:t>Performance comparison is done across:</a:t>
            </a:r>
          </a:p>
          <a:p>
            <a:pPr marL="2202193" lvl="3" indent="-550548" algn="l">
              <a:lnSpc>
                <a:spcPts val="3672"/>
              </a:lnSpc>
              <a:buFont typeface="Arial"/>
              <a:buChar char="￭"/>
            </a:pPr>
            <a:r>
              <a:rPr lang="en-US" sz="3400" dirty="0">
                <a:solidFill>
                  <a:srgbClr val="000000"/>
                </a:solidFill>
                <a:latin typeface="Times New Roman"/>
                <a:ea typeface="Times New Roman"/>
                <a:cs typeface="Times New Roman"/>
                <a:sym typeface="Times New Roman"/>
              </a:rPr>
              <a:t>Matrix Factorization</a:t>
            </a:r>
          </a:p>
          <a:p>
            <a:pPr marL="2202193" lvl="3" indent="-550548" algn="l">
              <a:lnSpc>
                <a:spcPts val="3672"/>
              </a:lnSpc>
              <a:buFont typeface="Arial"/>
              <a:buChar char="￭"/>
            </a:pPr>
            <a:r>
              <a:rPr lang="en-US" sz="3400" dirty="0">
                <a:solidFill>
                  <a:srgbClr val="000000"/>
                </a:solidFill>
                <a:latin typeface="Times New Roman"/>
                <a:ea typeface="Times New Roman"/>
                <a:cs typeface="Times New Roman"/>
                <a:sym typeface="Times New Roman"/>
              </a:rPr>
              <a:t>Transformer Sequence Model</a:t>
            </a:r>
          </a:p>
          <a:p>
            <a:pPr marL="2202193" lvl="3" indent="-550548" algn="l">
              <a:lnSpc>
                <a:spcPts val="3672"/>
              </a:lnSpc>
              <a:buFont typeface="Arial"/>
              <a:buChar char="￭"/>
            </a:pPr>
            <a:r>
              <a:rPr lang="en-US" sz="3400" dirty="0">
                <a:solidFill>
                  <a:srgbClr val="000000"/>
                </a:solidFill>
                <a:latin typeface="Times New Roman"/>
                <a:ea typeface="Times New Roman"/>
                <a:cs typeface="Times New Roman"/>
                <a:sym typeface="Times New Roman"/>
              </a:rPr>
              <a:t>Hybrid Recommendation Model</a:t>
            </a:r>
          </a:p>
        </p:txBody>
      </p:sp>
      <p:grpSp>
        <p:nvGrpSpPr>
          <p:cNvPr id="6" name="Group 6"/>
          <p:cNvGrpSpPr/>
          <p:nvPr/>
        </p:nvGrpSpPr>
        <p:grpSpPr>
          <a:xfrm>
            <a:off x="6057900" y="9534525"/>
            <a:ext cx="6172200" cy="547688"/>
            <a:chOff x="0" y="0"/>
            <a:chExt cx="8229600" cy="730250"/>
          </a:xfrm>
        </p:grpSpPr>
        <p:sp>
          <p:nvSpPr>
            <p:cNvPr id="7" name="Freeform 7"/>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8" name="TextBox 8"/>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88"/>
            <a:chOff x="0" y="0"/>
            <a:chExt cx="5486400" cy="730250"/>
          </a:xfrm>
        </p:grpSpPr>
        <p:sp>
          <p:nvSpPr>
            <p:cNvPr id="10" name="Freeform 10"/>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1" name="TextBox 11"/>
            <p:cNvSpPr txBox="1"/>
            <p:nvPr/>
          </p:nvSpPr>
          <p:spPr>
            <a:xfrm>
              <a:off x="0" y="-38100"/>
              <a:ext cx="5486400" cy="76835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27</a:t>
              </a:r>
            </a:p>
          </p:txBody>
        </p:sp>
      </p:grpSp>
      <p:sp>
        <p:nvSpPr>
          <p:cNvPr id="12" name="Freeform 12"/>
          <p:cNvSpPr/>
          <p:nvPr/>
        </p:nvSpPr>
        <p:spPr>
          <a:xfrm>
            <a:off x="10368997" y="4564281"/>
            <a:ext cx="6890303" cy="4694019"/>
          </a:xfrm>
          <a:custGeom>
            <a:avLst/>
            <a:gdLst/>
            <a:ahLst/>
            <a:cxnLst/>
            <a:rect l="l" t="t" r="r" b="b"/>
            <a:pathLst>
              <a:path w="6890303" h="4694019">
                <a:moveTo>
                  <a:pt x="0" y="0"/>
                </a:moveTo>
                <a:lnTo>
                  <a:pt x="6890303" y="0"/>
                </a:lnTo>
                <a:lnTo>
                  <a:pt x="6890303" y="4694019"/>
                </a:lnTo>
                <a:lnTo>
                  <a:pt x="0" y="4694019"/>
                </a:lnTo>
                <a:lnTo>
                  <a:pt x="0" y="0"/>
                </a:lnTo>
                <a:close/>
              </a:path>
            </a:pathLst>
          </a:custGeom>
          <a:blipFill>
            <a:blip r:embed="rId3"/>
            <a:stretch>
              <a:fillRect/>
            </a:stretch>
          </a:blipFill>
        </p:spPr>
      </p:sp>
      <p:grpSp>
        <p:nvGrpSpPr>
          <p:cNvPr id="13" name="Group 13"/>
          <p:cNvGrpSpPr/>
          <p:nvPr/>
        </p:nvGrpSpPr>
        <p:grpSpPr>
          <a:xfrm>
            <a:off x="1257300" y="9534525"/>
            <a:ext cx="4114800" cy="547688"/>
            <a:chOff x="0" y="0"/>
            <a:chExt cx="5486400" cy="730250"/>
          </a:xfrm>
        </p:grpSpPr>
        <p:sp>
          <p:nvSpPr>
            <p:cNvPr id="14" name="Freeform 14"/>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5" name="TextBox 15"/>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6" name="TextBox 16"/>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638900"/>
            <a:chOff x="0" y="0"/>
            <a:chExt cx="21031200" cy="2185200"/>
          </a:xfrm>
        </p:grpSpPr>
        <p:sp>
          <p:nvSpPr>
            <p:cNvPr id="3" name="Freeform 3"/>
            <p:cNvSpPr/>
            <p:nvPr/>
          </p:nvSpPr>
          <p:spPr>
            <a:xfrm>
              <a:off x="0" y="0"/>
              <a:ext cx="21031200" cy="2185200"/>
            </a:xfrm>
            <a:custGeom>
              <a:avLst/>
              <a:gdLst/>
              <a:ahLst/>
              <a:cxnLst/>
              <a:rect l="l" t="t" r="r" b="b"/>
              <a:pathLst>
                <a:path w="21031200" h="2185200">
                  <a:moveTo>
                    <a:pt x="0" y="0"/>
                  </a:moveTo>
                  <a:lnTo>
                    <a:pt x="21031200" y="0"/>
                  </a:lnTo>
                  <a:lnTo>
                    <a:pt x="21031200" y="2185200"/>
                  </a:lnTo>
                  <a:lnTo>
                    <a:pt x="0" y="2185200"/>
                  </a:lnTo>
                  <a:close/>
                </a:path>
              </a:pathLst>
            </a:custGeom>
            <a:solidFill>
              <a:srgbClr val="000000">
                <a:alpha val="0"/>
              </a:srgbClr>
            </a:solidFill>
          </p:spPr>
        </p:sp>
        <p:sp>
          <p:nvSpPr>
            <p:cNvPr id="4" name="TextBox 4"/>
            <p:cNvSpPr txBox="1"/>
            <p:nvPr/>
          </p:nvSpPr>
          <p:spPr>
            <a:xfrm>
              <a:off x="0" y="38100"/>
              <a:ext cx="21031200" cy="21471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Result Analysis</a:t>
              </a:r>
            </a:p>
          </p:txBody>
        </p:sp>
      </p:grpSp>
      <p:grpSp>
        <p:nvGrpSpPr>
          <p:cNvPr id="5" name="Group 5"/>
          <p:cNvGrpSpPr/>
          <p:nvPr/>
        </p:nvGrpSpPr>
        <p:grpSpPr>
          <a:xfrm>
            <a:off x="6057900" y="9534525"/>
            <a:ext cx="6172200" cy="547650"/>
            <a:chOff x="0" y="0"/>
            <a:chExt cx="8229600" cy="730200"/>
          </a:xfrm>
        </p:grpSpPr>
        <p:sp>
          <p:nvSpPr>
            <p:cNvPr id="6" name="Freeform 6"/>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7" name="TextBox 7"/>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8" name="Group 8"/>
          <p:cNvGrpSpPr/>
          <p:nvPr/>
        </p:nvGrpSpPr>
        <p:grpSpPr>
          <a:xfrm>
            <a:off x="12915900" y="9534525"/>
            <a:ext cx="4114800" cy="547650"/>
            <a:chOff x="0" y="0"/>
            <a:chExt cx="5486400" cy="730200"/>
          </a:xfrm>
        </p:grpSpPr>
        <p:sp>
          <p:nvSpPr>
            <p:cNvPr id="9" name="Freeform 9"/>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0" name="TextBox 10"/>
            <p:cNvSpPr txBox="1"/>
            <p:nvPr/>
          </p:nvSpPr>
          <p:spPr>
            <a:xfrm>
              <a:off x="0" y="-38100"/>
              <a:ext cx="5486400" cy="76830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28</a:t>
              </a:r>
            </a:p>
          </p:txBody>
        </p:sp>
      </p:grpSp>
      <p:sp>
        <p:nvSpPr>
          <p:cNvPr id="11" name="Freeform 11"/>
          <p:cNvSpPr/>
          <p:nvPr/>
        </p:nvSpPr>
        <p:spPr>
          <a:xfrm>
            <a:off x="10779566" y="5971379"/>
            <a:ext cx="6251134" cy="3563146"/>
          </a:xfrm>
          <a:custGeom>
            <a:avLst/>
            <a:gdLst/>
            <a:ahLst/>
            <a:cxnLst/>
            <a:rect l="l" t="t" r="r" b="b"/>
            <a:pathLst>
              <a:path w="6251134" h="3563146">
                <a:moveTo>
                  <a:pt x="0" y="0"/>
                </a:moveTo>
                <a:lnTo>
                  <a:pt x="6251134" y="0"/>
                </a:lnTo>
                <a:lnTo>
                  <a:pt x="6251134" y="3563146"/>
                </a:lnTo>
                <a:lnTo>
                  <a:pt x="0" y="3563146"/>
                </a:lnTo>
                <a:lnTo>
                  <a:pt x="0" y="0"/>
                </a:lnTo>
                <a:close/>
              </a:path>
            </a:pathLst>
          </a:custGeom>
          <a:blipFill>
            <a:blip r:embed="rId3"/>
            <a:stretch>
              <a:fillRect/>
            </a:stretch>
          </a:blipFill>
        </p:spPr>
      </p:sp>
      <p:sp>
        <p:nvSpPr>
          <p:cNvPr id="12" name="Freeform 12"/>
          <p:cNvSpPr/>
          <p:nvPr/>
        </p:nvSpPr>
        <p:spPr>
          <a:xfrm>
            <a:off x="2552902" y="4801070"/>
            <a:ext cx="6591098" cy="4457230"/>
          </a:xfrm>
          <a:custGeom>
            <a:avLst/>
            <a:gdLst/>
            <a:ahLst/>
            <a:cxnLst/>
            <a:rect l="l" t="t" r="r" b="b"/>
            <a:pathLst>
              <a:path w="6591098" h="4457230">
                <a:moveTo>
                  <a:pt x="0" y="0"/>
                </a:moveTo>
                <a:lnTo>
                  <a:pt x="6591098" y="0"/>
                </a:lnTo>
                <a:lnTo>
                  <a:pt x="6591098" y="4457230"/>
                </a:lnTo>
                <a:lnTo>
                  <a:pt x="0" y="4457230"/>
                </a:lnTo>
                <a:lnTo>
                  <a:pt x="0" y="0"/>
                </a:lnTo>
                <a:close/>
              </a:path>
            </a:pathLst>
          </a:custGeom>
          <a:blipFill>
            <a:blip r:embed="rId4"/>
            <a:stretch>
              <a:fillRect/>
            </a:stretch>
          </a:blipFill>
        </p:spPr>
      </p:sp>
      <p:sp>
        <p:nvSpPr>
          <p:cNvPr id="13" name="Freeform 13"/>
          <p:cNvSpPr/>
          <p:nvPr/>
        </p:nvSpPr>
        <p:spPr>
          <a:xfrm>
            <a:off x="10967229" y="2515200"/>
            <a:ext cx="6063471" cy="3456179"/>
          </a:xfrm>
          <a:custGeom>
            <a:avLst/>
            <a:gdLst/>
            <a:ahLst/>
            <a:cxnLst/>
            <a:rect l="l" t="t" r="r" b="b"/>
            <a:pathLst>
              <a:path w="6063471" h="3456179">
                <a:moveTo>
                  <a:pt x="0" y="0"/>
                </a:moveTo>
                <a:lnTo>
                  <a:pt x="6063471" y="0"/>
                </a:lnTo>
                <a:lnTo>
                  <a:pt x="6063471" y="3456179"/>
                </a:lnTo>
                <a:lnTo>
                  <a:pt x="0" y="3456179"/>
                </a:lnTo>
                <a:lnTo>
                  <a:pt x="0" y="0"/>
                </a:lnTo>
                <a:close/>
              </a:path>
            </a:pathLst>
          </a:custGeom>
          <a:blipFill>
            <a:blip r:embed="rId5"/>
            <a:stretch>
              <a:fillRect/>
            </a:stretch>
          </a:blipFill>
        </p:spPr>
      </p:sp>
      <p:sp>
        <p:nvSpPr>
          <p:cNvPr id="14" name="TextBox 14"/>
          <p:cNvSpPr txBox="1"/>
          <p:nvPr/>
        </p:nvSpPr>
        <p:spPr>
          <a:xfrm>
            <a:off x="947100" y="1829400"/>
            <a:ext cx="16393800" cy="685800"/>
          </a:xfrm>
          <a:prstGeom prst="rect">
            <a:avLst/>
          </a:prstGeom>
        </p:spPr>
        <p:txBody>
          <a:bodyPr lIns="0" tIns="0" rIns="0" bIns="0" rtlCol="0" anchor="t">
            <a:spAutoFit/>
          </a:bodyPr>
          <a:lstStyle/>
          <a:p>
            <a:pPr algn="ctr">
              <a:lnSpc>
                <a:spcPts val="5219"/>
              </a:lnSpc>
            </a:pPr>
            <a:r>
              <a:rPr lang="en-US" sz="4349">
                <a:solidFill>
                  <a:srgbClr val="000000"/>
                </a:solidFill>
                <a:latin typeface="Times New Roman"/>
                <a:ea typeface="Times New Roman"/>
                <a:cs typeface="Times New Roman"/>
                <a:sym typeface="Times New Roman"/>
              </a:rPr>
              <a:t>Matrix Factorization – Training Performance</a:t>
            </a:r>
          </a:p>
        </p:txBody>
      </p:sp>
      <p:sp>
        <p:nvSpPr>
          <p:cNvPr id="15" name="TextBox 15"/>
          <p:cNvSpPr txBox="1"/>
          <p:nvPr/>
        </p:nvSpPr>
        <p:spPr>
          <a:xfrm>
            <a:off x="1257300" y="2936050"/>
            <a:ext cx="10142666" cy="2061665"/>
          </a:xfrm>
          <a:prstGeom prst="rect">
            <a:avLst/>
          </a:prstGeom>
        </p:spPr>
        <p:txBody>
          <a:bodyPr lIns="0" tIns="0" rIns="0" bIns="0" rtlCol="0" anchor="t">
            <a:spAutoFit/>
          </a:bodyPr>
          <a:lstStyle/>
          <a:p>
            <a:pPr marL="581048" lvl="1" indent="-290524" algn="l">
              <a:lnSpc>
                <a:spcPts val="3229"/>
              </a:lnSpc>
              <a:buFont typeface="Arial"/>
              <a:buChar char="•"/>
            </a:pPr>
            <a:r>
              <a:rPr lang="en-US" sz="2691">
                <a:solidFill>
                  <a:srgbClr val="000000"/>
                </a:solidFill>
                <a:latin typeface="Times New Roman"/>
                <a:ea typeface="Times New Roman"/>
                <a:cs typeface="Times New Roman"/>
                <a:sym typeface="Times New Roman"/>
              </a:rPr>
              <a:t>MF trained using Binary Cross-Entropy Loss</a:t>
            </a:r>
          </a:p>
          <a:p>
            <a:pPr marL="581048" lvl="1" indent="-290524" algn="l">
              <a:lnSpc>
                <a:spcPts val="3229"/>
              </a:lnSpc>
              <a:buFont typeface="Arial"/>
              <a:buChar char="•"/>
            </a:pPr>
            <a:r>
              <a:rPr lang="en-US" sz="2691">
                <a:solidFill>
                  <a:srgbClr val="000000"/>
                </a:solidFill>
                <a:latin typeface="Times New Roman"/>
                <a:ea typeface="Times New Roman"/>
                <a:cs typeface="Times New Roman"/>
                <a:sym typeface="Times New Roman"/>
              </a:rPr>
              <a:t>Shows fast and stable convergence</a:t>
            </a:r>
          </a:p>
          <a:p>
            <a:pPr marL="581048" lvl="1" indent="-290524" algn="l">
              <a:lnSpc>
                <a:spcPts val="3229"/>
              </a:lnSpc>
              <a:buFont typeface="Arial"/>
              <a:buChar char="•"/>
            </a:pPr>
            <a:r>
              <a:rPr lang="en-US" sz="2691">
                <a:solidFill>
                  <a:srgbClr val="000000"/>
                </a:solidFill>
                <a:latin typeface="Times New Roman"/>
                <a:ea typeface="Times New Roman"/>
                <a:cs typeface="Times New Roman"/>
                <a:sym typeface="Times New Roman"/>
              </a:rPr>
              <a:t>Learns long-term user–food preferences</a:t>
            </a:r>
          </a:p>
          <a:p>
            <a:pPr marL="581048" lvl="1" indent="-290524" algn="l">
              <a:lnSpc>
                <a:spcPts val="3229"/>
              </a:lnSpc>
              <a:buFont typeface="Arial"/>
              <a:buChar char="•"/>
            </a:pPr>
            <a:r>
              <a:rPr lang="en-US" sz="2691">
                <a:solidFill>
                  <a:srgbClr val="000000"/>
                </a:solidFill>
                <a:latin typeface="Times New Roman"/>
                <a:ea typeface="Times New Roman"/>
                <a:cs typeface="Times New Roman"/>
                <a:sym typeface="Times New Roman"/>
              </a:rPr>
              <a:t>Embedding norms indicate stable latent representations</a:t>
            </a:r>
          </a:p>
          <a:p>
            <a:pPr algn="l">
              <a:lnSpc>
                <a:spcPts val="3229"/>
              </a:lnSpc>
            </a:pPr>
            <a:endParaRPr lang="en-US" sz="2691">
              <a:solidFill>
                <a:srgbClr val="000000"/>
              </a:solidFill>
              <a:latin typeface="Times New Roman"/>
              <a:ea typeface="Times New Roman"/>
              <a:cs typeface="Times New Roman"/>
              <a:sym typeface="Times New Roman"/>
            </a:endParaRPr>
          </a:p>
        </p:txBody>
      </p:sp>
      <p:grpSp>
        <p:nvGrpSpPr>
          <p:cNvPr id="16" name="Group 16"/>
          <p:cNvGrpSpPr/>
          <p:nvPr/>
        </p:nvGrpSpPr>
        <p:grpSpPr>
          <a:xfrm>
            <a:off x="1257300" y="9534525"/>
            <a:ext cx="4114800" cy="547688"/>
            <a:chOff x="0" y="0"/>
            <a:chExt cx="5486400" cy="730250"/>
          </a:xfrm>
        </p:grpSpPr>
        <p:sp>
          <p:nvSpPr>
            <p:cNvPr id="17" name="Freeform 17"/>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8" name="TextBox 18"/>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9" name="TextBox 19"/>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638900"/>
            <a:chOff x="0" y="0"/>
            <a:chExt cx="21031200" cy="2185200"/>
          </a:xfrm>
        </p:grpSpPr>
        <p:sp>
          <p:nvSpPr>
            <p:cNvPr id="3" name="Freeform 3"/>
            <p:cNvSpPr/>
            <p:nvPr/>
          </p:nvSpPr>
          <p:spPr>
            <a:xfrm>
              <a:off x="0" y="0"/>
              <a:ext cx="21031200" cy="2185200"/>
            </a:xfrm>
            <a:custGeom>
              <a:avLst/>
              <a:gdLst/>
              <a:ahLst/>
              <a:cxnLst/>
              <a:rect l="l" t="t" r="r" b="b"/>
              <a:pathLst>
                <a:path w="21031200" h="2185200">
                  <a:moveTo>
                    <a:pt x="0" y="0"/>
                  </a:moveTo>
                  <a:lnTo>
                    <a:pt x="21031200" y="0"/>
                  </a:lnTo>
                  <a:lnTo>
                    <a:pt x="21031200" y="2185200"/>
                  </a:lnTo>
                  <a:lnTo>
                    <a:pt x="0" y="2185200"/>
                  </a:lnTo>
                  <a:close/>
                </a:path>
              </a:pathLst>
            </a:custGeom>
            <a:solidFill>
              <a:srgbClr val="000000">
                <a:alpha val="0"/>
              </a:srgbClr>
            </a:solidFill>
          </p:spPr>
        </p:sp>
        <p:sp>
          <p:nvSpPr>
            <p:cNvPr id="4" name="TextBox 4"/>
            <p:cNvSpPr txBox="1"/>
            <p:nvPr/>
          </p:nvSpPr>
          <p:spPr>
            <a:xfrm>
              <a:off x="0" y="38100"/>
              <a:ext cx="21031200" cy="21471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Result Analysis</a:t>
              </a:r>
            </a:p>
          </p:txBody>
        </p:sp>
      </p:grpSp>
      <p:sp>
        <p:nvSpPr>
          <p:cNvPr id="5" name="Freeform 5"/>
          <p:cNvSpPr/>
          <p:nvPr/>
        </p:nvSpPr>
        <p:spPr>
          <a:xfrm>
            <a:off x="9391269" y="3818812"/>
            <a:ext cx="7508326" cy="5715713"/>
          </a:xfrm>
          <a:custGeom>
            <a:avLst/>
            <a:gdLst/>
            <a:ahLst/>
            <a:cxnLst/>
            <a:rect l="l" t="t" r="r" b="b"/>
            <a:pathLst>
              <a:path w="7508326" h="5715713">
                <a:moveTo>
                  <a:pt x="0" y="0"/>
                </a:moveTo>
                <a:lnTo>
                  <a:pt x="7508327" y="0"/>
                </a:lnTo>
                <a:lnTo>
                  <a:pt x="7508327" y="5715713"/>
                </a:lnTo>
                <a:lnTo>
                  <a:pt x="0" y="5715713"/>
                </a:lnTo>
                <a:lnTo>
                  <a:pt x="0" y="0"/>
                </a:lnTo>
                <a:close/>
              </a:path>
            </a:pathLst>
          </a:custGeom>
          <a:blipFill>
            <a:blip r:embed="rId3"/>
            <a:stretch>
              <a:fillRect/>
            </a:stretch>
          </a:blipFill>
        </p:spPr>
      </p:sp>
      <p:grpSp>
        <p:nvGrpSpPr>
          <p:cNvPr id="6" name="Group 6"/>
          <p:cNvGrpSpPr/>
          <p:nvPr/>
        </p:nvGrpSpPr>
        <p:grpSpPr>
          <a:xfrm>
            <a:off x="6057900" y="9534525"/>
            <a:ext cx="6172200" cy="547650"/>
            <a:chOff x="0" y="0"/>
            <a:chExt cx="8229600" cy="730200"/>
          </a:xfrm>
        </p:grpSpPr>
        <p:sp>
          <p:nvSpPr>
            <p:cNvPr id="7" name="Freeform 7"/>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8" name="TextBox 8"/>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50"/>
            <a:chOff x="0" y="0"/>
            <a:chExt cx="5486400" cy="730200"/>
          </a:xfrm>
        </p:grpSpPr>
        <p:sp>
          <p:nvSpPr>
            <p:cNvPr id="10" name="Freeform 10"/>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1" name="TextBox 11"/>
            <p:cNvSpPr txBox="1"/>
            <p:nvPr/>
          </p:nvSpPr>
          <p:spPr>
            <a:xfrm>
              <a:off x="0" y="-38100"/>
              <a:ext cx="5486400" cy="76830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29</a:t>
              </a:r>
            </a:p>
          </p:txBody>
        </p:sp>
      </p:grpSp>
      <p:sp>
        <p:nvSpPr>
          <p:cNvPr id="12" name="Freeform 12"/>
          <p:cNvSpPr/>
          <p:nvPr/>
        </p:nvSpPr>
        <p:spPr>
          <a:xfrm>
            <a:off x="2039592" y="4997715"/>
            <a:ext cx="6665017" cy="4457230"/>
          </a:xfrm>
          <a:custGeom>
            <a:avLst/>
            <a:gdLst/>
            <a:ahLst/>
            <a:cxnLst/>
            <a:rect l="l" t="t" r="r" b="b"/>
            <a:pathLst>
              <a:path w="6665017" h="4457230">
                <a:moveTo>
                  <a:pt x="0" y="0"/>
                </a:moveTo>
                <a:lnTo>
                  <a:pt x="6665016" y="0"/>
                </a:lnTo>
                <a:lnTo>
                  <a:pt x="6665016" y="4457230"/>
                </a:lnTo>
                <a:lnTo>
                  <a:pt x="0" y="4457230"/>
                </a:lnTo>
                <a:lnTo>
                  <a:pt x="0" y="0"/>
                </a:lnTo>
                <a:close/>
              </a:path>
            </a:pathLst>
          </a:custGeom>
          <a:blipFill>
            <a:blip r:embed="rId4"/>
            <a:stretch>
              <a:fillRect/>
            </a:stretch>
          </a:blipFill>
        </p:spPr>
      </p:sp>
      <p:sp>
        <p:nvSpPr>
          <p:cNvPr id="13" name="TextBox 13"/>
          <p:cNvSpPr txBox="1"/>
          <p:nvPr/>
        </p:nvSpPr>
        <p:spPr>
          <a:xfrm>
            <a:off x="947100" y="1829400"/>
            <a:ext cx="16393800" cy="685800"/>
          </a:xfrm>
          <a:prstGeom prst="rect">
            <a:avLst/>
          </a:prstGeom>
        </p:spPr>
        <p:txBody>
          <a:bodyPr lIns="0" tIns="0" rIns="0" bIns="0" rtlCol="0" anchor="t">
            <a:spAutoFit/>
          </a:bodyPr>
          <a:lstStyle/>
          <a:p>
            <a:pPr algn="ctr">
              <a:lnSpc>
                <a:spcPts val="5219"/>
              </a:lnSpc>
            </a:pPr>
            <a:r>
              <a:rPr lang="en-US" sz="4349">
                <a:solidFill>
                  <a:srgbClr val="000000"/>
                </a:solidFill>
                <a:latin typeface="Times New Roman"/>
                <a:ea typeface="Times New Roman"/>
                <a:cs typeface="Times New Roman"/>
                <a:sym typeface="Times New Roman"/>
              </a:rPr>
              <a:t>Transformer Sequence Model – Training Performance</a:t>
            </a:r>
          </a:p>
        </p:txBody>
      </p:sp>
      <p:sp>
        <p:nvSpPr>
          <p:cNvPr id="14" name="TextBox 14"/>
          <p:cNvSpPr txBox="1"/>
          <p:nvPr/>
        </p:nvSpPr>
        <p:spPr>
          <a:xfrm>
            <a:off x="1257300" y="2936050"/>
            <a:ext cx="10142666" cy="2061665"/>
          </a:xfrm>
          <a:prstGeom prst="rect">
            <a:avLst/>
          </a:prstGeom>
        </p:spPr>
        <p:txBody>
          <a:bodyPr lIns="0" tIns="0" rIns="0" bIns="0" rtlCol="0" anchor="t">
            <a:spAutoFit/>
          </a:bodyPr>
          <a:lstStyle/>
          <a:p>
            <a:pPr marL="581048" lvl="1" indent="-290524" algn="l">
              <a:lnSpc>
                <a:spcPts val="3229"/>
              </a:lnSpc>
              <a:buFont typeface="Arial"/>
              <a:buChar char="•"/>
            </a:pPr>
            <a:r>
              <a:rPr lang="en-US" sz="2691">
                <a:solidFill>
                  <a:srgbClr val="000000"/>
                </a:solidFill>
                <a:latin typeface="Times New Roman"/>
                <a:ea typeface="Times New Roman"/>
                <a:cs typeface="Times New Roman"/>
                <a:sym typeface="Times New Roman"/>
              </a:rPr>
              <a:t>Trained using Cross-Entropy Loss</a:t>
            </a:r>
          </a:p>
          <a:p>
            <a:pPr marL="581048" lvl="1" indent="-290524" algn="l">
              <a:lnSpc>
                <a:spcPts val="3229"/>
              </a:lnSpc>
              <a:buFont typeface="Arial"/>
              <a:buChar char="•"/>
            </a:pPr>
            <a:r>
              <a:rPr lang="en-US" sz="2691">
                <a:solidFill>
                  <a:srgbClr val="000000"/>
                </a:solidFill>
                <a:latin typeface="Times New Roman"/>
                <a:ea typeface="Times New Roman"/>
                <a:cs typeface="Times New Roman"/>
                <a:sym typeface="Times New Roman"/>
              </a:rPr>
              <a:t>Higher initial loss due to sequential prediction complexity</a:t>
            </a:r>
          </a:p>
          <a:p>
            <a:pPr marL="581048" lvl="1" indent="-290524" algn="l">
              <a:lnSpc>
                <a:spcPts val="3229"/>
              </a:lnSpc>
              <a:buFont typeface="Arial"/>
              <a:buChar char="•"/>
            </a:pPr>
            <a:r>
              <a:rPr lang="en-US" sz="2691">
                <a:solidFill>
                  <a:srgbClr val="000000"/>
                </a:solidFill>
                <a:latin typeface="Times New Roman"/>
                <a:ea typeface="Times New Roman"/>
                <a:cs typeface="Times New Roman"/>
                <a:sym typeface="Times New Roman"/>
              </a:rPr>
              <a:t>Learns short-term eating behavior</a:t>
            </a:r>
          </a:p>
          <a:p>
            <a:pPr marL="581048" lvl="1" indent="-290524" algn="l">
              <a:lnSpc>
                <a:spcPts val="3229"/>
              </a:lnSpc>
              <a:buFont typeface="Arial"/>
              <a:buChar char="•"/>
            </a:pPr>
            <a:r>
              <a:rPr lang="en-US" sz="2691">
                <a:solidFill>
                  <a:srgbClr val="000000"/>
                </a:solidFill>
                <a:latin typeface="Times New Roman"/>
                <a:ea typeface="Times New Roman"/>
                <a:cs typeface="Times New Roman"/>
                <a:sym typeface="Times New Roman"/>
              </a:rPr>
              <a:t>PCA shows structured food embedding space</a:t>
            </a:r>
          </a:p>
          <a:p>
            <a:pPr algn="l">
              <a:lnSpc>
                <a:spcPts val="3229"/>
              </a:lnSpc>
            </a:pPr>
            <a:endParaRPr lang="en-US" sz="2691">
              <a:solidFill>
                <a:srgbClr val="000000"/>
              </a:solidFill>
              <a:latin typeface="Times New Roman"/>
              <a:ea typeface="Times New Roman"/>
              <a:cs typeface="Times New Roman"/>
              <a:sym typeface="Times New Roman"/>
            </a:endParaRPr>
          </a:p>
        </p:txBody>
      </p:sp>
      <p:grpSp>
        <p:nvGrpSpPr>
          <p:cNvPr id="15" name="Group 15"/>
          <p:cNvGrpSpPr/>
          <p:nvPr/>
        </p:nvGrpSpPr>
        <p:grpSpPr>
          <a:xfrm>
            <a:off x="1257300" y="9534525"/>
            <a:ext cx="4114800" cy="547688"/>
            <a:chOff x="0" y="0"/>
            <a:chExt cx="5486400" cy="730250"/>
          </a:xfrm>
        </p:grpSpPr>
        <p:sp>
          <p:nvSpPr>
            <p:cNvPr id="16" name="Freeform 16"/>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7" name="TextBox 17"/>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8" name="TextBox 18"/>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638900"/>
            <a:chOff x="0" y="0"/>
            <a:chExt cx="21031200" cy="2185200"/>
          </a:xfrm>
        </p:grpSpPr>
        <p:sp>
          <p:nvSpPr>
            <p:cNvPr id="3" name="Freeform 3"/>
            <p:cNvSpPr/>
            <p:nvPr/>
          </p:nvSpPr>
          <p:spPr>
            <a:xfrm>
              <a:off x="0" y="0"/>
              <a:ext cx="21031200" cy="2185200"/>
            </a:xfrm>
            <a:custGeom>
              <a:avLst/>
              <a:gdLst/>
              <a:ahLst/>
              <a:cxnLst/>
              <a:rect l="l" t="t" r="r" b="b"/>
              <a:pathLst>
                <a:path w="21031200" h="2185200">
                  <a:moveTo>
                    <a:pt x="0" y="0"/>
                  </a:moveTo>
                  <a:lnTo>
                    <a:pt x="21031200" y="0"/>
                  </a:lnTo>
                  <a:lnTo>
                    <a:pt x="21031200" y="2185200"/>
                  </a:lnTo>
                  <a:lnTo>
                    <a:pt x="0" y="2185200"/>
                  </a:lnTo>
                  <a:close/>
                </a:path>
              </a:pathLst>
            </a:custGeom>
            <a:solidFill>
              <a:srgbClr val="000000">
                <a:alpha val="0"/>
              </a:srgbClr>
            </a:solidFill>
          </p:spPr>
        </p:sp>
        <p:sp>
          <p:nvSpPr>
            <p:cNvPr id="4" name="TextBox 4"/>
            <p:cNvSpPr txBox="1"/>
            <p:nvPr/>
          </p:nvSpPr>
          <p:spPr>
            <a:xfrm>
              <a:off x="0" y="38100"/>
              <a:ext cx="21031200" cy="21471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Result Analysis</a:t>
              </a:r>
            </a:p>
          </p:txBody>
        </p:sp>
      </p:grpSp>
      <p:grpSp>
        <p:nvGrpSpPr>
          <p:cNvPr id="5" name="Group 5"/>
          <p:cNvGrpSpPr/>
          <p:nvPr/>
        </p:nvGrpSpPr>
        <p:grpSpPr>
          <a:xfrm>
            <a:off x="6057900" y="9534525"/>
            <a:ext cx="6172200" cy="547650"/>
            <a:chOff x="0" y="0"/>
            <a:chExt cx="8229600" cy="730200"/>
          </a:xfrm>
        </p:grpSpPr>
        <p:sp>
          <p:nvSpPr>
            <p:cNvPr id="6" name="Freeform 6"/>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7" name="TextBox 7"/>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8" name="Group 8"/>
          <p:cNvGrpSpPr/>
          <p:nvPr/>
        </p:nvGrpSpPr>
        <p:grpSpPr>
          <a:xfrm>
            <a:off x="12915900" y="9534525"/>
            <a:ext cx="4114800" cy="547650"/>
            <a:chOff x="0" y="0"/>
            <a:chExt cx="5486400" cy="730200"/>
          </a:xfrm>
        </p:grpSpPr>
        <p:sp>
          <p:nvSpPr>
            <p:cNvPr id="9" name="Freeform 9"/>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0" name="TextBox 10"/>
            <p:cNvSpPr txBox="1"/>
            <p:nvPr/>
          </p:nvSpPr>
          <p:spPr>
            <a:xfrm>
              <a:off x="0" y="-38100"/>
              <a:ext cx="5486400" cy="76830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30</a:t>
              </a:r>
            </a:p>
          </p:txBody>
        </p:sp>
      </p:grpSp>
      <p:sp>
        <p:nvSpPr>
          <p:cNvPr id="11" name="Freeform 11"/>
          <p:cNvSpPr/>
          <p:nvPr/>
        </p:nvSpPr>
        <p:spPr>
          <a:xfrm>
            <a:off x="8677123" y="3622162"/>
            <a:ext cx="8353577" cy="5649107"/>
          </a:xfrm>
          <a:custGeom>
            <a:avLst/>
            <a:gdLst/>
            <a:ahLst/>
            <a:cxnLst/>
            <a:rect l="l" t="t" r="r" b="b"/>
            <a:pathLst>
              <a:path w="8353577" h="5649107">
                <a:moveTo>
                  <a:pt x="0" y="0"/>
                </a:moveTo>
                <a:lnTo>
                  <a:pt x="8353577" y="0"/>
                </a:lnTo>
                <a:lnTo>
                  <a:pt x="8353577" y="5649106"/>
                </a:lnTo>
                <a:lnTo>
                  <a:pt x="0" y="5649106"/>
                </a:lnTo>
                <a:lnTo>
                  <a:pt x="0" y="0"/>
                </a:lnTo>
                <a:close/>
              </a:path>
            </a:pathLst>
          </a:custGeom>
          <a:blipFill>
            <a:blip r:embed="rId3"/>
            <a:stretch>
              <a:fillRect/>
            </a:stretch>
          </a:blipFill>
        </p:spPr>
      </p:sp>
      <p:sp>
        <p:nvSpPr>
          <p:cNvPr id="12" name="TextBox 12"/>
          <p:cNvSpPr txBox="1"/>
          <p:nvPr/>
        </p:nvSpPr>
        <p:spPr>
          <a:xfrm>
            <a:off x="947100" y="1829400"/>
            <a:ext cx="16393800" cy="685800"/>
          </a:xfrm>
          <a:prstGeom prst="rect">
            <a:avLst/>
          </a:prstGeom>
        </p:spPr>
        <p:txBody>
          <a:bodyPr lIns="0" tIns="0" rIns="0" bIns="0" rtlCol="0" anchor="t">
            <a:spAutoFit/>
          </a:bodyPr>
          <a:lstStyle/>
          <a:p>
            <a:pPr algn="ctr">
              <a:lnSpc>
                <a:spcPts val="5219"/>
              </a:lnSpc>
            </a:pPr>
            <a:r>
              <a:rPr lang="en-US" sz="4349">
                <a:solidFill>
                  <a:srgbClr val="000000"/>
                </a:solidFill>
                <a:latin typeface="Times New Roman"/>
                <a:ea typeface="Times New Roman"/>
                <a:cs typeface="Times New Roman"/>
                <a:sym typeface="Times New Roman"/>
              </a:rPr>
              <a:t>Hybrid Recommendation Model – Performance</a:t>
            </a:r>
          </a:p>
        </p:txBody>
      </p:sp>
      <p:sp>
        <p:nvSpPr>
          <p:cNvPr id="13" name="TextBox 13"/>
          <p:cNvSpPr txBox="1"/>
          <p:nvPr/>
        </p:nvSpPr>
        <p:spPr>
          <a:xfrm>
            <a:off x="1257300" y="2936050"/>
            <a:ext cx="10142666" cy="2061665"/>
          </a:xfrm>
          <a:prstGeom prst="rect">
            <a:avLst/>
          </a:prstGeom>
        </p:spPr>
        <p:txBody>
          <a:bodyPr lIns="0" tIns="0" rIns="0" bIns="0" rtlCol="0" anchor="t">
            <a:spAutoFit/>
          </a:bodyPr>
          <a:lstStyle/>
          <a:p>
            <a:pPr marL="581048" lvl="1" indent="-290524" algn="l">
              <a:lnSpc>
                <a:spcPts val="3229"/>
              </a:lnSpc>
              <a:buFont typeface="Arial"/>
              <a:buChar char="•"/>
            </a:pPr>
            <a:r>
              <a:rPr lang="en-US" sz="2691">
                <a:solidFill>
                  <a:srgbClr val="000000"/>
                </a:solidFill>
                <a:latin typeface="Times New Roman"/>
                <a:ea typeface="Times New Roman"/>
                <a:cs typeface="Times New Roman"/>
                <a:sym typeface="Times New Roman"/>
              </a:rPr>
              <a:t>Hybrid model combines MF + Sequence + Content scores</a:t>
            </a:r>
          </a:p>
          <a:p>
            <a:pPr marL="581048" lvl="1" indent="-290524" algn="l">
              <a:lnSpc>
                <a:spcPts val="3229"/>
              </a:lnSpc>
              <a:buFont typeface="Arial"/>
              <a:buChar char="•"/>
            </a:pPr>
            <a:r>
              <a:rPr lang="en-US" sz="2691">
                <a:solidFill>
                  <a:srgbClr val="000000"/>
                </a:solidFill>
                <a:latin typeface="Times New Roman"/>
                <a:ea typeface="Times New Roman"/>
                <a:cs typeface="Times New Roman"/>
                <a:sym typeface="Times New Roman"/>
              </a:rPr>
              <a:t>Not trained directly</a:t>
            </a:r>
          </a:p>
          <a:p>
            <a:pPr marL="581048" lvl="1" indent="-290524" algn="l">
              <a:lnSpc>
                <a:spcPts val="3229"/>
              </a:lnSpc>
              <a:buFont typeface="Arial"/>
              <a:buChar char="•"/>
            </a:pPr>
            <a:r>
              <a:rPr lang="en-US" sz="2691">
                <a:solidFill>
                  <a:srgbClr val="000000"/>
                </a:solidFill>
                <a:latin typeface="Times New Roman"/>
                <a:ea typeface="Times New Roman"/>
                <a:cs typeface="Times New Roman"/>
                <a:sym typeface="Times New Roman"/>
              </a:rPr>
              <a:t>Pseudo-loss used for evaluation</a:t>
            </a:r>
          </a:p>
          <a:p>
            <a:pPr marL="581048" lvl="1" indent="-290524" algn="l">
              <a:lnSpc>
                <a:spcPts val="3229"/>
              </a:lnSpc>
              <a:buFont typeface="Arial"/>
              <a:buChar char="•"/>
            </a:pPr>
            <a:r>
              <a:rPr lang="en-US" sz="2691">
                <a:solidFill>
                  <a:srgbClr val="000000"/>
                </a:solidFill>
                <a:latin typeface="Times New Roman"/>
                <a:ea typeface="Times New Roman"/>
                <a:cs typeface="Times New Roman"/>
                <a:sym typeface="Times New Roman"/>
              </a:rPr>
              <a:t>Shows smoother and more stable convergence</a:t>
            </a:r>
          </a:p>
          <a:p>
            <a:pPr algn="l">
              <a:lnSpc>
                <a:spcPts val="3229"/>
              </a:lnSpc>
            </a:pPr>
            <a:endParaRPr lang="en-US" sz="2691">
              <a:solidFill>
                <a:srgbClr val="000000"/>
              </a:solidFill>
              <a:latin typeface="Times New Roman"/>
              <a:ea typeface="Times New Roman"/>
              <a:cs typeface="Times New Roman"/>
              <a:sym typeface="Times New Roman"/>
            </a:endParaRPr>
          </a:p>
        </p:txBody>
      </p:sp>
      <p:grpSp>
        <p:nvGrpSpPr>
          <p:cNvPr id="14" name="Group 14"/>
          <p:cNvGrpSpPr/>
          <p:nvPr/>
        </p:nvGrpSpPr>
        <p:grpSpPr>
          <a:xfrm>
            <a:off x="1257300" y="9534525"/>
            <a:ext cx="4114800" cy="547688"/>
            <a:chOff x="0" y="0"/>
            <a:chExt cx="5486400" cy="730250"/>
          </a:xfrm>
        </p:grpSpPr>
        <p:sp>
          <p:nvSpPr>
            <p:cNvPr id="15" name="Freeform 15"/>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6" name="TextBox 16"/>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7" name="TextBox 17"/>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638900"/>
            <a:chOff x="0" y="0"/>
            <a:chExt cx="21031200" cy="2185200"/>
          </a:xfrm>
        </p:grpSpPr>
        <p:sp>
          <p:nvSpPr>
            <p:cNvPr id="3" name="Freeform 3"/>
            <p:cNvSpPr/>
            <p:nvPr/>
          </p:nvSpPr>
          <p:spPr>
            <a:xfrm>
              <a:off x="0" y="0"/>
              <a:ext cx="21031200" cy="2185200"/>
            </a:xfrm>
            <a:custGeom>
              <a:avLst/>
              <a:gdLst/>
              <a:ahLst/>
              <a:cxnLst/>
              <a:rect l="l" t="t" r="r" b="b"/>
              <a:pathLst>
                <a:path w="21031200" h="2185200">
                  <a:moveTo>
                    <a:pt x="0" y="0"/>
                  </a:moveTo>
                  <a:lnTo>
                    <a:pt x="21031200" y="0"/>
                  </a:lnTo>
                  <a:lnTo>
                    <a:pt x="21031200" y="2185200"/>
                  </a:lnTo>
                  <a:lnTo>
                    <a:pt x="0" y="2185200"/>
                  </a:lnTo>
                  <a:close/>
                </a:path>
              </a:pathLst>
            </a:custGeom>
            <a:solidFill>
              <a:srgbClr val="000000">
                <a:alpha val="0"/>
              </a:srgbClr>
            </a:solidFill>
          </p:spPr>
        </p:sp>
        <p:sp>
          <p:nvSpPr>
            <p:cNvPr id="4" name="TextBox 4"/>
            <p:cNvSpPr txBox="1"/>
            <p:nvPr/>
          </p:nvSpPr>
          <p:spPr>
            <a:xfrm>
              <a:off x="0" y="38100"/>
              <a:ext cx="21031200" cy="21471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Result Analysis</a:t>
              </a:r>
            </a:p>
          </p:txBody>
        </p:sp>
      </p:grpSp>
      <p:grpSp>
        <p:nvGrpSpPr>
          <p:cNvPr id="5" name="Group 5"/>
          <p:cNvGrpSpPr/>
          <p:nvPr/>
        </p:nvGrpSpPr>
        <p:grpSpPr>
          <a:xfrm>
            <a:off x="6057900" y="9534525"/>
            <a:ext cx="6172200" cy="547650"/>
            <a:chOff x="0" y="0"/>
            <a:chExt cx="8229600" cy="730200"/>
          </a:xfrm>
        </p:grpSpPr>
        <p:sp>
          <p:nvSpPr>
            <p:cNvPr id="6" name="Freeform 6"/>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7" name="TextBox 7"/>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8" name="Group 8"/>
          <p:cNvGrpSpPr/>
          <p:nvPr/>
        </p:nvGrpSpPr>
        <p:grpSpPr>
          <a:xfrm>
            <a:off x="12915900" y="9534525"/>
            <a:ext cx="4114800" cy="547650"/>
            <a:chOff x="0" y="0"/>
            <a:chExt cx="5486400" cy="730200"/>
          </a:xfrm>
        </p:grpSpPr>
        <p:sp>
          <p:nvSpPr>
            <p:cNvPr id="9" name="Freeform 9"/>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0" name="TextBox 10"/>
            <p:cNvSpPr txBox="1"/>
            <p:nvPr/>
          </p:nvSpPr>
          <p:spPr>
            <a:xfrm>
              <a:off x="0" y="-38100"/>
              <a:ext cx="5486400" cy="76830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31</a:t>
              </a:r>
            </a:p>
          </p:txBody>
        </p:sp>
      </p:grpSp>
      <p:sp>
        <p:nvSpPr>
          <p:cNvPr id="11" name="TextBox 11"/>
          <p:cNvSpPr txBox="1"/>
          <p:nvPr/>
        </p:nvSpPr>
        <p:spPr>
          <a:xfrm>
            <a:off x="1257300" y="2936050"/>
            <a:ext cx="10142666" cy="2895600"/>
          </a:xfrm>
          <a:prstGeom prst="rect">
            <a:avLst/>
          </a:prstGeom>
        </p:spPr>
        <p:txBody>
          <a:bodyPr lIns="0" tIns="0" rIns="0" bIns="0" rtlCol="0" anchor="t">
            <a:spAutoFit/>
          </a:bodyPr>
          <a:lstStyle/>
          <a:p>
            <a:pPr marL="581048" lvl="1" indent="-290524" algn="l">
              <a:lnSpc>
                <a:spcPts val="3229"/>
              </a:lnSpc>
              <a:buFont typeface="Arial"/>
              <a:buChar char="•"/>
            </a:pPr>
            <a:r>
              <a:rPr lang="en-US" sz="2691">
                <a:solidFill>
                  <a:srgbClr val="000000"/>
                </a:solidFill>
                <a:latin typeface="Times New Roman"/>
                <a:ea typeface="Times New Roman"/>
                <a:cs typeface="Times New Roman"/>
                <a:sym typeface="Times New Roman"/>
              </a:rPr>
              <a:t>MF Loss: Binary Cross-Entropy</a:t>
            </a:r>
          </a:p>
          <a:p>
            <a:pPr marL="581048" lvl="1" indent="-290524" algn="l">
              <a:lnSpc>
                <a:spcPts val="3229"/>
              </a:lnSpc>
              <a:buFont typeface="Arial"/>
              <a:buChar char="•"/>
            </a:pPr>
            <a:r>
              <a:rPr lang="en-US" sz="2691">
                <a:solidFill>
                  <a:srgbClr val="000000"/>
                </a:solidFill>
                <a:latin typeface="Times New Roman"/>
                <a:ea typeface="Times New Roman"/>
                <a:cs typeface="Times New Roman"/>
                <a:sym typeface="Times New Roman"/>
              </a:rPr>
              <a:t>Sequence Loss: Cross-Entropy</a:t>
            </a:r>
          </a:p>
          <a:p>
            <a:pPr marL="581048" lvl="1" indent="-290524" algn="l">
              <a:lnSpc>
                <a:spcPts val="3229"/>
              </a:lnSpc>
              <a:buFont typeface="Arial"/>
              <a:buChar char="•"/>
            </a:pPr>
            <a:r>
              <a:rPr lang="en-US" sz="2691">
                <a:solidFill>
                  <a:srgbClr val="000000"/>
                </a:solidFill>
                <a:latin typeface="Times New Roman"/>
                <a:ea typeface="Times New Roman"/>
                <a:cs typeface="Times New Roman"/>
                <a:sym typeface="Times New Roman"/>
              </a:rPr>
              <a:t>Hybrid Loss:</a:t>
            </a:r>
          </a:p>
          <a:p>
            <a:pPr algn="l">
              <a:lnSpc>
                <a:spcPts val="3229"/>
              </a:lnSpc>
            </a:pPr>
            <a:endParaRPr lang="en-US" sz="2691">
              <a:solidFill>
                <a:srgbClr val="000000"/>
              </a:solidFill>
              <a:latin typeface="Times New Roman"/>
              <a:ea typeface="Times New Roman"/>
              <a:cs typeface="Times New Roman"/>
              <a:sym typeface="Times New Roman"/>
            </a:endParaRPr>
          </a:p>
          <a:p>
            <a:pPr algn="l">
              <a:lnSpc>
                <a:spcPts val="3229"/>
              </a:lnSpc>
            </a:pPr>
            <a:endParaRPr lang="en-US" sz="2691">
              <a:solidFill>
                <a:srgbClr val="000000"/>
              </a:solidFill>
              <a:latin typeface="Times New Roman"/>
              <a:ea typeface="Times New Roman"/>
              <a:cs typeface="Times New Roman"/>
              <a:sym typeface="Times New Roman"/>
            </a:endParaRPr>
          </a:p>
          <a:p>
            <a:pPr marL="581048" lvl="1" indent="-290524" algn="l">
              <a:lnSpc>
                <a:spcPts val="3229"/>
              </a:lnSpc>
              <a:buFont typeface="Arial"/>
              <a:buChar char="•"/>
            </a:pPr>
            <a:r>
              <a:rPr lang="en-US" sz="2691">
                <a:solidFill>
                  <a:srgbClr val="000000"/>
                </a:solidFill>
                <a:latin typeface="Times New Roman"/>
                <a:ea typeface="Times New Roman"/>
                <a:cs typeface="Times New Roman"/>
                <a:sym typeface="Times New Roman"/>
              </a:rPr>
              <a:t>Hybrid loss used only for visualization</a:t>
            </a:r>
          </a:p>
          <a:p>
            <a:pPr algn="l">
              <a:lnSpc>
                <a:spcPts val="3229"/>
              </a:lnSpc>
            </a:pPr>
            <a:endParaRPr lang="en-US" sz="2691">
              <a:solidFill>
                <a:srgbClr val="000000"/>
              </a:solidFill>
              <a:latin typeface="Times New Roman"/>
              <a:ea typeface="Times New Roman"/>
              <a:cs typeface="Times New Roman"/>
              <a:sym typeface="Times New Roman"/>
            </a:endParaRPr>
          </a:p>
        </p:txBody>
      </p:sp>
      <p:sp>
        <p:nvSpPr>
          <p:cNvPr id="12" name="Freeform 12"/>
          <p:cNvSpPr/>
          <p:nvPr/>
        </p:nvSpPr>
        <p:spPr>
          <a:xfrm>
            <a:off x="3777859" y="4022456"/>
            <a:ext cx="4166651" cy="751363"/>
          </a:xfrm>
          <a:custGeom>
            <a:avLst/>
            <a:gdLst/>
            <a:ahLst/>
            <a:cxnLst/>
            <a:rect l="l" t="t" r="r" b="b"/>
            <a:pathLst>
              <a:path w="4166651" h="751363">
                <a:moveTo>
                  <a:pt x="0" y="0"/>
                </a:moveTo>
                <a:lnTo>
                  <a:pt x="4166651" y="0"/>
                </a:lnTo>
                <a:lnTo>
                  <a:pt x="4166651" y="751364"/>
                </a:lnTo>
                <a:lnTo>
                  <a:pt x="0" y="751364"/>
                </a:lnTo>
                <a:lnTo>
                  <a:pt x="0" y="0"/>
                </a:lnTo>
                <a:close/>
              </a:path>
            </a:pathLst>
          </a:custGeom>
          <a:blipFill>
            <a:blip r:embed="rId3"/>
            <a:stretch>
              <a:fillRect/>
            </a:stretch>
          </a:blipFill>
        </p:spPr>
      </p:sp>
      <p:sp>
        <p:nvSpPr>
          <p:cNvPr id="13" name="Freeform 13"/>
          <p:cNvSpPr/>
          <p:nvPr/>
        </p:nvSpPr>
        <p:spPr>
          <a:xfrm>
            <a:off x="4442480" y="5669700"/>
            <a:ext cx="5715083" cy="3864825"/>
          </a:xfrm>
          <a:custGeom>
            <a:avLst/>
            <a:gdLst/>
            <a:ahLst/>
            <a:cxnLst/>
            <a:rect l="l" t="t" r="r" b="b"/>
            <a:pathLst>
              <a:path w="5715083" h="3864825">
                <a:moveTo>
                  <a:pt x="0" y="0"/>
                </a:moveTo>
                <a:lnTo>
                  <a:pt x="5715083" y="0"/>
                </a:lnTo>
                <a:lnTo>
                  <a:pt x="5715083" y="3864825"/>
                </a:lnTo>
                <a:lnTo>
                  <a:pt x="0" y="3864825"/>
                </a:lnTo>
                <a:lnTo>
                  <a:pt x="0" y="0"/>
                </a:lnTo>
                <a:close/>
              </a:path>
            </a:pathLst>
          </a:custGeom>
          <a:blipFill>
            <a:blip r:embed="rId4"/>
            <a:stretch>
              <a:fillRect/>
            </a:stretch>
          </a:blipFill>
        </p:spPr>
      </p:sp>
      <p:sp>
        <p:nvSpPr>
          <p:cNvPr id="14" name="Freeform 14"/>
          <p:cNvSpPr/>
          <p:nvPr/>
        </p:nvSpPr>
        <p:spPr>
          <a:xfrm>
            <a:off x="10877468" y="2888077"/>
            <a:ext cx="6381832" cy="4267850"/>
          </a:xfrm>
          <a:custGeom>
            <a:avLst/>
            <a:gdLst/>
            <a:ahLst/>
            <a:cxnLst/>
            <a:rect l="l" t="t" r="r" b="b"/>
            <a:pathLst>
              <a:path w="6381832" h="4267850">
                <a:moveTo>
                  <a:pt x="0" y="0"/>
                </a:moveTo>
                <a:lnTo>
                  <a:pt x="6381832" y="0"/>
                </a:lnTo>
                <a:lnTo>
                  <a:pt x="6381832" y="4267851"/>
                </a:lnTo>
                <a:lnTo>
                  <a:pt x="0" y="4267851"/>
                </a:lnTo>
                <a:lnTo>
                  <a:pt x="0" y="0"/>
                </a:lnTo>
                <a:close/>
              </a:path>
            </a:pathLst>
          </a:custGeom>
          <a:blipFill>
            <a:blip r:embed="rId5"/>
            <a:stretch>
              <a:fillRect/>
            </a:stretch>
          </a:blipFill>
        </p:spPr>
      </p:sp>
      <p:sp>
        <p:nvSpPr>
          <p:cNvPr id="15" name="TextBox 15"/>
          <p:cNvSpPr txBox="1"/>
          <p:nvPr/>
        </p:nvSpPr>
        <p:spPr>
          <a:xfrm>
            <a:off x="947100" y="1829400"/>
            <a:ext cx="16393800" cy="685800"/>
          </a:xfrm>
          <a:prstGeom prst="rect">
            <a:avLst/>
          </a:prstGeom>
        </p:spPr>
        <p:txBody>
          <a:bodyPr lIns="0" tIns="0" rIns="0" bIns="0" rtlCol="0" anchor="t">
            <a:spAutoFit/>
          </a:bodyPr>
          <a:lstStyle/>
          <a:p>
            <a:pPr algn="ctr">
              <a:lnSpc>
                <a:spcPts val="5219"/>
              </a:lnSpc>
            </a:pPr>
            <a:r>
              <a:rPr lang="en-US" sz="4349">
                <a:solidFill>
                  <a:srgbClr val="000000"/>
                </a:solidFill>
                <a:latin typeface="Times New Roman"/>
                <a:ea typeface="Times New Roman"/>
                <a:cs typeface="Times New Roman"/>
                <a:sym typeface="Times New Roman"/>
              </a:rPr>
              <a:t>Loss Function Summary</a:t>
            </a:r>
          </a:p>
        </p:txBody>
      </p:sp>
      <p:grpSp>
        <p:nvGrpSpPr>
          <p:cNvPr id="16" name="Group 16"/>
          <p:cNvGrpSpPr/>
          <p:nvPr/>
        </p:nvGrpSpPr>
        <p:grpSpPr>
          <a:xfrm>
            <a:off x="1257300" y="9534525"/>
            <a:ext cx="4114800" cy="547688"/>
            <a:chOff x="0" y="0"/>
            <a:chExt cx="5486400" cy="730250"/>
          </a:xfrm>
        </p:grpSpPr>
        <p:sp>
          <p:nvSpPr>
            <p:cNvPr id="17" name="Freeform 17"/>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8" name="TextBox 18"/>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9" name="TextBox 19"/>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638900"/>
            <a:chOff x="0" y="0"/>
            <a:chExt cx="21031200" cy="2185200"/>
          </a:xfrm>
        </p:grpSpPr>
        <p:sp>
          <p:nvSpPr>
            <p:cNvPr id="3" name="Freeform 3"/>
            <p:cNvSpPr/>
            <p:nvPr/>
          </p:nvSpPr>
          <p:spPr>
            <a:xfrm>
              <a:off x="0" y="0"/>
              <a:ext cx="21031200" cy="2185200"/>
            </a:xfrm>
            <a:custGeom>
              <a:avLst/>
              <a:gdLst/>
              <a:ahLst/>
              <a:cxnLst/>
              <a:rect l="l" t="t" r="r" b="b"/>
              <a:pathLst>
                <a:path w="21031200" h="2185200">
                  <a:moveTo>
                    <a:pt x="0" y="0"/>
                  </a:moveTo>
                  <a:lnTo>
                    <a:pt x="21031200" y="0"/>
                  </a:lnTo>
                  <a:lnTo>
                    <a:pt x="21031200" y="2185200"/>
                  </a:lnTo>
                  <a:lnTo>
                    <a:pt x="0" y="2185200"/>
                  </a:lnTo>
                  <a:close/>
                </a:path>
              </a:pathLst>
            </a:custGeom>
            <a:solidFill>
              <a:srgbClr val="000000">
                <a:alpha val="0"/>
              </a:srgbClr>
            </a:solidFill>
          </p:spPr>
        </p:sp>
        <p:sp>
          <p:nvSpPr>
            <p:cNvPr id="4" name="TextBox 4"/>
            <p:cNvSpPr txBox="1"/>
            <p:nvPr/>
          </p:nvSpPr>
          <p:spPr>
            <a:xfrm>
              <a:off x="0" y="38100"/>
              <a:ext cx="21031200" cy="21471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Result Analysis</a:t>
              </a:r>
            </a:p>
          </p:txBody>
        </p:sp>
      </p:grpSp>
      <p:grpSp>
        <p:nvGrpSpPr>
          <p:cNvPr id="5" name="Group 5"/>
          <p:cNvGrpSpPr/>
          <p:nvPr/>
        </p:nvGrpSpPr>
        <p:grpSpPr>
          <a:xfrm>
            <a:off x="6057900" y="9534525"/>
            <a:ext cx="6172200" cy="547650"/>
            <a:chOff x="0" y="0"/>
            <a:chExt cx="8229600" cy="730200"/>
          </a:xfrm>
        </p:grpSpPr>
        <p:sp>
          <p:nvSpPr>
            <p:cNvPr id="6" name="Freeform 6"/>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7" name="TextBox 7"/>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8" name="Group 8"/>
          <p:cNvGrpSpPr/>
          <p:nvPr/>
        </p:nvGrpSpPr>
        <p:grpSpPr>
          <a:xfrm>
            <a:off x="12915900" y="9534525"/>
            <a:ext cx="4114800" cy="547650"/>
            <a:chOff x="0" y="0"/>
            <a:chExt cx="5486400" cy="730200"/>
          </a:xfrm>
        </p:grpSpPr>
        <p:sp>
          <p:nvSpPr>
            <p:cNvPr id="9" name="Freeform 9"/>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0" name="TextBox 10"/>
            <p:cNvSpPr txBox="1"/>
            <p:nvPr/>
          </p:nvSpPr>
          <p:spPr>
            <a:xfrm>
              <a:off x="0" y="-38100"/>
              <a:ext cx="5486400" cy="76830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32</a:t>
              </a:r>
            </a:p>
          </p:txBody>
        </p:sp>
      </p:grpSp>
      <p:sp>
        <p:nvSpPr>
          <p:cNvPr id="11" name="Freeform 11"/>
          <p:cNvSpPr/>
          <p:nvPr/>
        </p:nvSpPr>
        <p:spPr>
          <a:xfrm>
            <a:off x="12230100" y="2588382"/>
            <a:ext cx="5029200" cy="3465476"/>
          </a:xfrm>
          <a:custGeom>
            <a:avLst/>
            <a:gdLst/>
            <a:ahLst/>
            <a:cxnLst/>
            <a:rect l="l" t="t" r="r" b="b"/>
            <a:pathLst>
              <a:path w="5029200" h="3465476">
                <a:moveTo>
                  <a:pt x="0" y="0"/>
                </a:moveTo>
                <a:lnTo>
                  <a:pt x="5029200" y="0"/>
                </a:lnTo>
                <a:lnTo>
                  <a:pt x="5029200" y="3465476"/>
                </a:lnTo>
                <a:lnTo>
                  <a:pt x="0" y="3465476"/>
                </a:lnTo>
                <a:lnTo>
                  <a:pt x="0" y="0"/>
                </a:lnTo>
                <a:close/>
              </a:path>
            </a:pathLst>
          </a:custGeom>
          <a:blipFill>
            <a:blip r:embed="rId3"/>
            <a:stretch>
              <a:fillRect/>
            </a:stretch>
          </a:blipFill>
        </p:spPr>
      </p:sp>
      <p:sp>
        <p:nvSpPr>
          <p:cNvPr id="12" name="Freeform 12"/>
          <p:cNvSpPr/>
          <p:nvPr/>
        </p:nvSpPr>
        <p:spPr>
          <a:xfrm>
            <a:off x="12230100" y="5934669"/>
            <a:ext cx="5029200" cy="3465476"/>
          </a:xfrm>
          <a:custGeom>
            <a:avLst/>
            <a:gdLst/>
            <a:ahLst/>
            <a:cxnLst/>
            <a:rect l="l" t="t" r="r" b="b"/>
            <a:pathLst>
              <a:path w="5029200" h="3465476">
                <a:moveTo>
                  <a:pt x="0" y="0"/>
                </a:moveTo>
                <a:lnTo>
                  <a:pt x="5029200" y="0"/>
                </a:lnTo>
                <a:lnTo>
                  <a:pt x="5029200" y="3465476"/>
                </a:lnTo>
                <a:lnTo>
                  <a:pt x="0" y="3465476"/>
                </a:lnTo>
                <a:lnTo>
                  <a:pt x="0" y="0"/>
                </a:lnTo>
                <a:close/>
              </a:path>
            </a:pathLst>
          </a:custGeom>
          <a:blipFill>
            <a:blip r:embed="rId4"/>
            <a:stretch>
              <a:fillRect/>
            </a:stretch>
          </a:blipFill>
        </p:spPr>
      </p:sp>
      <p:sp>
        <p:nvSpPr>
          <p:cNvPr id="13" name="Freeform 13"/>
          <p:cNvSpPr/>
          <p:nvPr/>
        </p:nvSpPr>
        <p:spPr>
          <a:xfrm>
            <a:off x="943612" y="6053858"/>
            <a:ext cx="5590940" cy="3123938"/>
          </a:xfrm>
          <a:custGeom>
            <a:avLst/>
            <a:gdLst/>
            <a:ahLst/>
            <a:cxnLst/>
            <a:rect l="l" t="t" r="r" b="b"/>
            <a:pathLst>
              <a:path w="5590940" h="3123938">
                <a:moveTo>
                  <a:pt x="0" y="0"/>
                </a:moveTo>
                <a:lnTo>
                  <a:pt x="5590940" y="0"/>
                </a:lnTo>
                <a:lnTo>
                  <a:pt x="5590940" y="3123938"/>
                </a:lnTo>
                <a:lnTo>
                  <a:pt x="0" y="3123938"/>
                </a:lnTo>
                <a:lnTo>
                  <a:pt x="0" y="0"/>
                </a:lnTo>
                <a:close/>
              </a:path>
            </a:pathLst>
          </a:custGeom>
          <a:blipFill>
            <a:blip r:embed="rId5"/>
            <a:stretch>
              <a:fillRect/>
            </a:stretch>
          </a:blipFill>
        </p:spPr>
      </p:sp>
      <p:sp>
        <p:nvSpPr>
          <p:cNvPr id="14" name="Freeform 14"/>
          <p:cNvSpPr/>
          <p:nvPr/>
        </p:nvSpPr>
        <p:spPr>
          <a:xfrm>
            <a:off x="6887521" y="6053858"/>
            <a:ext cx="5553667" cy="3123938"/>
          </a:xfrm>
          <a:custGeom>
            <a:avLst/>
            <a:gdLst/>
            <a:ahLst/>
            <a:cxnLst/>
            <a:rect l="l" t="t" r="r" b="b"/>
            <a:pathLst>
              <a:path w="5553667" h="3123938">
                <a:moveTo>
                  <a:pt x="0" y="0"/>
                </a:moveTo>
                <a:lnTo>
                  <a:pt x="5553666" y="0"/>
                </a:lnTo>
                <a:lnTo>
                  <a:pt x="5553666" y="3123938"/>
                </a:lnTo>
                <a:lnTo>
                  <a:pt x="0" y="3123938"/>
                </a:lnTo>
                <a:lnTo>
                  <a:pt x="0" y="0"/>
                </a:lnTo>
                <a:close/>
              </a:path>
            </a:pathLst>
          </a:custGeom>
          <a:blipFill>
            <a:blip r:embed="rId6"/>
            <a:stretch>
              <a:fillRect/>
            </a:stretch>
          </a:blipFill>
        </p:spPr>
      </p:sp>
      <p:sp>
        <p:nvSpPr>
          <p:cNvPr id="15" name="TextBox 15"/>
          <p:cNvSpPr txBox="1"/>
          <p:nvPr/>
        </p:nvSpPr>
        <p:spPr>
          <a:xfrm>
            <a:off x="1257300" y="3236779"/>
            <a:ext cx="10142666" cy="2076450"/>
          </a:xfrm>
          <a:prstGeom prst="rect">
            <a:avLst/>
          </a:prstGeom>
        </p:spPr>
        <p:txBody>
          <a:bodyPr lIns="0" tIns="0" rIns="0" bIns="0" rtlCol="0" anchor="t">
            <a:spAutoFit/>
          </a:bodyPr>
          <a:lstStyle/>
          <a:p>
            <a:pPr marL="732175" lvl="1" indent="-366087" algn="l">
              <a:lnSpc>
                <a:spcPts val="4069"/>
              </a:lnSpc>
              <a:buFont typeface="Arial"/>
              <a:buChar char="•"/>
            </a:pPr>
            <a:r>
              <a:rPr lang="en-US" sz="3391">
                <a:solidFill>
                  <a:srgbClr val="000000"/>
                </a:solidFill>
                <a:latin typeface="Times New Roman"/>
                <a:ea typeface="Times New Roman"/>
                <a:cs typeface="Times New Roman"/>
                <a:sym typeface="Times New Roman"/>
              </a:rPr>
              <a:t>User–food interactions modeled as bipartite graph</a:t>
            </a:r>
          </a:p>
          <a:p>
            <a:pPr marL="732175" lvl="1" indent="-366087" algn="l">
              <a:lnSpc>
                <a:spcPts val="4069"/>
              </a:lnSpc>
              <a:buFont typeface="Arial"/>
              <a:buChar char="•"/>
            </a:pPr>
            <a:r>
              <a:rPr lang="en-US" sz="3391">
                <a:solidFill>
                  <a:srgbClr val="000000"/>
                </a:solidFill>
                <a:latin typeface="Times New Roman"/>
                <a:ea typeface="Times New Roman"/>
                <a:cs typeface="Times New Roman"/>
                <a:sym typeface="Times New Roman"/>
              </a:rPr>
              <a:t>Shows food popularity skew</a:t>
            </a:r>
          </a:p>
          <a:p>
            <a:pPr marL="732175" lvl="1" indent="-366087" algn="l">
              <a:lnSpc>
                <a:spcPts val="4069"/>
              </a:lnSpc>
              <a:buFont typeface="Arial"/>
              <a:buChar char="•"/>
            </a:pPr>
            <a:r>
              <a:rPr lang="en-US" sz="3391">
                <a:solidFill>
                  <a:srgbClr val="000000"/>
                </a:solidFill>
                <a:latin typeface="Times New Roman"/>
                <a:ea typeface="Times New Roman"/>
                <a:cs typeface="Times New Roman"/>
                <a:sym typeface="Times New Roman"/>
              </a:rPr>
              <a:t>Shows variation in user activity</a:t>
            </a:r>
          </a:p>
          <a:p>
            <a:pPr marL="732175" lvl="1" indent="-366087" algn="l">
              <a:lnSpc>
                <a:spcPts val="4069"/>
              </a:lnSpc>
              <a:buFont typeface="Arial"/>
              <a:buChar char="•"/>
            </a:pPr>
            <a:r>
              <a:rPr lang="en-US" sz="3391">
                <a:solidFill>
                  <a:srgbClr val="000000"/>
                </a:solidFill>
                <a:latin typeface="Times New Roman"/>
                <a:ea typeface="Times New Roman"/>
                <a:cs typeface="Times New Roman"/>
                <a:sym typeface="Times New Roman"/>
              </a:rPr>
              <a:t>Justifies collaborative filtering</a:t>
            </a:r>
          </a:p>
        </p:txBody>
      </p:sp>
      <p:sp>
        <p:nvSpPr>
          <p:cNvPr id="16" name="TextBox 16"/>
          <p:cNvSpPr txBox="1"/>
          <p:nvPr/>
        </p:nvSpPr>
        <p:spPr>
          <a:xfrm>
            <a:off x="947100" y="1829400"/>
            <a:ext cx="16393800" cy="685800"/>
          </a:xfrm>
          <a:prstGeom prst="rect">
            <a:avLst/>
          </a:prstGeom>
        </p:spPr>
        <p:txBody>
          <a:bodyPr lIns="0" tIns="0" rIns="0" bIns="0" rtlCol="0" anchor="t">
            <a:spAutoFit/>
          </a:bodyPr>
          <a:lstStyle/>
          <a:p>
            <a:pPr algn="ctr">
              <a:lnSpc>
                <a:spcPts val="5219"/>
              </a:lnSpc>
            </a:pPr>
            <a:r>
              <a:rPr lang="en-US" sz="4349">
                <a:solidFill>
                  <a:srgbClr val="000000"/>
                </a:solidFill>
                <a:latin typeface="Times New Roman"/>
                <a:ea typeface="Times New Roman"/>
                <a:cs typeface="Times New Roman"/>
                <a:sym typeface="Times New Roman"/>
              </a:rPr>
              <a:t>User–Food Interaction Analysis</a:t>
            </a:r>
          </a:p>
        </p:txBody>
      </p:sp>
      <p:grpSp>
        <p:nvGrpSpPr>
          <p:cNvPr id="17" name="Group 17"/>
          <p:cNvGrpSpPr/>
          <p:nvPr/>
        </p:nvGrpSpPr>
        <p:grpSpPr>
          <a:xfrm>
            <a:off x="1257300" y="9534525"/>
            <a:ext cx="4114800" cy="547688"/>
            <a:chOff x="0" y="0"/>
            <a:chExt cx="5486400" cy="730250"/>
          </a:xfrm>
        </p:grpSpPr>
        <p:sp>
          <p:nvSpPr>
            <p:cNvPr id="18" name="Freeform 18"/>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9" name="TextBox 19"/>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20" name="TextBox 20"/>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638900"/>
            <a:chOff x="0" y="0"/>
            <a:chExt cx="21031200" cy="2185200"/>
          </a:xfrm>
        </p:grpSpPr>
        <p:sp>
          <p:nvSpPr>
            <p:cNvPr id="3" name="Freeform 3"/>
            <p:cNvSpPr/>
            <p:nvPr/>
          </p:nvSpPr>
          <p:spPr>
            <a:xfrm>
              <a:off x="0" y="0"/>
              <a:ext cx="21031200" cy="2185200"/>
            </a:xfrm>
            <a:custGeom>
              <a:avLst/>
              <a:gdLst/>
              <a:ahLst/>
              <a:cxnLst/>
              <a:rect l="l" t="t" r="r" b="b"/>
              <a:pathLst>
                <a:path w="21031200" h="2185200">
                  <a:moveTo>
                    <a:pt x="0" y="0"/>
                  </a:moveTo>
                  <a:lnTo>
                    <a:pt x="21031200" y="0"/>
                  </a:lnTo>
                  <a:lnTo>
                    <a:pt x="21031200" y="2185200"/>
                  </a:lnTo>
                  <a:lnTo>
                    <a:pt x="0" y="2185200"/>
                  </a:lnTo>
                  <a:close/>
                </a:path>
              </a:pathLst>
            </a:custGeom>
            <a:solidFill>
              <a:srgbClr val="000000">
                <a:alpha val="0"/>
              </a:srgbClr>
            </a:solidFill>
          </p:spPr>
        </p:sp>
        <p:sp>
          <p:nvSpPr>
            <p:cNvPr id="4" name="TextBox 4"/>
            <p:cNvSpPr txBox="1"/>
            <p:nvPr/>
          </p:nvSpPr>
          <p:spPr>
            <a:xfrm>
              <a:off x="0" y="38100"/>
              <a:ext cx="21031200" cy="21471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Result Analysis</a:t>
              </a:r>
            </a:p>
          </p:txBody>
        </p:sp>
      </p:grpSp>
      <p:grpSp>
        <p:nvGrpSpPr>
          <p:cNvPr id="5" name="Group 5"/>
          <p:cNvGrpSpPr/>
          <p:nvPr/>
        </p:nvGrpSpPr>
        <p:grpSpPr>
          <a:xfrm>
            <a:off x="6057900" y="9534525"/>
            <a:ext cx="6172200" cy="547650"/>
            <a:chOff x="0" y="0"/>
            <a:chExt cx="8229600" cy="730200"/>
          </a:xfrm>
        </p:grpSpPr>
        <p:sp>
          <p:nvSpPr>
            <p:cNvPr id="6" name="Freeform 6"/>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7" name="TextBox 7"/>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8" name="Group 8"/>
          <p:cNvGrpSpPr/>
          <p:nvPr/>
        </p:nvGrpSpPr>
        <p:grpSpPr>
          <a:xfrm>
            <a:off x="12915900" y="9534525"/>
            <a:ext cx="4114800" cy="547650"/>
            <a:chOff x="0" y="0"/>
            <a:chExt cx="5486400" cy="730200"/>
          </a:xfrm>
        </p:grpSpPr>
        <p:sp>
          <p:nvSpPr>
            <p:cNvPr id="9" name="Freeform 9"/>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0" name="TextBox 10"/>
            <p:cNvSpPr txBox="1"/>
            <p:nvPr/>
          </p:nvSpPr>
          <p:spPr>
            <a:xfrm>
              <a:off x="0" y="-38100"/>
              <a:ext cx="5486400" cy="76830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33</a:t>
              </a:r>
            </a:p>
          </p:txBody>
        </p:sp>
      </p:grpSp>
      <p:sp>
        <p:nvSpPr>
          <p:cNvPr id="11" name="Freeform 11"/>
          <p:cNvSpPr/>
          <p:nvPr/>
        </p:nvSpPr>
        <p:spPr>
          <a:xfrm>
            <a:off x="1099653" y="5009685"/>
            <a:ext cx="7938315" cy="4524840"/>
          </a:xfrm>
          <a:custGeom>
            <a:avLst/>
            <a:gdLst/>
            <a:ahLst/>
            <a:cxnLst/>
            <a:rect l="l" t="t" r="r" b="b"/>
            <a:pathLst>
              <a:path w="7938315" h="4524840">
                <a:moveTo>
                  <a:pt x="0" y="0"/>
                </a:moveTo>
                <a:lnTo>
                  <a:pt x="7938315" y="0"/>
                </a:lnTo>
                <a:lnTo>
                  <a:pt x="7938315" y="4524840"/>
                </a:lnTo>
                <a:lnTo>
                  <a:pt x="0" y="4524840"/>
                </a:lnTo>
                <a:lnTo>
                  <a:pt x="0" y="0"/>
                </a:lnTo>
                <a:close/>
              </a:path>
            </a:pathLst>
          </a:custGeom>
          <a:blipFill>
            <a:blip r:embed="rId3"/>
            <a:stretch>
              <a:fillRect/>
            </a:stretch>
          </a:blipFill>
        </p:spPr>
      </p:sp>
      <p:sp>
        <p:nvSpPr>
          <p:cNvPr id="12" name="Freeform 12"/>
          <p:cNvSpPr/>
          <p:nvPr/>
        </p:nvSpPr>
        <p:spPr>
          <a:xfrm>
            <a:off x="9108276" y="5009685"/>
            <a:ext cx="8080071" cy="4524840"/>
          </a:xfrm>
          <a:custGeom>
            <a:avLst/>
            <a:gdLst/>
            <a:ahLst/>
            <a:cxnLst/>
            <a:rect l="l" t="t" r="r" b="b"/>
            <a:pathLst>
              <a:path w="8080071" h="4524840">
                <a:moveTo>
                  <a:pt x="0" y="0"/>
                </a:moveTo>
                <a:lnTo>
                  <a:pt x="8080071" y="0"/>
                </a:lnTo>
                <a:lnTo>
                  <a:pt x="8080071" y="4524840"/>
                </a:lnTo>
                <a:lnTo>
                  <a:pt x="0" y="4524840"/>
                </a:lnTo>
                <a:lnTo>
                  <a:pt x="0" y="0"/>
                </a:lnTo>
                <a:close/>
              </a:path>
            </a:pathLst>
          </a:custGeom>
          <a:blipFill>
            <a:blip r:embed="rId4"/>
            <a:stretch>
              <a:fillRect/>
            </a:stretch>
          </a:blipFill>
        </p:spPr>
      </p:sp>
      <p:sp>
        <p:nvSpPr>
          <p:cNvPr id="13" name="TextBox 13"/>
          <p:cNvSpPr txBox="1"/>
          <p:nvPr/>
        </p:nvSpPr>
        <p:spPr>
          <a:xfrm>
            <a:off x="1257300" y="3236779"/>
            <a:ext cx="10142666" cy="1562100"/>
          </a:xfrm>
          <a:prstGeom prst="rect">
            <a:avLst/>
          </a:prstGeom>
        </p:spPr>
        <p:txBody>
          <a:bodyPr lIns="0" tIns="0" rIns="0" bIns="0" rtlCol="0" anchor="t">
            <a:spAutoFit/>
          </a:bodyPr>
          <a:lstStyle/>
          <a:p>
            <a:pPr marL="732175" lvl="1" indent="-366087" algn="l">
              <a:lnSpc>
                <a:spcPts val="4069"/>
              </a:lnSpc>
              <a:buFont typeface="Arial"/>
              <a:buChar char="•"/>
            </a:pPr>
            <a:r>
              <a:rPr lang="en-US" sz="3391">
                <a:solidFill>
                  <a:srgbClr val="000000"/>
                </a:solidFill>
                <a:latin typeface="Times New Roman"/>
                <a:ea typeface="Times New Roman"/>
                <a:cs typeface="Times New Roman"/>
                <a:sym typeface="Times New Roman"/>
              </a:rPr>
              <a:t>Centrality distribution highlights popular food items</a:t>
            </a:r>
          </a:p>
          <a:p>
            <a:pPr marL="732175" lvl="1" indent="-366087" algn="l">
              <a:lnSpc>
                <a:spcPts val="4069"/>
              </a:lnSpc>
              <a:buFont typeface="Arial"/>
              <a:buChar char="•"/>
            </a:pPr>
            <a:r>
              <a:rPr lang="en-US" sz="3391">
                <a:solidFill>
                  <a:srgbClr val="000000"/>
                </a:solidFill>
                <a:latin typeface="Times New Roman"/>
                <a:ea typeface="Times New Roman"/>
                <a:cs typeface="Times New Roman"/>
                <a:sym typeface="Times New Roman"/>
              </a:rPr>
              <a:t>Dot-product distribution shows MF scoring behavior</a:t>
            </a:r>
          </a:p>
          <a:p>
            <a:pPr marL="732175" lvl="1" indent="-366087" algn="l">
              <a:lnSpc>
                <a:spcPts val="4069"/>
              </a:lnSpc>
              <a:buFont typeface="Arial"/>
              <a:buChar char="•"/>
            </a:pPr>
            <a:r>
              <a:rPr lang="en-US" sz="3391">
                <a:solidFill>
                  <a:srgbClr val="000000"/>
                </a:solidFill>
                <a:latin typeface="Times New Roman"/>
                <a:ea typeface="Times New Roman"/>
                <a:cs typeface="Times New Roman"/>
                <a:sym typeface="Times New Roman"/>
              </a:rPr>
              <a:t>Confirms effective interaction modeling</a:t>
            </a:r>
          </a:p>
        </p:txBody>
      </p:sp>
      <p:sp>
        <p:nvSpPr>
          <p:cNvPr id="14" name="TextBox 14"/>
          <p:cNvSpPr txBox="1"/>
          <p:nvPr/>
        </p:nvSpPr>
        <p:spPr>
          <a:xfrm>
            <a:off x="947100" y="1829400"/>
            <a:ext cx="16393800" cy="685800"/>
          </a:xfrm>
          <a:prstGeom prst="rect">
            <a:avLst/>
          </a:prstGeom>
        </p:spPr>
        <p:txBody>
          <a:bodyPr lIns="0" tIns="0" rIns="0" bIns="0" rtlCol="0" anchor="t">
            <a:spAutoFit/>
          </a:bodyPr>
          <a:lstStyle/>
          <a:p>
            <a:pPr algn="ctr">
              <a:lnSpc>
                <a:spcPts val="5219"/>
              </a:lnSpc>
            </a:pPr>
            <a:r>
              <a:rPr lang="en-US" sz="4349">
                <a:solidFill>
                  <a:srgbClr val="000000"/>
                </a:solidFill>
                <a:latin typeface="Times New Roman"/>
                <a:ea typeface="Times New Roman"/>
                <a:cs typeface="Times New Roman"/>
                <a:sym typeface="Times New Roman"/>
              </a:rPr>
              <a:t>Item Centrality &amp; Popularity Analysis</a:t>
            </a:r>
          </a:p>
        </p:txBody>
      </p:sp>
      <p:grpSp>
        <p:nvGrpSpPr>
          <p:cNvPr id="15" name="Group 15"/>
          <p:cNvGrpSpPr/>
          <p:nvPr/>
        </p:nvGrpSpPr>
        <p:grpSpPr>
          <a:xfrm>
            <a:off x="1257300" y="9534525"/>
            <a:ext cx="4114800" cy="547688"/>
            <a:chOff x="0" y="0"/>
            <a:chExt cx="5486400" cy="730250"/>
          </a:xfrm>
        </p:grpSpPr>
        <p:sp>
          <p:nvSpPr>
            <p:cNvPr id="16" name="Freeform 16"/>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7" name="TextBox 17"/>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8" name="TextBox 18"/>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638900"/>
            <a:chOff x="0" y="0"/>
            <a:chExt cx="21031200" cy="2185200"/>
          </a:xfrm>
        </p:grpSpPr>
        <p:sp>
          <p:nvSpPr>
            <p:cNvPr id="3" name="Freeform 3"/>
            <p:cNvSpPr/>
            <p:nvPr/>
          </p:nvSpPr>
          <p:spPr>
            <a:xfrm>
              <a:off x="0" y="0"/>
              <a:ext cx="21031200" cy="2185200"/>
            </a:xfrm>
            <a:custGeom>
              <a:avLst/>
              <a:gdLst/>
              <a:ahLst/>
              <a:cxnLst/>
              <a:rect l="l" t="t" r="r" b="b"/>
              <a:pathLst>
                <a:path w="21031200" h="2185200">
                  <a:moveTo>
                    <a:pt x="0" y="0"/>
                  </a:moveTo>
                  <a:lnTo>
                    <a:pt x="21031200" y="0"/>
                  </a:lnTo>
                  <a:lnTo>
                    <a:pt x="21031200" y="2185200"/>
                  </a:lnTo>
                  <a:lnTo>
                    <a:pt x="0" y="2185200"/>
                  </a:lnTo>
                  <a:close/>
                </a:path>
              </a:pathLst>
            </a:custGeom>
            <a:solidFill>
              <a:srgbClr val="000000">
                <a:alpha val="0"/>
              </a:srgbClr>
            </a:solidFill>
          </p:spPr>
        </p:sp>
        <p:sp>
          <p:nvSpPr>
            <p:cNvPr id="4" name="TextBox 4"/>
            <p:cNvSpPr txBox="1"/>
            <p:nvPr/>
          </p:nvSpPr>
          <p:spPr>
            <a:xfrm>
              <a:off x="0" y="38100"/>
              <a:ext cx="21031200" cy="21471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Result Analysis</a:t>
              </a:r>
            </a:p>
          </p:txBody>
        </p:sp>
      </p:grpSp>
      <p:sp>
        <p:nvSpPr>
          <p:cNvPr id="5" name="Freeform 5"/>
          <p:cNvSpPr/>
          <p:nvPr/>
        </p:nvSpPr>
        <p:spPr>
          <a:xfrm>
            <a:off x="10592405" y="6200615"/>
            <a:ext cx="6438295" cy="3533015"/>
          </a:xfrm>
          <a:custGeom>
            <a:avLst/>
            <a:gdLst/>
            <a:ahLst/>
            <a:cxnLst/>
            <a:rect l="l" t="t" r="r" b="b"/>
            <a:pathLst>
              <a:path w="6438295" h="3533015">
                <a:moveTo>
                  <a:pt x="0" y="0"/>
                </a:moveTo>
                <a:lnTo>
                  <a:pt x="6438295" y="0"/>
                </a:lnTo>
                <a:lnTo>
                  <a:pt x="6438295" y="3533014"/>
                </a:lnTo>
                <a:lnTo>
                  <a:pt x="0" y="3533014"/>
                </a:lnTo>
                <a:lnTo>
                  <a:pt x="0" y="0"/>
                </a:lnTo>
                <a:close/>
              </a:path>
            </a:pathLst>
          </a:custGeom>
          <a:blipFill>
            <a:blip r:embed="rId3"/>
            <a:stretch>
              <a:fillRect/>
            </a:stretch>
          </a:blipFill>
        </p:spPr>
      </p:sp>
      <p:grpSp>
        <p:nvGrpSpPr>
          <p:cNvPr id="6" name="Group 6"/>
          <p:cNvGrpSpPr/>
          <p:nvPr/>
        </p:nvGrpSpPr>
        <p:grpSpPr>
          <a:xfrm>
            <a:off x="6057900" y="9534525"/>
            <a:ext cx="6172200" cy="547650"/>
            <a:chOff x="0" y="0"/>
            <a:chExt cx="8229600" cy="730200"/>
          </a:xfrm>
        </p:grpSpPr>
        <p:sp>
          <p:nvSpPr>
            <p:cNvPr id="7" name="Freeform 7"/>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8" name="TextBox 8"/>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50"/>
            <a:chOff x="0" y="0"/>
            <a:chExt cx="5486400" cy="730200"/>
          </a:xfrm>
        </p:grpSpPr>
        <p:sp>
          <p:nvSpPr>
            <p:cNvPr id="10" name="Freeform 10"/>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1" name="TextBox 11"/>
            <p:cNvSpPr txBox="1"/>
            <p:nvPr/>
          </p:nvSpPr>
          <p:spPr>
            <a:xfrm>
              <a:off x="0" y="-38100"/>
              <a:ext cx="5486400" cy="76830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34</a:t>
              </a:r>
            </a:p>
          </p:txBody>
        </p:sp>
      </p:grpSp>
      <p:sp>
        <p:nvSpPr>
          <p:cNvPr id="12" name="Freeform 12"/>
          <p:cNvSpPr/>
          <p:nvPr/>
        </p:nvSpPr>
        <p:spPr>
          <a:xfrm>
            <a:off x="2037235" y="4885809"/>
            <a:ext cx="7648040" cy="4196862"/>
          </a:xfrm>
          <a:custGeom>
            <a:avLst/>
            <a:gdLst/>
            <a:ahLst/>
            <a:cxnLst/>
            <a:rect l="l" t="t" r="r" b="b"/>
            <a:pathLst>
              <a:path w="7648040" h="4196862">
                <a:moveTo>
                  <a:pt x="0" y="0"/>
                </a:moveTo>
                <a:lnTo>
                  <a:pt x="7648040" y="0"/>
                </a:lnTo>
                <a:lnTo>
                  <a:pt x="7648040" y="4196862"/>
                </a:lnTo>
                <a:lnTo>
                  <a:pt x="0" y="4196862"/>
                </a:lnTo>
                <a:lnTo>
                  <a:pt x="0" y="0"/>
                </a:lnTo>
                <a:close/>
              </a:path>
            </a:pathLst>
          </a:custGeom>
          <a:blipFill>
            <a:blip r:embed="rId4"/>
            <a:stretch>
              <a:fillRect/>
            </a:stretch>
          </a:blipFill>
        </p:spPr>
      </p:sp>
      <p:sp>
        <p:nvSpPr>
          <p:cNvPr id="13" name="TextBox 13"/>
          <p:cNvSpPr txBox="1"/>
          <p:nvPr/>
        </p:nvSpPr>
        <p:spPr>
          <a:xfrm>
            <a:off x="1257300" y="3071880"/>
            <a:ext cx="10142666" cy="1362075"/>
          </a:xfrm>
          <a:prstGeom prst="rect">
            <a:avLst/>
          </a:prstGeom>
        </p:spPr>
        <p:txBody>
          <a:bodyPr lIns="0" tIns="0" rIns="0" bIns="0" rtlCol="0" anchor="t">
            <a:spAutoFit/>
          </a:bodyPr>
          <a:lstStyle/>
          <a:p>
            <a:pPr marL="645817" lvl="1" indent="-322908" algn="l">
              <a:lnSpc>
                <a:spcPts val="3589"/>
              </a:lnSpc>
              <a:buFont typeface="Arial"/>
              <a:buChar char="•"/>
            </a:pPr>
            <a:r>
              <a:rPr lang="en-US" sz="2991">
                <a:solidFill>
                  <a:srgbClr val="000000"/>
                </a:solidFill>
                <a:latin typeface="Times New Roman"/>
                <a:ea typeface="Times New Roman"/>
                <a:cs typeface="Times New Roman"/>
                <a:sym typeface="Times New Roman"/>
              </a:rPr>
              <a:t>Nutrient values show realistic distributions</a:t>
            </a:r>
          </a:p>
          <a:p>
            <a:pPr marL="645817" lvl="1" indent="-322908" algn="l">
              <a:lnSpc>
                <a:spcPts val="3589"/>
              </a:lnSpc>
              <a:buFont typeface="Arial"/>
              <a:buChar char="•"/>
            </a:pPr>
            <a:r>
              <a:rPr lang="en-US" sz="2991">
                <a:solidFill>
                  <a:srgbClr val="000000"/>
                </a:solidFill>
                <a:latin typeface="Times New Roman"/>
                <a:ea typeface="Times New Roman"/>
                <a:cs typeface="Times New Roman"/>
                <a:sym typeface="Times New Roman"/>
              </a:rPr>
              <a:t>Supports health-aware filtering</a:t>
            </a:r>
          </a:p>
          <a:p>
            <a:pPr marL="645817" lvl="1" indent="-322908" algn="l">
              <a:lnSpc>
                <a:spcPts val="3589"/>
              </a:lnSpc>
              <a:buFont typeface="Arial"/>
              <a:buChar char="•"/>
            </a:pPr>
            <a:r>
              <a:rPr lang="en-US" sz="2991">
                <a:solidFill>
                  <a:srgbClr val="000000"/>
                </a:solidFill>
                <a:latin typeface="Times New Roman"/>
                <a:ea typeface="Times New Roman"/>
                <a:cs typeface="Times New Roman"/>
                <a:sym typeface="Times New Roman"/>
              </a:rPr>
              <a:t>Prevents extreme bias in recommendations</a:t>
            </a:r>
          </a:p>
        </p:txBody>
      </p:sp>
      <p:sp>
        <p:nvSpPr>
          <p:cNvPr id="14" name="TextBox 14"/>
          <p:cNvSpPr txBox="1"/>
          <p:nvPr/>
        </p:nvSpPr>
        <p:spPr>
          <a:xfrm>
            <a:off x="947100" y="1829400"/>
            <a:ext cx="16393800" cy="685800"/>
          </a:xfrm>
          <a:prstGeom prst="rect">
            <a:avLst/>
          </a:prstGeom>
        </p:spPr>
        <p:txBody>
          <a:bodyPr lIns="0" tIns="0" rIns="0" bIns="0" rtlCol="0" anchor="t">
            <a:spAutoFit/>
          </a:bodyPr>
          <a:lstStyle/>
          <a:p>
            <a:pPr algn="ctr">
              <a:lnSpc>
                <a:spcPts val="5219"/>
              </a:lnSpc>
            </a:pPr>
            <a:r>
              <a:rPr lang="en-US" sz="4349">
                <a:solidFill>
                  <a:srgbClr val="000000"/>
                </a:solidFill>
                <a:latin typeface="Times New Roman"/>
                <a:ea typeface="Times New Roman"/>
                <a:cs typeface="Times New Roman"/>
                <a:sym typeface="Times New Roman"/>
              </a:rPr>
              <a:t>Nutrition Feature Distribution</a:t>
            </a:r>
          </a:p>
        </p:txBody>
      </p:sp>
      <p:sp>
        <p:nvSpPr>
          <p:cNvPr id="15" name="Freeform 15"/>
          <p:cNvSpPr/>
          <p:nvPr/>
        </p:nvSpPr>
        <p:spPr>
          <a:xfrm>
            <a:off x="10592405" y="2515200"/>
            <a:ext cx="6438295" cy="3533015"/>
          </a:xfrm>
          <a:custGeom>
            <a:avLst/>
            <a:gdLst/>
            <a:ahLst/>
            <a:cxnLst/>
            <a:rect l="l" t="t" r="r" b="b"/>
            <a:pathLst>
              <a:path w="6438295" h="3533015">
                <a:moveTo>
                  <a:pt x="0" y="0"/>
                </a:moveTo>
                <a:lnTo>
                  <a:pt x="6438295" y="0"/>
                </a:lnTo>
                <a:lnTo>
                  <a:pt x="6438295" y="3533015"/>
                </a:lnTo>
                <a:lnTo>
                  <a:pt x="0" y="3533015"/>
                </a:lnTo>
                <a:lnTo>
                  <a:pt x="0" y="0"/>
                </a:lnTo>
                <a:close/>
              </a:path>
            </a:pathLst>
          </a:custGeom>
          <a:blipFill>
            <a:blip r:embed="rId5"/>
            <a:stretch>
              <a:fillRect/>
            </a:stretch>
          </a:blipFill>
        </p:spPr>
      </p:sp>
      <p:grpSp>
        <p:nvGrpSpPr>
          <p:cNvPr id="16" name="Group 16"/>
          <p:cNvGrpSpPr/>
          <p:nvPr/>
        </p:nvGrpSpPr>
        <p:grpSpPr>
          <a:xfrm>
            <a:off x="1257300" y="9534525"/>
            <a:ext cx="4114800" cy="547688"/>
            <a:chOff x="0" y="0"/>
            <a:chExt cx="5486400" cy="730250"/>
          </a:xfrm>
        </p:grpSpPr>
        <p:sp>
          <p:nvSpPr>
            <p:cNvPr id="17" name="Freeform 17"/>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8" name="TextBox 18"/>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9" name="TextBox 19"/>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638900"/>
            <a:chOff x="0" y="0"/>
            <a:chExt cx="21031200" cy="2185200"/>
          </a:xfrm>
        </p:grpSpPr>
        <p:sp>
          <p:nvSpPr>
            <p:cNvPr id="3" name="Freeform 3"/>
            <p:cNvSpPr/>
            <p:nvPr/>
          </p:nvSpPr>
          <p:spPr>
            <a:xfrm>
              <a:off x="0" y="0"/>
              <a:ext cx="21031200" cy="2185200"/>
            </a:xfrm>
            <a:custGeom>
              <a:avLst/>
              <a:gdLst/>
              <a:ahLst/>
              <a:cxnLst/>
              <a:rect l="l" t="t" r="r" b="b"/>
              <a:pathLst>
                <a:path w="21031200" h="2185200">
                  <a:moveTo>
                    <a:pt x="0" y="0"/>
                  </a:moveTo>
                  <a:lnTo>
                    <a:pt x="21031200" y="0"/>
                  </a:lnTo>
                  <a:lnTo>
                    <a:pt x="21031200" y="2185200"/>
                  </a:lnTo>
                  <a:lnTo>
                    <a:pt x="0" y="2185200"/>
                  </a:lnTo>
                  <a:close/>
                </a:path>
              </a:pathLst>
            </a:custGeom>
            <a:solidFill>
              <a:srgbClr val="000000">
                <a:alpha val="0"/>
              </a:srgbClr>
            </a:solidFill>
          </p:spPr>
        </p:sp>
        <p:sp>
          <p:nvSpPr>
            <p:cNvPr id="4" name="TextBox 4"/>
            <p:cNvSpPr txBox="1"/>
            <p:nvPr/>
          </p:nvSpPr>
          <p:spPr>
            <a:xfrm>
              <a:off x="0" y="38100"/>
              <a:ext cx="21031200" cy="21471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Result Analysis</a:t>
              </a:r>
            </a:p>
          </p:txBody>
        </p:sp>
      </p:grpSp>
      <p:grpSp>
        <p:nvGrpSpPr>
          <p:cNvPr id="5" name="Group 5"/>
          <p:cNvGrpSpPr/>
          <p:nvPr/>
        </p:nvGrpSpPr>
        <p:grpSpPr>
          <a:xfrm>
            <a:off x="6057900" y="9534525"/>
            <a:ext cx="6172200" cy="547650"/>
            <a:chOff x="0" y="0"/>
            <a:chExt cx="8229600" cy="730200"/>
          </a:xfrm>
        </p:grpSpPr>
        <p:sp>
          <p:nvSpPr>
            <p:cNvPr id="6" name="Freeform 6"/>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7" name="TextBox 7"/>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8" name="Group 8"/>
          <p:cNvGrpSpPr/>
          <p:nvPr/>
        </p:nvGrpSpPr>
        <p:grpSpPr>
          <a:xfrm>
            <a:off x="12915900" y="9534525"/>
            <a:ext cx="4114800" cy="547650"/>
            <a:chOff x="0" y="0"/>
            <a:chExt cx="5486400" cy="730200"/>
          </a:xfrm>
        </p:grpSpPr>
        <p:sp>
          <p:nvSpPr>
            <p:cNvPr id="9" name="Freeform 9"/>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0" name="TextBox 10"/>
            <p:cNvSpPr txBox="1"/>
            <p:nvPr/>
          </p:nvSpPr>
          <p:spPr>
            <a:xfrm>
              <a:off x="0" y="-38100"/>
              <a:ext cx="5486400" cy="76830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35</a:t>
              </a:r>
            </a:p>
          </p:txBody>
        </p:sp>
      </p:grpSp>
      <p:sp>
        <p:nvSpPr>
          <p:cNvPr id="11" name="Freeform 11"/>
          <p:cNvSpPr/>
          <p:nvPr/>
        </p:nvSpPr>
        <p:spPr>
          <a:xfrm>
            <a:off x="10991888" y="3090930"/>
            <a:ext cx="6349012" cy="6356958"/>
          </a:xfrm>
          <a:custGeom>
            <a:avLst/>
            <a:gdLst/>
            <a:ahLst/>
            <a:cxnLst/>
            <a:rect l="l" t="t" r="r" b="b"/>
            <a:pathLst>
              <a:path w="6349012" h="6356958">
                <a:moveTo>
                  <a:pt x="0" y="0"/>
                </a:moveTo>
                <a:lnTo>
                  <a:pt x="6349012" y="0"/>
                </a:lnTo>
                <a:lnTo>
                  <a:pt x="6349012" y="6356958"/>
                </a:lnTo>
                <a:lnTo>
                  <a:pt x="0" y="6356958"/>
                </a:lnTo>
                <a:lnTo>
                  <a:pt x="0" y="0"/>
                </a:lnTo>
                <a:close/>
              </a:path>
            </a:pathLst>
          </a:custGeom>
          <a:blipFill>
            <a:blip r:embed="rId3"/>
            <a:stretch>
              <a:fillRect/>
            </a:stretch>
          </a:blipFill>
        </p:spPr>
      </p:sp>
      <p:sp>
        <p:nvSpPr>
          <p:cNvPr id="12" name="TextBox 12"/>
          <p:cNvSpPr txBox="1"/>
          <p:nvPr/>
        </p:nvSpPr>
        <p:spPr>
          <a:xfrm>
            <a:off x="1257300" y="3071880"/>
            <a:ext cx="10142666" cy="1362075"/>
          </a:xfrm>
          <a:prstGeom prst="rect">
            <a:avLst/>
          </a:prstGeom>
        </p:spPr>
        <p:txBody>
          <a:bodyPr lIns="0" tIns="0" rIns="0" bIns="0" rtlCol="0" anchor="t">
            <a:spAutoFit/>
          </a:bodyPr>
          <a:lstStyle/>
          <a:p>
            <a:pPr marL="645817" lvl="1" indent="-322908" algn="l">
              <a:lnSpc>
                <a:spcPts val="3589"/>
              </a:lnSpc>
              <a:buFont typeface="Arial"/>
              <a:buChar char="•"/>
            </a:pPr>
            <a:r>
              <a:rPr lang="en-US" sz="2991">
                <a:solidFill>
                  <a:srgbClr val="000000"/>
                </a:solidFill>
                <a:latin typeface="Times New Roman"/>
                <a:ea typeface="Times New Roman"/>
                <a:cs typeface="Times New Roman"/>
                <a:sym typeface="Times New Roman"/>
              </a:rPr>
              <a:t>Correlation heatmap reveals relationships between nutrients</a:t>
            </a:r>
          </a:p>
          <a:p>
            <a:pPr marL="645817" lvl="1" indent="-322908" algn="l">
              <a:lnSpc>
                <a:spcPts val="3589"/>
              </a:lnSpc>
              <a:buFont typeface="Arial"/>
              <a:buChar char="•"/>
            </a:pPr>
            <a:r>
              <a:rPr lang="en-US" sz="2991">
                <a:solidFill>
                  <a:srgbClr val="000000"/>
                </a:solidFill>
                <a:latin typeface="Times New Roman"/>
                <a:ea typeface="Times New Roman"/>
                <a:cs typeface="Times New Roman"/>
                <a:sym typeface="Times New Roman"/>
              </a:rPr>
              <a:t>PCA shows reduced dimensional representation</a:t>
            </a:r>
          </a:p>
          <a:p>
            <a:pPr marL="645817" lvl="1" indent="-322908" algn="l">
              <a:lnSpc>
                <a:spcPts val="3589"/>
              </a:lnSpc>
              <a:buFont typeface="Arial"/>
              <a:buChar char="•"/>
            </a:pPr>
            <a:r>
              <a:rPr lang="en-US" sz="2991">
                <a:solidFill>
                  <a:srgbClr val="000000"/>
                </a:solidFill>
                <a:latin typeface="Times New Roman"/>
                <a:ea typeface="Times New Roman"/>
                <a:cs typeface="Times New Roman"/>
                <a:sym typeface="Times New Roman"/>
              </a:rPr>
              <a:t>Confirms non-redundant nutritional features</a:t>
            </a:r>
          </a:p>
        </p:txBody>
      </p:sp>
      <p:sp>
        <p:nvSpPr>
          <p:cNvPr id="13" name="Freeform 13"/>
          <p:cNvSpPr/>
          <p:nvPr/>
        </p:nvSpPr>
        <p:spPr>
          <a:xfrm>
            <a:off x="3314700" y="4710180"/>
            <a:ext cx="5829300" cy="4495848"/>
          </a:xfrm>
          <a:custGeom>
            <a:avLst/>
            <a:gdLst/>
            <a:ahLst/>
            <a:cxnLst/>
            <a:rect l="l" t="t" r="r" b="b"/>
            <a:pathLst>
              <a:path w="5829300" h="4495848">
                <a:moveTo>
                  <a:pt x="0" y="0"/>
                </a:moveTo>
                <a:lnTo>
                  <a:pt x="5829300" y="0"/>
                </a:lnTo>
                <a:lnTo>
                  <a:pt x="5829300" y="4495848"/>
                </a:lnTo>
                <a:lnTo>
                  <a:pt x="0" y="4495848"/>
                </a:lnTo>
                <a:lnTo>
                  <a:pt x="0" y="0"/>
                </a:lnTo>
                <a:close/>
              </a:path>
            </a:pathLst>
          </a:custGeom>
          <a:blipFill>
            <a:blip r:embed="rId4"/>
            <a:stretch>
              <a:fillRect/>
            </a:stretch>
          </a:blipFill>
        </p:spPr>
      </p:sp>
      <p:sp>
        <p:nvSpPr>
          <p:cNvPr id="14" name="TextBox 14"/>
          <p:cNvSpPr txBox="1"/>
          <p:nvPr/>
        </p:nvSpPr>
        <p:spPr>
          <a:xfrm>
            <a:off x="947100" y="1829400"/>
            <a:ext cx="16393800" cy="685800"/>
          </a:xfrm>
          <a:prstGeom prst="rect">
            <a:avLst/>
          </a:prstGeom>
        </p:spPr>
        <p:txBody>
          <a:bodyPr lIns="0" tIns="0" rIns="0" bIns="0" rtlCol="0" anchor="t">
            <a:spAutoFit/>
          </a:bodyPr>
          <a:lstStyle/>
          <a:p>
            <a:pPr algn="ctr">
              <a:lnSpc>
                <a:spcPts val="5219"/>
              </a:lnSpc>
            </a:pPr>
            <a:r>
              <a:rPr lang="en-US" sz="4349">
                <a:solidFill>
                  <a:srgbClr val="000000"/>
                </a:solidFill>
                <a:latin typeface="Times New Roman"/>
                <a:ea typeface="Times New Roman"/>
                <a:cs typeface="Times New Roman"/>
                <a:sym typeface="Times New Roman"/>
              </a:rPr>
              <a:t>Nutrition Feature Correlation</a:t>
            </a:r>
          </a:p>
        </p:txBody>
      </p:sp>
      <p:grpSp>
        <p:nvGrpSpPr>
          <p:cNvPr id="15" name="Group 15"/>
          <p:cNvGrpSpPr/>
          <p:nvPr/>
        </p:nvGrpSpPr>
        <p:grpSpPr>
          <a:xfrm>
            <a:off x="1257300" y="9534525"/>
            <a:ext cx="4114800" cy="547688"/>
            <a:chOff x="0" y="0"/>
            <a:chExt cx="5486400" cy="730250"/>
          </a:xfrm>
        </p:grpSpPr>
        <p:sp>
          <p:nvSpPr>
            <p:cNvPr id="16" name="Freeform 16"/>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7" name="TextBox 17"/>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8" name="TextBox 18"/>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638900"/>
            <a:chOff x="0" y="0"/>
            <a:chExt cx="21031200" cy="2185200"/>
          </a:xfrm>
        </p:grpSpPr>
        <p:sp>
          <p:nvSpPr>
            <p:cNvPr id="3" name="Freeform 3"/>
            <p:cNvSpPr/>
            <p:nvPr/>
          </p:nvSpPr>
          <p:spPr>
            <a:xfrm>
              <a:off x="0" y="0"/>
              <a:ext cx="21031200" cy="2185200"/>
            </a:xfrm>
            <a:custGeom>
              <a:avLst/>
              <a:gdLst/>
              <a:ahLst/>
              <a:cxnLst/>
              <a:rect l="l" t="t" r="r" b="b"/>
              <a:pathLst>
                <a:path w="21031200" h="2185200">
                  <a:moveTo>
                    <a:pt x="0" y="0"/>
                  </a:moveTo>
                  <a:lnTo>
                    <a:pt x="21031200" y="0"/>
                  </a:lnTo>
                  <a:lnTo>
                    <a:pt x="21031200" y="2185200"/>
                  </a:lnTo>
                  <a:lnTo>
                    <a:pt x="0" y="2185200"/>
                  </a:lnTo>
                  <a:close/>
                </a:path>
              </a:pathLst>
            </a:custGeom>
            <a:solidFill>
              <a:srgbClr val="000000">
                <a:alpha val="0"/>
              </a:srgbClr>
            </a:solidFill>
          </p:spPr>
        </p:sp>
        <p:sp>
          <p:nvSpPr>
            <p:cNvPr id="4" name="TextBox 4"/>
            <p:cNvSpPr txBox="1"/>
            <p:nvPr/>
          </p:nvSpPr>
          <p:spPr>
            <a:xfrm>
              <a:off x="0" y="38100"/>
              <a:ext cx="21031200" cy="21471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Result Analysis</a:t>
              </a:r>
            </a:p>
          </p:txBody>
        </p:sp>
      </p:grpSp>
      <p:grpSp>
        <p:nvGrpSpPr>
          <p:cNvPr id="5" name="Group 5"/>
          <p:cNvGrpSpPr/>
          <p:nvPr/>
        </p:nvGrpSpPr>
        <p:grpSpPr>
          <a:xfrm>
            <a:off x="6057900" y="9534525"/>
            <a:ext cx="6172200" cy="547650"/>
            <a:chOff x="0" y="0"/>
            <a:chExt cx="8229600" cy="730200"/>
          </a:xfrm>
        </p:grpSpPr>
        <p:sp>
          <p:nvSpPr>
            <p:cNvPr id="6" name="Freeform 6"/>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7" name="TextBox 7"/>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8" name="Group 8"/>
          <p:cNvGrpSpPr/>
          <p:nvPr/>
        </p:nvGrpSpPr>
        <p:grpSpPr>
          <a:xfrm>
            <a:off x="12915900" y="9534525"/>
            <a:ext cx="4114800" cy="547650"/>
            <a:chOff x="0" y="0"/>
            <a:chExt cx="5486400" cy="730200"/>
          </a:xfrm>
        </p:grpSpPr>
        <p:sp>
          <p:nvSpPr>
            <p:cNvPr id="9" name="Freeform 9"/>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0" name="TextBox 10"/>
            <p:cNvSpPr txBox="1"/>
            <p:nvPr/>
          </p:nvSpPr>
          <p:spPr>
            <a:xfrm>
              <a:off x="0" y="-38100"/>
              <a:ext cx="5486400" cy="76830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36</a:t>
              </a:r>
            </a:p>
          </p:txBody>
        </p:sp>
      </p:grpSp>
      <p:sp>
        <p:nvSpPr>
          <p:cNvPr id="11" name="Freeform 11"/>
          <p:cNvSpPr/>
          <p:nvPr/>
        </p:nvSpPr>
        <p:spPr>
          <a:xfrm>
            <a:off x="8065618" y="3519219"/>
            <a:ext cx="9275282" cy="5739081"/>
          </a:xfrm>
          <a:custGeom>
            <a:avLst/>
            <a:gdLst/>
            <a:ahLst/>
            <a:cxnLst/>
            <a:rect l="l" t="t" r="r" b="b"/>
            <a:pathLst>
              <a:path w="9275282" h="5739081">
                <a:moveTo>
                  <a:pt x="0" y="0"/>
                </a:moveTo>
                <a:lnTo>
                  <a:pt x="9275282" y="0"/>
                </a:lnTo>
                <a:lnTo>
                  <a:pt x="9275282" y="5739081"/>
                </a:lnTo>
                <a:lnTo>
                  <a:pt x="0" y="5739081"/>
                </a:lnTo>
                <a:lnTo>
                  <a:pt x="0" y="0"/>
                </a:lnTo>
                <a:close/>
              </a:path>
            </a:pathLst>
          </a:custGeom>
          <a:blipFill>
            <a:blip r:embed="rId3"/>
            <a:stretch>
              <a:fillRect/>
            </a:stretch>
          </a:blipFill>
        </p:spPr>
      </p:sp>
      <p:sp>
        <p:nvSpPr>
          <p:cNvPr id="12" name="TextBox 12"/>
          <p:cNvSpPr txBox="1"/>
          <p:nvPr/>
        </p:nvSpPr>
        <p:spPr>
          <a:xfrm>
            <a:off x="1257300" y="3071880"/>
            <a:ext cx="10142666" cy="1362075"/>
          </a:xfrm>
          <a:prstGeom prst="rect">
            <a:avLst/>
          </a:prstGeom>
        </p:spPr>
        <p:txBody>
          <a:bodyPr lIns="0" tIns="0" rIns="0" bIns="0" rtlCol="0" anchor="t">
            <a:spAutoFit/>
          </a:bodyPr>
          <a:lstStyle/>
          <a:p>
            <a:pPr marL="645817" lvl="1" indent="-322908" algn="l">
              <a:lnSpc>
                <a:spcPts val="3589"/>
              </a:lnSpc>
              <a:buFont typeface="Arial"/>
              <a:buChar char="•"/>
            </a:pPr>
            <a:r>
              <a:rPr lang="en-US" sz="2991">
                <a:solidFill>
                  <a:srgbClr val="000000"/>
                </a:solidFill>
                <a:latin typeface="Times New Roman"/>
                <a:ea typeface="Times New Roman"/>
                <a:cs typeface="Times New Roman"/>
                <a:sym typeface="Times New Roman"/>
              </a:rPr>
              <a:t>Food items distributed across regions</a:t>
            </a:r>
          </a:p>
          <a:p>
            <a:pPr marL="645817" lvl="1" indent="-322908" algn="l">
              <a:lnSpc>
                <a:spcPts val="3589"/>
              </a:lnSpc>
              <a:buFont typeface="Arial"/>
              <a:buChar char="•"/>
            </a:pPr>
            <a:r>
              <a:rPr lang="en-US" sz="2991">
                <a:solidFill>
                  <a:srgbClr val="000000"/>
                </a:solidFill>
                <a:latin typeface="Times New Roman"/>
                <a:ea typeface="Times New Roman"/>
                <a:cs typeface="Times New Roman"/>
                <a:sym typeface="Times New Roman"/>
              </a:rPr>
              <a:t>Enables region-aware recommendations</a:t>
            </a:r>
          </a:p>
          <a:p>
            <a:pPr marL="645817" lvl="1" indent="-322908" algn="l">
              <a:lnSpc>
                <a:spcPts val="3589"/>
              </a:lnSpc>
              <a:buFont typeface="Arial"/>
              <a:buChar char="•"/>
            </a:pPr>
            <a:r>
              <a:rPr lang="en-US" sz="2991">
                <a:solidFill>
                  <a:srgbClr val="000000"/>
                </a:solidFill>
                <a:latin typeface="Times New Roman"/>
                <a:ea typeface="Times New Roman"/>
                <a:cs typeface="Times New Roman"/>
                <a:sym typeface="Times New Roman"/>
              </a:rPr>
              <a:t>Prevents cultural bias</a:t>
            </a:r>
          </a:p>
        </p:txBody>
      </p:sp>
      <p:sp>
        <p:nvSpPr>
          <p:cNvPr id="13" name="TextBox 13"/>
          <p:cNvSpPr txBox="1"/>
          <p:nvPr/>
        </p:nvSpPr>
        <p:spPr>
          <a:xfrm>
            <a:off x="947100" y="1829400"/>
            <a:ext cx="16393800" cy="685800"/>
          </a:xfrm>
          <a:prstGeom prst="rect">
            <a:avLst/>
          </a:prstGeom>
        </p:spPr>
        <p:txBody>
          <a:bodyPr lIns="0" tIns="0" rIns="0" bIns="0" rtlCol="0" anchor="t">
            <a:spAutoFit/>
          </a:bodyPr>
          <a:lstStyle/>
          <a:p>
            <a:pPr algn="ctr">
              <a:lnSpc>
                <a:spcPts val="5219"/>
              </a:lnSpc>
            </a:pPr>
            <a:r>
              <a:rPr lang="en-US" sz="4349">
                <a:solidFill>
                  <a:srgbClr val="000000"/>
                </a:solidFill>
                <a:latin typeface="Times New Roman"/>
                <a:ea typeface="Times New Roman"/>
                <a:cs typeface="Times New Roman"/>
                <a:sym typeface="Times New Roman"/>
              </a:rPr>
              <a:t>Regional Distribution Analysis</a:t>
            </a:r>
          </a:p>
        </p:txBody>
      </p:sp>
      <p:grpSp>
        <p:nvGrpSpPr>
          <p:cNvPr id="14" name="Group 14"/>
          <p:cNvGrpSpPr/>
          <p:nvPr/>
        </p:nvGrpSpPr>
        <p:grpSpPr>
          <a:xfrm>
            <a:off x="1257300" y="9534525"/>
            <a:ext cx="4114800" cy="547688"/>
            <a:chOff x="0" y="0"/>
            <a:chExt cx="5486400" cy="730250"/>
          </a:xfrm>
        </p:grpSpPr>
        <p:sp>
          <p:nvSpPr>
            <p:cNvPr id="15" name="Freeform 15"/>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6" name="TextBox 16"/>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7" name="TextBox 17"/>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638900"/>
            <a:chOff x="0" y="0"/>
            <a:chExt cx="21031200" cy="2185200"/>
          </a:xfrm>
        </p:grpSpPr>
        <p:sp>
          <p:nvSpPr>
            <p:cNvPr id="3" name="Freeform 3"/>
            <p:cNvSpPr/>
            <p:nvPr/>
          </p:nvSpPr>
          <p:spPr>
            <a:xfrm>
              <a:off x="0" y="0"/>
              <a:ext cx="21031200" cy="2185200"/>
            </a:xfrm>
            <a:custGeom>
              <a:avLst/>
              <a:gdLst/>
              <a:ahLst/>
              <a:cxnLst/>
              <a:rect l="l" t="t" r="r" b="b"/>
              <a:pathLst>
                <a:path w="21031200" h="2185200">
                  <a:moveTo>
                    <a:pt x="0" y="0"/>
                  </a:moveTo>
                  <a:lnTo>
                    <a:pt x="21031200" y="0"/>
                  </a:lnTo>
                  <a:lnTo>
                    <a:pt x="21031200" y="2185200"/>
                  </a:lnTo>
                  <a:lnTo>
                    <a:pt x="0" y="2185200"/>
                  </a:lnTo>
                  <a:close/>
                </a:path>
              </a:pathLst>
            </a:custGeom>
            <a:solidFill>
              <a:srgbClr val="000000">
                <a:alpha val="0"/>
              </a:srgbClr>
            </a:solidFill>
          </p:spPr>
        </p:sp>
        <p:sp>
          <p:nvSpPr>
            <p:cNvPr id="4" name="TextBox 4"/>
            <p:cNvSpPr txBox="1"/>
            <p:nvPr/>
          </p:nvSpPr>
          <p:spPr>
            <a:xfrm>
              <a:off x="0" y="38100"/>
              <a:ext cx="21031200" cy="21471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Result Analysis</a:t>
              </a:r>
            </a:p>
          </p:txBody>
        </p:sp>
      </p:grpSp>
      <p:grpSp>
        <p:nvGrpSpPr>
          <p:cNvPr id="5" name="Group 5"/>
          <p:cNvGrpSpPr/>
          <p:nvPr/>
        </p:nvGrpSpPr>
        <p:grpSpPr>
          <a:xfrm>
            <a:off x="6057900" y="9534525"/>
            <a:ext cx="6172200" cy="547650"/>
            <a:chOff x="0" y="0"/>
            <a:chExt cx="8229600" cy="730200"/>
          </a:xfrm>
        </p:grpSpPr>
        <p:sp>
          <p:nvSpPr>
            <p:cNvPr id="6" name="Freeform 6"/>
            <p:cNvSpPr/>
            <p:nvPr/>
          </p:nvSpPr>
          <p:spPr>
            <a:xfrm>
              <a:off x="0" y="0"/>
              <a:ext cx="8229600" cy="730200"/>
            </a:xfrm>
            <a:custGeom>
              <a:avLst/>
              <a:gdLst/>
              <a:ahLst/>
              <a:cxnLst/>
              <a:rect l="l" t="t" r="r" b="b"/>
              <a:pathLst>
                <a:path w="8229600" h="730200">
                  <a:moveTo>
                    <a:pt x="0" y="0"/>
                  </a:moveTo>
                  <a:lnTo>
                    <a:pt x="8229600" y="0"/>
                  </a:lnTo>
                  <a:lnTo>
                    <a:pt x="8229600" y="730200"/>
                  </a:lnTo>
                  <a:lnTo>
                    <a:pt x="0" y="730200"/>
                  </a:lnTo>
                  <a:close/>
                </a:path>
              </a:pathLst>
            </a:custGeom>
            <a:solidFill>
              <a:srgbClr val="000000">
                <a:alpha val="0"/>
              </a:srgbClr>
            </a:solidFill>
          </p:spPr>
        </p:sp>
        <p:sp>
          <p:nvSpPr>
            <p:cNvPr id="7" name="TextBox 7"/>
            <p:cNvSpPr txBox="1"/>
            <p:nvPr/>
          </p:nvSpPr>
          <p:spPr>
            <a:xfrm>
              <a:off x="0" y="-38100"/>
              <a:ext cx="8229600" cy="76830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8" name="Group 8"/>
          <p:cNvGrpSpPr/>
          <p:nvPr/>
        </p:nvGrpSpPr>
        <p:grpSpPr>
          <a:xfrm>
            <a:off x="12915900" y="9534525"/>
            <a:ext cx="4114800" cy="547650"/>
            <a:chOff x="0" y="0"/>
            <a:chExt cx="5486400" cy="730200"/>
          </a:xfrm>
        </p:grpSpPr>
        <p:sp>
          <p:nvSpPr>
            <p:cNvPr id="9" name="Freeform 9"/>
            <p:cNvSpPr/>
            <p:nvPr/>
          </p:nvSpPr>
          <p:spPr>
            <a:xfrm>
              <a:off x="0" y="0"/>
              <a:ext cx="5486400" cy="730200"/>
            </a:xfrm>
            <a:custGeom>
              <a:avLst/>
              <a:gdLst/>
              <a:ahLst/>
              <a:cxnLst/>
              <a:rect l="l" t="t" r="r" b="b"/>
              <a:pathLst>
                <a:path w="5486400" h="730200">
                  <a:moveTo>
                    <a:pt x="0" y="0"/>
                  </a:moveTo>
                  <a:lnTo>
                    <a:pt x="5486400" y="0"/>
                  </a:lnTo>
                  <a:lnTo>
                    <a:pt x="5486400" y="730200"/>
                  </a:lnTo>
                  <a:lnTo>
                    <a:pt x="0" y="730200"/>
                  </a:lnTo>
                  <a:close/>
                </a:path>
              </a:pathLst>
            </a:custGeom>
            <a:solidFill>
              <a:srgbClr val="000000">
                <a:alpha val="0"/>
              </a:srgbClr>
            </a:solidFill>
          </p:spPr>
        </p:sp>
        <p:sp>
          <p:nvSpPr>
            <p:cNvPr id="10" name="TextBox 10"/>
            <p:cNvSpPr txBox="1"/>
            <p:nvPr/>
          </p:nvSpPr>
          <p:spPr>
            <a:xfrm>
              <a:off x="0" y="-38100"/>
              <a:ext cx="5486400" cy="76830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37</a:t>
              </a:r>
            </a:p>
          </p:txBody>
        </p:sp>
      </p:grpSp>
      <p:sp>
        <p:nvSpPr>
          <p:cNvPr id="11" name="TextBox 11"/>
          <p:cNvSpPr txBox="1"/>
          <p:nvPr/>
        </p:nvSpPr>
        <p:spPr>
          <a:xfrm>
            <a:off x="1257300" y="3071880"/>
            <a:ext cx="10142666" cy="1809750"/>
          </a:xfrm>
          <a:prstGeom prst="rect">
            <a:avLst/>
          </a:prstGeom>
        </p:spPr>
        <p:txBody>
          <a:bodyPr lIns="0" tIns="0" rIns="0" bIns="0" rtlCol="0" anchor="t">
            <a:spAutoFit/>
          </a:bodyPr>
          <a:lstStyle/>
          <a:p>
            <a:pPr marL="645817" lvl="1" indent="-322908" algn="l">
              <a:lnSpc>
                <a:spcPts val="3589"/>
              </a:lnSpc>
              <a:buFont typeface="Arial"/>
              <a:buChar char="•"/>
            </a:pPr>
            <a:r>
              <a:rPr lang="en-US" sz="2991">
                <a:solidFill>
                  <a:srgbClr val="000000"/>
                </a:solidFill>
                <a:latin typeface="Times New Roman"/>
                <a:ea typeface="Times New Roman"/>
                <a:cs typeface="Times New Roman"/>
                <a:sym typeface="Times New Roman"/>
              </a:rPr>
              <a:t>MF: Fast convergence</a:t>
            </a:r>
          </a:p>
          <a:p>
            <a:pPr marL="645817" lvl="1" indent="-322908" algn="l">
              <a:lnSpc>
                <a:spcPts val="3589"/>
              </a:lnSpc>
              <a:buFont typeface="Arial"/>
              <a:buChar char="•"/>
            </a:pPr>
            <a:r>
              <a:rPr lang="en-US" sz="2991">
                <a:solidFill>
                  <a:srgbClr val="000000"/>
                </a:solidFill>
                <a:latin typeface="Times New Roman"/>
                <a:ea typeface="Times New Roman"/>
                <a:cs typeface="Times New Roman"/>
                <a:sym typeface="Times New Roman"/>
              </a:rPr>
              <a:t>Transformer: Captures temporal behavior</a:t>
            </a:r>
          </a:p>
          <a:p>
            <a:pPr marL="645817" lvl="1" indent="-322908" algn="l">
              <a:lnSpc>
                <a:spcPts val="3589"/>
              </a:lnSpc>
              <a:buFont typeface="Arial"/>
              <a:buChar char="•"/>
            </a:pPr>
            <a:r>
              <a:rPr lang="en-US" sz="2991">
                <a:solidFill>
                  <a:srgbClr val="000000"/>
                </a:solidFill>
                <a:latin typeface="Times New Roman"/>
                <a:ea typeface="Times New Roman"/>
                <a:cs typeface="Times New Roman"/>
                <a:sym typeface="Times New Roman"/>
              </a:rPr>
              <a:t>Hybrid: Best stability and balance</a:t>
            </a:r>
          </a:p>
          <a:p>
            <a:pPr marL="645817" lvl="1" indent="-322908" algn="l">
              <a:lnSpc>
                <a:spcPts val="3589"/>
              </a:lnSpc>
              <a:buFont typeface="Arial"/>
              <a:buChar char="•"/>
            </a:pPr>
            <a:r>
              <a:rPr lang="en-US" sz="2991">
                <a:solidFill>
                  <a:srgbClr val="000000"/>
                </a:solidFill>
                <a:latin typeface="Times New Roman"/>
                <a:ea typeface="Times New Roman"/>
                <a:cs typeface="Times New Roman"/>
                <a:sym typeface="Times New Roman"/>
              </a:rPr>
              <a:t>Ensures personalization, health, and safety</a:t>
            </a:r>
          </a:p>
        </p:txBody>
      </p:sp>
      <p:sp>
        <p:nvSpPr>
          <p:cNvPr id="12" name="TextBox 12"/>
          <p:cNvSpPr txBox="1"/>
          <p:nvPr/>
        </p:nvSpPr>
        <p:spPr>
          <a:xfrm>
            <a:off x="947100" y="1829400"/>
            <a:ext cx="16393800" cy="685800"/>
          </a:xfrm>
          <a:prstGeom prst="rect">
            <a:avLst/>
          </a:prstGeom>
        </p:spPr>
        <p:txBody>
          <a:bodyPr lIns="0" tIns="0" rIns="0" bIns="0" rtlCol="0" anchor="t">
            <a:spAutoFit/>
          </a:bodyPr>
          <a:lstStyle/>
          <a:p>
            <a:pPr algn="ctr">
              <a:lnSpc>
                <a:spcPts val="5219"/>
              </a:lnSpc>
            </a:pPr>
            <a:r>
              <a:rPr lang="en-US" sz="4349">
                <a:solidFill>
                  <a:srgbClr val="000000"/>
                </a:solidFill>
                <a:latin typeface="Times New Roman"/>
                <a:ea typeface="Times New Roman"/>
                <a:cs typeface="Times New Roman"/>
                <a:sym typeface="Times New Roman"/>
              </a:rPr>
              <a:t>Final Results Summary</a:t>
            </a:r>
          </a:p>
        </p:txBody>
      </p:sp>
      <p:sp>
        <p:nvSpPr>
          <p:cNvPr id="13" name="Freeform 13"/>
          <p:cNvSpPr/>
          <p:nvPr/>
        </p:nvSpPr>
        <p:spPr>
          <a:xfrm>
            <a:off x="8369334" y="3202011"/>
            <a:ext cx="8889966" cy="6056289"/>
          </a:xfrm>
          <a:custGeom>
            <a:avLst/>
            <a:gdLst/>
            <a:ahLst/>
            <a:cxnLst/>
            <a:rect l="l" t="t" r="r" b="b"/>
            <a:pathLst>
              <a:path w="8889966" h="6056289">
                <a:moveTo>
                  <a:pt x="0" y="0"/>
                </a:moveTo>
                <a:lnTo>
                  <a:pt x="8889966" y="0"/>
                </a:lnTo>
                <a:lnTo>
                  <a:pt x="8889966" y="6056289"/>
                </a:lnTo>
                <a:lnTo>
                  <a:pt x="0" y="6056289"/>
                </a:lnTo>
                <a:lnTo>
                  <a:pt x="0" y="0"/>
                </a:lnTo>
                <a:close/>
              </a:path>
            </a:pathLst>
          </a:custGeom>
          <a:blipFill>
            <a:blip r:embed="rId3"/>
            <a:stretch>
              <a:fillRect/>
            </a:stretch>
          </a:blipFill>
        </p:spPr>
      </p:sp>
      <p:grpSp>
        <p:nvGrpSpPr>
          <p:cNvPr id="14" name="Group 14"/>
          <p:cNvGrpSpPr/>
          <p:nvPr/>
        </p:nvGrpSpPr>
        <p:grpSpPr>
          <a:xfrm>
            <a:off x="1257300" y="9534525"/>
            <a:ext cx="4114800" cy="547688"/>
            <a:chOff x="0" y="0"/>
            <a:chExt cx="5486400" cy="730250"/>
          </a:xfrm>
        </p:grpSpPr>
        <p:sp>
          <p:nvSpPr>
            <p:cNvPr id="15" name="Freeform 15"/>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6" name="TextBox 16"/>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7" name="TextBox 17"/>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680300"/>
            <a:chOff x="0" y="0"/>
            <a:chExt cx="21031200" cy="2240400"/>
          </a:xfrm>
        </p:grpSpPr>
        <p:sp>
          <p:nvSpPr>
            <p:cNvPr id="3" name="Freeform 3"/>
            <p:cNvSpPr/>
            <p:nvPr/>
          </p:nvSpPr>
          <p:spPr>
            <a:xfrm>
              <a:off x="0" y="0"/>
              <a:ext cx="21031200" cy="2240400"/>
            </a:xfrm>
            <a:custGeom>
              <a:avLst/>
              <a:gdLst/>
              <a:ahLst/>
              <a:cxnLst/>
              <a:rect l="l" t="t" r="r" b="b"/>
              <a:pathLst>
                <a:path w="21031200" h="2240400">
                  <a:moveTo>
                    <a:pt x="0" y="0"/>
                  </a:moveTo>
                  <a:lnTo>
                    <a:pt x="21031200" y="0"/>
                  </a:lnTo>
                  <a:lnTo>
                    <a:pt x="21031200" y="2240400"/>
                  </a:lnTo>
                  <a:lnTo>
                    <a:pt x="0" y="2240400"/>
                  </a:lnTo>
                  <a:close/>
                </a:path>
              </a:pathLst>
            </a:custGeom>
            <a:solidFill>
              <a:srgbClr val="000000">
                <a:alpha val="0"/>
              </a:srgbClr>
            </a:solidFill>
          </p:spPr>
        </p:sp>
        <p:sp>
          <p:nvSpPr>
            <p:cNvPr id="4" name="TextBox 4"/>
            <p:cNvSpPr txBox="1"/>
            <p:nvPr/>
          </p:nvSpPr>
          <p:spPr>
            <a:xfrm>
              <a:off x="0" y="38100"/>
              <a:ext cx="21031200" cy="2202300"/>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Future Scope</a:t>
              </a:r>
            </a:p>
          </p:txBody>
        </p:sp>
      </p:grpSp>
      <p:sp>
        <p:nvSpPr>
          <p:cNvPr id="5" name="TextBox 5"/>
          <p:cNvSpPr txBox="1"/>
          <p:nvPr/>
        </p:nvSpPr>
        <p:spPr>
          <a:xfrm>
            <a:off x="1348725" y="2434639"/>
            <a:ext cx="15590550" cy="6540252"/>
          </a:xfrm>
          <a:prstGeom prst="rect">
            <a:avLst/>
          </a:prstGeom>
        </p:spPr>
        <p:txBody>
          <a:bodyPr lIns="0" tIns="0" rIns="0" bIns="0" rtlCol="0" anchor="t">
            <a:spAutoFit/>
          </a:bodyPr>
          <a:lstStyle/>
          <a:p>
            <a:pPr marL="709228" lvl="1" indent="-354614" algn="l">
              <a:lnSpc>
                <a:spcPts val="3435"/>
              </a:lnSpc>
              <a:buAutoNum type="arabicPeriod"/>
            </a:pPr>
            <a:r>
              <a:rPr lang="en-US" sz="3039" b="1" u="sng" dirty="0">
                <a:solidFill>
                  <a:srgbClr val="000000"/>
                </a:solidFill>
                <a:latin typeface="Times New Roman"/>
                <a:ea typeface="Times New Roman"/>
                <a:cs typeface="Times New Roman"/>
                <a:sym typeface="Times New Roman"/>
              </a:rPr>
              <a:t>Family-Centric Meal Planning:</a:t>
            </a:r>
            <a:r>
              <a:rPr lang="en-US" sz="3039" b="1" dirty="0">
                <a:solidFill>
                  <a:srgbClr val="000000"/>
                </a:solidFill>
                <a:latin typeface="Times New Roman"/>
                <a:ea typeface="Times New Roman"/>
                <a:cs typeface="Times New Roman"/>
                <a:sym typeface="Times New Roman"/>
              </a:rPr>
              <a:t> </a:t>
            </a:r>
            <a:r>
              <a:rPr lang="en-US" sz="3039" dirty="0">
                <a:solidFill>
                  <a:srgbClr val="000000"/>
                </a:solidFill>
                <a:latin typeface="Times New Roman"/>
                <a:ea typeface="Times New Roman"/>
                <a:cs typeface="Times New Roman"/>
                <a:sym typeface="Times New Roman"/>
              </a:rPr>
              <a:t>The system can be extended to support family-level recommendations by aggregating nutritional needs across different age groups, health conditions, and dietary preferences, enabling balanced meal planning for households.</a:t>
            </a:r>
          </a:p>
          <a:p>
            <a:pPr marL="709228" lvl="1" indent="-354614" algn="l">
              <a:lnSpc>
                <a:spcPts val="3435"/>
              </a:lnSpc>
              <a:buAutoNum type="arabicPeriod"/>
            </a:pPr>
            <a:r>
              <a:rPr lang="en-US" sz="3039" b="1" u="sng" dirty="0">
                <a:solidFill>
                  <a:srgbClr val="000000"/>
                </a:solidFill>
                <a:latin typeface="Times New Roman"/>
                <a:ea typeface="Times New Roman"/>
                <a:cs typeface="Times New Roman"/>
                <a:sym typeface="Times New Roman"/>
              </a:rPr>
              <a:t>Complete Meal Scheduling:</a:t>
            </a:r>
            <a:r>
              <a:rPr lang="en-US" sz="3039" b="1" dirty="0">
                <a:solidFill>
                  <a:srgbClr val="000000"/>
                </a:solidFill>
                <a:latin typeface="Times New Roman"/>
                <a:ea typeface="Times New Roman"/>
                <a:cs typeface="Times New Roman"/>
                <a:sym typeface="Times New Roman"/>
              </a:rPr>
              <a:t> </a:t>
            </a:r>
            <a:r>
              <a:rPr lang="en-US" sz="3039" dirty="0">
                <a:solidFill>
                  <a:srgbClr val="000000"/>
                </a:solidFill>
                <a:latin typeface="Times New Roman"/>
                <a:ea typeface="Times New Roman"/>
                <a:cs typeface="Times New Roman"/>
                <a:sym typeface="Times New Roman"/>
              </a:rPr>
              <a:t>Future versions can generate structured daily and weekly meal plans (breakfast, lunch, dinner) with calorie and macro-nutrient balancing based on health goals and activity levels.</a:t>
            </a:r>
          </a:p>
          <a:p>
            <a:pPr marL="709228" lvl="1" indent="-354614" algn="l">
              <a:lnSpc>
                <a:spcPts val="3435"/>
              </a:lnSpc>
              <a:buAutoNum type="arabicPeriod"/>
            </a:pPr>
            <a:r>
              <a:rPr lang="en-US" sz="3039" b="1" u="sng" dirty="0">
                <a:solidFill>
                  <a:srgbClr val="000000"/>
                </a:solidFill>
                <a:latin typeface="Times New Roman"/>
                <a:ea typeface="Times New Roman"/>
                <a:cs typeface="Times New Roman"/>
                <a:sym typeface="Times New Roman"/>
              </a:rPr>
              <a:t>Integration of Demographic and Lifestyle Data:</a:t>
            </a:r>
            <a:r>
              <a:rPr lang="en-US" sz="3039" b="1" dirty="0">
                <a:solidFill>
                  <a:srgbClr val="000000"/>
                </a:solidFill>
                <a:latin typeface="Times New Roman"/>
                <a:ea typeface="Times New Roman"/>
                <a:cs typeface="Times New Roman"/>
                <a:sym typeface="Times New Roman"/>
              </a:rPr>
              <a:t> </a:t>
            </a:r>
            <a:r>
              <a:rPr lang="en-US" sz="3039" dirty="0">
                <a:solidFill>
                  <a:srgbClr val="000000"/>
                </a:solidFill>
                <a:latin typeface="Times New Roman"/>
                <a:ea typeface="Times New Roman"/>
                <a:cs typeface="Times New Roman"/>
                <a:sym typeface="Times New Roman"/>
              </a:rPr>
              <a:t>Incorporating demographic attributes such as age, gender, occupation, and lifestyle patterns can improve personalization and allow more precise nutritional recommendations.</a:t>
            </a:r>
          </a:p>
          <a:p>
            <a:pPr marL="709228" lvl="1" indent="-354614" algn="l">
              <a:lnSpc>
                <a:spcPts val="3435"/>
              </a:lnSpc>
              <a:buAutoNum type="arabicPeriod"/>
            </a:pPr>
            <a:r>
              <a:rPr lang="en-US" sz="3039" b="1" u="sng" dirty="0">
                <a:solidFill>
                  <a:srgbClr val="000000"/>
                </a:solidFill>
                <a:latin typeface="Times New Roman"/>
                <a:ea typeface="Times New Roman"/>
                <a:cs typeface="Times New Roman"/>
                <a:sym typeface="Times New Roman"/>
              </a:rPr>
              <a:t>Real-Time Health &amp; Wearable Integration:</a:t>
            </a:r>
            <a:r>
              <a:rPr lang="en-US" sz="3039" b="1" dirty="0">
                <a:solidFill>
                  <a:srgbClr val="000000"/>
                </a:solidFill>
                <a:latin typeface="Times New Roman"/>
                <a:ea typeface="Times New Roman"/>
                <a:cs typeface="Times New Roman"/>
                <a:sym typeface="Times New Roman"/>
              </a:rPr>
              <a:t> </a:t>
            </a:r>
            <a:r>
              <a:rPr lang="en-US" sz="3039" dirty="0">
                <a:solidFill>
                  <a:srgbClr val="000000"/>
                </a:solidFill>
                <a:latin typeface="Times New Roman"/>
                <a:ea typeface="Times New Roman"/>
                <a:cs typeface="Times New Roman"/>
                <a:sym typeface="Times New Roman"/>
              </a:rPr>
              <a:t>Integration with wearable devices and health apps can enable dynamic adjustment of meal recommendations based on real-time activity, calorie expenditure, and health metrics.</a:t>
            </a:r>
          </a:p>
          <a:p>
            <a:pPr marL="709228" lvl="1" indent="-354614" algn="l">
              <a:lnSpc>
                <a:spcPts val="3435"/>
              </a:lnSpc>
              <a:buAutoNum type="arabicPeriod"/>
            </a:pPr>
            <a:r>
              <a:rPr lang="en-US" sz="3039" b="1" u="sng" dirty="0">
                <a:solidFill>
                  <a:srgbClr val="000000"/>
                </a:solidFill>
                <a:latin typeface="Times New Roman"/>
                <a:ea typeface="Times New Roman"/>
                <a:cs typeface="Times New Roman"/>
                <a:sym typeface="Times New Roman"/>
              </a:rPr>
              <a:t>Explainable and Adaptive Recommendation System:</a:t>
            </a:r>
            <a:r>
              <a:rPr lang="en-US" sz="3039" b="1" dirty="0">
                <a:solidFill>
                  <a:srgbClr val="000000"/>
                </a:solidFill>
                <a:latin typeface="Times New Roman"/>
                <a:ea typeface="Times New Roman"/>
                <a:cs typeface="Times New Roman"/>
                <a:sym typeface="Times New Roman"/>
              </a:rPr>
              <a:t> </a:t>
            </a:r>
            <a:r>
              <a:rPr lang="en-US" sz="3039" dirty="0">
                <a:solidFill>
                  <a:srgbClr val="000000"/>
                </a:solidFill>
                <a:latin typeface="Times New Roman"/>
                <a:ea typeface="Times New Roman"/>
                <a:cs typeface="Times New Roman"/>
                <a:sym typeface="Times New Roman"/>
              </a:rPr>
              <a:t>Future improvements can include explainable AI components to justify food recommendations and reinforcement learning mechanisms to adapt recommendations based on user feedback over time.</a:t>
            </a:r>
          </a:p>
        </p:txBody>
      </p:sp>
      <p:grpSp>
        <p:nvGrpSpPr>
          <p:cNvPr id="6" name="Group 6"/>
          <p:cNvGrpSpPr/>
          <p:nvPr/>
        </p:nvGrpSpPr>
        <p:grpSpPr>
          <a:xfrm>
            <a:off x="6057900" y="9534525"/>
            <a:ext cx="6172200" cy="547688"/>
            <a:chOff x="0" y="0"/>
            <a:chExt cx="8229600" cy="730250"/>
          </a:xfrm>
        </p:grpSpPr>
        <p:sp>
          <p:nvSpPr>
            <p:cNvPr id="7" name="Freeform 7"/>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8" name="TextBox 8"/>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88"/>
            <a:chOff x="0" y="0"/>
            <a:chExt cx="5486400" cy="730250"/>
          </a:xfrm>
        </p:grpSpPr>
        <p:sp>
          <p:nvSpPr>
            <p:cNvPr id="10" name="Freeform 10"/>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1" name="TextBox 11"/>
            <p:cNvSpPr txBox="1"/>
            <p:nvPr/>
          </p:nvSpPr>
          <p:spPr>
            <a:xfrm>
              <a:off x="0" y="-38100"/>
              <a:ext cx="5486400" cy="76835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38</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988345"/>
            <a:chOff x="0" y="0"/>
            <a:chExt cx="21031200" cy="2651126"/>
          </a:xfrm>
        </p:grpSpPr>
        <p:sp>
          <p:nvSpPr>
            <p:cNvPr id="3"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solidFill>
              <a:srgbClr val="000000">
                <a:alpha val="0"/>
              </a:srgbClr>
            </a:solidFill>
          </p:spPr>
        </p:sp>
        <p:sp>
          <p:nvSpPr>
            <p:cNvPr id="4" name="TextBox 4"/>
            <p:cNvSpPr txBox="1"/>
            <p:nvPr/>
          </p:nvSpPr>
          <p:spPr>
            <a:xfrm>
              <a:off x="0" y="38100"/>
              <a:ext cx="21031200" cy="2613026"/>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Conclusion</a:t>
              </a:r>
            </a:p>
          </p:txBody>
        </p:sp>
      </p:grpSp>
      <p:sp>
        <p:nvSpPr>
          <p:cNvPr id="5" name="TextBox 5"/>
          <p:cNvSpPr txBox="1"/>
          <p:nvPr/>
        </p:nvSpPr>
        <p:spPr>
          <a:xfrm>
            <a:off x="1348725" y="2803188"/>
            <a:ext cx="15590550" cy="6490716"/>
          </a:xfrm>
          <a:prstGeom prst="rect">
            <a:avLst/>
          </a:prstGeom>
        </p:spPr>
        <p:txBody>
          <a:bodyPr lIns="0" tIns="0" rIns="0" bIns="0" rtlCol="0" anchor="t">
            <a:spAutoFit/>
          </a:bodyPr>
          <a:lstStyle/>
          <a:p>
            <a:pPr marL="669610" lvl="1" indent="-334805" algn="l">
              <a:lnSpc>
                <a:spcPts val="3996"/>
              </a:lnSpc>
              <a:buFont typeface="Arial"/>
              <a:buChar char="•"/>
            </a:pPr>
            <a:r>
              <a:rPr lang="en-US" sz="3700" b="1" dirty="0">
                <a:solidFill>
                  <a:srgbClr val="000000"/>
                </a:solidFill>
                <a:latin typeface="Times New Roman"/>
                <a:ea typeface="Times New Roman"/>
                <a:cs typeface="Times New Roman"/>
                <a:sym typeface="Times New Roman"/>
              </a:rPr>
              <a:t>Key Findings:</a:t>
            </a:r>
          </a:p>
          <a:p>
            <a:pPr marL="1151183" lvl="2" indent="-383728" algn="l">
              <a:lnSpc>
                <a:spcPts val="3348"/>
              </a:lnSpc>
              <a:buFont typeface="Arial"/>
              <a:buChar char="⚬"/>
            </a:pPr>
            <a:r>
              <a:rPr lang="en-US" sz="3100" dirty="0">
                <a:solidFill>
                  <a:srgbClr val="000000"/>
                </a:solidFill>
                <a:latin typeface="Times New Roman"/>
                <a:ea typeface="Times New Roman"/>
                <a:cs typeface="Times New Roman"/>
                <a:sym typeface="Times New Roman"/>
              </a:rPr>
              <a:t>Successfully developed a region-aware and health-constrained food recommendation prototype.</a:t>
            </a:r>
          </a:p>
          <a:p>
            <a:pPr marL="1151183" lvl="2" indent="-383728" algn="l">
              <a:lnSpc>
                <a:spcPts val="3348"/>
              </a:lnSpc>
              <a:buFont typeface="Arial"/>
              <a:buChar char="⚬"/>
            </a:pPr>
            <a:r>
              <a:rPr lang="en-US" sz="3100" dirty="0">
                <a:solidFill>
                  <a:srgbClr val="000000"/>
                </a:solidFill>
                <a:latin typeface="Times New Roman"/>
                <a:ea typeface="Times New Roman"/>
                <a:cs typeface="Times New Roman"/>
                <a:sym typeface="Times New Roman"/>
              </a:rPr>
              <a:t>Effective integration of nutritional data, user health conditions, allergies, activity level, and health goals into the recommendation process.</a:t>
            </a:r>
          </a:p>
          <a:p>
            <a:pPr marL="1151183" lvl="2" indent="-383728" algn="l">
              <a:lnSpc>
                <a:spcPts val="3348"/>
              </a:lnSpc>
              <a:buFont typeface="Arial"/>
              <a:buChar char="⚬"/>
            </a:pPr>
            <a:r>
              <a:rPr lang="en-US" sz="3100" dirty="0">
                <a:solidFill>
                  <a:srgbClr val="000000"/>
                </a:solidFill>
                <a:latin typeface="Times New Roman"/>
                <a:ea typeface="Times New Roman"/>
                <a:cs typeface="Times New Roman"/>
                <a:sym typeface="Times New Roman"/>
              </a:rPr>
              <a:t>Hybrid recommendation logic enables personalized yet safe and culturally relevant food suggestions.</a:t>
            </a:r>
          </a:p>
          <a:p>
            <a:pPr marL="1151183" lvl="2" indent="-383728" algn="l">
              <a:lnSpc>
                <a:spcPts val="3348"/>
              </a:lnSpc>
              <a:buFont typeface="Arial"/>
              <a:buChar char="⚬"/>
            </a:pPr>
            <a:r>
              <a:rPr lang="en-US" sz="3100" dirty="0">
                <a:solidFill>
                  <a:srgbClr val="000000"/>
                </a:solidFill>
                <a:latin typeface="Times New Roman"/>
                <a:ea typeface="Times New Roman"/>
                <a:cs typeface="Times New Roman"/>
                <a:sym typeface="Times New Roman"/>
              </a:rPr>
              <a:t>The prototype demonstrates strong potential for scalable and extensible meal recommendation systems.</a:t>
            </a:r>
          </a:p>
          <a:p>
            <a:pPr marL="669610" lvl="1" indent="-334805" algn="l">
              <a:lnSpc>
                <a:spcPts val="3996"/>
              </a:lnSpc>
              <a:buFont typeface="Arial"/>
              <a:buChar char="•"/>
            </a:pPr>
            <a:r>
              <a:rPr lang="en-US" sz="3700" b="1" dirty="0">
                <a:solidFill>
                  <a:srgbClr val="000000"/>
                </a:solidFill>
                <a:latin typeface="Times New Roman"/>
                <a:ea typeface="Times New Roman"/>
                <a:cs typeface="Times New Roman"/>
                <a:sym typeface="Times New Roman"/>
              </a:rPr>
              <a:t>Impact:</a:t>
            </a:r>
          </a:p>
          <a:p>
            <a:pPr marL="1151183" lvl="2" indent="-383728" algn="l">
              <a:lnSpc>
                <a:spcPts val="3348"/>
              </a:lnSpc>
              <a:buFont typeface="Arial"/>
              <a:buChar char="⚬"/>
            </a:pPr>
            <a:r>
              <a:rPr lang="en-US" sz="3100" dirty="0">
                <a:solidFill>
                  <a:srgbClr val="000000"/>
                </a:solidFill>
                <a:latin typeface="Times New Roman"/>
                <a:ea typeface="Times New Roman"/>
                <a:cs typeface="Times New Roman"/>
                <a:sym typeface="Times New Roman"/>
              </a:rPr>
              <a:t>Promotes health-conscious and informed dietary decision-making.</a:t>
            </a:r>
          </a:p>
          <a:p>
            <a:pPr marL="1151183" lvl="2" indent="-383728" algn="l">
              <a:lnSpc>
                <a:spcPts val="3348"/>
              </a:lnSpc>
              <a:buFont typeface="Arial"/>
              <a:buChar char="⚬"/>
            </a:pPr>
            <a:r>
              <a:rPr lang="en-US" sz="3100" dirty="0">
                <a:solidFill>
                  <a:srgbClr val="000000"/>
                </a:solidFill>
                <a:latin typeface="Times New Roman"/>
                <a:ea typeface="Times New Roman"/>
                <a:cs typeface="Times New Roman"/>
                <a:sym typeface="Times New Roman"/>
              </a:rPr>
              <a:t>Reduces the risk of unsuitable food choices for users with specific health constraints.</a:t>
            </a:r>
          </a:p>
          <a:p>
            <a:pPr marL="1151577" lvl="2" indent="-383859" algn="l">
              <a:lnSpc>
                <a:spcPts val="3348"/>
              </a:lnSpc>
              <a:buFont typeface="Arial"/>
              <a:buChar char="⚬"/>
            </a:pPr>
            <a:r>
              <a:rPr lang="en-US" sz="3100" dirty="0">
                <a:solidFill>
                  <a:srgbClr val="000000"/>
                </a:solidFill>
                <a:latin typeface="Times New Roman"/>
                <a:ea typeface="Times New Roman"/>
                <a:cs typeface="Times New Roman"/>
                <a:sym typeface="Times New Roman"/>
              </a:rPr>
              <a:t>Establishes a solid foundation for future family-centric and community-level meal planning systems.</a:t>
            </a:r>
          </a:p>
          <a:p>
            <a:pPr marL="1151183" lvl="2" indent="-383728" algn="l">
              <a:lnSpc>
                <a:spcPts val="3348"/>
              </a:lnSpc>
              <a:buFont typeface="Arial"/>
              <a:buChar char="⚬"/>
            </a:pPr>
            <a:r>
              <a:rPr lang="en-US" sz="3100" dirty="0">
                <a:solidFill>
                  <a:srgbClr val="000000"/>
                </a:solidFill>
                <a:latin typeface="Times New Roman"/>
                <a:ea typeface="Times New Roman"/>
                <a:cs typeface="Times New Roman"/>
                <a:sym typeface="Times New Roman"/>
              </a:rPr>
              <a:t>Can be extended to real-world healthcare, wellness, and smart nutrition platforms.</a:t>
            </a:r>
          </a:p>
        </p:txBody>
      </p:sp>
      <p:grpSp>
        <p:nvGrpSpPr>
          <p:cNvPr id="6" name="Group 6"/>
          <p:cNvGrpSpPr/>
          <p:nvPr/>
        </p:nvGrpSpPr>
        <p:grpSpPr>
          <a:xfrm>
            <a:off x="6057900" y="9534525"/>
            <a:ext cx="6172200" cy="547688"/>
            <a:chOff x="0" y="0"/>
            <a:chExt cx="8229600" cy="730250"/>
          </a:xfrm>
        </p:grpSpPr>
        <p:sp>
          <p:nvSpPr>
            <p:cNvPr id="7" name="Freeform 7"/>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8" name="TextBox 8"/>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88"/>
            <a:chOff x="0" y="0"/>
            <a:chExt cx="5486400" cy="730250"/>
          </a:xfrm>
        </p:grpSpPr>
        <p:sp>
          <p:nvSpPr>
            <p:cNvPr id="10" name="Freeform 10"/>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1" name="TextBox 11"/>
            <p:cNvSpPr txBox="1"/>
            <p:nvPr/>
          </p:nvSpPr>
          <p:spPr>
            <a:xfrm>
              <a:off x="0" y="-38100"/>
              <a:ext cx="5486400" cy="76835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39</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57300" y="547688"/>
            <a:ext cx="15773400" cy="1988345"/>
            <a:chOff x="0" y="0"/>
            <a:chExt cx="21031200" cy="2651126"/>
          </a:xfrm>
        </p:grpSpPr>
        <p:sp>
          <p:nvSpPr>
            <p:cNvPr id="3" name="Freeform 3"/>
            <p:cNvSpPr/>
            <p:nvPr/>
          </p:nvSpPr>
          <p:spPr>
            <a:xfrm>
              <a:off x="0" y="0"/>
              <a:ext cx="21031200" cy="2651126"/>
            </a:xfrm>
            <a:custGeom>
              <a:avLst/>
              <a:gdLst/>
              <a:ahLst/>
              <a:cxnLst/>
              <a:rect l="l" t="t" r="r" b="b"/>
              <a:pathLst>
                <a:path w="21031200" h="2651126">
                  <a:moveTo>
                    <a:pt x="0" y="0"/>
                  </a:moveTo>
                  <a:lnTo>
                    <a:pt x="21031200" y="0"/>
                  </a:lnTo>
                  <a:lnTo>
                    <a:pt x="21031200" y="2651126"/>
                  </a:lnTo>
                  <a:lnTo>
                    <a:pt x="0" y="2651126"/>
                  </a:lnTo>
                  <a:close/>
                </a:path>
              </a:pathLst>
            </a:custGeom>
            <a:solidFill>
              <a:srgbClr val="000000">
                <a:alpha val="0"/>
              </a:srgbClr>
            </a:solidFill>
          </p:spPr>
        </p:sp>
        <p:sp>
          <p:nvSpPr>
            <p:cNvPr id="4" name="TextBox 4"/>
            <p:cNvSpPr txBox="1"/>
            <p:nvPr/>
          </p:nvSpPr>
          <p:spPr>
            <a:xfrm>
              <a:off x="0" y="38100"/>
              <a:ext cx="21031200" cy="2613026"/>
            </a:xfrm>
            <a:prstGeom prst="rect">
              <a:avLst/>
            </a:prstGeom>
          </p:spPr>
          <p:txBody>
            <a:bodyPr lIns="0" tIns="0" rIns="0" bIns="0" rtlCol="0" anchor="ctr"/>
            <a:lstStyle/>
            <a:p>
              <a:pPr algn="ctr">
                <a:lnSpc>
                  <a:spcPts val="7128"/>
                </a:lnSpc>
              </a:pPr>
              <a:r>
                <a:rPr lang="en-US" sz="6600" u="sng">
                  <a:solidFill>
                    <a:srgbClr val="000000"/>
                  </a:solidFill>
                  <a:latin typeface="Times New Roman"/>
                  <a:ea typeface="Times New Roman"/>
                  <a:cs typeface="Times New Roman"/>
                  <a:sym typeface="Times New Roman"/>
                </a:rPr>
                <a:t>References</a:t>
              </a:r>
            </a:p>
          </p:txBody>
        </p:sp>
      </p:grpSp>
      <p:sp>
        <p:nvSpPr>
          <p:cNvPr id="5" name="TextBox 5"/>
          <p:cNvSpPr txBox="1"/>
          <p:nvPr/>
        </p:nvSpPr>
        <p:spPr>
          <a:xfrm>
            <a:off x="1028700" y="2286000"/>
            <a:ext cx="16230600" cy="7248525"/>
          </a:xfrm>
          <a:prstGeom prst="rect">
            <a:avLst/>
          </a:prstGeom>
        </p:spPr>
        <p:txBody>
          <a:bodyPr lIns="0" tIns="0" rIns="0" bIns="0" rtlCol="0" anchor="t">
            <a:spAutoFit/>
          </a:bodyPr>
          <a:lstStyle/>
          <a:p>
            <a:pPr algn="l">
              <a:lnSpc>
                <a:spcPts val="2523"/>
              </a:lnSpc>
            </a:pPr>
            <a:r>
              <a:rPr lang="en-US" sz="2102">
                <a:solidFill>
                  <a:srgbClr val="000000"/>
                </a:solidFill>
                <a:latin typeface="Times New Roman"/>
                <a:ea typeface="Times New Roman"/>
                <a:cs typeface="Times New Roman"/>
                <a:sym typeface="Times New Roman"/>
              </a:rPr>
              <a:t>[1] M. Rostami, M. Oussalah, and V. Farrahi, “A Novel Time-Aware Food Recommender-System Based on Deep Learning and Graph Clustering,” IEEE Ac-cess, vol. 10, 2022, doi: 10.1109/ACCESS.2022.3175317. [Online]. Available: </a:t>
            </a:r>
            <a:r>
              <a:rPr lang="en-US" sz="2102" u="none">
                <a:solidFill>
                  <a:srgbClr val="000000"/>
                </a:solidFill>
                <a:latin typeface="Times New Roman"/>
                <a:ea typeface="Times New Roman"/>
                <a:cs typeface="Times New Roman"/>
                <a:sym typeface="Times New Roman"/>
              </a:rPr>
              <a:t>https://</a:t>
            </a:r>
            <a:r>
              <a:rPr lang="en-US" sz="2102">
                <a:solidFill>
                  <a:srgbClr val="000000"/>
                </a:solidFill>
                <a:latin typeface="Times New Roman"/>
                <a:ea typeface="Times New Roman"/>
                <a:cs typeface="Times New Roman"/>
                <a:sym typeface="Times New Roman"/>
              </a:rPr>
              <a:t>ieeexplore</a:t>
            </a:r>
            <a:r>
              <a:rPr lang="en-US" sz="2102" u="none">
                <a:solidFill>
                  <a:srgbClr val="000000"/>
                </a:solidFill>
                <a:latin typeface="Times New Roman"/>
                <a:ea typeface="Times New Roman"/>
                <a:cs typeface="Times New Roman"/>
                <a:sym typeface="Times New Roman"/>
              </a:rPr>
              <a:t>.</a:t>
            </a:r>
            <a:r>
              <a:rPr lang="en-US" sz="2102">
                <a:solidFill>
                  <a:srgbClr val="000000"/>
                </a:solidFill>
                <a:latin typeface="Times New Roman"/>
                <a:ea typeface="Times New Roman"/>
                <a:cs typeface="Times New Roman"/>
                <a:sym typeface="Times New Roman"/>
              </a:rPr>
              <a:t>i</a:t>
            </a:r>
            <a:r>
              <a:rPr lang="en-US" sz="2102" u="none">
                <a:solidFill>
                  <a:srgbClr val="000000"/>
                </a:solidFill>
                <a:latin typeface="Times New Roman"/>
                <a:ea typeface="Times New Roman"/>
                <a:cs typeface="Times New Roman"/>
                <a:sym typeface="Times New Roman"/>
              </a:rPr>
              <a:t>eee.o</a:t>
            </a:r>
            <a:r>
              <a:rPr lang="en-US" sz="2102">
                <a:solidFill>
                  <a:srgbClr val="000000"/>
                </a:solidFill>
                <a:latin typeface="Times New Roman"/>
                <a:ea typeface="Times New Roman"/>
                <a:cs typeface="Times New Roman"/>
                <a:sym typeface="Times New Roman"/>
              </a:rPr>
              <a:t>rg</a:t>
            </a:r>
            <a:r>
              <a:rPr lang="en-US" sz="2102" u="none">
                <a:solidFill>
                  <a:srgbClr val="000000"/>
                </a:solidFill>
                <a:latin typeface="Times New Roman"/>
                <a:ea typeface="Times New Roman"/>
                <a:cs typeface="Times New Roman"/>
                <a:sym typeface="Times New Roman"/>
              </a:rPr>
              <a:t>/</a:t>
            </a:r>
            <a:r>
              <a:rPr lang="en-US" sz="2102">
                <a:solidFill>
                  <a:srgbClr val="000000"/>
                </a:solidFill>
                <a:latin typeface="Times New Roman"/>
                <a:ea typeface="Times New Roman"/>
                <a:cs typeface="Times New Roman"/>
                <a:sym typeface="Times New Roman"/>
              </a:rPr>
              <a:t>do</a:t>
            </a:r>
            <a:r>
              <a:rPr lang="en-US" sz="2102" u="none">
                <a:solidFill>
                  <a:srgbClr val="000000"/>
                </a:solidFill>
                <a:latin typeface="Times New Roman"/>
                <a:ea typeface="Times New Roman"/>
                <a:cs typeface="Times New Roman"/>
                <a:sym typeface="Times New Roman"/>
              </a:rPr>
              <a:t>c</a:t>
            </a:r>
            <a:r>
              <a:rPr lang="en-US" sz="2102">
                <a:solidFill>
                  <a:srgbClr val="000000"/>
                </a:solidFill>
                <a:latin typeface="Times New Roman"/>
                <a:ea typeface="Times New Roman"/>
                <a:cs typeface="Times New Roman"/>
                <a:sym typeface="Times New Roman"/>
              </a:rPr>
              <a:t>ume</a:t>
            </a:r>
            <a:r>
              <a:rPr lang="en-US" sz="2102" u="none">
                <a:solidFill>
                  <a:srgbClr val="000000"/>
                </a:solidFill>
                <a:latin typeface="Times New Roman"/>
                <a:ea typeface="Times New Roman"/>
                <a:cs typeface="Times New Roman"/>
                <a:sym typeface="Times New Roman"/>
              </a:rPr>
              <a:t>n</a:t>
            </a:r>
            <a:r>
              <a:rPr lang="en-US" sz="2102">
                <a:solidFill>
                  <a:srgbClr val="000000"/>
                </a:solidFill>
                <a:latin typeface="Times New Roman"/>
                <a:ea typeface="Times New Roman"/>
                <a:cs typeface="Times New Roman"/>
                <a:sym typeface="Times New Roman"/>
              </a:rPr>
              <a:t>t</a:t>
            </a:r>
            <a:r>
              <a:rPr lang="en-US" sz="2102" u="none">
                <a:solidFill>
                  <a:srgbClr val="000000"/>
                </a:solidFill>
                <a:latin typeface="Times New Roman"/>
                <a:ea typeface="Times New Roman"/>
                <a:cs typeface="Times New Roman"/>
                <a:sym typeface="Times New Roman"/>
              </a:rPr>
              <a:t>/</a:t>
            </a:r>
            <a:r>
              <a:rPr lang="en-US" sz="2102">
                <a:solidFill>
                  <a:srgbClr val="000000"/>
                </a:solidFill>
                <a:latin typeface="Times New Roman"/>
                <a:ea typeface="Times New Roman"/>
                <a:cs typeface="Times New Roman"/>
                <a:sym typeface="Times New Roman"/>
              </a:rPr>
              <a:t>977508</a:t>
            </a:r>
            <a:r>
              <a:rPr lang="en-US" sz="2102" u="none">
                <a:solidFill>
                  <a:srgbClr val="000000"/>
                </a:solidFill>
                <a:latin typeface="Times New Roman"/>
                <a:ea typeface="Times New Roman"/>
                <a:cs typeface="Times New Roman"/>
                <a:sym typeface="Times New Roman"/>
              </a:rPr>
              <a:t>1</a:t>
            </a:r>
          </a:p>
          <a:p>
            <a:pPr algn="l">
              <a:lnSpc>
                <a:spcPts val="2523"/>
              </a:lnSpc>
            </a:pPr>
            <a:r>
              <a:rPr lang="en-US" sz="2102">
                <a:solidFill>
                  <a:srgbClr val="000000"/>
                </a:solidFill>
                <a:latin typeface="Times New Roman"/>
                <a:ea typeface="Times New Roman"/>
                <a:cs typeface="Times New Roman"/>
                <a:sym typeface="Times New Roman"/>
              </a:rPr>
              <a:t>[2] Y. Chen, Y. Guo, Q. Fan, Q. Zhang, and Y. Dong, “Health-Aware Food Recom-mendation Based on Knowledge Graph and Multi-Task Learning,” Foods, vol. 12, no. 10, art. no. 2079, 2023, do</a:t>
            </a:r>
            <a:r>
              <a:rPr lang="en-US" sz="2102" u="none">
                <a:solidFill>
                  <a:srgbClr val="000000"/>
                </a:solidFill>
                <a:latin typeface="Times New Roman"/>
                <a:ea typeface="Times New Roman"/>
                <a:cs typeface="Times New Roman"/>
                <a:sym typeface="Times New Roman"/>
              </a:rPr>
              <a:t>i</a:t>
            </a:r>
            <a:r>
              <a:rPr lang="en-US" sz="2102">
                <a:solidFill>
                  <a:srgbClr val="000000"/>
                </a:solidFill>
                <a:latin typeface="Times New Roman"/>
                <a:ea typeface="Times New Roman"/>
                <a:cs typeface="Times New Roman"/>
                <a:sym typeface="Times New Roman"/>
              </a:rPr>
              <a:t>: 10</a:t>
            </a:r>
            <a:r>
              <a:rPr lang="en-US" sz="2102" u="none">
                <a:solidFill>
                  <a:srgbClr val="000000"/>
                </a:solidFill>
                <a:latin typeface="Times New Roman"/>
                <a:ea typeface="Times New Roman"/>
                <a:cs typeface="Times New Roman"/>
                <a:sym typeface="Times New Roman"/>
              </a:rPr>
              <a:t>.</a:t>
            </a:r>
            <a:r>
              <a:rPr lang="en-US" sz="2102">
                <a:solidFill>
                  <a:srgbClr val="000000"/>
                </a:solidFill>
                <a:latin typeface="Times New Roman"/>
                <a:ea typeface="Times New Roman"/>
                <a:cs typeface="Times New Roman"/>
                <a:sym typeface="Times New Roman"/>
              </a:rPr>
              <a:t>3390</a:t>
            </a:r>
            <a:r>
              <a:rPr lang="en-US" sz="2102" u="none">
                <a:solidFill>
                  <a:srgbClr val="000000"/>
                </a:solidFill>
                <a:latin typeface="Times New Roman"/>
                <a:ea typeface="Times New Roman"/>
                <a:cs typeface="Times New Roman"/>
                <a:sym typeface="Times New Roman"/>
              </a:rPr>
              <a:t>/</a:t>
            </a:r>
            <a:r>
              <a:rPr lang="en-US" sz="2102">
                <a:solidFill>
                  <a:srgbClr val="000000"/>
                </a:solidFill>
                <a:latin typeface="Times New Roman"/>
                <a:ea typeface="Times New Roman"/>
                <a:cs typeface="Times New Roman"/>
                <a:sym typeface="Times New Roman"/>
              </a:rPr>
              <a:t>f</a:t>
            </a:r>
            <a:r>
              <a:rPr lang="en-US" sz="2102" u="none">
                <a:solidFill>
                  <a:srgbClr val="000000"/>
                </a:solidFill>
                <a:latin typeface="Times New Roman"/>
                <a:ea typeface="Times New Roman"/>
                <a:cs typeface="Times New Roman"/>
                <a:sym typeface="Times New Roman"/>
              </a:rPr>
              <a:t>oods1</a:t>
            </a:r>
            <a:r>
              <a:rPr lang="en-US" sz="2102">
                <a:solidFill>
                  <a:srgbClr val="000000"/>
                </a:solidFill>
                <a:latin typeface="Times New Roman"/>
                <a:ea typeface="Times New Roman"/>
                <a:cs typeface="Times New Roman"/>
                <a:sym typeface="Times New Roman"/>
              </a:rPr>
              <a:t>2102079.</a:t>
            </a:r>
          </a:p>
          <a:p>
            <a:pPr algn="l">
              <a:lnSpc>
                <a:spcPts val="2523"/>
              </a:lnSpc>
            </a:pPr>
            <a:r>
              <a:rPr lang="en-US" sz="2102">
                <a:solidFill>
                  <a:srgbClr val="000000"/>
                </a:solidFill>
                <a:latin typeface="Times New Roman"/>
                <a:ea typeface="Times New Roman"/>
                <a:cs typeface="Times New Roman"/>
                <a:sym typeface="Times New Roman"/>
              </a:rPr>
              <a:t>[</a:t>
            </a:r>
            <a:r>
              <a:rPr lang="en-US" sz="2102" u="none">
                <a:solidFill>
                  <a:srgbClr val="000000"/>
                </a:solidFill>
                <a:latin typeface="Times New Roman"/>
                <a:ea typeface="Times New Roman"/>
                <a:cs typeface="Times New Roman"/>
                <a:sym typeface="Times New Roman"/>
              </a:rPr>
              <a:t>3</a:t>
            </a:r>
            <a:r>
              <a:rPr lang="en-US" sz="2102">
                <a:solidFill>
                  <a:srgbClr val="000000"/>
                </a:solidFill>
                <a:latin typeface="Times New Roman"/>
                <a:ea typeface="Times New Roman"/>
                <a:cs typeface="Times New Roman"/>
                <a:sym typeface="Times New Roman"/>
              </a:rPr>
              <a:t>] S. F</a:t>
            </a:r>
            <a:r>
              <a:rPr lang="en-US" sz="2102" u="none">
                <a:solidFill>
                  <a:srgbClr val="000000"/>
                </a:solidFill>
                <a:latin typeface="Times New Roman"/>
                <a:ea typeface="Times New Roman"/>
                <a:cs typeface="Times New Roman"/>
                <a:sym typeface="Times New Roman"/>
              </a:rPr>
              <a:t>o</a:t>
            </a:r>
            <a:r>
              <a:rPr lang="en-US" sz="2102">
                <a:solidFill>
                  <a:srgbClr val="000000"/>
                </a:solidFill>
                <a:latin typeface="Times New Roman"/>
                <a:ea typeface="Times New Roman"/>
                <a:cs typeface="Times New Roman"/>
                <a:sym typeface="Times New Roman"/>
              </a:rPr>
              <a:t>rouz</a:t>
            </a:r>
            <a:r>
              <a:rPr lang="en-US" sz="2102" u="none">
                <a:solidFill>
                  <a:srgbClr val="000000"/>
                </a:solidFill>
                <a:latin typeface="Times New Roman"/>
                <a:ea typeface="Times New Roman"/>
                <a:cs typeface="Times New Roman"/>
                <a:sym typeface="Times New Roman"/>
              </a:rPr>
              <a:t>a</a:t>
            </a:r>
            <a:r>
              <a:rPr lang="en-US" sz="2102">
                <a:solidFill>
                  <a:srgbClr val="000000"/>
                </a:solidFill>
                <a:latin typeface="Times New Roman"/>
                <a:ea typeface="Times New Roman"/>
                <a:cs typeface="Times New Roman"/>
                <a:sym typeface="Times New Roman"/>
              </a:rPr>
              <a:t>nd</a:t>
            </a:r>
            <a:r>
              <a:rPr lang="en-US" sz="2102" u="none">
                <a:solidFill>
                  <a:srgbClr val="000000"/>
                </a:solidFill>
                <a:latin typeface="Times New Roman"/>
                <a:ea typeface="Times New Roman"/>
                <a:cs typeface="Times New Roman"/>
                <a:sym typeface="Times New Roman"/>
              </a:rPr>
              <a:t>e</a:t>
            </a:r>
            <a:r>
              <a:rPr lang="en-US" sz="2102">
                <a:solidFill>
                  <a:srgbClr val="000000"/>
                </a:solidFill>
                <a:latin typeface="Times New Roman"/>
                <a:ea typeface="Times New Roman"/>
                <a:cs typeface="Times New Roman"/>
                <a:sym typeface="Times New Roman"/>
              </a:rPr>
              <a:t>h, M. R</a:t>
            </a:r>
            <a:r>
              <a:rPr lang="en-US" sz="2102" u="none">
                <a:solidFill>
                  <a:srgbClr val="000000"/>
                </a:solidFill>
                <a:latin typeface="Times New Roman"/>
                <a:ea typeface="Times New Roman"/>
                <a:cs typeface="Times New Roman"/>
                <a:sym typeface="Times New Roman"/>
              </a:rPr>
              <a:t>o</a:t>
            </a:r>
            <a:r>
              <a:rPr lang="en-US" sz="2102">
                <a:solidFill>
                  <a:srgbClr val="000000"/>
                </a:solidFill>
                <a:latin typeface="Times New Roman"/>
                <a:ea typeface="Times New Roman"/>
                <a:cs typeface="Times New Roman"/>
                <a:sym typeface="Times New Roman"/>
              </a:rPr>
              <a:t>s</a:t>
            </a:r>
            <a:r>
              <a:rPr lang="en-US" sz="2102" u="none">
                <a:solidFill>
                  <a:srgbClr val="000000"/>
                </a:solidFill>
                <a:latin typeface="Times New Roman"/>
                <a:ea typeface="Times New Roman"/>
                <a:cs typeface="Times New Roman"/>
                <a:sym typeface="Times New Roman"/>
              </a:rPr>
              <a:t>t</a:t>
            </a:r>
            <a:r>
              <a:rPr lang="en-US" sz="2102">
                <a:solidFill>
                  <a:srgbClr val="000000"/>
                </a:solidFill>
                <a:latin typeface="Times New Roman"/>
                <a:ea typeface="Times New Roman"/>
                <a:cs typeface="Times New Roman"/>
                <a:sym typeface="Times New Roman"/>
              </a:rPr>
              <a:t>am</a:t>
            </a:r>
            <a:r>
              <a:rPr lang="en-US" sz="2102" u="none">
                <a:solidFill>
                  <a:srgbClr val="000000"/>
                </a:solidFill>
                <a:latin typeface="Times New Roman"/>
                <a:ea typeface="Times New Roman"/>
                <a:cs typeface="Times New Roman"/>
                <a:sym typeface="Times New Roman"/>
              </a:rPr>
              <a:t>i</a:t>
            </a:r>
            <a:r>
              <a:rPr lang="en-US" sz="2102">
                <a:solidFill>
                  <a:srgbClr val="000000"/>
                </a:solidFill>
                <a:latin typeface="Times New Roman"/>
                <a:ea typeface="Times New Roman"/>
                <a:cs typeface="Times New Roman"/>
                <a:sym typeface="Times New Roman"/>
              </a:rPr>
              <a:t>, K. Berahm</a:t>
            </a:r>
            <a:r>
              <a:rPr lang="en-US" sz="2102" u="none">
                <a:solidFill>
                  <a:srgbClr val="000000"/>
                </a:solidFill>
                <a:latin typeface="Times New Roman"/>
                <a:ea typeface="Times New Roman"/>
                <a:cs typeface="Times New Roman"/>
                <a:sym typeface="Times New Roman"/>
              </a:rPr>
              <a:t>an</a:t>
            </a:r>
            <a:r>
              <a:rPr lang="en-US" sz="2102">
                <a:solidFill>
                  <a:srgbClr val="000000"/>
                </a:solidFill>
                <a:latin typeface="Times New Roman"/>
                <a:ea typeface="Times New Roman"/>
                <a:cs typeface="Times New Roman"/>
                <a:sym typeface="Times New Roman"/>
              </a:rPr>
              <a:t>d, </a:t>
            </a:r>
            <a:r>
              <a:rPr lang="en-US" sz="2102" u="none">
                <a:solidFill>
                  <a:srgbClr val="000000"/>
                </a:solidFill>
                <a:latin typeface="Times New Roman"/>
                <a:ea typeface="Times New Roman"/>
                <a:cs typeface="Times New Roman"/>
                <a:sym typeface="Times New Roman"/>
              </a:rPr>
              <a:t>a</a:t>
            </a:r>
            <a:r>
              <a:rPr lang="en-US" sz="2102">
                <a:solidFill>
                  <a:srgbClr val="000000"/>
                </a:solidFill>
                <a:latin typeface="Times New Roman"/>
                <a:ea typeface="Times New Roman"/>
                <a:cs typeface="Times New Roman"/>
                <a:sym typeface="Times New Roman"/>
              </a:rPr>
              <a:t>n</a:t>
            </a:r>
            <a:r>
              <a:rPr lang="en-US" sz="2102" u="none">
                <a:solidFill>
                  <a:srgbClr val="000000"/>
                </a:solidFill>
                <a:latin typeface="Times New Roman"/>
                <a:ea typeface="Times New Roman"/>
                <a:cs typeface="Times New Roman"/>
                <a:sym typeface="Times New Roman"/>
              </a:rPr>
              <a:t>d</a:t>
            </a:r>
            <a:r>
              <a:rPr lang="en-US" sz="2102">
                <a:solidFill>
                  <a:srgbClr val="000000"/>
                </a:solidFill>
                <a:latin typeface="Times New Roman"/>
                <a:ea typeface="Times New Roman"/>
                <a:cs typeface="Times New Roman"/>
                <a:sym typeface="Times New Roman"/>
              </a:rPr>
              <a:t> R. Sh</a:t>
            </a:r>
            <a:r>
              <a:rPr lang="en-US" sz="2102" u="none">
                <a:solidFill>
                  <a:srgbClr val="000000"/>
                </a:solidFill>
                <a:latin typeface="Times New Roman"/>
                <a:ea typeface="Times New Roman"/>
                <a:cs typeface="Times New Roman"/>
                <a:sym typeface="Times New Roman"/>
              </a:rPr>
              <a:t>e</a:t>
            </a:r>
            <a:r>
              <a:rPr lang="en-US" sz="2102">
                <a:solidFill>
                  <a:srgbClr val="000000"/>
                </a:solidFill>
                <a:latin typeface="Times New Roman"/>
                <a:ea typeface="Times New Roman"/>
                <a:cs typeface="Times New Roman"/>
                <a:sym typeface="Times New Roman"/>
              </a:rPr>
              <a:t>ikh</a:t>
            </a:r>
            <a:r>
              <a:rPr lang="en-US" sz="2102" u="none">
                <a:solidFill>
                  <a:srgbClr val="000000"/>
                </a:solidFill>
                <a:latin typeface="Times New Roman"/>
                <a:ea typeface="Times New Roman"/>
                <a:cs typeface="Times New Roman"/>
                <a:sym typeface="Times New Roman"/>
              </a:rPr>
              <a:t>p</a:t>
            </a:r>
            <a:r>
              <a:rPr lang="en-US" sz="2102">
                <a:solidFill>
                  <a:srgbClr val="000000"/>
                </a:solidFill>
                <a:latin typeface="Times New Roman"/>
                <a:ea typeface="Times New Roman"/>
                <a:cs typeface="Times New Roman"/>
                <a:sym typeface="Times New Roman"/>
              </a:rPr>
              <a:t>our, “H</a:t>
            </a:r>
            <a:r>
              <a:rPr lang="en-US" sz="2102" u="none">
                <a:solidFill>
                  <a:srgbClr val="000000"/>
                </a:solidFill>
                <a:latin typeface="Times New Roman"/>
                <a:ea typeface="Times New Roman"/>
                <a:cs typeface="Times New Roman"/>
                <a:sym typeface="Times New Roman"/>
              </a:rPr>
              <a:t>ea</a:t>
            </a:r>
            <a:r>
              <a:rPr lang="en-US" sz="2102">
                <a:solidFill>
                  <a:srgbClr val="000000"/>
                </a:solidFill>
                <a:latin typeface="Times New Roman"/>
                <a:ea typeface="Times New Roman"/>
                <a:cs typeface="Times New Roman"/>
                <a:sym typeface="Times New Roman"/>
              </a:rPr>
              <a:t>lth-awa</a:t>
            </a:r>
            <a:r>
              <a:rPr lang="en-US" sz="2102" u="none">
                <a:solidFill>
                  <a:srgbClr val="000000"/>
                </a:solidFill>
                <a:latin typeface="Times New Roman"/>
                <a:ea typeface="Times New Roman"/>
                <a:cs typeface="Times New Roman"/>
                <a:sym typeface="Times New Roman"/>
              </a:rPr>
              <a:t>re fo</a:t>
            </a:r>
            <a:r>
              <a:rPr lang="en-US" sz="2102">
                <a:solidFill>
                  <a:srgbClr val="000000"/>
                </a:solidFill>
                <a:latin typeface="Times New Roman"/>
                <a:ea typeface="Times New Roman"/>
                <a:cs typeface="Times New Roman"/>
                <a:sym typeface="Times New Roman"/>
              </a:rPr>
              <a:t>od </a:t>
            </a:r>
            <a:r>
              <a:rPr lang="en-US" sz="2102" u="none">
                <a:solidFill>
                  <a:srgbClr val="000000"/>
                </a:solidFill>
                <a:latin typeface="Times New Roman"/>
                <a:ea typeface="Times New Roman"/>
                <a:cs typeface="Times New Roman"/>
                <a:sym typeface="Times New Roman"/>
              </a:rPr>
              <a:t>rec</a:t>
            </a:r>
            <a:r>
              <a:rPr lang="en-US" sz="2102">
                <a:solidFill>
                  <a:srgbClr val="000000"/>
                </a:solidFill>
                <a:latin typeface="Times New Roman"/>
                <a:ea typeface="Times New Roman"/>
                <a:cs typeface="Times New Roman"/>
                <a:sym typeface="Times New Roman"/>
              </a:rPr>
              <a:t>ommenda</a:t>
            </a:r>
            <a:r>
              <a:rPr lang="en-US" sz="2102" u="none">
                <a:solidFill>
                  <a:srgbClr val="000000"/>
                </a:solidFill>
                <a:latin typeface="Times New Roman"/>
                <a:ea typeface="Times New Roman"/>
                <a:cs typeface="Times New Roman"/>
                <a:sym typeface="Times New Roman"/>
              </a:rPr>
              <a:t>ti</a:t>
            </a:r>
            <a:r>
              <a:rPr lang="en-US" sz="2102">
                <a:solidFill>
                  <a:srgbClr val="000000"/>
                </a:solidFill>
                <a:latin typeface="Times New Roman"/>
                <a:ea typeface="Times New Roman"/>
                <a:cs typeface="Times New Roman"/>
                <a:sym typeface="Times New Roman"/>
              </a:rPr>
              <a:t>o</a:t>
            </a:r>
            <a:r>
              <a:rPr lang="en-US" sz="2102" u="none">
                <a:solidFill>
                  <a:srgbClr val="000000"/>
                </a:solidFill>
                <a:latin typeface="Times New Roman"/>
                <a:ea typeface="Times New Roman"/>
                <a:cs typeface="Times New Roman"/>
                <a:sym typeface="Times New Roman"/>
              </a:rPr>
              <a:t>n</a:t>
            </a:r>
            <a:r>
              <a:rPr lang="en-US" sz="2102">
                <a:solidFill>
                  <a:srgbClr val="000000"/>
                </a:solidFill>
                <a:latin typeface="Times New Roman"/>
                <a:ea typeface="Times New Roman"/>
                <a:cs typeface="Times New Roman"/>
                <a:sym typeface="Times New Roman"/>
              </a:rPr>
              <a:t> sy</a:t>
            </a:r>
            <a:r>
              <a:rPr lang="en-US" sz="2102" u="none">
                <a:solidFill>
                  <a:srgbClr val="000000"/>
                </a:solidFill>
                <a:latin typeface="Times New Roman"/>
                <a:ea typeface="Times New Roman"/>
                <a:cs typeface="Times New Roman"/>
                <a:sym typeface="Times New Roman"/>
              </a:rPr>
              <a:t>s</a:t>
            </a:r>
            <a:r>
              <a:rPr lang="en-US" sz="2102">
                <a:solidFill>
                  <a:srgbClr val="000000"/>
                </a:solidFill>
                <a:latin typeface="Times New Roman"/>
                <a:ea typeface="Times New Roman"/>
                <a:cs typeface="Times New Roman"/>
                <a:sym typeface="Times New Roman"/>
              </a:rPr>
              <a:t>tem with dual attention in heterogeneous graphs,” Com-puters in Biology and Medicine, vol. 169, art. no. 107882, Feb. 2024, doi</a:t>
            </a:r>
            <a:r>
              <a:rPr lang="en-US" sz="2102" u="none">
                <a:solidFill>
                  <a:srgbClr val="000000"/>
                </a:solidFill>
                <a:latin typeface="Times New Roman"/>
                <a:ea typeface="Times New Roman"/>
                <a:cs typeface="Times New Roman"/>
                <a:sym typeface="Times New Roman"/>
              </a:rPr>
              <a:t>: </a:t>
            </a:r>
            <a:r>
              <a:rPr lang="en-US" sz="2102">
                <a:solidFill>
                  <a:srgbClr val="000000"/>
                </a:solidFill>
                <a:latin typeface="Times New Roman"/>
                <a:ea typeface="Times New Roman"/>
                <a:cs typeface="Times New Roman"/>
                <a:sym typeface="Times New Roman"/>
              </a:rPr>
              <a:t>10.1016</a:t>
            </a:r>
            <a:r>
              <a:rPr lang="en-US" sz="2102" u="none">
                <a:solidFill>
                  <a:srgbClr val="000000"/>
                </a:solidFill>
                <a:latin typeface="Times New Roman"/>
                <a:ea typeface="Times New Roman"/>
                <a:cs typeface="Times New Roman"/>
                <a:sym typeface="Times New Roman"/>
              </a:rPr>
              <a:t>/</a:t>
            </a:r>
            <a:r>
              <a:rPr lang="en-US" sz="2102">
                <a:solidFill>
                  <a:srgbClr val="000000"/>
                </a:solidFill>
                <a:latin typeface="Times New Roman"/>
                <a:ea typeface="Times New Roman"/>
                <a:cs typeface="Times New Roman"/>
                <a:sym typeface="Times New Roman"/>
              </a:rPr>
              <a:t>j.</a:t>
            </a:r>
            <a:r>
              <a:rPr lang="en-US" sz="2102" u="none">
                <a:solidFill>
                  <a:srgbClr val="000000"/>
                </a:solidFill>
                <a:latin typeface="Times New Roman"/>
                <a:ea typeface="Times New Roman"/>
                <a:cs typeface="Times New Roman"/>
                <a:sym typeface="Times New Roman"/>
              </a:rPr>
              <a:t>co</a:t>
            </a:r>
            <a:r>
              <a:rPr lang="en-US" sz="2102">
                <a:solidFill>
                  <a:srgbClr val="000000"/>
                </a:solidFill>
                <a:latin typeface="Times New Roman"/>
                <a:ea typeface="Times New Roman"/>
                <a:cs typeface="Times New Roman"/>
                <a:sym typeface="Times New Roman"/>
              </a:rPr>
              <a:t>m</a:t>
            </a:r>
            <a:r>
              <a:rPr lang="en-US" sz="2102" u="none">
                <a:solidFill>
                  <a:srgbClr val="000000"/>
                </a:solidFill>
                <a:latin typeface="Times New Roman"/>
                <a:ea typeface="Times New Roman"/>
                <a:cs typeface="Times New Roman"/>
                <a:sym typeface="Times New Roman"/>
              </a:rPr>
              <a:t>p</a:t>
            </a:r>
            <a:r>
              <a:rPr lang="en-US" sz="2102">
                <a:solidFill>
                  <a:srgbClr val="000000"/>
                </a:solidFill>
                <a:latin typeface="Times New Roman"/>
                <a:ea typeface="Times New Roman"/>
                <a:cs typeface="Times New Roman"/>
                <a:sym typeface="Times New Roman"/>
              </a:rPr>
              <a:t>b</a:t>
            </a:r>
            <a:r>
              <a:rPr lang="en-US" sz="2102" u="none">
                <a:solidFill>
                  <a:srgbClr val="000000"/>
                </a:solidFill>
                <a:latin typeface="Times New Roman"/>
                <a:ea typeface="Times New Roman"/>
                <a:cs typeface="Times New Roman"/>
                <a:sym typeface="Times New Roman"/>
              </a:rPr>
              <a:t>i</a:t>
            </a:r>
            <a:r>
              <a:rPr lang="en-US" sz="2102">
                <a:solidFill>
                  <a:srgbClr val="000000"/>
                </a:solidFill>
                <a:latin typeface="Times New Roman"/>
                <a:ea typeface="Times New Roman"/>
                <a:cs typeface="Times New Roman"/>
                <a:sym typeface="Times New Roman"/>
              </a:rPr>
              <a:t>om</a:t>
            </a:r>
            <a:r>
              <a:rPr lang="en-US" sz="2102" u="none">
                <a:solidFill>
                  <a:srgbClr val="000000"/>
                </a:solidFill>
                <a:latin typeface="Times New Roman"/>
                <a:ea typeface="Times New Roman"/>
                <a:cs typeface="Times New Roman"/>
                <a:sym typeface="Times New Roman"/>
              </a:rPr>
              <a:t>e</a:t>
            </a:r>
            <a:r>
              <a:rPr lang="en-US" sz="2102">
                <a:solidFill>
                  <a:srgbClr val="000000"/>
                </a:solidFill>
                <a:latin typeface="Times New Roman"/>
                <a:ea typeface="Times New Roman"/>
                <a:cs typeface="Times New Roman"/>
                <a:sym typeface="Times New Roman"/>
              </a:rPr>
              <a:t>d</a:t>
            </a:r>
            <a:r>
              <a:rPr lang="en-US" sz="2102" u="none">
                <a:solidFill>
                  <a:srgbClr val="000000"/>
                </a:solidFill>
                <a:latin typeface="Times New Roman"/>
                <a:ea typeface="Times New Roman"/>
                <a:cs typeface="Times New Roman"/>
                <a:sym typeface="Times New Roman"/>
              </a:rPr>
              <a:t>.</a:t>
            </a:r>
            <a:r>
              <a:rPr lang="en-US" sz="2102">
                <a:solidFill>
                  <a:srgbClr val="000000"/>
                </a:solidFill>
                <a:latin typeface="Times New Roman"/>
                <a:ea typeface="Times New Roman"/>
                <a:cs typeface="Times New Roman"/>
                <a:sym typeface="Times New Roman"/>
              </a:rPr>
              <a:t>2023.107882.</a:t>
            </a:r>
          </a:p>
          <a:p>
            <a:pPr algn="l">
              <a:lnSpc>
                <a:spcPts val="2523"/>
              </a:lnSpc>
            </a:pPr>
            <a:r>
              <a:rPr lang="en-US" sz="2102">
                <a:solidFill>
                  <a:srgbClr val="000000"/>
                </a:solidFill>
                <a:latin typeface="Times New Roman"/>
                <a:ea typeface="Times New Roman"/>
                <a:cs typeface="Times New Roman"/>
                <a:sym typeface="Times New Roman"/>
              </a:rPr>
              <a:t>[4] Y. Tian, C. Zhang, Z. Guo, C. Huang, R. Metoyer, and N. V. Chawla, “RecipeRec: A Heterogeneous Graph Learning Model for Recipe Recommendation,” </a:t>
            </a:r>
            <a:r>
              <a:rPr lang="en-US" sz="2102" u="none">
                <a:solidFill>
                  <a:srgbClr val="000000"/>
                </a:solidFill>
                <a:latin typeface="Times New Roman"/>
                <a:ea typeface="Times New Roman"/>
                <a:cs typeface="Times New Roman"/>
                <a:sym typeface="Times New Roman"/>
              </a:rPr>
              <a:t>i</a:t>
            </a:r>
            <a:r>
              <a:rPr lang="en-US" sz="2102">
                <a:solidFill>
                  <a:srgbClr val="000000"/>
                </a:solidFill>
                <a:latin typeface="Times New Roman"/>
                <a:ea typeface="Times New Roman"/>
                <a:cs typeface="Times New Roman"/>
                <a:sym typeface="Times New Roman"/>
              </a:rPr>
              <a:t>n P</a:t>
            </a:r>
            <a:r>
              <a:rPr lang="en-US" sz="2102" u="none">
                <a:solidFill>
                  <a:srgbClr val="000000"/>
                </a:solidFill>
                <a:latin typeface="Times New Roman"/>
                <a:ea typeface="Times New Roman"/>
                <a:cs typeface="Times New Roman"/>
                <a:sym typeface="Times New Roman"/>
              </a:rPr>
              <a:t>roc</a:t>
            </a:r>
            <a:r>
              <a:rPr lang="en-US" sz="2102">
                <a:solidFill>
                  <a:srgbClr val="000000"/>
                </a:solidFill>
                <a:latin typeface="Times New Roman"/>
                <a:ea typeface="Times New Roman"/>
                <a:cs typeface="Times New Roman"/>
                <a:sym typeface="Times New Roman"/>
              </a:rPr>
              <a:t>. I</a:t>
            </a:r>
            <a:r>
              <a:rPr lang="en-US" sz="2102" u="none">
                <a:solidFill>
                  <a:srgbClr val="000000"/>
                </a:solidFill>
                <a:latin typeface="Times New Roman"/>
                <a:ea typeface="Times New Roman"/>
                <a:cs typeface="Times New Roman"/>
                <a:sym typeface="Times New Roman"/>
              </a:rPr>
              <a:t>n</a:t>
            </a:r>
            <a:r>
              <a:rPr lang="en-US" sz="2102">
                <a:solidFill>
                  <a:srgbClr val="000000"/>
                </a:solidFill>
                <a:latin typeface="Times New Roman"/>
                <a:ea typeface="Times New Roman"/>
                <a:cs typeface="Times New Roman"/>
                <a:sym typeface="Times New Roman"/>
              </a:rPr>
              <a:t>t. Joint Conf. on Artificial Intelligence (IJCAI), 2022. [Online]. Available: </a:t>
            </a:r>
            <a:r>
              <a:rPr lang="en-US" sz="2102" u="none">
                <a:solidFill>
                  <a:srgbClr val="000000"/>
                </a:solidFill>
                <a:latin typeface="Times New Roman"/>
                <a:ea typeface="Times New Roman"/>
                <a:cs typeface="Times New Roman"/>
                <a:sym typeface="Times New Roman"/>
              </a:rPr>
              <a:t>https: </a:t>
            </a:r>
            <a:r>
              <a:rPr lang="en-US" sz="2102" u="sng">
                <a:solidFill>
                  <a:srgbClr val="000000"/>
                </a:solidFill>
                <a:latin typeface="Times New Roman"/>
                <a:ea typeface="Times New Roman"/>
                <a:cs typeface="Times New Roman"/>
                <a:sym typeface="Times New Roman"/>
              </a:rPr>
              <a:t>/</a:t>
            </a:r>
            <a:r>
              <a:rPr lang="en-US" sz="2102" u="none">
                <a:solidFill>
                  <a:srgbClr val="000000"/>
                </a:solidFill>
                <a:latin typeface="Times New Roman"/>
                <a:ea typeface="Times New Roman"/>
                <a:cs typeface="Times New Roman"/>
                <a:sym typeface="Times New Roman"/>
              </a:rPr>
              <a:t>/a</a:t>
            </a:r>
            <a:r>
              <a:rPr lang="en-US" sz="2102">
                <a:solidFill>
                  <a:srgbClr val="000000"/>
                </a:solidFill>
                <a:latin typeface="Times New Roman"/>
                <a:ea typeface="Times New Roman"/>
                <a:cs typeface="Times New Roman"/>
                <a:sym typeface="Times New Roman"/>
              </a:rPr>
              <a:t>rxiv</a:t>
            </a:r>
            <a:r>
              <a:rPr lang="en-US" sz="2102" u="none">
                <a:solidFill>
                  <a:srgbClr val="000000"/>
                </a:solidFill>
                <a:latin typeface="Times New Roman"/>
                <a:ea typeface="Times New Roman"/>
                <a:cs typeface="Times New Roman"/>
                <a:sym typeface="Times New Roman"/>
              </a:rPr>
              <a:t>.org/</a:t>
            </a:r>
            <a:r>
              <a:rPr lang="en-US" sz="2102">
                <a:solidFill>
                  <a:srgbClr val="000000"/>
                </a:solidFill>
                <a:latin typeface="Times New Roman"/>
                <a:ea typeface="Times New Roman"/>
                <a:cs typeface="Times New Roman"/>
                <a:sym typeface="Times New Roman"/>
              </a:rPr>
              <a:t>abs/2205.</a:t>
            </a:r>
            <a:r>
              <a:rPr lang="en-US" sz="2102" u="none">
                <a:solidFill>
                  <a:srgbClr val="000000"/>
                </a:solidFill>
                <a:latin typeface="Times New Roman"/>
                <a:ea typeface="Times New Roman"/>
                <a:cs typeface="Times New Roman"/>
                <a:sym typeface="Times New Roman"/>
              </a:rPr>
              <a:t>14</a:t>
            </a:r>
            <a:r>
              <a:rPr lang="en-US" sz="2102">
                <a:solidFill>
                  <a:srgbClr val="000000"/>
                </a:solidFill>
                <a:latin typeface="Times New Roman"/>
                <a:ea typeface="Times New Roman"/>
                <a:cs typeface="Times New Roman"/>
                <a:sym typeface="Times New Roman"/>
              </a:rPr>
              <a:t>0</a:t>
            </a:r>
            <a:r>
              <a:rPr lang="en-US" sz="2102" u="none">
                <a:solidFill>
                  <a:srgbClr val="000000"/>
                </a:solidFill>
                <a:latin typeface="Times New Roman"/>
                <a:ea typeface="Times New Roman"/>
                <a:cs typeface="Times New Roman"/>
                <a:sym typeface="Times New Roman"/>
              </a:rPr>
              <a:t>05</a:t>
            </a:r>
          </a:p>
          <a:p>
            <a:pPr algn="l">
              <a:lnSpc>
                <a:spcPts val="2523"/>
              </a:lnSpc>
            </a:pPr>
            <a:r>
              <a:rPr lang="en-US" sz="2102">
                <a:solidFill>
                  <a:srgbClr val="000000"/>
                </a:solidFill>
                <a:latin typeface="Times New Roman"/>
                <a:ea typeface="Times New Roman"/>
                <a:cs typeface="Times New Roman"/>
                <a:sym typeface="Times New Roman"/>
              </a:rPr>
              <a:t>[5] X. Ju, F. P</a:t>
            </a:r>
            <a:r>
              <a:rPr lang="en-US" sz="2102" u="none">
                <a:solidFill>
                  <a:srgbClr val="000000"/>
                </a:solidFill>
                <a:latin typeface="Times New Roman"/>
                <a:ea typeface="Times New Roman"/>
                <a:cs typeface="Times New Roman"/>
                <a:sym typeface="Times New Roman"/>
              </a:rPr>
              <a:t>.</a:t>
            </a:r>
            <a:r>
              <a:rPr lang="en-US" sz="2102">
                <a:solidFill>
                  <a:srgbClr val="000000"/>
                </a:solidFill>
                <a:latin typeface="Times New Roman"/>
                <a:ea typeface="Times New Roman"/>
                <a:cs typeface="Times New Roman"/>
                <a:sym typeface="Times New Roman"/>
              </a:rPr>
              <a:t> W. Lo, J. Qiu, P. Shi, J. Peng, and B. Lo, “MenuAI: Restaurant Food Recommendation System via a Transformer-based Deep Learning Model,” arXiv preprint arXiv:2210.08266, 2022. [Online]. Available: </a:t>
            </a:r>
            <a:r>
              <a:rPr lang="en-US" sz="2102" u="none">
                <a:solidFill>
                  <a:srgbClr val="000000"/>
                </a:solidFill>
                <a:latin typeface="Times New Roman"/>
                <a:ea typeface="Times New Roman"/>
                <a:cs typeface="Times New Roman"/>
                <a:sym typeface="Times New Roman"/>
              </a:rPr>
              <a:t>https://a</a:t>
            </a:r>
            <a:r>
              <a:rPr lang="en-US" sz="2102">
                <a:solidFill>
                  <a:srgbClr val="000000"/>
                </a:solidFill>
                <a:latin typeface="Times New Roman"/>
                <a:ea typeface="Times New Roman"/>
                <a:cs typeface="Times New Roman"/>
                <a:sym typeface="Times New Roman"/>
              </a:rPr>
              <a:t>rxiv</a:t>
            </a:r>
            <a:r>
              <a:rPr lang="en-US" sz="2102" u="none">
                <a:solidFill>
                  <a:srgbClr val="000000"/>
                </a:solidFill>
                <a:latin typeface="Times New Roman"/>
                <a:ea typeface="Times New Roman"/>
                <a:cs typeface="Times New Roman"/>
                <a:sym typeface="Times New Roman"/>
              </a:rPr>
              <a:t>.org/</a:t>
            </a:r>
            <a:r>
              <a:rPr lang="en-US" sz="2102">
                <a:solidFill>
                  <a:srgbClr val="000000"/>
                </a:solidFill>
                <a:latin typeface="Times New Roman"/>
                <a:ea typeface="Times New Roman"/>
                <a:cs typeface="Times New Roman"/>
                <a:sym typeface="Times New Roman"/>
              </a:rPr>
              <a:t>abs/22</a:t>
            </a:r>
            <a:r>
              <a:rPr lang="en-US" sz="2102" u="none">
                <a:solidFill>
                  <a:srgbClr val="000000"/>
                </a:solidFill>
                <a:latin typeface="Times New Roman"/>
                <a:ea typeface="Times New Roman"/>
                <a:cs typeface="Times New Roman"/>
                <a:sym typeface="Times New Roman"/>
              </a:rPr>
              <a:t>1</a:t>
            </a:r>
            <a:r>
              <a:rPr lang="en-US" sz="2102">
                <a:solidFill>
                  <a:srgbClr val="000000"/>
                </a:solidFill>
                <a:latin typeface="Times New Roman"/>
                <a:ea typeface="Times New Roman"/>
                <a:cs typeface="Times New Roman"/>
                <a:sym typeface="Times New Roman"/>
              </a:rPr>
              <a:t>0.0</a:t>
            </a:r>
            <a:r>
              <a:rPr lang="en-US" sz="2102" u="none">
                <a:solidFill>
                  <a:srgbClr val="000000"/>
                </a:solidFill>
                <a:latin typeface="Times New Roman"/>
                <a:ea typeface="Times New Roman"/>
                <a:cs typeface="Times New Roman"/>
                <a:sym typeface="Times New Roman"/>
              </a:rPr>
              <a:t>8</a:t>
            </a:r>
            <a:r>
              <a:rPr lang="en-US" sz="2102">
                <a:solidFill>
                  <a:srgbClr val="000000"/>
                </a:solidFill>
                <a:latin typeface="Times New Roman"/>
                <a:ea typeface="Times New Roman"/>
                <a:cs typeface="Times New Roman"/>
                <a:sym typeface="Times New Roman"/>
              </a:rPr>
              <a:t>266</a:t>
            </a:r>
          </a:p>
          <a:p>
            <a:pPr algn="l">
              <a:lnSpc>
                <a:spcPts val="2523"/>
              </a:lnSpc>
            </a:pPr>
            <a:r>
              <a:rPr lang="en-US" sz="2102">
                <a:solidFill>
                  <a:srgbClr val="000000"/>
                </a:solidFill>
                <a:latin typeface="Times New Roman"/>
                <a:ea typeface="Times New Roman"/>
                <a:cs typeface="Times New Roman"/>
                <a:sym typeface="Times New Roman"/>
              </a:rPr>
              <a:t>[6] M. Rostami, V. Farrahi, K. Berahmand, S. Forouzandeh, S. Ahmadian, and M. Oussalah, “A Novel Explainable and Health-aware Food Recommender System,” in Proc. Int. Conf. on Health Informatics (HEALTHINF), 2022. [Online]. Available: </a:t>
            </a:r>
            <a:r>
              <a:rPr lang="en-US" sz="2102" u="none">
                <a:solidFill>
                  <a:srgbClr val="000000"/>
                </a:solidFill>
                <a:latin typeface="Times New Roman"/>
                <a:ea typeface="Times New Roman"/>
                <a:cs typeface="Times New Roman"/>
                <a:sym typeface="Times New Roman"/>
              </a:rPr>
              <a:t>https://</a:t>
            </a:r>
            <a:r>
              <a:rPr lang="en-US" sz="2102">
                <a:solidFill>
                  <a:srgbClr val="000000"/>
                </a:solidFill>
                <a:latin typeface="Times New Roman"/>
                <a:ea typeface="Times New Roman"/>
                <a:cs typeface="Times New Roman"/>
                <a:sym typeface="Times New Roman"/>
              </a:rPr>
              <a:t>www.s</a:t>
            </a:r>
            <a:r>
              <a:rPr lang="en-US" sz="2102" u="none">
                <a:solidFill>
                  <a:srgbClr val="000000"/>
                </a:solidFill>
                <a:latin typeface="Times New Roman"/>
                <a:ea typeface="Times New Roman"/>
                <a:cs typeface="Times New Roman"/>
                <a:sym typeface="Times New Roman"/>
              </a:rPr>
              <a:t>c</a:t>
            </a:r>
            <a:r>
              <a:rPr lang="en-US" sz="2102">
                <a:solidFill>
                  <a:srgbClr val="000000"/>
                </a:solidFill>
                <a:latin typeface="Times New Roman"/>
                <a:ea typeface="Times New Roman"/>
                <a:cs typeface="Times New Roman"/>
                <a:sym typeface="Times New Roman"/>
              </a:rPr>
              <a:t>i</a:t>
            </a:r>
            <a:r>
              <a:rPr lang="en-US" sz="2102" u="none">
                <a:solidFill>
                  <a:srgbClr val="000000"/>
                </a:solidFill>
                <a:latin typeface="Times New Roman"/>
                <a:ea typeface="Times New Roman"/>
                <a:cs typeface="Times New Roman"/>
                <a:sym typeface="Times New Roman"/>
              </a:rPr>
              <a:t>t</a:t>
            </a:r>
            <a:r>
              <a:rPr lang="en-US" sz="2102">
                <a:solidFill>
                  <a:srgbClr val="000000"/>
                </a:solidFill>
                <a:latin typeface="Times New Roman"/>
                <a:ea typeface="Times New Roman"/>
                <a:cs typeface="Times New Roman"/>
                <a:sym typeface="Times New Roman"/>
              </a:rPr>
              <a:t>epress</a:t>
            </a:r>
            <a:r>
              <a:rPr lang="en-US" sz="2102" u="none">
                <a:solidFill>
                  <a:srgbClr val="000000"/>
                </a:solidFill>
                <a:latin typeface="Times New Roman"/>
                <a:ea typeface="Times New Roman"/>
                <a:cs typeface="Times New Roman"/>
                <a:sym typeface="Times New Roman"/>
              </a:rPr>
              <a:t>.org/P</a:t>
            </a:r>
            <a:r>
              <a:rPr lang="en-US" sz="2102">
                <a:solidFill>
                  <a:srgbClr val="000000"/>
                </a:solidFill>
                <a:latin typeface="Times New Roman"/>
                <a:ea typeface="Times New Roman"/>
                <a:cs typeface="Times New Roman"/>
                <a:sym typeface="Times New Roman"/>
              </a:rPr>
              <a:t>apers/2022/1156</a:t>
            </a:r>
            <a:r>
              <a:rPr lang="en-US" sz="2102" u="none">
                <a:solidFill>
                  <a:srgbClr val="000000"/>
                </a:solidFill>
                <a:latin typeface="Times New Roman"/>
                <a:ea typeface="Times New Roman"/>
                <a:cs typeface="Times New Roman"/>
                <a:sym typeface="Times New Roman"/>
              </a:rPr>
              <a:t>17</a:t>
            </a:r>
            <a:r>
              <a:rPr lang="en-US" sz="2102">
                <a:solidFill>
                  <a:srgbClr val="000000"/>
                </a:solidFill>
                <a:latin typeface="Times New Roman"/>
                <a:ea typeface="Times New Roman"/>
                <a:cs typeface="Times New Roman"/>
                <a:sym typeface="Times New Roman"/>
              </a:rPr>
              <a:t>/</a:t>
            </a:r>
            <a:r>
              <a:rPr lang="en-US" sz="2102" u="none">
                <a:solidFill>
                  <a:srgbClr val="000000"/>
                </a:solidFill>
                <a:latin typeface="Times New Roman"/>
                <a:ea typeface="Times New Roman"/>
                <a:cs typeface="Times New Roman"/>
                <a:sym typeface="Times New Roman"/>
              </a:rPr>
              <a:t>1</a:t>
            </a:r>
            <a:r>
              <a:rPr lang="en-US" sz="2102">
                <a:solidFill>
                  <a:srgbClr val="000000"/>
                </a:solidFill>
                <a:latin typeface="Times New Roman"/>
                <a:ea typeface="Times New Roman"/>
                <a:cs typeface="Times New Roman"/>
                <a:sym typeface="Times New Roman"/>
              </a:rPr>
              <a:t>15</a:t>
            </a:r>
            <a:r>
              <a:rPr lang="en-US" sz="2102" u="none">
                <a:solidFill>
                  <a:srgbClr val="000000"/>
                </a:solidFill>
                <a:latin typeface="Times New Roman"/>
                <a:ea typeface="Times New Roman"/>
                <a:cs typeface="Times New Roman"/>
                <a:sym typeface="Times New Roman"/>
              </a:rPr>
              <a:t>6</a:t>
            </a:r>
            <a:r>
              <a:rPr lang="en-US" sz="2102">
                <a:solidFill>
                  <a:srgbClr val="000000"/>
                </a:solidFill>
                <a:latin typeface="Times New Roman"/>
                <a:ea typeface="Times New Roman"/>
                <a:cs typeface="Times New Roman"/>
                <a:sym typeface="Times New Roman"/>
              </a:rPr>
              <a:t>17</a:t>
            </a:r>
            <a:r>
              <a:rPr lang="en-US" sz="2102" u="none">
                <a:solidFill>
                  <a:srgbClr val="000000"/>
                </a:solidFill>
                <a:latin typeface="Times New Roman"/>
                <a:ea typeface="Times New Roman"/>
                <a:cs typeface="Times New Roman"/>
                <a:sym typeface="Times New Roman"/>
              </a:rPr>
              <a:t>.pdf</a:t>
            </a:r>
          </a:p>
          <a:p>
            <a:pPr algn="l">
              <a:lnSpc>
                <a:spcPts val="2523"/>
              </a:lnSpc>
            </a:pPr>
            <a:r>
              <a:rPr lang="en-US" sz="2102">
                <a:solidFill>
                  <a:srgbClr val="000000"/>
                </a:solidFill>
                <a:latin typeface="Times New Roman"/>
                <a:ea typeface="Times New Roman"/>
                <a:cs typeface="Times New Roman"/>
                <a:sym typeface="Times New Roman"/>
              </a:rPr>
              <a:t>[7] S. Ahmadian, M. Rostami, S. M. J. Jalali, M. Oussalah, and V. Farrahi, “Healt</a:t>
            </a:r>
            <a:r>
              <a:rPr lang="en-US" sz="2102" u="none">
                <a:solidFill>
                  <a:srgbClr val="000000"/>
                </a:solidFill>
                <a:latin typeface="Times New Roman"/>
                <a:ea typeface="Times New Roman"/>
                <a:cs typeface="Times New Roman"/>
                <a:sym typeface="Times New Roman"/>
              </a:rPr>
              <a:t>h</a:t>
            </a:r>
            <a:r>
              <a:rPr lang="en-US" sz="2102">
                <a:solidFill>
                  <a:srgbClr val="000000"/>
                </a:solidFill>
                <a:latin typeface="Times New Roman"/>
                <a:ea typeface="Times New Roman"/>
                <a:cs typeface="Times New Roman"/>
                <a:sym typeface="Times New Roman"/>
              </a:rPr>
              <a:t>yFood R</a:t>
            </a:r>
            <a:r>
              <a:rPr lang="en-US" sz="2102" u="none">
                <a:solidFill>
                  <a:srgbClr val="000000"/>
                </a:solidFill>
                <a:latin typeface="Times New Roman"/>
                <a:ea typeface="Times New Roman"/>
                <a:cs typeface="Times New Roman"/>
                <a:sym typeface="Times New Roman"/>
              </a:rPr>
              <a:t>ec</a:t>
            </a:r>
            <a:r>
              <a:rPr lang="en-US" sz="2102">
                <a:solidFill>
                  <a:srgbClr val="000000"/>
                </a:solidFill>
                <a:latin typeface="Times New Roman"/>
                <a:ea typeface="Times New Roman"/>
                <a:cs typeface="Times New Roman"/>
                <a:sym typeface="Times New Roman"/>
              </a:rPr>
              <a:t>omm</a:t>
            </a:r>
            <a:r>
              <a:rPr lang="en-US" sz="2102" u="none">
                <a:solidFill>
                  <a:srgbClr val="000000"/>
                </a:solidFill>
                <a:latin typeface="Times New Roman"/>
                <a:ea typeface="Times New Roman"/>
                <a:cs typeface="Times New Roman"/>
                <a:sym typeface="Times New Roman"/>
              </a:rPr>
              <a:t>en</a:t>
            </a:r>
            <a:r>
              <a:rPr lang="en-US" sz="2102">
                <a:solidFill>
                  <a:srgbClr val="000000"/>
                </a:solidFill>
                <a:latin typeface="Times New Roman"/>
                <a:ea typeface="Times New Roman"/>
                <a:cs typeface="Times New Roman"/>
                <a:sym typeface="Times New Roman"/>
              </a:rPr>
              <a:t>da</a:t>
            </a:r>
            <a:r>
              <a:rPr lang="en-US" sz="2102" u="none">
                <a:solidFill>
                  <a:srgbClr val="000000"/>
                </a:solidFill>
                <a:latin typeface="Times New Roman"/>
                <a:ea typeface="Times New Roman"/>
                <a:cs typeface="Times New Roman"/>
                <a:sym typeface="Times New Roman"/>
              </a:rPr>
              <a:t>ti</a:t>
            </a:r>
            <a:r>
              <a:rPr lang="en-US" sz="2102">
                <a:solidFill>
                  <a:srgbClr val="000000"/>
                </a:solidFill>
                <a:latin typeface="Times New Roman"/>
                <a:ea typeface="Times New Roman"/>
                <a:cs typeface="Times New Roman"/>
                <a:sym typeface="Times New Roman"/>
              </a:rPr>
              <a:t>on Us</a:t>
            </a:r>
            <a:r>
              <a:rPr lang="en-US" sz="2102" u="none">
                <a:solidFill>
                  <a:srgbClr val="000000"/>
                </a:solidFill>
                <a:latin typeface="Times New Roman"/>
                <a:ea typeface="Times New Roman"/>
                <a:cs typeface="Times New Roman"/>
                <a:sym typeface="Times New Roman"/>
              </a:rPr>
              <a:t>in</a:t>
            </a:r>
            <a:r>
              <a:rPr lang="en-US" sz="2102">
                <a:solidFill>
                  <a:srgbClr val="000000"/>
                </a:solidFill>
                <a:latin typeface="Times New Roman"/>
                <a:ea typeface="Times New Roman"/>
                <a:cs typeface="Times New Roman"/>
                <a:sym typeface="Times New Roman"/>
              </a:rPr>
              <a:t>g </a:t>
            </a:r>
            <a:r>
              <a:rPr lang="en-US" sz="2102" u="none">
                <a:solidFill>
                  <a:srgbClr val="000000"/>
                </a:solidFill>
                <a:latin typeface="Times New Roman"/>
                <a:ea typeface="Times New Roman"/>
                <a:cs typeface="Times New Roman"/>
                <a:sym typeface="Times New Roman"/>
              </a:rPr>
              <a:t>a</a:t>
            </a:r>
            <a:r>
              <a:rPr lang="en-US" sz="2102">
                <a:solidFill>
                  <a:srgbClr val="000000"/>
                </a:solidFill>
                <a:latin typeface="Times New Roman"/>
                <a:ea typeface="Times New Roman"/>
                <a:cs typeface="Times New Roman"/>
                <a:sym typeface="Times New Roman"/>
              </a:rPr>
              <a:t> Time</a:t>
            </a:r>
            <a:r>
              <a:rPr lang="en-US" sz="2102" u="none">
                <a:solidFill>
                  <a:srgbClr val="000000"/>
                </a:solidFill>
                <a:latin typeface="Times New Roman"/>
                <a:ea typeface="Times New Roman"/>
                <a:cs typeface="Times New Roman"/>
                <a:sym typeface="Times New Roman"/>
              </a:rPr>
              <a:t>-</a:t>
            </a:r>
            <a:r>
              <a:rPr lang="en-US" sz="2102">
                <a:solidFill>
                  <a:srgbClr val="000000"/>
                </a:solidFill>
                <a:latin typeface="Times New Roman"/>
                <a:ea typeface="Times New Roman"/>
                <a:cs typeface="Times New Roman"/>
                <a:sym typeface="Times New Roman"/>
              </a:rPr>
              <a:t>A</a:t>
            </a:r>
            <a:r>
              <a:rPr lang="en-US" sz="2102" u="none">
                <a:solidFill>
                  <a:srgbClr val="000000"/>
                </a:solidFill>
                <a:latin typeface="Times New Roman"/>
                <a:ea typeface="Times New Roman"/>
                <a:cs typeface="Times New Roman"/>
                <a:sym typeface="Times New Roman"/>
              </a:rPr>
              <a:t>war</a:t>
            </a:r>
            <a:r>
              <a:rPr lang="en-US" sz="2102">
                <a:solidFill>
                  <a:srgbClr val="000000"/>
                </a:solidFill>
                <a:latin typeface="Times New Roman"/>
                <a:ea typeface="Times New Roman"/>
                <a:cs typeface="Times New Roman"/>
                <a:sym typeface="Times New Roman"/>
              </a:rPr>
              <a:t>e Comm</a:t>
            </a:r>
            <a:r>
              <a:rPr lang="en-US" sz="2102" u="none">
                <a:solidFill>
                  <a:srgbClr val="000000"/>
                </a:solidFill>
                <a:latin typeface="Times New Roman"/>
                <a:ea typeface="Times New Roman"/>
                <a:cs typeface="Times New Roman"/>
                <a:sym typeface="Times New Roman"/>
              </a:rPr>
              <a:t>u</a:t>
            </a:r>
            <a:r>
              <a:rPr lang="en-US" sz="2102">
                <a:solidFill>
                  <a:srgbClr val="000000"/>
                </a:solidFill>
                <a:latin typeface="Times New Roman"/>
                <a:ea typeface="Times New Roman"/>
                <a:cs typeface="Times New Roman"/>
                <a:sym typeface="Times New Roman"/>
              </a:rPr>
              <a:t>n</a:t>
            </a:r>
            <a:r>
              <a:rPr lang="en-US" sz="2102" u="none">
                <a:solidFill>
                  <a:srgbClr val="000000"/>
                </a:solidFill>
                <a:latin typeface="Times New Roman"/>
                <a:ea typeface="Times New Roman"/>
                <a:cs typeface="Times New Roman"/>
                <a:sym typeface="Times New Roman"/>
              </a:rPr>
              <a:t>it</a:t>
            </a:r>
            <a:r>
              <a:rPr lang="en-US" sz="2102">
                <a:solidFill>
                  <a:srgbClr val="000000"/>
                </a:solidFill>
                <a:latin typeface="Times New Roman"/>
                <a:ea typeface="Times New Roman"/>
                <a:cs typeface="Times New Roman"/>
                <a:sym typeface="Times New Roman"/>
              </a:rPr>
              <a:t>y </a:t>
            </a:r>
            <a:r>
              <a:rPr lang="en-US" sz="2102" u="none">
                <a:solidFill>
                  <a:srgbClr val="000000"/>
                </a:solidFill>
                <a:latin typeface="Times New Roman"/>
                <a:ea typeface="Times New Roman"/>
                <a:cs typeface="Times New Roman"/>
                <a:sym typeface="Times New Roman"/>
              </a:rPr>
              <a:t>Detecti</a:t>
            </a:r>
            <a:r>
              <a:rPr lang="en-US" sz="2102">
                <a:solidFill>
                  <a:srgbClr val="000000"/>
                </a:solidFill>
                <a:latin typeface="Times New Roman"/>
                <a:ea typeface="Times New Roman"/>
                <a:cs typeface="Times New Roman"/>
                <a:sym typeface="Times New Roman"/>
              </a:rPr>
              <a:t>o</a:t>
            </a:r>
            <a:r>
              <a:rPr lang="en-US" sz="2102" u="none">
                <a:solidFill>
                  <a:srgbClr val="000000"/>
                </a:solidFill>
                <a:latin typeface="Times New Roman"/>
                <a:ea typeface="Times New Roman"/>
                <a:cs typeface="Times New Roman"/>
                <a:sym typeface="Times New Roman"/>
              </a:rPr>
              <a:t>n</a:t>
            </a:r>
            <a:r>
              <a:rPr lang="en-US" sz="2102">
                <a:solidFill>
                  <a:srgbClr val="000000"/>
                </a:solidFill>
                <a:latin typeface="Times New Roman"/>
                <a:ea typeface="Times New Roman"/>
                <a:cs typeface="Times New Roman"/>
                <a:sym typeface="Times New Roman"/>
              </a:rPr>
              <a:t> Appr</a:t>
            </a:r>
            <a:r>
              <a:rPr lang="en-US" sz="2102" u="none">
                <a:solidFill>
                  <a:srgbClr val="000000"/>
                </a:solidFill>
                <a:latin typeface="Times New Roman"/>
                <a:ea typeface="Times New Roman"/>
                <a:cs typeface="Times New Roman"/>
                <a:sym typeface="Times New Roman"/>
              </a:rPr>
              <a:t>o</a:t>
            </a:r>
            <a:r>
              <a:rPr lang="en-US" sz="2102">
                <a:solidFill>
                  <a:srgbClr val="000000"/>
                </a:solidFill>
                <a:latin typeface="Times New Roman"/>
                <a:ea typeface="Times New Roman"/>
                <a:cs typeface="Times New Roman"/>
                <a:sym typeface="Times New Roman"/>
              </a:rPr>
              <a:t>a</a:t>
            </a:r>
            <a:r>
              <a:rPr lang="en-US" sz="2102" u="none">
                <a:solidFill>
                  <a:srgbClr val="000000"/>
                </a:solidFill>
                <a:latin typeface="Times New Roman"/>
                <a:ea typeface="Times New Roman"/>
                <a:cs typeface="Times New Roman"/>
                <a:sym typeface="Times New Roman"/>
              </a:rPr>
              <a:t>c</a:t>
            </a:r>
            <a:r>
              <a:rPr lang="en-US" sz="2102">
                <a:solidFill>
                  <a:srgbClr val="000000"/>
                </a:solidFill>
                <a:latin typeface="Times New Roman"/>
                <a:ea typeface="Times New Roman"/>
                <a:cs typeface="Times New Roman"/>
                <a:sym typeface="Times New Roman"/>
              </a:rPr>
              <a:t>h </a:t>
            </a:r>
            <a:r>
              <a:rPr lang="en-US" sz="2102" u="none">
                <a:solidFill>
                  <a:srgbClr val="000000"/>
                </a:solidFill>
                <a:latin typeface="Times New Roman"/>
                <a:ea typeface="Times New Roman"/>
                <a:cs typeface="Times New Roman"/>
                <a:sym typeface="Times New Roman"/>
              </a:rPr>
              <a:t>a</a:t>
            </a:r>
            <a:r>
              <a:rPr lang="en-US" sz="2102">
                <a:solidFill>
                  <a:srgbClr val="000000"/>
                </a:solidFill>
                <a:latin typeface="Times New Roman"/>
                <a:ea typeface="Times New Roman"/>
                <a:cs typeface="Times New Roman"/>
                <a:sym typeface="Times New Roman"/>
              </a:rPr>
              <a:t>n</a:t>
            </a:r>
            <a:r>
              <a:rPr lang="en-US" sz="2102" u="none">
                <a:solidFill>
                  <a:srgbClr val="000000"/>
                </a:solidFill>
                <a:latin typeface="Times New Roman"/>
                <a:ea typeface="Times New Roman"/>
                <a:cs typeface="Times New Roman"/>
                <a:sym typeface="Times New Roman"/>
              </a:rPr>
              <a:t>d </a:t>
            </a:r>
            <a:r>
              <a:rPr lang="en-US" sz="2102">
                <a:solidFill>
                  <a:srgbClr val="000000"/>
                </a:solidFill>
                <a:latin typeface="Times New Roman"/>
                <a:ea typeface="Times New Roman"/>
                <a:cs typeface="Times New Roman"/>
                <a:sym typeface="Times New Roman"/>
              </a:rPr>
              <a:t>R</a:t>
            </a:r>
            <a:r>
              <a:rPr lang="en-US" sz="2102" u="none">
                <a:solidFill>
                  <a:srgbClr val="000000"/>
                </a:solidFill>
                <a:latin typeface="Times New Roman"/>
                <a:ea typeface="Times New Roman"/>
                <a:cs typeface="Times New Roman"/>
                <a:sym typeface="Times New Roman"/>
              </a:rPr>
              <a:t>eli</a:t>
            </a:r>
            <a:r>
              <a:rPr lang="en-US" sz="2102">
                <a:solidFill>
                  <a:srgbClr val="000000"/>
                </a:solidFill>
                <a:latin typeface="Times New Roman"/>
                <a:ea typeface="Times New Roman"/>
                <a:cs typeface="Times New Roman"/>
                <a:sym typeface="Times New Roman"/>
              </a:rPr>
              <a:t>abili</a:t>
            </a:r>
            <a:r>
              <a:rPr lang="en-US" sz="2102" u="none">
                <a:solidFill>
                  <a:srgbClr val="000000"/>
                </a:solidFill>
                <a:latin typeface="Times New Roman"/>
                <a:ea typeface="Times New Roman"/>
                <a:cs typeface="Times New Roman"/>
                <a:sym typeface="Times New Roman"/>
              </a:rPr>
              <a:t>t</a:t>
            </a:r>
            <a:r>
              <a:rPr lang="en-US" sz="2102">
                <a:solidFill>
                  <a:srgbClr val="000000"/>
                </a:solidFill>
                <a:latin typeface="Times New Roman"/>
                <a:ea typeface="Times New Roman"/>
                <a:cs typeface="Times New Roman"/>
                <a:sym typeface="Times New Roman"/>
              </a:rPr>
              <a:t>y Meas</a:t>
            </a:r>
            <a:r>
              <a:rPr lang="en-US" sz="2102" u="none">
                <a:solidFill>
                  <a:srgbClr val="000000"/>
                </a:solidFill>
                <a:latin typeface="Times New Roman"/>
                <a:ea typeface="Times New Roman"/>
                <a:cs typeface="Times New Roman"/>
                <a:sym typeface="Times New Roman"/>
              </a:rPr>
              <a:t>u</a:t>
            </a:r>
            <a:r>
              <a:rPr lang="en-US" sz="2102">
                <a:solidFill>
                  <a:srgbClr val="000000"/>
                </a:solidFill>
                <a:latin typeface="Times New Roman"/>
                <a:ea typeface="Times New Roman"/>
                <a:cs typeface="Times New Roman"/>
                <a:sym typeface="Times New Roman"/>
              </a:rPr>
              <a:t>r</a:t>
            </a:r>
            <a:r>
              <a:rPr lang="en-US" sz="2102" u="none">
                <a:solidFill>
                  <a:srgbClr val="000000"/>
                </a:solidFill>
                <a:latin typeface="Times New Roman"/>
                <a:ea typeface="Times New Roman"/>
                <a:cs typeface="Times New Roman"/>
                <a:sym typeface="Times New Roman"/>
              </a:rPr>
              <a:t>ement</a:t>
            </a:r>
            <a:r>
              <a:rPr lang="en-US" sz="2102">
                <a:solidFill>
                  <a:srgbClr val="000000"/>
                </a:solidFill>
                <a:latin typeface="Times New Roman"/>
                <a:ea typeface="Times New Roman"/>
                <a:cs typeface="Times New Roman"/>
                <a:sym typeface="Times New Roman"/>
              </a:rPr>
              <a:t>,” I</a:t>
            </a:r>
            <a:r>
              <a:rPr lang="en-US" sz="2102" u="none">
                <a:solidFill>
                  <a:srgbClr val="000000"/>
                </a:solidFill>
                <a:latin typeface="Times New Roman"/>
                <a:ea typeface="Times New Roman"/>
                <a:cs typeface="Times New Roman"/>
                <a:sym typeface="Times New Roman"/>
              </a:rPr>
              <a:t>n</a:t>
            </a:r>
            <a:r>
              <a:rPr lang="en-US" sz="2102">
                <a:solidFill>
                  <a:srgbClr val="000000"/>
                </a:solidFill>
                <a:latin typeface="Times New Roman"/>
                <a:ea typeface="Times New Roman"/>
                <a:cs typeface="Times New Roman"/>
                <a:sym typeface="Times New Roman"/>
              </a:rPr>
              <a:t>t</a:t>
            </a:r>
            <a:r>
              <a:rPr lang="en-US" sz="2102" u="none">
                <a:solidFill>
                  <a:srgbClr val="000000"/>
                </a:solidFill>
                <a:latin typeface="Times New Roman"/>
                <a:ea typeface="Times New Roman"/>
                <a:cs typeface="Times New Roman"/>
                <a:sym typeface="Times New Roman"/>
              </a:rPr>
              <a:t>ern</a:t>
            </a:r>
            <a:r>
              <a:rPr lang="en-US" sz="2102">
                <a:solidFill>
                  <a:srgbClr val="000000"/>
                </a:solidFill>
                <a:latin typeface="Times New Roman"/>
                <a:ea typeface="Times New Roman"/>
                <a:cs typeface="Times New Roman"/>
                <a:sym typeface="Times New Roman"/>
              </a:rPr>
              <a:t>at</a:t>
            </a:r>
            <a:r>
              <a:rPr lang="en-US" sz="2102" u="none">
                <a:solidFill>
                  <a:srgbClr val="000000"/>
                </a:solidFill>
                <a:latin typeface="Times New Roman"/>
                <a:ea typeface="Times New Roman"/>
                <a:cs typeface="Times New Roman"/>
                <a:sym typeface="Times New Roman"/>
              </a:rPr>
              <a:t>i</a:t>
            </a:r>
            <a:r>
              <a:rPr lang="en-US" sz="2102">
                <a:solidFill>
                  <a:srgbClr val="000000"/>
                </a:solidFill>
                <a:latin typeface="Times New Roman"/>
                <a:ea typeface="Times New Roman"/>
                <a:cs typeface="Times New Roman"/>
                <a:sym typeface="Times New Roman"/>
              </a:rPr>
              <a:t>o</a:t>
            </a:r>
            <a:r>
              <a:rPr lang="en-US" sz="2102" u="none">
                <a:solidFill>
                  <a:srgbClr val="000000"/>
                </a:solidFill>
                <a:latin typeface="Times New Roman"/>
                <a:ea typeface="Times New Roman"/>
                <a:cs typeface="Times New Roman"/>
                <a:sym typeface="Times New Roman"/>
              </a:rPr>
              <a:t>n</a:t>
            </a:r>
            <a:r>
              <a:rPr lang="en-US" sz="2102">
                <a:solidFill>
                  <a:srgbClr val="000000"/>
                </a:solidFill>
                <a:latin typeface="Times New Roman"/>
                <a:ea typeface="Times New Roman"/>
                <a:cs typeface="Times New Roman"/>
                <a:sym typeface="Times New Roman"/>
              </a:rPr>
              <a:t>a</a:t>
            </a:r>
            <a:r>
              <a:rPr lang="en-US" sz="2102" u="none">
                <a:solidFill>
                  <a:srgbClr val="000000"/>
                </a:solidFill>
                <a:latin typeface="Times New Roman"/>
                <a:ea typeface="Times New Roman"/>
                <a:cs typeface="Times New Roman"/>
                <a:sym typeface="Times New Roman"/>
              </a:rPr>
              <a:t>l</a:t>
            </a:r>
            <a:r>
              <a:rPr lang="en-US" sz="2102">
                <a:solidFill>
                  <a:srgbClr val="000000"/>
                </a:solidFill>
                <a:latin typeface="Times New Roman"/>
                <a:ea typeface="Times New Roman"/>
                <a:cs typeface="Times New Roman"/>
                <a:sym typeface="Times New Roman"/>
              </a:rPr>
              <a:t> Jour</a:t>
            </a:r>
            <a:r>
              <a:rPr lang="en-US" sz="2102" u="none">
                <a:solidFill>
                  <a:srgbClr val="000000"/>
                </a:solidFill>
                <a:latin typeface="Times New Roman"/>
                <a:ea typeface="Times New Roman"/>
                <a:cs typeface="Times New Roman"/>
                <a:sym typeface="Times New Roman"/>
              </a:rPr>
              <a:t>na</a:t>
            </a:r>
            <a:r>
              <a:rPr lang="en-US" sz="2102">
                <a:solidFill>
                  <a:srgbClr val="000000"/>
                </a:solidFill>
                <a:latin typeface="Times New Roman"/>
                <a:ea typeface="Times New Roman"/>
                <a:cs typeface="Times New Roman"/>
                <a:sym typeface="Times New Roman"/>
              </a:rPr>
              <a:t>l of Compu</a:t>
            </a:r>
            <a:r>
              <a:rPr lang="en-US" sz="2102" u="none">
                <a:solidFill>
                  <a:srgbClr val="000000"/>
                </a:solidFill>
                <a:latin typeface="Times New Roman"/>
                <a:ea typeface="Times New Roman"/>
                <a:cs typeface="Times New Roman"/>
                <a:sym typeface="Times New Roman"/>
              </a:rPr>
              <a:t>t</a:t>
            </a:r>
            <a:r>
              <a:rPr lang="en-US" sz="2102">
                <a:solidFill>
                  <a:srgbClr val="000000"/>
                </a:solidFill>
                <a:latin typeface="Times New Roman"/>
                <a:ea typeface="Times New Roman"/>
                <a:cs typeface="Times New Roman"/>
                <a:sym typeface="Times New Roman"/>
              </a:rPr>
              <a:t>a</a:t>
            </a:r>
            <a:r>
              <a:rPr lang="en-US" sz="2102" u="none">
                <a:solidFill>
                  <a:srgbClr val="000000"/>
                </a:solidFill>
                <a:latin typeface="Times New Roman"/>
                <a:ea typeface="Times New Roman"/>
                <a:cs typeface="Times New Roman"/>
                <a:sym typeface="Times New Roman"/>
              </a:rPr>
              <a:t>tio</a:t>
            </a:r>
            <a:r>
              <a:rPr lang="en-US" sz="2102">
                <a:solidFill>
                  <a:srgbClr val="000000"/>
                </a:solidFill>
                <a:latin typeface="Times New Roman"/>
                <a:ea typeface="Times New Roman"/>
                <a:cs typeface="Times New Roman"/>
                <a:sym typeface="Times New Roman"/>
              </a:rPr>
              <a:t>n</a:t>
            </a:r>
            <a:r>
              <a:rPr lang="en-US" sz="2102" u="none">
                <a:solidFill>
                  <a:srgbClr val="000000"/>
                </a:solidFill>
                <a:latin typeface="Times New Roman"/>
                <a:ea typeface="Times New Roman"/>
                <a:cs typeface="Times New Roman"/>
                <a:sym typeface="Times New Roman"/>
              </a:rPr>
              <a:t>al</a:t>
            </a:r>
            <a:r>
              <a:rPr lang="en-US" sz="2102">
                <a:solidFill>
                  <a:srgbClr val="000000"/>
                </a:solidFill>
                <a:latin typeface="Times New Roman"/>
                <a:ea typeface="Times New Roman"/>
                <a:cs typeface="Times New Roman"/>
                <a:sym typeface="Times New Roman"/>
              </a:rPr>
              <a:t> </a:t>
            </a:r>
            <a:r>
              <a:rPr lang="en-US" sz="2102" u="none">
                <a:solidFill>
                  <a:srgbClr val="000000"/>
                </a:solidFill>
                <a:latin typeface="Times New Roman"/>
                <a:ea typeface="Times New Roman"/>
                <a:cs typeface="Times New Roman"/>
                <a:sym typeface="Times New Roman"/>
              </a:rPr>
              <a:t>I</a:t>
            </a:r>
            <a:r>
              <a:rPr lang="en-US" sz="2102">
                <a:solidFill>
                  <a:srgbClr val="000000"/>
                </a:solidFill>
                <a:latin typeface="Times New Roman"/>
                <a:ea typeface="Times New Roman"/>
                <a:cs typeface="Times New Roman"/>
                <a:sym typeface="Times New Roman"/>
              </a:rPr>
              <a:t>nt</a:t>
            </a:r>
            <a:r>
              <a:rPr lang="en-US" sz="2102" u="none">
                <a:solidFill>
                  <a:srgbClr val="000000"/>
                </a:solidFill>
                <a:latin typeface="Times New Roman"/>
                <a:ea typeface="Times New Roman"/>
                <a:cs typeface="Times New Roman"/>
                <a:sym typeface="Times New Roman"/>
              </a:rPr>
              <a:t>el</a:t>
            </a:r>
            <a:r>
              <a:rPr lang="en-US" sz="2102">
                <a:solidFill>
                  <a:srgbClr val="000000"/>
                </a:solidFill>
                <a:latin typeface="Times New Roman"/>
                <a:ea typeface="Times New Roman"/>
                <a:cs typeface="Times New Roman"/>
                <a:sym typeface="Times New Roman"/>
              </a:rPr>
              <a:t>l</a:t>
            </a:r>
            <a:r>
              <a:rPr lang="en-US" sz="2102" u="none">
                <a:solidFill>
                  <a:srgbClr val="000000"/>
                </a:solidFill>
                <a:latin typeface="Times New Roman"/>
                <a:ea typeface="Times New Roman"/>
                <a:cs typeface="Times New Roman"/>
                <a:sym typeface="Times New Roman"/>
              </a:rPr>
              <a:t>i</a:t>
            </a:r>
            <a:r>
              <a:rPr lang="en-US" sz="2102">
                <a:solidFill>
                  <a:srgbClr val="000000"/>
                </a:solidFill>
                <a:latin typeface="Times New Roman"/>
                <a:ea typeface="Times New Roman"/>
                <a:cs typeface="Times New Roman"/>
                <a:sym typeface="Times New Roman"/>
              </a:rPr>
              <a:t>ge</a:t>
            </a:r>
            <a:r>
              <a:rPr lang="en-US" sz="2102" u="none">
                <a:solidFill>
                  <a:srgbClr val="000000"/>
                </a:solidFill>
                <a:latin typeface="Times New Roman"/>
                <a:ea typeface="Times New Roman"/>
                <a:cs typeface="Times New Roman"/>
                <a:sym typeface="Times New Roman"/>
              </a:rPr>
              <a:t>n</a:t>
            </a:r>
            <a:r>
              <a:rPr lang="en-US" sz="2102">
                <a:solidFill>
                  <a:srgbClr val="000000"/>
                </a:solidFill>
                <a:latin typeface="Times New Roman"/>
                <a:ea typeface="Times New Roman"/>
                <a:cs typeface="Times New Roman"/>
                <a:sym typeface="Times New Roman"/>
              </a:rPr>
              <a:t>ce Sys</a:t>
            </a:r>
            <a:r>
              <a:rPr lang="en-US" sz="2102" u="none">
                <a:solidFill>
                  <a:srgbClr val="000000"/>
                </a:solidFill>
                <a:latin typeface="Times New Roman"/>
                <a:ea typeface="Times New Roman"/>
                <a:cs typeface="Times New Roman"/>
                <a:sym typeface="Times New Roman"/>
              </a:rPr>
              <a:t>-tem</a:t>
            </a:r>
            <a:r>
              <a:rPr lang="en-US" sz="2102">
                <a:solidFill>
                  <a:srgbClr val="000000"/>
                </a:solidFill>
                <a:latin typeface="Times New Roman"/>
                <a:ea typeface="Times New Roman"/>
                <a:cs typeface="Times New Roman"/>
                <a:sym typeface="Times New Roman"/>
              </a:rPr>
              <a:t>s, vol. 15, art. </a:t>
            </a:r>
            <a:r>
              <a:rPr lang="en-US" sz="2102" u="none">
                <a:solidFill>
                  <a:srgbClr val="000000"/>
                </a:solidFill>
                <a:latin typeface="Times New Roman"/>
                <a:ea typeface="Times New Roman"/>
                <a:cs typeface="Times New Roman"/>
                <a:sym typeface="Times New Roman"/>
              </a:rPr>
              <a:t>n</a:t>
            </a:r>
            <a:r>
              <a:rPr lang="en-US" sz="2102">
                <a:solidFill>
                  <a:srgbClr val="000000"/>
                </a:solidFill>
                <a:latin typeface="Times New Roman"/>
                <a:ea typeface="Times New Roman"/>
                <a:cs typeface="Times New Roman"/>
                <a:sym typeface="Times New Roman"/>
              </a:rPr>
              <a:t>o. 105, 2022, doi:10.1007/</a:t>
            </a:r>
            <a:r>
              <a:rPr lang="en-US" sz="2102" u="none">
                <a:solidFill>
                  <a:srgbClr val="000000"/>
                </a:solidFill>
                <a:latin typeface="Times New Roman"/>
                <a:ea typeface="Times New Roman"/>
                <a:cs typeface="Times New Roman"/>
                <a:sym typeface="Times New Roman"/>
              </a:rPr>
              <a:t>s</a:t>
            </a:r>
            <a:r>
              <a:rPr lang="en-US" sz="2102">
                <a:solidFill>
                  <a:srgbClr val="000000"/>
                </a:solidFill>
                <a:latin typeface="Times New Roman"/>
                <a:ea typeface="Times New Roman"/>
                <a:cs typeface="Times New Roman"/>
                <a:sym typeface="Times New Roman"/>
              </a:rPr>
              <a:t>44196</a:t>
            </a:r>
            <a:r>
              <a:rPr lang="en-US" sz="2102" u="none">
                <a:solidFill>
                  <a:srgbClr val="000000"/>
                </a:solidFill>
                <a:latin typeface="Times New Roman"/>
                <a:ea typeface="Times New Roman"/>
                <a:cs typeface="Times New Roman"/>
                <a:sym typeface="Times New Roman"/>
              </a:rPr>
              <a:t>-</a:t>
            </a:r>
            <a:r>
              <a:rPr lang="en-US" sz="2102">
                <a:solidFill>
                  <a:srgbClr val="000000"/>
                </a:solidFill>
                <a:latin typeface="Times New Roman"/>
                <a:ea typeface="Times New Roman"/>
                <a:cs typeface="Times New Roman"/>
                <a:sym typeface="Times New Roman"/>
              </a:rPr>
              <a:t>022-00168-4.</a:t>
            </a:r>
          </a:p>
          <a:p>
            <a:pPr algn="l">
              <a:lnSpc>
                <a:spcPts val="2523"/>
              </a:lnSpc>
            </a:pPr>
            <a:r>
              <a:rPr lang="en-US" sz="2102">
                <a:solidFill>
                  <a:srgbClr val="000000"/>
                </a:solidFill>
                <a:latin typeface="Times New Roman"/>
                <a:ea typeface="Times New Roman"/>
                <a:cs typeface="Times New Roman"/>
                <a:sym typeface="Times New Roman"/>
              </a:rPr>
              <a:t>[8] I. Papa</a:t>
            </a:r>
            <a:r>
              <a:rPr lang="en-US" sz="2102" u="none">
                <a:solidFill>
                  <a:srgbClr val="000000"/>
                </a:solidFill>
                <a:latin typeface="Times New Roman"/>
                <a:ea typeface="Times New Roman"/>
                <a:cs typeface="Times New Roman"/>
                <a:sym typeface="Times New Roman"/>
              </a:rPr>
              <a:t>s</a:t>
            </a:r>
            <a:r>
              <a:rPr lang="en-US" sz="2102">
                <a:solidFill>
                  <a:srgbClr val="000000"/>
                </a:solidFill>
                <a:latin typeface="Times New Roman"/>
                <a:ea typeface="Times New Roman"/>
                <a:cs typeface="Times New Roman"/>
                <a:sym typeface="Times New Roman"/>
              </a:rPr>
              <a:t>tr</a:t>
            </a:r>
            <a:r>
              <a:rPr lang="en-US" sz="2102" u="none">
                <a:solidFill>
                  <a:srgbClr val="000000"/>
                </a:solidFill>
                <a:latin typeface="Times New Roman"/>
                <a:ea typeface="Times New Roman"/>
                <a:cs typeface="Times New Roman"/>
                <a:sym typeface="Times New Roman"/>
              </a:rPr>
              <a:t>a</a:t>
            </a:r>
            <a:r>
              <a:rPr lang="en-US" sz="2102">
                <a:solidFill>
                  <a:srgbClr val="000000"/>
                </a:solidFill>
                <a:latin typeface="Times New Roman"/>
                <a:ea typeface="Times New Roman"/>
                <a:cs typeface="Times New Roman"/>
                <a:sym typeface="Times New Roman"/>
              </a:rPr>
              <a:t>t</a:t>
            </a:r>
            <a:r>
              <a:rPr lang="en-US" sz="2102" u="none">
                <a:solidFill>
                  <a:srgbClr val="000000"/>
                </a:solidFill>
                <a:latin typeface="Times New Roman"/>
                <a:ea typeface="Times New Roman"/>
                <a:cs typeface="Times New Roman"/>
                <a:sym typeface="Times New Roman"/>
              </a:rPr>
              <a:t>i</a:t>
            </a:r>
            <a:r>
              <a:rPr lang="en-US" sz="2102">
                <a:solidFill>
                  <a:srgbClr val="000000"/>
                </a:solidFill>
                <a:latin typeface="Times New Roman"/>
                <a:ea typeface="Times New Roman"/>
                <a:cs typeface="Times New Roman"/>
                <a:sym typeface="Times New Roman"/>
              </a:rPr>
              <a:t>s, D. Ko</a:t>
            </a:r>
            <a:r>
              <a:rPr lang="en-US" sz="2102" u="none">
                <a:solidFill>
                  <a:srgbClr val="000000"/>
                </a:solidFill>
                <a:latin typeface="Times New Roman"/>
                <a:ea typeface="Times New Roman"/>
                <a:cs typeface="Times New Roman"/>
                <a:sym typeface="Times New Roman"/>
              </a:rPr>
              <a:t>n</a:t>
            </a:r>
            <a:r>
              <a:rPr lang="en-US" sz="2102">
                <a:solidFill>
                  <a:srgbClr val="000000"/>
                </a:solidFill>
                <a:latin typeface="Times New Roman"/>
                <a:ea typeface="Times New Roman"/>
                <a:cs typeface="Times New Roman"/>
                <a:sym typeface="Times New Roman"/>
              </a:rPr>
              <a:t>st</a:t>
            </a:r>
            <a:r>
              <a:rPr lang="en-US" sz="2102" u="none">
                <a:solidFill>
                  <a:srgbClr val="000000"/>
                </a:solidFill>
                <a:latin typeface="Times New Roman"/>
                <a:ea typeface="Times New Roman"/>
                <a:cs typeface="Times New Roman"/>
                <a:sym typeface="Times New Roman"/>
              </a:rPr>
              <a:t>an</a:t>
            </a:r>
            <a:r>
              <a:rPr lang="en-US" sz="2102">
                <a:solidFill>
                  <a:srgbClr val="000000"/>
                </a:solidFill>
                <a:latin typeface="Times New Roman"/>
                <a:ea typeface="Times New Roman"/>
                <a:cs typeface="Times New Roman"/>
                <a:sym typeface="Times New Roman"/>
              </a:rPr>
              <a:t>t</a:t>
            </a:r>
            <a:r>
              <a:rPr lang="en-US" sz="2102" u="none">
                <a:solidFill>
                  <a:srgbClr val="000000"/>
                </a:solidFill>
                <a:latin typeface="Times New Roman"/>
                <a:ea typeface="Times New Roman"/>
                <a:cs typeface="Times New Roman"/>
                <a:sym typeface="Times New Roman"/>
              </a:rPr>
              <a:t>in</a:t>
            </a:r>
            <a:r>
              <a:rPr lang="en-US" sz="2102">
                <a:solidFill>
                  <a:srgbClr val="000000"/>
                </a:solidFill>
                <a:latin typeface="Times New Roman"/>
                <a:ea typeface="Times New Roman"/>
                <a:cs typeface="Times New Roman"/>
                <a:sym typeface="Times New Roman"/>
              </a:rPr>
              <a:t>i</a:t>
            </a:r>
            <a:r>
              <a:rPr lang="en-US" sz="2102" u="none">
                <a:solidFill>
                  <a:srgbClr val="000000"/>
                </a:solidFill>
                <a:latin typeface="Times New Roman"/>
                <a:ea typeface="Times New Roman"/>
                <a:cs typeface="Times New Roman"/>
                <a:sym typeface="Times New Roman"/>
              </a:rPr>
              <a:t>d</a:t>
            </a:r>
            <a:r>
              <a:rPr lang="en-US" sz="2102">
                <a:solidFill>
                  <a:srgbClr val="000000"/>
                </a:solidFill>
                <a:latin typeface="Times New Roman"/>
                <a:ea typeface="Times New Roman"/>
                <a:cs typeface="Times New Roman"/>
                <a:sym typeface="Times New Roman"/>
              </a:rPr>
              <a:t>is, P. Daras, and K. Dimitropoulos, “AI nutrition recommendation using a deep generative model and ChatGPT,” Scientific Reports, vol. 14, art. no. 14620, 2024, doi</a:t>
            </a:r>
            <a:r>
              <a:rPr lang="en-US" sz="2102" u="none">
                <a:solidFill>
                  <a:srgbClr val="000000"/>
                </a:solidFill>
                <a:latin typeface="Times New Roman"/>
                <a:ea typeface="Times New Roman"/>
                <a:cs typeface="Times New Roman"/>
                <a:sym typeface="Times New Roman"/>
              </a:rPr>
              <a:t>:</a:t>
            </a:r>
            <a:r>
              <a:rPr lang="en-US" sz="2102">
                <a:solidFill>
                  <a:srgbClr val="000000"/>
                </a:solidFill>
                <a:latin typeface="Times New Roman"/>
                <a:ea typeface="Times New Roman"/>
                <a:cs typeface="Times New Roman"/>
                <a:sym typeface="Times New Roman"/>
              </a:rPr>
              <a:t> 10</a:t>
            </a:r>
            <a:r>
              <a:rPr lang="en-US" sz="2102" u="none">
                <a:solidFill>
                  <a:srgbClr val="000000"/>
                </a:solidFill>
                <a:latin typeface="Times New Roman"/>
                <a:ea typeface="Times New Roman"/>
                <a:cs typeface="Times New Roman"/>
                <a:sym typeface="Times New Roman"/>
              </a:rPr>
              <a:t>.</a:t>
            </a:r>
            <a:r>
              <a:rPr lang="en-US" sz="2102">
                <a:solidFill>
                  <a:srgbClr val="000000"/>
                </a:solidFill>
                <a:latin typeface="Times New Roman"/>
                <a:ea typeface="Times New Roman"/>
                <a:cs typeface="Times New Roman"/>
                <a:sym typeface="Times New Roman"/>
              </a:rPr>
              <a:t>1038/</a:t>
            </a:r>
            <a:r>
              <a:rPr lang="en-US" sz="2102" u="none">
                <a:solidFill>
                  <a:srgbClr val="000000"/>
                </a:solidFill>
                <a:latin typeface="Times New Roman"/>
                <a:ea typeface="Times New Roman"/>
                <a:cs typeface="Times New Roman"/>
                <a:sym typeface="Times New Roman"/>
              </a:rPr>
              <a:t>s</a:t>
            </a:r>
            <a:r>
              <a:rPr lang="en-US" sz="2102">
                <a:solidFill>
                  <a:srgbClr val="000000"/>
                </a:solidFill>
                <a:latin typeface="Times New Roman"/>
                <a:ea typeface="Times New Roman"/>
                <a:cs typeface="Times New Roman"/>
                <a:sym typeface="Times New Roman"/>
              </a:rPr>
              <a:t>41598-024-65438-x</a:t>
            </a:r>
            <a:r>
              <a:rPr lang="en-US" sz="2102" u="none">
                <a:solidFill>
                  <a:srgbClr val="000000"/>
                </a:solidFill>
                <a:latin typeface="Times New Roman"/>
                <a:ea typeface="Times New Roman"/>
                <a:cs typeface="Times New Roman"/>
                <a:sym typeface="Times New Roman"/>
              </a:rPr>
              <a:t>.</a:t>
            </a:r>
          </a:p>
          <a:p>
            <a:pPr algn="l">
              <a:lnSpc>
                <a:spcPts val="2523"/>
              </a:lnSpc>
            </a:pPr>
            <a:r>
              <a:rPr lang="en-US" sz="2102">
                <a:solidFill>
                  <a:srgbClr val="000000"/>
                </a:solidFill>
                <a:latin typeface="Times New Roman"/>
                <a:ea typeface="Times New Roman"/>
                <a:cs typeface="Times New Roman"/>
                <a:sym typeface="Times New Roman"/>
              </a:rPr>
              <a:t>[9] Z</a:t>
            </a:r>
            <a:r>
              <a:rPr lang="en-US" sz="2102" u="none">
                <a:solidFill>
                  <a:srgbClr val="000000"/>
                </a:solidFill>
                <a:latin typeface="Times New Roman"/>
                <a:ea typeface="Times New Roman"/>
                <a:cs typeface="Times New Roman"/>
                <a:sym typeface="Times New Roman"/>
              </a:rPr>
              <a:t>.</a:t>
            </a:r>
            <a:r>
              <a:rPr lang="en-US" sz="2102">
                <a:solidFill>
                  <a:srgbClr val="000000"/>
                </a:solidFill>
                <a:latin typeface="Times New Roman"/>
                <a:ea typeface="Times New Roman"/>
                <a:cs typeface="Times New Roman"/>
                <a:sym typeface="Times New Roman"/>
              </a:rPr>
              <a:t> Kw</a:t>
            </a:r>
            <a:r>
              <a:rPr lang="en-US" sz="2102" u="none">
                <a:solidFill>
                  <a:srgbClr val="000000"/>
                </a:solidFill>
                <a:latin typeface="Times New Roman"/>
                <a:ea typeface="Times New Roman"/>
                <a:cs typeface="Times New Roman"/>
                <a:sym typeface="Times New Roman"/>
              </a:rPr>
              <a:t>a</a:t>
            </a:r>
            <a:r>
              <a:rPr lang="en-US" sz="2102">
                <a:solidFill>
                  <a:srgbClr val="000000"/>
                </a:solidFill>
                <a:latin typeface="Times New Roman"/>
                <a:ea typeface="Times New Roman"/>
                <a:cs typeface="Times New Roman"/>
                <a:sym typeface="Times New Roman"/>
              </a:rPr>
              <a:t>n, W</a:t>
            </a:r>
            <a:r>
              <a:rPr lang="en-US" sz="2102" u="none">
                <a:solidFill>
                  <a:srgbClr val="000000"/>
                </a:solidFill>
                <a:latin typeface="Times New Roman"/>
                <a:ea typeface="Times New Roman"/>
                <a:cs typeface="Times New Roman"/>
                <a:sym typeface="Times New Roman"/>
              </a:rPr>
              <a:t>.</a:t>
            </a:r>
            <a:r>
              <a:rPr lang="en-US" sz="2102">
                <a:solidFill>
                  <a:srgbClr val="000000"/>
                </a:solidFill>
                <a:latin typeface="Times New Roman"/>
                <a:ea typeface="Times New Roman"/>
                <a:cs typeface="Times New Roman"/>
                <a:sym typeface="Times New Roman"/>
              </a:rPr>
              <a:t> Z</a:t>
            </a:r>
            <a:r>
              <a:rPr lang="en-US" sz="2102" u="none">
                <a:solidFill>
                  <a:srgbClr val="000000"/>
                </a:solidFill>
                <a:latin typeface="Times New Roman"/>
                <a:ea typeface="Times New Roman"/>
                <a:cs typeface="Times New Roman"/>
                <a:sym typeface="Times New Roman"/>
              </a:rPr>
              <a:t>han</a:t>
            </a:r>
            <a:r>
              <a:rPr lang="en-US" sz="2102">
                <a:solidFill>
                  <a:srgbClr val="000000"/>
                </a:solidFill>
                <a:latin typeface="Times New Roman"/>
                <a:ea typeface="Times New Roman"/>
                <a:cs typeface="Times New Roman"/>
                <a:sym typeface="Times New Roman"/>
              </a:rPr>
              <a:t>g, Z. W</a:t>
            </a:r>
            <a:r>
              <a:rPr lang="en-US" sz="2102" u="none">
                <a:solidFill>
                  <a:srgbClr val="000000"/>
                </a:solidFill>
                <a:latin typeface="Times New Roman"/>
                <a:ea typeface="Times New Roman"/>
                <a:cs typeface="Times New Roman"/>
                <a:sym typeface="Times New Roman"/>
              </a:rPr>
              <a:t>a</a:t>
            </a:r>
            <a:r>
              <a:rPr lang="en-US" sz="2102">
                <a:solidFill>
                  <a:srgbClr val="000000"/>
                </a:solidFill>
                <a:latin typeface="Times New Roman"/>
                <a:ea typeface="Times New Roman"/>
                <a:cs typeface="Times New Roman"/>
                <a:sym typeface="Times New Roman"/>
              </a:rPr>
              <a:t>ng, A</a:t>
            </a:r>
            <a:r>
              <a:rPr lang="en-US" sz="2102" u="none">
                <a:solidFill>
                  <a:srgbClr val="000000"/>
                </a:solidFill>
                <a:latin typeface="Times New Roman"/>
                <a:ea typeface="Times New Roman"/>
                <a:cs typeface="Times New Roman"/>
                <a:sym typeface="Times New Roman"/>
              </a:rPr>
              <a:t>.</a:t>
            </a:r>
            <a:r>
              <a:rPr lang="en-US" sz="2102">
                <a:solidFill>
                  <a:srgbClr val="000000"/>
                </a:solidFill>
                <a:latin typeface="Times New Roman"/>
                <a:ea typeface="Times New Roman"/>
                <a:cs typeface="Times New Roman"/>
                <a:sym typeface="Times New Roman"/>
              </a:rPr>
              <a:t> B. Ng, and S. See, “Nutrition Estimation for Dietary Management: A Transformer Approach with Depth Sensing,” arXiv preprintarXiv:2406.01938, 2024. [Online]. Available: https://arxiv.org/abs/2406.01938</a:t>
            </a:r>
          </a:p>
          <a:p>
            <a:pPr algn="l">
              <a:lnSpc>
                <a:spcPts val="2523"/>
              </a:lnSpc>
            </a:pPr>
            <a:r>
              <a:rPr lang="en-US" sz="2102">
                <a:solidFill>
                  <a:srgbClr val="000000"/>
                </a:solidFill>
                <a:latin typeface="Times New Roman"/>
                <a:ea typeface="Times New Roman"/>
                <a:cs typeface="Times New Roman"/>
                <a:sym typeface="Times New Roman"/>
              </a:rPr>
              <a:t>[10] L. Liu, Y. Guan, Z. Wang, R. Shen, G. Zheng, X. Fu, X. Yu, and J. Jiang, “An interactive food recommendation system using reinforcement learn-ing,” Expert Sys</a:t>
            </a:r>
            <a:r>
              <a:rPr lang="en-US" sz="2102" u="none">
                <a:solidFill>
                  <a:srgbClr val="000000"/>
                </a:solidFill>
                <a:latin typeface="Times New Roman"/>
                <a:ea typeface="Times New Roman"/>
                <a:cs typeface="Times New Roman"/>
                <a:sym typeface="Times New Roman"/>
              </a:rPr>
              <a:t>t</a:t>
            </a:r>
            <a:r>
              <a:rPr lang="en-US" sz="2102">
                <a:solidFill>
                  <a:srgbClr val="000000"/>
                </a:solidFill>
                <a:latin typeface="Times New Roman"/>
                <a:ea typeface="Times New Roman"/>
                <a:cs typeface="Times New Roman"/>
                <a:sym typeface="Times New Roman"/>
              </a:rPr>
              <a:t>ems wi</a:t>
            </a:r>
            <a:r>
              <a:rPr lang="en-US" sz="2102" u="none">
                <a:solidFill>
                  <a:srgbClr val="000000"/>
                </a:solidFill>
                <a:latin typeface="Times New Roman"/>
                <a:ea typeface="Times New Roman"/>
                <a:cs typeface="Times New Roman"/>
                <a:sym typeface="Times New Roman"/>
              </a:rPr>
              <a:t>t</a:t>
            </a:r>
            <a:r>
              <a:rPr lang="en-US" sz="2102">
                <a:solidFill>
                  <a:srgbClr val="000000"/>
                </a:solidFill>
                <a:latin typeface="Times New Roman"/>
                <a:ea typeface="Times New Roman"/>
                <a:cs typeface="Times New Roman"/>
                <a:sym typeface="Times New Roman"/>
              </a:rPr>
              <a:t>h A</a:t>
            </a:r>
            <a:r>
              <a:rPr lang="en-US" sz="2102" u="none">
                <a:solidFill>
                  <a:srgbClr val="000000"/>
                </a:solidFill>
                <a:latin typeface="Times New Roman"/>
                <a:ea typeface="Times New Roman"/>
                <a:cs typeface="Times New Roman"/>
                <a:sym typeface="Times New Roman"/>
              </a:rPr>
              <a:t>pp</a:t>
            </a:r>
            <a:r>
              <a:rPr lang="en-US" sz="2102">
                <a:solidFill>
                  <a:srgbClr val="000000"/>
                </a:solidFill>
                <a:latin typeface="Times New Roman"/>
                <a:ea typeface="Times New Roman"/>
                <a:cs typeface="Times New Roman"/>
                <a:sym typeface="Times New Roman"/>
              </a:rPr>
              <a:t>lic</a:t>
            </a:r>
            <a:r>
              <a:rPr lang="en-US" sz="2102" u="none">
                <a:solidFill>
                  <a:srgbClr val="000000"/>
                </a:solidFill>
                <a:latin typeface="Times New Roman"/>
                <a:ea typeface="Times New Roman"/>
                <a:cs typeface="Times New Roman"/>
                <a:sym typeface="Times New Roman"/>
              </a:rPr>
              <a:t>ati</a:t>
            </a:r>
            <a:r>
              <a:rPr lang="en-US" sz="2102">
                <a:solidFill>
                  <a:srgbClr val="000000"/>
                </a:solidFill>
                <a:latin typeface="Times New Roman"/>
                <a:ea typeface="Times New Roman"/>
                <a:cs typeface="Times New Roman"/>
                <a:sym typeface="Times New Roman"/>
              </a:rPr>
              <a:t>o</a:t>
            </a:r>
            <a:r>
              <a:rPr lang="en-US" sz="2102" u="none">
                <a:solidFill>
                  <a:srgbClr val="000000"/>
                </a:solidFill>
                <a:latin typeface="Times New Roman"/>
                <a:ea typeface="Times New Roman"/>
                <a:cs typeface="Times New Roman"/>
                <a:sym typeface="Times New Roman"/>
              </a:rPr>
              <a:t>n</a:t>
            </a:r>
            <a:r>
              <a:rPr lang="en-US" sz="2102">
                <a:solidFill>
                  <a:srgbClr val="000000"/>
                </a:solidFill>
                <a:latin typeface="Times New Roman"/>
                <a:ea typeface="Times New Roman"/>
                <a:cs typeface="Times New Roman"/>
                <a:sym typeface="Times New Roman"/>
              </a:rPr>
              <a:t>s, vol</a:t>
            </a:r>
            <a:r>
              <a:rPr lang="en-US" sz="2102" u="none">
                <a:solidFill>
                  <a:srgbClr val="000000"/>
                </a:solidFill>
                <a:latin typeface="Times New Roman"/>
                <a:ea typeface="Times New Roman"/>
                <a:cs typeface="Times New Roman"/>
                <a:sym typeface="Times New Roman"/>
              </a:rPr>
              <a:t>.</a:t>
            </a:r>
            <a:r>
              <a:rPr lang="en-US" sz="2102">
                <a:solidFill>
                  <a:srgbClr val="000000"/>
                </a:solidFill>
                <a:latin typeface="Times New Roman"/>
                <a:ea typeface="Times New Roman"/>
                <a:cs typeface="Times New Roman"/>
                <a:sym typeface="Times New Roman"/>
              </a:rPr>
              <a:t> 254, a</a:t>
            </a:r>
            <a:r>
              <a:rPr lang="en-US" sz="2102" u="none">
                <a:solidFill>
                  <a:srgbClr val="000000"/>
                </a:solidFill>
                <a:latin typeface="Times New Roman"/>
                <a:ea typeface="Times New Roman"/>
                <a:cs typeface="Times New Roman"/>
                <a:sym typeface="Times New Roman"/>
              </a:rPr>
              <a:t>r</a:t>
            </a:r>
            <a:r>
              <a:rPr lang="en-US" sz="2102">
                <a:solidFill>
                  <a:srgbClr val="000000"/>
                </a:solidFill>
                <a:latin typeface="Times New Roman"/>
                <a:ea typeface="Times New Roman"/>
                <a:cs typeface="Times New Roman"/>
                <a:sym typeface="Times New Roman"/>
              </a:rPr>
              <a:t>t. </a:t>
            </a:r>
            <a:r>
              <a:rPr lang="en-US" sz="2102" u="none">
                <a:solidFill>
                  <a:srgbClr val="000000"/>
                </a:solidFill>
                <a:latin typeface="Times New Roman"/>
                <a:ea typeface="Times New Roman"/>
                <a:cs typeface="Times New Roman"/>
                <a:sym typeface="Times New Roman"/>
              </a:rPr>
              <a:t>no.</a:t>
            </a:r>
            <a:r>
              <a:rPr lang="en-US" sz="2102">
                <a:solidFill>
                  <a:srgbClr val="000000"/>
                </a:solidFill>
                <a:latin typeface="Times New Roman"/>
                <a:ea typeface="Times New Roman"/>
                <a:cs typeface="Times New Roman"/>
                <a:sym typeface="Times New Roman"/>
              </a:rPr>
              <a:t> 124313, N</a:t>
            </a:r>
            <a:r>
              <a:rPr lang="en-US" sz="2102" u="none">
                <a:solidFill>
                  <a:srgbClr val="000000"/>
                </a:solidFill>
                <a:latin typeface="Times New Roman"/>
                <a:ea typeface="Times New Roman"/>
                <a:cs typeface="Times New Roman"/>
                <a:sym typeface="Times New Roman"/>
              </a:rPr>
              <a:t>o</a:t>
            </a:r>
            <a:r>
              <a:rPr lang="en-US" sz="2102">
                <a:solidFill>
                  <a:srgbClr val="000000"/>
                </a:solidFill>
                <a:latin typeface="Times New Roman"/>
                <a:ea typeface="Times New Roman"/>
                <a:cs typeface="Times New Roman"/>
                <a:sym typeface="Times New Roman"/>
              </a:rPr>
              <a:t>v. 2024, do</a:t>
            </a:r>
            <a:r>
              <a:rPr lang="en-US" sz="2102" u="none">
                <a:solidFill>
                  <a:srgbClr val="000000"/>
                </a:solidFill>
                <a:latin typeface="Times New Roman"/>
                <a:ea typeface="Times New Roman"/>
                <a:cs typeface="Times New Roman"/>
                <a:sym typeface="Times New Roman"/>
              </a:rPr>
              <a:t>i</a:t>
            </a:r>
            <a:r>
              <a:rPr lang="en-US" sz="2102">
                <a:solidFill>
                  <a:srgbClr val="000000"/>
                </a:solidFill>
                <a:latin typeface="Times New Roman"/>
                <a:ea typeface="Times New Roman"/>
                <a:cs typeface="Times New Roman"/>
                <a:sym typeface="Times New Roman"/>
              </a:rPr>
              <a:t>:</a:t>
            </a:r>
            <a:r>
              <a:rPr lang="en-US" sz="2102" u="none">
                <a:solidFill>
                  <a:srgbClr val="000000"/>
                </a:solidFill>
                <a:latin typeface="Times New Roman"/>
                <a:ea typeface="Times New Roman"/>
                <a:cs typeface="Times New Roman"/>
                <a:sym typeface="Times New Roman"/>
              </a:rPr>
              <a:t>10.1</a:t>
            </a:r>
            <a:r>
              <a:rPr lang="en-US" sz="2102">
                <a:solidFill>
                  <a:srgbClr val="000000"/>
                </a:solidFill>
                <a:latin typeface="Times New Roman"/>
                <a:ea typeface="Times New Roman"/>
                <a:cs typeface="Times New Roman"/>
                <a:sym typeface="Times New Roman"/>
              </a:rPr>
              <a:t>0</a:t>
            </a:r>
            <a:r>
              <a:rPr lang="en-US" sz="2102" u="none">
                <a:solidFill>
                  <a:srgbClr val="000000"/>
                </a:solidFill>
                <a:latin typeface="Times New Roman"/>
                <a:ea typeface="Times New Roman"/>
                <a:cs typeface="Times New Roman"/>
                <a:sym typeface="Times New Roman"/>
              </a:rPr>
              <a:t>1</a:t>
            </a:r>
            <a:r>
              <a:rPr lang="en-US" sz="2102">
                <a:solidFill>
                  <a:srgbClr val="000000"/>
                </a:solidFill>
                <a:latin typeface="Times New Roman"/>
                <a:ea typeface="Times New Roman"/>
                <a:cs typeface="Times New Roman"/>
                <a:sym typeface="Times New Roman"/>
              </a:rPr>
              <a:t>6</a:t>
            </a:r>
            <a:r>
              <a:rPr lang="en-US" sz="2102" u="none">
                <a:solidFill>
                  <a:srgbClr val="000000"/>
                </a:solidFill>
                <a:latin typeface="Times New Roman"/>
                <a:ea typeface="Times New Roman"/>
                <a:cs typeface="Times New Roman"/>
                <a:sym typeface="Times New Roman"/>
              </a:rPr>
              <a:t>/j</a:t>
            </a:r>
            <a:r>
              <a:rPr lang="en-US" sz="2102">
                <a:solidFill>
                  <a:srgbClr val="000000"/>
                </a:solidFill>
                <a:latin typeface="Times New Roman"/>
                <a:ea typeface="Times New Roman"/>
                <a:cs typeface="Times New Roman"/>
                <a:sym typeface="Times New Roman"/>
              </a:rPr>
              <a:t>.e</a:t>
            </a:r>
            <a:r>
              <a:rPr lang="en-US" sz="2102" u="none">
                <a:solidFill>
                  <a:srgbClr val="000000"/>
                </a:solidFill>
                <a:latin typeface="Times New Roman"/>
                <a:ea typeface="Times New Roman"/>
                <a:cs typeface="Times New Roman"/>
                <a:sym typeface="Times New Roman"/>
              </a:rPr>
              <a:t>s</a:t>
            </a:r>
            <a:r>
              <a:rPr lang="en-US" sz="2102">
                <a:solidFill>
                  <a:srgbClr val="000000"/>
                </a:solidFill>
                <a:latin typeface="Times New Roman"/>
                <a:ea typeface="Times New Roman"/>
                <a:cs typeface="Times New Roman"/>
                <a:sym typeface="Times New Roman"/>
              </a:rPr>
              <a:t>wa.2024.</a:t>
            </a:r>
            <a:r>
              <a:rPr lang="en-US" sz="2102" u="none">
                <a:solidFill>
                  <a:srgbClr val="000000"/>
                </a:solidFill>
                <a:latin typeface="Times New Roman"/>
                <a:ea typeface="Times New Roman"/>
                <a:cs typeface="Times New Roman"/>
                <a:sym typeface="Times New Roman"/>
              </a:rPr>
              <a:t>12</a:t>
            </a:r>
            <a:r>
              <a:rPr lang="en-US" sz="2102">
                <a:solidFill>
                  <a:srgbClr val="000000"/>
                </a:solidFill>
                <a:latin typeface="Times New Roman"/>
                <a:ea typeface="Times New Roman"/>
                <a:cs typeface="Times New Roman"/>
                <a:sym typeface="Times New Roman"/>
              </a:rPr>
              <a:t>4</a:t>
            </a:r>
            <a:r>
              <a:rPr lang="en-US" sz="2102" u="none">
                <a:solidFill>
                  <a:srgbClr val="000000"/>
                </a:solidFill>
                <a:latin typeface="Times New Roman"/>
                <a:ea typeface="Times New Roman"/>
                <a:cs typeface="Times New Roman"/>
                <a:sym typeface="Times New Roman"/>
              </a:rPr>
              <a:t>3</a:t>
            </a:r>
            <a:r>
              <a:rPr lang="en-US" sz="2102">
                <a:solidFill>
                  <a:srgbClr val="000000"/>
                </a:solidFill>
                <a:latin typeface="Times New Roman"/>
                <a:ea typeface="Times New Roman"/>
                <a:cs typeface="Times New Roman"/>
                <a:sym typeface="Times New Roman"/>
              </a:rPr>
              <a:t>1</a:t>
            </a:r>
            <a:r>
              <a:rPr lang="en-US" sz="2102" u="none">
                <a:solidFill>
                  <a:srgbClr val="000000"/>
                </a:solidFill>
                <a:latin typeface="Times New Roman"/>
                <a:ea typeface="Times New Roman"/>
                <a:cs typeface="Times New Roman"/>
                <a:sym typeface="Times New Roman"/>
              </a:rPr>
              <a:t>3.</a:t>
            </a:r>
          </a:p>
        </p:txBody>
      </p:sp>
      <p:grpSp>
        <p:nvGrpSpPr>
          <p:cNvPr id="6" name="Group 6"/>
          <p:cNvGrpSpPr/>
          <p:nvPr/>
        </p:nvGrpSpPr>
        <p:grpSpPr>
          <a:xfrm>
            <a:off x="6057900" y="9534525"/>
            <a:ext cx="6172200" cy="547688"/>
            <a:chOff x="0" y="0"/>
            <a:chExt cx="8229600" cy="730250"/>
          </a:xfrm>
        </p:grpSpPr>
        <p:sp>
          <p:nvSpPr>
            <p:cNvPr id="7" name="Freeform 7"/>
            <p:cNvSpPr/>
            <p:nvPr/>
          </p:nvSpPr>
          <p:spPr>
            <a:xfrm>
              <a:off x="0" y="0"/>
              <a:ext cx="8229600" cy="730250"/>
            </a:xfrm>
            <a:custGeom>
              <a:avLst/>
              <a:gdLst/>
              <a:ahLst/>
              <a:cxnLst/>
              <a:rect l="l" t="t" r="r" b="b"/>
              <a:pathLst>
                <a:path w="8229600" h="730250">
                  <a:moveTo>
                    <a:pt x="0" y="0"/>
                  </a:moveTo>
                  <a:lnTo>
                    <a:pt x="8229600" y="0"/>
                  </a:lnTo>
                  <a:lnTo>
                    <a:pt x="8229600" y="730250"/>
                  </a:lnTo>
                  <a:lnTo>
                    <a:pt x="0" y="730250"/>
                  </a:lnTo>
                  <a:close/>
                </a:path>
              </a:pathLst>
            </a:custGeom>
            <a:solidFill>
              <a:srgbClr val="000000">
                <a:alpha val="0"/>
              </a:srgbClr>
            </a:solidFill>
          </p:spPr>
        </p:sp>
        <p:sp>
          <p:nvSpPr>
            <p:cNvPr id="8" name="TextBox 8"/>
            <p:cNvSpPr txBox="1"/>
            <p:nvPr/>
          </p:nvSpPr>
          <p:spPr>
            <a:xfrm>
              <a:off x="0" y="-38100"/>
              <a:ext cx="8229600" cy="768350"/>
            </a:xfrm>
            <a:prstGeom prst="rect">
              <a:avLst/>
            </a:prstGeom>
          </p:spPr>
          <p:txBody>
            <a:bodyPr lIns="0" tIns="0" rIns="0" bIns="0" rtlCol="0" anchor="ctr"/>
            <a:lstStyle/>
            <a:p>
              <a:pPr algn="ctr">
                <a:lnSpc>
                  <a:spcPts val="2160"/>
                </a:lnSpc>
              </a:pPr>
              <a:r>
                <a:rPr lang="en-US" sz="1800">
                  <a:solidFill>
                    <a:srgbClr val="888888"/>
                  </a:solidFill>
                  <a:latin typeface="Calibri (MS)"/>
                  <a:ea typeface="Calibri (MS)"/>
                  <a:cs typeface="Calibri (MS)"/>
                  <a:sym typeface="Calibri (MS)"/>
                </a:rPr>
                <a:t>@Dept. of CSE, TMSL</a:t>
              </a:r>
            </a:p>
          </p:txBody>
        </p:sp>
      </p:grpSp>
      <p:grpSp>
        <p:nvGrpSpPr>
          <p:cNvPr id="9" name="Group 9"/>
          <p:cNvGrpSpPr/>
          <p:nvPr/>
        </p:nvGrpSpPr>
        <p:grpSpPr>
          <a:xfrm>
            <a:off x="12915900" y="9534525"/>
            <a:ext cx="4114800" cy="547688"/>
            <a:chOff x="0" y="0"/>
            <a:chExt cx="5486400" cy="730250"/>
          </a:xfrm>
        </p:grpSpPr>
        <p:sp>
          <p:nvSpPr>
            <p:cNvPr id="10" name="Freeform 10"/>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1" name="TextBox 11"/>
            <p:cNvSpPr txBox="1"/>
            <p:nvPr/>
          </p:nvSpPr>
          <p:spPr>
            <a:xfrm>
              <a:off x="0" y="-38100"/>
              <a:ext cx="5486400" cy="768350"/>
            </a:xfrm>
            <a:prstGeom prst="rect">
              <a:avLst/>
            </a:prstGeom>
          </p:spPr>
          <p:txBody>
            <a:bodyPr lIns="0" tIns="0" rIns="0" bIns="0" rtlCol="0" anchor="ctr"/>
            <a:lstStyle/>
            <a:p>
              <a:pPr algn="r">
                <a:lnSpc>
                  <a:spcPts val="2160"/>
                </a:lnSpc>
              </a:pPr>
              <a:r>
                <a:rPr lang="en-US" sz="1800">
                  <a:solidFill>
                    <a:srgbClr val="888888"/>
                  </a:solidFill>
                  <a:latin typeface="Calibri (MS)"/>
                  <a:ea typeface="Calibri (MS)"/>
                  <a:cs typeface="Calibri (MS)"/>
                  <a:sym typeface="Calibri (MS)"/>
                </a:rPr>
                <a:t>40</a:t>
              </a:r>
            </a:p>
          </p:txBody>
        </p:sp>
      </p:grpSp>
      <p:grpSp>
        <p:nvGrpSpPr>
          <p:cNvPr id="12" name="Group 12"/>
          <p:cNvGrpSpPr/>
          <p:nvPr/>
        </p:nvGrpSpPr>
        <p:grpSpPr>
          <a:xfrm>
            <a:off x="1257300" y="9534525"/>
            <a:ext cx="4114800" cy="547688"/>
            <a:chOff x="0" y="0"/>
            <a:chExt cx="5486400" cy="730250"/>
          </a:xfrm>
        </p:grpSpPr>
        <p:sp>
          <p:nvSpPr>
            <p:cNvPr id="13" name="Freeform 13"/>
            <p:cNvSpPr/>
            <p:nvPr/>
          </p:nvSpPr>
          <p:spPr>
            <a:xfrm>
              <a:off x="0" y="0"/>
              <a:ext cx="5486400" cy="730250"/>
            </a:xfrm>
            <a:custGeom>
              <a:avLst/>
              <a:gdLst/>
              <a:ahLst/>
              <a:cxnLst/>
              <a:rect l="l" t="t" r="r" b="b"/>
              <a:pathLst>
                <a:path w="5486400" h="730250">
                  <a:moveTo>
                    <a:pt x="0" y="0"/>
                  </a:moveTo>
                  <a:lnTo>
                    <a:pt x="5486400" y="0"/>
                  </a:lnTo>
                  <a:lnTo>
                    <a:pt x="5486400" y="730250"/>
                  </a:lnTo>
                  <a:lnTo>
                    <a:pt x="0" y="730250"/>
                  </a:lnTo>
                  <a:close/>
                </a:path>
              </a:pathLst>
            </a:custGeom>
            <a:solidFill>
              <a:srgbClr val="000000">
                <a:alpha val="0"/>
              </a:srgbClr>
            </a:solidFill>
          </p:spPr>
        </p:sp>
        <p:sp>
          <p:nvSpPr>
            <p:cNvPr id="14" name="TextBox 14"/>
            <p:cNvSpPr txBox="1"/>
            <p:nvPr/>
          </p:nvSpPr>
          <p:spPr>
            <a:xfrm>
              <a:off x="0" y="-38100"/>
              <a:ext cx="5486400" cy="768350"/>
            </a:xfrm>
            <a:prstGeom prst="rect">
              <a:avLst/>
            </a:prstGeom>
          </p:spPr>
          <p:txBody>
            <a:bodyPr lIns="0" tIns="0" rIns="0" bIns="0" rtlCol="0" anchor="ctr"/>
            <a:lstStyle/>
            <a:p>
              <a:pPr algn="l">
                <a:lnSpc>
                  <a:spcPts val="2160"/>
                </a:lnSpc>
              </a:pPr>
              <a:r>
                <a:rPr lang="en-US" sz="1800">
                  <a:solidFill>
                    <a:srgbClr val="888888"/>
                  </a:solidFill>
                  <a:latin typeface="Calibri (MS)"/>
                  <a:ea typeface="Calibri (MS)"/>
                  <a:cs typeface="Calibri (MS)"/>
                  <a:sym typeface="Calibri (MS)"/>
                </a:rPr>
                <a:t>22-12-2025</a:t>
              </a:r>
            </a:p>
          </p:txBody>
        </p:sp>
      </p:grpSp>
      <p:sp>
        <p:nvSpPr>
          <p:cNvPr id="15" name="TextBox 15"/>
          <p:cNvSpPr txBox="1"/>
          <p:nvPr/>
        </p:nvSpPr>
        <p:spPr>
          <a:xfrm>
            <a:off x="6057900" y="53512"/>
            <a:ext cx="12139050" cy="247650"/>
          </a:xfrm>
          <a:prstGeom prst="rect">
            <a:avLst/>
          </a:prstGeom>
        </p:spPr>
        <p:txBody>
          <a:bodyPr lIns="0" tIns="0" rIns="0" bIns="0" rtlCol="0" anchor="t">
            <a:spAutoFit/>
          </a:bodyPr>
          <a:lstStyle/>
          <a:p>
            <a:pPr algn="r">
              <a:lnSpc>
                <a:spcPts val="1889"/>
              </a:lnSpc>
            </a:pPr>
            <a:r>
              <a:rPr lang="en-US" sz="1575">
                <a:solidFill>
                  <a:srgbClr val="000000"/>
                </a:solidFill>
                <a:latin typeface="Times New Roman"/>
                <a:ea typeface="Times New Roman"/>
                <a:cs typeface="Times New Roman"/>
                <a:sym typeface="Times New Roman"/>
              </a:rPr>
              <a:t>GR22-A Novel Community and Family Centric Healthy Meal Planner Integrating Nutritional Information, User Preferences, and Regional Context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TotalTime>
  <Words>4555</Words>
  <Application>Microsoft Office PowerPoint</Application>
  <PresentationFormat>Custom</PresentationFormat>
  <Paragraphs>604</Paragraphs>
  <Slides>40</Slides>
  <Notes>40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Calibri (MS)</vt:lpstr>
      <vt:lpstr>Times New Roman Bold</vt:lpstr>
      <vt:lpstr>Calibri</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GR21-MPIDISM-PPT.pptx</dc:title>
  <dc:creator>Sanjit Dutta</dc:creator>
  <cp:lastModifiedBy>Microsoft account</cp:lastModifiedBy>
  <cp:revision>9</cp:revision>
  <dcterms:created xsi:type="dcterms:W3CDTF">2006-08-16T00:00:00Z</dcterms:created>
  <dcterms:modified xsi:type="dcterms:W3CDTF">2025-12-18T10:24:51Z</dcterms:modified>
  <dc:identifier>DAG7rq700gM</dc:identifier>
</cp:coreProperties>
</file>